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4"/>
    <p:sldMasterId id="2147485620" r:id="rId5"/>
  </p:sldMasterIdLst>
  <p:notesMasterIdLst>
    <p:notesMasterId r:id="rId38"/>
  </p:notesMasterIdLst>
  <p:sldIdLst>
    <p:sldId id="2147376073" r:id="rId6"/>
    <p:sldId id="2147376136" r:id="rId7"/>
    <p:sldId id="2147376078" r:id="rId8"/>
    <p:sldId id="2147376087" r:id="rId9"/>
    <p:sldId id="2147376109" r:id="rId10"/>
    <p:sldId id="2147376089" r:id="rId11"/>
    <p:sldId id="2147376090" r:id="rId12"/>
    <p:sldId id="2147376091" r:id="rId13"/>
    <p:sldId id="256" r:id="rId14"/>
    <p:sldId id="2147376138" r:id="rId15"/>
    <p:sldId id="2147376092" r:id="rId16"/>
    <p:sldId id="2147376093" r:id="rId17"/>
    <p:sldId id="2147376094" r:id="rId18"/>
    <p:sldId id="2147376095" r:id="rId19"/>
    <p:sldId id="257" r:id="rId20"/>
    <p:sldId id="2147376096" r:id="rId21"/>
    <p:sldId id="2147376098" r:id="rId22"/>
    <p:sldId id="2147376099" r:id="rId23"/>
    <p:sldId id="2147376100" r:id="rId24"/>
    <p:sldId id="2147376101" r:id="rId25"/>
    <p:sldId id="2147376102" r:id="rId26"/>
    <p:sldId id="2147376103" r:id="rId27"/>
    <p:sldId id="2147376104" r:id="rId28"/>
    <p:sldId id="2147376107" r:id="rId29"/>
    <p:sldId id="2147376117" r:id="rId30"/>
    <p:sldId id="2147376112" r:id="rId31"/>
    <p:sldId id="2147376137" r:id="rId32"/>
    <p:sldId id="2147376111" r:id="rId33"/>
    <p:sldId id="2147376113" r:id="rId34"/>
    <p:sldId id="2147376116" r:id="rId35"/>
    <p:sldId id="2147376127" r:id="rId36"/>
    <p:sldId id="2147376128" r:id="rId3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44A"/>
    <a:srgbClr val="0A0A40"/>
    <a:srgbClr val="094978"/>
    <a:srgbClr val="0E1548"/>
    <a:srgbClr val="E7E9EC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94696"/>
  </p:normalViewPr>
  <p:slideViewPr>
    <p:cSldViewPr snapToGrid="0">
      <p:cViewPr varScale="1">
        <p:scale>
          <a:sx n="150" d="100"/>
          <a:sy n="150" d="100"/>
        </p:scale>
        <p:origin x="856" y="88"/>
      </p:cViewPr>
      <p:guideLst>
        <p:guide orient="horz" pos="3696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lumer" userId="S::thomas.blumer@earley.com::2c1d0262-690f-4609-bdfe-5ec3ce19bfeb" providerId="AD" clId="Web-{3A1ABAB0-1EC7-EF81-BFA1-F0DF3038BFA0}"/>
    <pc:docChg chg="delSld">
      <pc:chgData name="Thomas Blumer" userId="S::thomas.blumer@earley.com::2c1d0262-690f-4609-bdfe-5ec3ce19bfeb" providerId="AD" clId="Web-{3A1ABAB0-1EC7-EF81-BFA1-F0DF3038BFA0}" dt="2026-02-24T00:03:54.064" v="14"/>
      <pc:docMkLst>
        <pc:docMk/>
      </pc:docMkLst>
      <pc:sldChg chg="del">
        <pc:chgData name="Thomas Blumer" userId="S::thomas.blumer@earley.com::2c1d0262-690f-4609-bdfe-5ec3ce19bfeb" providerId="AD" clId="Web-{3A1ABAB0-1EC7-EF81-BFA1-F0DF3038BFA0}" dt="2026-02-24T00:03:54.049" v="2"/>
        <pc:sldMkLst>
          <pc:docMk/>
          <pc:sldMk cId="1479758574" sldId="2147376116"/>
        </pc:sldMkLst>
      </pc:sldChg>
      <pc:sldChg chg="del">
        <pc:chgData name="Thomas Blumer" userId="S::thomas.blumer@earley.com::2c1d0262-690f-4609-bdfe-5ec3ce19bfeb" providerId="AD" clId="Web-{3A1ABAB0-1EC7-EF81-BFA1-F0DF3038BFA0}" dt="2026-02-24T00:03:54.049" v="1"/>
        <pc:sldMkLst>
          <pc:docMk/>
          <pc:sldMk cId="4005324197" sldId="2147376127"/>
        </pc:sldMkLst>
      </pc:sldChg>
      <pc:sldChg chg="del">
        <pc:chgData name="Thomas Blumer" userId="S::thomas.blumer@earley.com::2c1d0262-690f-4609-bdfe-5ec3ce19bfeb" providerId="AD" clId="Web-{3A1ABAB0-1EC7-EF81-BFA1-F0DF3038BFA0}" dt="2026-02-24T00:03:54.033" v="0"/>
        <pc:sldMkLst>
          <pc:docMk/>
          <pc:sldMk cId="0" sldId="2147376128"/>
        </pc:sldMkLst>
      </pc:sldChg>
    </pc:docChg>
  </pc:docChgLst>
  <pc:docChgLst>
    <pc:chgData name="Thomas Blumer" userId="S::thomas.blumer@earley.com::2c1d0262-690f-4609-bdfe-5ec3ce19bfeb" providerId="AD" clId="Web-{4E20588E-635A-46C4-E423-59DA21BA1437}"/>
    <pc:docChg chg="addSld modSld">
      <pc:chgData name="Thomas Blumer" userId="S::thomas.blumer@earley.com::2c1d0262-690f-4609-bdfe-5ec3ce19bfeb" providerId="AD" clId="Web-{4E20588E-635A-46C4-E423-59DA21BA1437}" dt="2026-02-24T00:06:23.721" v="5"/>
      <pc:docMkLst>
        <pc:docMk/>
      </pc:docMkLst>
      <pc:sldChg chg="add">
        <pc:chgData name="Thomas Blumer" userId="S::thomas.blumer@earley.com::2c1d0262-690f-4609-bdfe-5ec3ce19bfeb" providerId="AD" clId="Web-{4E20588E-635A-46C4-E423-59DA21BA1437}" dt="2026-02-24T00:06:23.221" v="3"/>
        <pc:sldMkLst>
          <pc:docMk/>
          <pc:sldMk cId="1479758574" sldId="2147376116"/>
        </pc:sldMkLst>
      </pc:sldChg>
      <pc:sldChg chg="add">
        <pc:chgData name="Thomas Blumer" userId="S::thomas.blumer@earley.com::2c1d0262-690f-4609-bdfe-5ec3ce19bfeb" providerId="AD" clId="Web-{4E20588E-635A-46C4-E423-59DA21BA1437}" dt="2026-02-24T00:06:23.455" v="4"/>
        <pc:sldMkLst>
          <pc:docMk/>
          <pc:sldMk cId="4005324197" sldId="2147376127"/>
        </pc:sldMkLst>
      </pc:sldChg>
      <pc:sldChg chg="add">
        <pc:chgData name="Thomas Blumer" userId="S::thomas.blumer@earley.com::2c1d0262-690f-4609-bdfe-5ec3ce19bfeb" providerId="AD" clId="Web-{4E20588E-635A-46C4-E423-59DA21BA1437}" dt="2026-02-24T00:06:23.721" v="5"/>
        <pc:sldMkLst>
          <pc:docMk/>
          <pc:sldMk cId="0" sldId="2147376128"/>
        </pc:sldMkLst>
      </pc:sldChg>
      <pc:sldChg chg="modSp">
        <pc:chgData name="Thomas Blumer" userId="S::thomas.blumer@earley.com::2c1d0262-690f-4609-bdfe-5ec3ce19bfeb" providerId="AD" clId="Web-{4E20588E-635A-46C4-E423-59DA21BA1437}" dt="2026-02-24T00:06:04.643" v="2" actId="20577"/>
        <pc:sldMkLst>
          <pc:docMk/>
          <pc:sldMk cId="2443464311" sldId="2147376136"/>
        </pc:sldMkLst>
        <pc:spChg chg="mod">
          <ac:chgData name="Thomas Blumer" userId="S::thomas.blumer@earley.com::2c1d0262-690f-4609-bdfe-5ec3ce19bfeb" providerId="AD" clId="Web-{4E20588E-635A-46C4-E423-59DA21BA1437}" dt="2026-02-24T00:06:04.643" v="2" actId="20577"/>
          <ac:spMkLst>
            <pc:docMk/>
            <pc:sldMk cId="2443464311" sldId="2147376136"/>
            <ac:spMk id="4" creationId="{6FF640CC-FCD1-1B45-65A4-6F1261F0201C}"/>
          </ac:spMkLst>
        </pc:spChg>
      </pc:sldChg>
    </pc:docChg>
  </pc:docChgLst>
  <pc:docChgLst>
    <pc:chgData name="Nader Afshar" userId="S::nader.afshar@stellantis-fs.com::ef14ed6e-8c34-42b1-8014-4f40650f3772" providerId="AD" clId="Web-{C645DABC-1CEA-26BA-7EF6-7D98D4009542}"/>
    <pc:docChg chg="mod">
      <pc:chgData name="Nader Afshar" userId="S::nader.afshar@stellantis-fs.com::ef14ed6e-8c34-42b1-8014-4f40650f3772" providerId="AD" clId="Web-{C645DABC-1CEA-26BA-7EF6-7D98D4009542}" dt="2026-03-16T14:35:28.975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A0DC-880F-8EC0-55CF-5D5BD068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12869-68D1-CF05-3965-0181A9101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AD5D1-D3D0-D796-E51C-5B84D45AF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45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568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3568-575D-D522-8CE6-98193708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C68BD-AC87-0B09-FB11-610B1F40C8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1" y="1636296"/>
            <a:ext cx="4613642" cy="1644259"/>
          </a:xfrm>
        </p:spPr>
        <p:txBody>
          <a:bodyPr lIns="45719" tIns="45720" rIns="45719" bIns="45720" anchor="t">
            <a:normAutofit fontScale="77500" lnSpcReduction="20000"/>
          </a:bodyPr>
          <a:lstStyle/>
          <a:p>
            <a:pPr marL="0" indent="0">
              <a:buNone/>
            </a:pPr>
            <a:r>
              <a:rPr sz="3550" dirty="0">
                <a:latin typeface="Aptos" panose="020B0004020202020204" pitchFamily="34" charset="0"/>
              </a:rPr>
              <a:t>STELLANTIS Financial Services US</a:t>
            </a:r>
          </a:p>
          <a:p>
            <a:pPr marL="0" indent="0">
              <a:buNone/>
            </a:pPr>
            <a:r>
              <a:rPr sz="3550" dirty="0">
                <a:latin typeface="Aptos" panose="020B0004020202020204" pitchFamily="34" charset="0"/>
              </a:rPr>
              <a:t>API Orchestration Strategy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C6C329-B5F9-9194-32C9-2FB63579E8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3315" y="445108"/>
            <a:ext cx="3152927" cy="289006"/>
          </a:xfrm>
        </p:spPr>
        <p:txBody>
          <a:bodyPr lIns="45719" tIns="45720" rIns="45719" bIns="45720" anchor="t">
            <a:noAutofit/>
          </a:bodyPr>
          <a:lstStyle/>
          <a:p>
            <a:pPr marL="0" indent="0" algn="r">
              <a:buNone/>
            </a:pPr>
            <a:r>
              <a:rPr sz="1800" dirty="0">
                <a:latin typeface="Aptos" panose="020B0004020202020204" pitchFamily="34" charset="0"/>
              </a:rPr>
              <a:t>January 202</a:t>
            </a:r>
            <a:r>
              <a:rPr lang="en-US" sz="1800" dirty="0">
                <a:latin typeface="Aptos" panose="020B0004020202020204" pitchFamily="34" charset="0"/>
              </a:rPr>
              <a:t>6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64B2D-F0F6-DDED-7DAE-ED39DD2736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5276" y="6567488"/>
            <a:ext cx="460375" cy="239712"/>
          </a:xfrm>
        </p:spPr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72941"/>
                </a:solidFill>
                <a:effectLst/>
                <a:uLnTx/>
                <a:uFillTx/>
                <a:cs typeface="Calibri" panose="020F0502020204030204" pitchFamily="34" charset="0"/>
                <a:sym typeface="Helvetica Neue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72941"/>
              </a:solidFill>
              <a:effectLst/>
              <a:uLnTx/>
              <a:uFillTx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DB317-1094-57B2-533E-9FE0A7EBEC38}"/>
              </a:ext>
            </a:extLst>
          </p:cNvPr>
          <p:cNvSpPr txBox="1"/>
          <p:nvPr/>
        </p:nvSpPr>
        <p:spPr>
          <a:xfrm>
            <a:off x="6051551" y="3811072"/>
            <a:ext cx="520729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sz="2800" dirty="0">
                <a:solidFill>
                  <a:schemeClr val="bg1"/>
                </a:solidFill>
                <a:latin typeface="Aptos" panose="020B0004020202020204" pitchFamily="34" charset="0"/>
              </a:rPr>
              <a:t>Cost &amp; Scalability Focus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CAD1DE-50D9-C04A-879C-DE452EFE81C4}"/>
              </a:ext>
            </a:extLst>
          </p:cNvPr>
          <p:cNvGrpSpPr/>
          <p:nvPr/>
        </p:nvGrpSpPr>
        <p:grpSpPr>
          <a:xfrm>
            <a:off x="8778251" y="6037396"/>
            <a:ext cx="3375020" cy="820604"/>
            <a:chOff x="7072486" y="5797683"/>
            <a:chExt cx="3375020" cy="820604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5A401410-50A1-A457-14B4-1BFF18F736FF}"/>
                </a:ext>
              </a:extLst>
            </p:cNvPr>
            <p:cNvSpPr/>
            <p:nvPr/>
          </p:nvSpPr>
          <p:spPr>
            <a:xfrm rot="16200000">
              <a:off x="7109418" y="5760752"/>
              <a:ext cx="820603" cy="894467"/>
            </a:xfrm>
            <a:prstGeom prst="rtTriangl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D7399DA-3BD4-16F7-E11D-E9CB7156E558}"/>
                </a:ext>
              </a:extLst>
            </p:cNvPr>
            <p:cNvSpPr/>
            <p:nvPr/>
          </p:nvSpPr>
          <p:spPr>
            <a:xfrm>
              <a:off x="7966953" y="5797683"/>
              <a:ext cx="2480553" cy="820604"/>
            </a:xfrm>
            <a:prstGeom prst="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113A121-3A1D-6D55-415E-4B283395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104" y="6190003"/>
            <a:ext cx="1362357" cy="51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4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1. Foundations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Orchestration patterns, decision rubric, Azure APIM capabilities</a:t>
            </a:r>
          </a:p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2. Cost Monitoring &amp; Token Tracking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API cost tracking, AI token metering patterns, chargeback foundation</a:t>
            </a:r>
          </a:p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3. Agentic System Management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Agent registry, orchestration patterns, architecture options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4. SFS-Specific Recommendations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Phased roadmap, quick wins, governance framework</a:t>
            </a:r>
          </a:p>
          <a:p>
            <a:pPr marL="0" indent="0">
              <a:buNone/>
            </a:pPr>
            <a:r>
              <a:rPr lang="en-US" sz="1750" b="1">
                <a:latin typeface="Aptos"/>
                <a:ea typeface="Calibri"/>
                <a:cs typeface="Calibri"/>
              </a:rPr>
              <a:t>5</a:t>
            </a:r>
            <a:r>
              <a:rPr sz="1750" b="1">
                <a:latin typeface="Aptos"/>
                <a:ea typeface="Calibri"/>
                <a:cs typeface="Calibri"/>
              </a:rPr>
              <a:t>. Appendix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Glossary, system references, 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6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538" y="1631447"/>
            <a:ext cx="5018129" cy="410366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Key Recommendations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Align orchestration strategy with Azure migration to embed governance and observability from day one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Implement cost tracking infrastructure for both traditional APIs and AI/token consumption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Establish patterns for agentic system management before proliferation occurs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Position MCP as future integration layer for AI agent interoperability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5841" y="1631447"/>
            <a:ext cx="5061809" cy="4275764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Strategic Context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18-month migration window (MuleSoft → Azure APIM)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65 APIs, hundreds of endpoints to migrate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Emerging AI/agentic capabilities require governance framework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Cost attribution critical for sustainable AI adoption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3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Orchestration Pattern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4539263" cy="4764741"/>
          </a:xfrm>
        </p:spPr>
        <p:txBody>
          <a:bodyPr/>
          <a:lstStyle/>
          <a:p>
            <a:pPr marL="0" indent="0">
              <a:buNone/>
            </a:pPr>
            <a:r>
              <a:rPr sz="2000" b="1" dirty="0">
                <a:latin typeface="Aptos" panose="020B0004020202020204" pitchFamily="34" charset="0"/>
              </a:rPr>
              <a:t>Available Patterns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API Gateway</a:t>
            </a:r>
            <a:r>
              <a:rPr dirty="0">
                <a:latin typeface="Aptos" panose="020B0004020202020204" pitchFamily="34" charset="0"/>
              </a:rPr>
              <a:t>: Centralized control plane, policy enforcement, single entry point</a:t>
            </a:r>
            <a:endParaRPr lang="en-US" dirty="0">
              <a:latin typeface="Aptos" panose="020B0004020202020204" pitchFamily="34" charset="0"/>
            </a:endParaRPr>
          </a:p>
          <a:p>
            <a:pPr marL="182880" algn="l"/>
            <a:endParaRPr dirty="0">
              <a:latin typeface="Aptos" panose="020B0004020202020204" pitchFamily="34" charset="0"/>
            </a:endParaRP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Event-Driven/Pub-Sub</a:t>
            </a:r>
            <a:r>
              <a:rPr dirty="0">
                <a:latin typeface="Aptos" panose="020B0004020202020204" pitchFamily="34" charset="0"/>
              </a:rPr>
              <a:t>: Async communication, decoupling, batch-friendly</a:t>
            </a:r>
            <a:endParaRPr lang="en-US" dirty="0">
              <a:latin typeface="Aptos" panose="020B0004020202020204" pitchFamily="34" charset="0"/>
            </a:endParaRPr>
          </a:p>
          <a:p>
            <a:pPr marL="182880" algn="l"/>
            <a:endParaRPr dirty="0">
              <a:latin typeface="Aptos" panose="020B0004020202020204" pitchFamily="34" charset="0"/>
            </a:endParaRP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Service Mesh</a:t>
            </a:r>
            <a:r>
              <a:rPr dirty="0">
                <a:latin typeface="Aptos" panose="020B0004020202020204" pitchFamily="34" charset="0"/>
              </a:rPr>
              <a:t>: Sidecar pattern for microservices (awareness only)</a:t>
            </a:r>
            <a:endParaRPr lang="en-US" dirty="0">
              <a:latin typeface="Aptos" panose="020B0004020202020204" pitchFamily="34" charset="0"/>
            </a:endParaRPr>
          </a:p>
          <a:p>
            <a:pPr marL="182880" algn="l"/>
            <a:endParaRPr dirty="0">
              <a:latin typeface="Aptos" panose="020B0004020202020204" pitchFamily="34" charset="0"/>
            </a:endParaRP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Choreography</a:t>
            </a:r>
            <a:r>
              <a:rPr dirty="0">
                <a:latin typeface="Aptos" panose="020B0004020202020204" pitchFamily="34" charset="0"/>
              </a:rPr>
              <a:t> vs. </a:t>
            </a:r>
            <a:r>
              <a:rPr b="1" dirty="0">
                <a:latin typeface="Aptos" panose="020B0004020202020204" pitchFamily="34" charset="0"/>
              </a:rPr>
              <a:t>Orchestration</a:t>
            </a:r>
            <a:r>
              <a:rPr dirty="0">
                <a:latin typeface="Aptos" panose="020B0004020202020204" pitchFamily="34" charset="0"/>
              </a:rPr>
              <a:t>: Distributed vs. centralized coordination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4</a:t>
            </a:fld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A161E2-E1C2-C0DB-1EF3-29D5E6D688CB}"/>
              </a:ext>
            </a:extLst>
          </p:cNvPr>
          <p:cNvGrpSpPr/>
          <p:nvPr/>
        </p:nvGrpSpPr>
        <p:grpSpPr>
          <a:xfrm>
            <a:off x="6088455" y="1149020"/>
            <a:ext cx="5637212" cy="5120640"/>
            <a:chOff x="458788" y="1097280"/>
            <a:chExt cx="11274552" cy="5120640"/>
          </a:xfrm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8FC1BC8C-3963-0054-185F-9F4B900CBE08}"/>
                </a:ext>
              </a:extLst>
            </p:cNvPr>
            <p:cNvSpPr/>
            <p:nvPr/>
          </p:nvSpPr>
          <p:spPr>
            <a:xfrm>
              <a:off x="458788" y="1097280"/>
              <a:ext cx="5394960" cy="2194560"/>
            </a:xfrm>
            <a:prstGeom prst="roundRect">
              <a:avLst/>
            </a:prstGeom>
            <a:solidFill>
              <a:srgbClr val="E8F4FD"/>
            </a:solidFill>
            <a:ln w="12700">
              <a:solidFill>
                <a:srgbClr val="2E86A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1" name="Text 2">
              <a:extLst>
                <a:ext uri="{FF2B5EF4-FFF2-40B4-BE49-F238E27FC236}">
                  <a16:creationId xmlns:a16="http://schemas.microsoft.com/office/drawing/2014/main" id="{1A42A682-35DE-7D9A-2965-E0D54B5D31BF}"/>
                </a:ext>
              </a:extLst>
            </p:cNvPr>
            <p:cNvSpPr/>
            <p:nvPr/>
          </p:nvSpPr>
          <p:spPr>
            <a:xfrm>
              <a:off x="687388" y="1280160"/>
              <a:ext cx="4937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API Gateway</a:t>
              </a:r>
              <a:endParaRPr lang="en-US" sz="1500" dirty="0">
                <a:latin typeface="Aptos" panose="020B0004020202020204" pitchFamily="34" charset="0"/>
              </a:endParaRPr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D3590C86-6140-1DC0-03A9-E0A96FFDD8F9}"/>
                </a:ext>
              </a:extLst>
            </p:cNvPr>
            <p:cNvSpPr/>
            <p:nvPr/>
          </p:nvSpPr>
          <p:spPr>
            <a:xfrm>
              <a:off x="687388" y="1645920"/>
              <a:ext cx="49377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Centralized control plane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Policy enforcement at single entry point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Ideal for governance &amp; 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F46E9803-2B37-5053-0E37-2EBDB08A5B5A}"/>
                </a:ext>
              </a:extLst>
            </p:cNvPr>
            <p:cNvSpPr/>
            <p:nvPr/>
          </p:nvSpPr>
          <p:spPr>
            <a:xfrm>
              <a:off x="6310948" y="1097280"/>
              <a:ext cx="5394959" cy="2194560"/>
            </a:xfrm>
            <a:prstGeom prst="roundRect">
              <a:avLst/>
            </a:prstGeom>
            <a:solidFill>
              <a:srgbClr val="FEF9E7"/>
            </a:solidFill>
            <a:ln w="12700">
              <a:solidFill>
                <a:srgbClr val="F39C12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D3B3BC4E-2C2B-0B4E-0F6B-4A244213934C}"/>
                </a:ext>
              </a:extLst>
            </p:cNvPr>
            <p:cNvSpPr/>
            <p:nvPr/>
          </p:nvSpPr>
          <p:spPr>
            <a:xfrm>
              <a:off x="6539548" y="1280160"/>
              <a:ext cx="4937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Event-Driven / Pub-Sub</a:t>
              </a:r>
              <a:endParaRPr lang="en-US" sz="1500" dirty="0">
                <a:latin typeface="Aptos" panose="020B0004020202020204" pitchFamily="34" charset="0"/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8178DC22-99E3-98B3-AB4E-3BE80853953F}"/>
                </a:ext>
              </a:extLst>
            </p:cNvPr>
            <p:cNvSpPr/>
            <p:nvPr/>
          </p:nvSpPr>
          <p:spPr>
            <a:xfrm>
              <a:off x="6539548" y="1645920"/>
              <a:ext cx="49377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Asynchronous communication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Decoupled services, batch-friendly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Ideal for high-volume workflows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59121098-14DE-2B61-A4BB-5F598783A609}"/>
                </a:ext>
              </a:extLst>
            </p:cNvPr>
            <p:cNvSpPr/>
            <p:nvPr/>
          </p:nvSpPr>
          <p:spPr>
            <a:xfrm>
              <a:off x="458788" y="3611880"/>
              <a:ext cx="5394960" cy="2194560"/>
            </a:xfrm>
            <a:prstGeom prst="roundRect">
              <a:avLst/>
            </a:prstGeom>
            <a:solidFill>
              <a:srgbClr val="F5F5F5"/>
            </a:solidFill>
            <a:ln w="12700">
              <a:solidFill>
                <a:srgbClr val="AAAAAA"/>
              </a:solidFill>
              <a:prstDash val="dash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9D534400-1CE6-2B91-5589-0A963A94434A}"/>
                </a:ext>
              </a:extLst>
            </p:cNvPr>
            <p:cNvSpPr/>
            <p:nvPr/>
          </p:nvSpPr>
          <p:spPr>
            <a:xfrm>
              <a:off x="687388" y="3794760"/>
              <a:ext cx="4937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b="1" dirty="0">
                  <a:solidFill>
                    <a:srgbClr val="777777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Service Mesh</a:t>
              </a:r>
              <a:endParaRPr lang="en-US" sz="1500" dirty="0">
                <a:latin typeface="Aptos" panose="020B0004020202020204" pitchFamily="34" charset="0"/>
              </a:endParaRPr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1D0181FE-7D30-3700-F8F5-6408586143A4}"/>
                </a:ext>
              </a:extLst>
            </p:cNvPr>
            <p:cNvSpPr/>
            <p:nvPr/>
          </p:nvSpPr>
          <p:spPr>
            <a:xfrm>
              <a:off x="687388" y="4160520"/>
              <a:ext cx="49377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14300" indent="-114300"/>
              <a:r>
                <a:rPr lang="en-US" sz="1200" dirty="0">
                  <a:solidFill>
                    <a:srgbClr val="888888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Sidecar pattern for microservices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888888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Service-to-service communication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888888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(For awareness if microservices adopted)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FD013624-D0A9-4558-690E-2CD85309C7A8}"/>
                </a:ext>
              </a:extLst>
            </p:cNvPr>
            <p:cNvSpPr/>
            <p:nvPr/>
          </p:nvSpPr>
          <p:spPr>
            <a:xfrm>
              <a:off x="6310948" y="3611880"/>
              <a:ext cx="5394959" cy="2194560"/>
            </a:xfrm>
            <a:prstGeom prst="roundRect">
              <a:avLst/>
            </a:prstGeom>
            <a:solidFill>
              <a:srgbClr val="E8F8F5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F82BFBD2-F2F8-31C0-9EE5-E675B8626C2A}"/>
                </a:ext>
              </a:extLst>
            </p:cNvPr>
            <p:cNvSpPr/>
            <p:nvPr/>
          </p:nvSpPr>
          <p:spPr>
            <a:xfrm>
              <a:off x="6539548" y="379476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b="1" dirty="0">
                  <a:solidFill>
                    <a:srgbClr val="27AE60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Hybrid (Recommended)</a:t>
              </a:r>
              <a:endParaRPr lang="en-US" sz="1500" dirty="0">
                <a:latin typeface="Aptos" panose="020B0004020202020204" pitchFamily="34" charset="0"/>
              </a:endParaRPr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95BFA54F-4B8C-0B4F-19CC-E8CC6F702437}"/>
                </a:ext>
              </a:extLst>
            </p:cNvPr>
            <p:cNvSpPr/>
            <p:nvPr/>
          </p:nvSpPr>
          <p:spPr>
            <a:xfrm>
              <a:off x="6539548" y="4160520"/>
              <a:ext cx="49377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Gateway + Event-Driven combined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Real-time APIs + batch processing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marL="114300" indent="-114300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• Matches SFS current architecture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D0D08DBB-6140-8549-7B35-169B0A6206DE}"/>
                </a:ext>
              </a:extLst>
            </p:cNvPr>
            <p:cNvSpPr/>
            <p:nvPr/>
          </p:nvSpPr>
          <p:spPr>
            <a:xfrm>
              <a:off x="10151428" y="3749040"/>
              <a:ext cx="1280160" cy="292608"/>
            </a:xfrm>
            <a:prstGeom prst="roundRect">
              <a:avLst/>
            </a:prstGeom>
            <a:solidFill>
              <a:srgbClr val="27AE60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A90EAA1C-4B54-9270-6FF4-74A073D237A3}"/>
                </a:ext>
              </a:extLst>
            </p:cNvPr>
            <p:cNvSpPr/>
            <p:nvPr/>
          </p:nvSpPr>
          <p:spPr>
            <a:xfrm>
              <a:off x="10151428" y="3749040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SFS Today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76BB2135-3DE4-6E09-9194-F6D4014769C7}"/>
                </a:ext>
              </a:extLst>
            </p:cNvPr>
            <p:cNvSpPr/>
            <p:nvPr/>
          </p:nvSpPr>
          <p:spPr>
            <a:xfrm>
              <a:off x="458788" y="5943600"/>
              <a:ext cx="1127455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i="1" dirty="0">
                  <a:solidFill>
                    <a:srgbClr val="666666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Note: Orchestration vs. Choreography (centralized vs. distributed coordination) applies across all patterns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788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Decision Rubric: Choosing the Right Pattern</a:t>
            </a:r>
            <a:endParaRPr lang="en-US" sz="2800" dirty="0">
              <a:latin typeface="Aptos" panose="020B0004020202020204" pitchFamily="3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510326"/>
              </p:ext>
            </p:extLst>
          </p:nvPr>
        </p:nvGraphicFramePr>
        <p:xfrm>
          <a:off x="458789" y="1538034"/>
          <a:ext cx="6078680" cy="2240280"/>
        </p:xfrm>
        <a:graphic>
          <a:graphicData uri="http://schemas.openxmlformats.org/drawingml/2006/table">
            <a:tbl>
              <a:tblPr/>
              <a:tblGrid>
                <a:gridCol w="1183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Efficiency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AI/Agent 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Mesh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8789" y="4098354"/>
            <a:ext cx="6078682" cy="139238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2"/>
          <p:cNvSpPr/>
          <p:nvPr/>
        </p:nvSpPr>
        <p:spPr>
          <a:xfrm>
            <a:off x="641669" y="4189794"/>
            <a:ext cx="5881483" cy="1082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SFS Recommendation: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Hybrid (Gateway + Event-Driven) aligns with current architecture. Gateway for real-time API management; Event-Driven for batch processes and Salesforce Platform Events.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611AB92-E004-3C8D-D779-4F5176100E6A}"/>
              </a:ext>
            </a:extLst>
          </p:cNvPr>
          <p:cNvSpPr txBox="1">
            <a:spLocks/>
          </p:cNvSpPr>
          <p:nvPr/>
        </p:nvSpPr>
        <p:spPr>
          <a:xfrm>
            <a:off x="6942716" y="1538034"/>
            <a:ext cx="4790497" cy="470978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SFS Recommendation</a:t>
            </a:r>
          </a:p>
          <a:p>
            <a:pPr marL="365760" indent="-182880"/>
            <a:r>
              <a:rPr lang="en-US" sz="2000" dirty="0">
                <a:latin typeface="Aptos" panose="020B0004020202020204" pitchFamily="34" charset="0"/>
              </a:rPr>
              <a:t>Hybrid (Gateway + Event-Driven) aligns with current architecture and future needs</a:t>
            </a:r>
          </a:p>
          <a:p>
            <a:pPr marL="365760" indent="-182880"/>
            <a:r>
              <a:rPr lang="en-US" sz="2000" dirty="0">
                <a:latin typeface="Aptos" panose="020B0004020202020204" pitchFamily="34" charset="0"/>
              </a:rPr>
              <a:t>Gateway for real-time API management and governance</a:t>
            </a:r>
          </a:p>
          <a:p>
            <a:pPr marL="365760" indent="-182880"/>
            <a:r>
              <a:rPr lang="en-US" sz="2000" dirty="0">
                <a:latin typeface="Aptos" panose="020B0004020202020204" pitchFamily="34" charset="0"/>
              </a:rPr>
              <a:t>Event-Driven for batch processes and Salesforce Platform Events</a:t>
            </a:r>
          </a:p>
          <a:p>
            <a:pPr marL="365760" indent="-182880"/>
            <a:r>
              <a:rPr lang="en-US" sz="2000" dirty="0">
                <a:latin typeface="Aptos" panose="020B0004020202020204" pitchFamily="34" charset="0"/>
              </a:rPr>
              <a:t>Service Mesh: Monitor if microservices adoption increases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Cost &amp; Scalability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535036"/>
            <a:ext cx="5018129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Cost Drivers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Compute: Request processing, transformation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Data Transfer: Egress, cross-region movement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Third-Party APIs: Pass-through costs (FICO, RDN, </a:t>
            </a:r>
            <a:r>
              <a:rPr dirty="0" err="1">
                <a:latin typeface="Aptos" panose="020B0004020202020204" pitchFamily="34" charset="0"/>
              </a:rPr>
              <a:t>Datascan</a:t>
            </a:r>
            <a:r>
              <a:rPr dirty="0">
                <a:latin typeface="Aptos" panose="020B0004020202020204" pitchFamily="34" charset="0"/>
              </a:rPr>
              <a:t>, etc.)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Token/AI Consumption: Emerging and growing cost center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Storage: Logs, cache, audit trails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015" y="1537174"/>
            <a:ext cx="5061809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Scalability Levers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Stateless Design: Enable horizontal scaling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Caching Strategies: Reduce redundant API calls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Rate Limiting &amp; Throttling: Protect backends, manage costs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Async/Queue-Based: Absorb batch processing spikes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1920" y="6744342"/>
            <a:ext cx="503416" cy="365125"/>
          </a:xfrm>
        </p:spPr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6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Azure APIM Capabilities Mapped to SFS Needs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0400" y="1533910"/>
            <a:ext cx="4334424" cy="46956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Additional Capabilities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Developer Portal → API discovery, future agent registry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Products &amp; Subscriptions → Segment by business unit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Policy Expressions → Request/response transformation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Named Values &amp; Backends → Centralized configuration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1920" y="6671978"/>
            <a:ext cx="503416" cy="365125"/>
          </a:xfrm>
        </p:spPr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7</a:t>
            </a:fld>
            <a:endParaRPr lang="en-US">
              <a:latin typeface="Aptos" panose="020B0004020202020204" pitchFamily="34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D5A1AB7-A178-93CC-97C6-715E65A36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32280"/>
              </p:ext>
            </p:extLst>
          </p:nvPr>
        </p:nvGraphicFramePr>
        <p:xfrm>
          <a:off x="353951" y="1533910"/>
          <a:ext cx="6033452" cy="3895344"/>
        </p:xfrm>
        <a:graphic>
          <a:graphicData uri="http://schemas.openxmlformats.org/drawingml/2006/table">
            <a:tbl>
              <a:tblPr/>
              <a:tblGrid>
                <a:gridCol w="161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8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APIM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SFS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OAuth/JWT Policies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 integration for external consumers (extends current JWT pattern)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&amp; Quotas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Shaw, Defi, FICO backends; manage third-party API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Caching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calls to expensive/slow external APIs (FICO, RDN, Datascan)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Azure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for cost tracking, usage metrics, and future chargeback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discovery; potential foundation for agent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&amp; Subscriptions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access and costs by business unit (retail vs. lease)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Expressions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Request/response transformation; routing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Values &amp; Backends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configuration; environment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MuleSoft to Azure APIM: Key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Migration Mapping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Policies: MuleSoft policies → APIM policy expressions (similar concepts, different syntax)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API Layers: Experience/Process/System → APIM Products/APIs/Backends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Authentication: Both support OAuth/JWT; APIM adds native Azure AD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Monitoring: </a:t>
            </a:r>
            <a:r>
              <a:rPr dirty="0" err="1">
                <a:latin typeface="Aptos" panose="020B0004020202020204" pitchFamily="34" charset="0"/>
              </a:rPr>
              <a:t>Anypoint</a:t>
            </a:r>
            <a:r>
              <a:rPr dirty="0">
                <a:latin typeface="Aptos" panose="020B0004020202020204" pitchFamily="34" charset="0"/>
              </a:rPr>
              <a:t> Monitoring → Azure Monitor + App Insights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Lessons from Pilot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Early investment in Azure platform configuration pays dividends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DNS, certificates, RBAC setup require upfront planning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Establish patterns before bulk migration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Detailed comparison available in Appendix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8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52841"/>
          </a:solidFill>
          <a:ln/>
        </p:spPr>
        <p:txBody>
          <a:bodyPr wrap="square" rtlCol="0" anchor="ctr"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6400" y="508000"/>
            <a:ext cx="58163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Process Layer Compute Options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" y="1689894"/>
            <a:ext cx="6269736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Compute Options for Orchestration Logic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" y="1958975"/>
            <a:ext cx="6146800" cy="3403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Stateless, event-driven, pay-per-execution; good for simple transforms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Durable Functions</a:t>
            </a: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Long-running workflows, stateful orchestration, fan-out/fan-in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Logic Apps</a:t>
            </a: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Visual designer, 400+ connectors; per-action pricing can add up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.NET APIs</a:t>
            </a: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Full control, team expertise; you manage hosting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Containerized workloads, auto-scaling; more infra to manage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6031" y="5633500"/>
            <a:ext cx="6269736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6400" y="5758656"/>
            <a:ext cx="6146800" cy="374651"/>
          </a:xfrm>
          <a:prstGeom prst="roundRect">
            <a:avLst>
              <a:gd name="adj" fmla="val 1355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8800" y="5860256"/>
            <a:ext cx="5958840" cy="171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0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Stateless → Functions | Stateful → Durable Functions | Visual/Connectors → Logic Apps | Full control → .NET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56400" y="2418161"/>
            <a:ext cx="5129784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SFS Current Direction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56400" y="2687240"/>
            <a:ext cx="51297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1200"/>
              </a:spcAft>
            </a:pPr>
            <a:r>
              <a:rPr lang="en-US" sz="1000" i="1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"We are moving from MuleSoft codebase to .NET codebase" — Sajid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56400" y="3017440"/>
            <a:ext cx="5029200" cy="157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Process layer logic → .NET APIs hosted in Azure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APIM as gateway layer (auth, rate limiting, caching)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Business logic and transforms in .NET code</a:t>
            </a:r>
            <a:endParaRPr lang="en-US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Service Bus for reliability patterns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56400" y="4795440"/>
            <a:ext cx="5029200" cy="6096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81800" y="4795440"/>
            <a:ext cx="0" cy="609600"/>
          </a:xfrm>
          <a:prstGeom prst="line">
            <a:avLst/>
          </a:prstGeom>
          <a:noFill/>
          <a:ln w="38100">
            <a:solidFill>
              <a:srgbClr val="20CC8C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59600" y="4922440"/>
            <a:ext cx="476707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r>
              <a:rPr lang="en-US" sz="10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Establish a default pattern (likely .NET APIs), document criteria for when to use alternatives, and apply consistently.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52841"/>
          </a:solidFill>
          <a:ln w="12700">
            <a:solidFill>
              <a:srgbClr val="052841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Process Layer Compute Options</a:t>
            </a:r>
            <a:endParaRPr lang="en-US" sz="3200" dirty="0">
              <a:latin typeface="Aptos" panose="020B0004020202020204" pitchFamily="34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87680" y="1036320"/>
          <a:ext cx="11216640" cy="452628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SFS 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Serverless, event-driven compute; pay-per-execution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cost at low volume; auto-scaling; simple deployment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only; cold start latency; limited execution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simple triggers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Functions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workflows on Functions; orchestration patterns built-in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workflows; fan-out/fan-in; checkpointing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complex; debugging harder; Azure-specific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async workflows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workflow designer; 400+ pre-built connectors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Low-code; many connectors; visual debugging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Per-action pricing adds up; less control; vendor lock-in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use cases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0C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.NET applications hosted in Azure App Service or AKS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control; team expertise; testable; portable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manage hosting; more upfront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0C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containers with auto-scaling; Kubernetes-lite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Flexible; polyglot; microservices-ready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infrastructure overhead; overkill for most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option if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7680" y="5565142"/>
            <a:ext cx="11216640" cy="7924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87680" y="5552433"/>
            <a:ext cx="73152" cy="792480"/>
          </a:xfrm>
          <a:prstGeom prst="rect">
            <a:avLst/>
          </a:prstGeom>
          <a:solidFill>
            <a:srgbClr val="20CC8C"/>
          </a:solidFill>
          <a:ln w="12700">
            <a:solidFill>
              <a:srgbClr val="20CC8C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70560" y="5626102"/>
            <a:ext cx="109118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467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467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.NET APIs</a:t>
            </a:r>
            <a:r>
              <a:rPr lang="en-US" sz="1467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as the default for process layer logic. Team has expertise, full control over code, and APIM sits in front as gateway. Use Functions for simple event-driven triggers; Durable Functions for long-running async workflows.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9600" y="6407581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"We are moving from MuleSoft codebase to .NET codebase" — Sajid Chida</a:t>
            </a:r>
            <a:endParaRPr lang="en-US" sz="1333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E474-1EA0-E708-60D2-202F4794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Monitoring</a:t>
            </a:r>
          </a:p>
        </p:txBody>
      </p:sp>
    </p:spTree>
    <p:extLst>
      <p:ext uri="{BB962C8B-B14F-4D97-AF65-F5344CB8AC3E}">
        <p14:creationId xmlns:p14="http://schemas.microsoft.com/office/powerpoint/2010/main" val="2265671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Cost Monitoring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8" y="825911"/>
            <a:ext cx="11621728" cy="1524000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b="1" dirty="0">
                <a:latin typeface="Aptos" panose="020B0004020202020204" pitchFamily="34" charset="0"/>
              </a:rPr>
              <a:t>Monitoring Touchpoints by Layer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Experience Layer: Consumer attribution (who's calling), use case tagging, business unit mapping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Process Layer: Orchestration metrics, transformation costs, caching effectiveness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System Layer: Backend call counts, third-party API costs (FICO, RDN, </a:t>
            </a:r>
            <a:r>
              <a:rPr dirty="0" err="1">
                <a:latin typeface="Aptos" panose="020B0004020202020204" pitchFamily="34" charset="0"/>
              </a:rPr>
              <a:t>Datascan</a:t>
            </a:r>
            <a:r>
              <a:rPr dirty="0">
                <a:latin typeface="Aptos" panose="020B0004020202020204" pitchFamily="34" charset="0"/>
              </a:rPr>
              <a:t>), response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12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0082831F-94C8-9EEC-52B0-1F8CDA104576}"/>
              </a:ext>
            </a:extLst>
          </p:cNvPr>
          <p:cNvSpPr/>
          <p:nvPr/>
        </p:nvSpPr>
        <p:spPr>
          <a:xfrm>
            <a:off x="4309963" y="2312968"/>
            <a:ext cx="2155042" cy="4042111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2941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A4A6ABB9-67F9-3FB0-5DAC-7AAA796B2819}"/>
              </a:ext>
            </a:extLst>
          </p:cNvPr>
          <p:cNvSpPr/>
          <p:nvPr/>
        </p:nvSpPr>
        <p:spPr>
          <a:xfrm>
            <a:off x="717754" y="2349910"/>
            <a:ext cx="2462905" cy="1336235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14D4042-DB5F-C195-4FD6-E9D6922FE15B}"/>
              </a:ext>
            </a:extLst>
          </p:cNvPr>
          <p:cNvSpPr/>
          <p:nvPr/>
        </p:nvSpPr>
        <p:spPr>
          <a:xfrm>
            <a:off x="717754" y="2383316"/>
            <a:ext cx="2462905" cy="2338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089D3E08-C199-BAE0-8CC7-BFAA6CB04C0F}"/>
              </a:ext>
            </a:extLst>
          </p:cNvPr>
          <p:cNvSpPr/>
          <p:nvPr/>
        </p:nvSpPr>
        <p:spPr>
          <a:xfrm>
            <a:off x="805715" y="2650563"/>
            <a:ext cx="2286983" cy="935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Web/Mobile Apps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AI Agents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Partner APIs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EAB6DBAE-48A4-A818-6A0B-66C7C703EAC3}"/>
              </a:ext>
            </a:extLst>
          </p:cNvPr>
          <p:cNvSpPr/>
          <p:nvPr/>
        </p:nvSpPr>
        <p:spPr>
          <a:xfrm>
            <a:off x="717754" y="3819769"/>
            <a:ext cx="2462905" cy="1202612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34A9265-BA8B-405E-48C2-1B917023167B}"/>
              </a:ext>
            </a:extLst>
          </p:cNvPr>
          <p:cNvSpPr/>
          <p:nvPr/>
        </p:nvSpPr>
        <p:spPr>
          <a:xfrm>
            <a:off x="717754" y="3853175"/>
            <a:ext cx="2462905" cy="2338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Process Layer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BE0B277-92C3-E018-897D-7BCEA07E697F}"/>
              </a:ext>
            </a:extLst>
          </p:cNvPr>
          <p:cNvSpPr/>
          <p:nvPr/>
        </p:nvSpPr>
        <p:spPr>
          <a:xfrm>
            <a:off x="805715" y="4120422"/>
            <a:ext cx="2286983" cy="801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Orchestration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Transformation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Caching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5EAE1B50-85AA-B4A4-0025-64F4C728E9A1}"/>
              </a:ext>
            </a:extLst>
          </p:cNvPr>
          <p:cNvSpPr/>
          <p:nvPr/>
        </p:nvSpPr>
        <p:spPr>
          <a:xfrm>
            <a:off x="717754" y="5156004"/>
            <a:ext cx="2462905" cy="1336235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9D174FE-FB42-F49A-DFB1-C92393BA4755}"/>
              </a:ext>
            </a:extLst>
          </p:cNvPr>
          <p:cNvSpPr/>
          <p:nvPr/>
        </p:nvSpPr>
        <p:spPr>
          <a:xfrm>
            <a:off x="717754" y="5189410"/>
            <a:ext cx="2462905" cy="2338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System Layer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9FAFAAB-5241-1CD3-385D-D9AA224B99CB}"/>
              </a:ext>
            </a:extLst>
          </p:cNvPr>
          <p:cNvSpPr/>
          <p:nvPr/>
        </p:nvSpPr>
        <p:spPr>
          <a:xfrm>
            <a:off x="4475537" y="2550236"/>
            <a:ext cx="1823894" cy="267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APIM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BCABC0B-4512-8E84-0F9B-DDB05A39D292}"/>
              </a:ext>
            </a:extLst>
          </p:cNvPr>
          <p:cNvSpPr/>
          <p:nvPr/>
        </p:nvSpPr>
        <p:spPr>
          <a:xfrm>
            <a:off x="4661258" y="3084839"/>
            <a:ext cx="1726479" cy="253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>
              <a:latin typeface="Aptos" panose="020B0004020202020204" pitchFamily="34" charset="0"/>
            </a:endParaRP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JWT/OAuth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Rate Limits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Caching</a:t>
            </a:r>
            <a:endParaRPr lang="en-US" sz="1400" dirty="0">
              <a:latin typeface="Aptos" panose="020B0004020202020204" pitchFamily="34" charset="0"/>
            </a:endParaRP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Request logs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Custom dims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Subscriptions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3322975B-6DE6-D763-42E0-DE4DFBE0BE04}"/>
              </a:ext>
            </a:extLst>
          </p:cNvPr>
          <p:cNvSpPr/>
          <p:nvPr/>
        </p:nvSpPr>
        <p:spPr>
          <a:xfrm>
            <a:off x="7490743" y="2750781"/>
            <a:ext cx="2199022" cy="801741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93C0C12-8CC3-098E-E32F-C873EB8893D8}"/>
              </a:ext>
            </a:extLst>
          </p:cNvPr>
          <p:cNvSpPr/>
          <p:nvPr/>
        </p:nvSpPr>
        <p:spPr>
          <a:xfrm>
            <a:off x="7490743" y="2951216"/>
            <a:ext cx="2199022" cy="40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84479A60-F8E1-9570-1C89-D0C130AE895A}"/>
              </a:ext>
            </a:extLst>
          </p:cNvPr>
          <p:cNvSpPr/>
          <p:nvPr/>
        </p:nvSpPr>
        <p:spPr>
          <a:xfrm>
            <a:off x="7490743" y="3752957"/>
            <a:ext cx="2199022" cy="801741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A4CB08F7-566D-B076-0F47-E5EC40FE6518}"/>
              </a:ext>
            </a:extLst>
          </p:cNvPr>
          <p:cNvSpPr/>
          <p:nvPr/>
        </p:nvSpPr>
        <p:spPr>
          <a:xfrm>
            <a:off x="7490743" y="3953392"/>
            <a:ext cx="2199022" cy="40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EDW / Fabric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0CB0216E-280A-904C-0B31-D02C261593A4}"/>
              </a:ext>
            </a:extLst>
          </p:cNvPr>
          <p:cNvSpPr/>
          <p:nvPr/>
        </p:nvSpPr>
        <p:spPr>
          <a:xfrm>
            <a:off x="7490743" y="4755133"/>
            <a:ext cx="2199022" cy="801741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B342BE2-216E-0D04-DA7D-1A75B4854ADC}"/>
              </a:ext>
            </a:extLst>
          </p:cNvPr>
          <p:cNvSpPr/>
          <p:nvPr/>
        </p:nvSpPr>
        <p:spPr>
          <a:xfrm>
            <a:off x="7490743" y="4955569"/>
            <a:ext cx="2199022" cy="40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7C1DE0A8-EF43-51F5-393B-40092D377C9A}"/>
              </a:ext>
            </a:extLst>
          </p:cNvPr>
          <p:cNvSpPr/>
          <p:nvPr/>
        </p:nvSpPr>
        <p:spPr>
          <a:xfrm>
            <a:off x="3224639" y="2884404"/>
            <a:ext cx="1010968" cy="200435"/>
          </a:xfrm>
          <a:prstGeom prst="rightArrow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14F4E9F3-598B-0377-BA71-B1A88B8633A2}"/>
              </a:ext>
            </a:extLst>
          </p:cNvPr>
          <p:cNvSpPr/>
          <p:nvPr/>
        </p:nvSpPr>
        <p:spPr>
          <a:xfrm>
            <a:off x="3224639" y="4287451"/>
            <a:ext cx="1010968" cy="200435"/>
          </a:xfrm>
          <a:prstGeom prst="rightArrow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9E780576-A3C9-B79D-576A-CD644E0B303E}"/>
              </a:ext>
            </a:extLst>
          </p:cNvPr>
          <p:cNvSpPr/>
          <p:nvPr/>
        </p:nvSpPr>
        <p:spPr>
          <a:xfrm>
            <a:off x="3224639" y="5690498"/>
            <a:ext cx="1010968" cy="200435"/>
          </a:xfrm>
          <a:prstGeom prst="rightArrow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DDEBF1EB-BC75-2E29-9028-D58DE8B64FF8}"/>
              </a:ext>
            </a:extLst>
          </p:cNvPr>
          <p:cNvSpPr/>
          <p:nvPr/>
        </p:nvSpPr>
        <p:spPr>
          <a:xfrm>
            <a:off x="6539361" y="3084839"/>
            <a:ext cx="863420" cy="167029"/>
          </a:xfrm>
          <a:prstGeom prst="rightArrow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DD97EAF0-C15E-FD49-3843-A467C75FCCED}"/>
              </a:ext>
            </a:extLst>
          </p:cNvPr>
          <p:cNvSpPr/>
          <p:nvPr/>
        </p:nvSpPr>
        <p:spPr>
          <a:xfrm>
            <a:off x="6554385" y="2963427"/>
            <a:ext cx="791648" cy="13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F3E5E1B2-804D-48F1-0772-04C5EA2A9BBA}"/>
              </a:ext>
            </a:extLst>
          </p:cNvPr>
          <p:cNvSpPr/>
          <p:nvPr/>
        </p:nvSpPr>
        <p:spPr>
          <a:xfrm>
            <a:off x="8458312" y="3552522"/>
            <a:ext cx="219902" cy="200435"/>
          </a:xfrm>
          <a:prstGeom prst="downArrow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06043938-1047-4B1F-22D5-BFF397B1A1B8}"/>
              </a:ext>
            </a:extLst>
          </p:cNvPr>
          <p:cNvSpPr/>
          <p:nvPr/>
        </p:nvSpPr>
        <p:spPr>
          <a:xfrm>
            <a:off x="8458312" y="4554698"/>
            <a:ext cx="219902" cy="200435"/>
          </a:xfrm>
          <a:prstGeom prst="downArrow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A95C1511-3A58-A13B-0E55-4A2E47C27819}"/>
              </a:ext>
            </a:extLst>
          </p:cNvPr>
          <p:cNvSpPr/>
          <p:nvPr/>
        </p:nvSpPr>
        <p:spPr>
          <a:xfrm>
            <a:off x="9953647" y="2896797"/>
            <a:ext cx="1935140" cy="534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72941"/>
            </a:solidFill>
            <a:prstDash val="dash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AF62D17E-046F-8555-DBFC-12BEB2072752}"/>
              </a:ext>
            </a:extLst>
          </p:cNvPr>
          <p:cNvSpPr/>
          <p:nvPr/>
        </p:nvSpPr>
        <p:spPr>
          <a:xfrm>
            <a:off x="9953647" y="2963609"/>
            <a:ext cx="1935140" cy="40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Traditional API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B2160011-0CE6-B921-60C0-4C79F4C94AFE}"/>
              </a:ext>
            </a:extLst>
          </p:cNvPr>
          <p:cNvSpPr/>
          <p:nvPr/>
        </p:nvSpPr>
        <p:spPr>
          <a:xfrm>
            <a:off x="9953647" y="3886580"/>
            <a:ext cx="1935140" cy="534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72941"/>
            </a:solidFill>
            <a:prstDash val="dash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E38233D4-1CF6-CFB3-7FB6-373586E5A56A}"/>
              </a:ext>
            </a:extLst>
          </p:cNvPr>
          <p:cNvSpPr/>
          <p:nvPr/>
        </p:nvSpPr>
        <p:spPr>
          <a:xfrm>
            <a:off x="9953647" y="3953392"/>
            <a:ext cx="1935140" cy="40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Token/AI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Metering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6C9172C8-930F-77AC-86B6-CEC95F4D409B}"/>
              </a:ext>
            </a:extLst>
          </p:cNvPr>
          <p:cNvSpPr/>
          <p:nvPr/>
        </p:nvSpPr>
        <p:spPr>
          <a:xfrm>
            <a:off x="9953647" y="4821945"/>
            <a:ext cx="1935140" cy="5344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72941"/>
            </a:solidFill>
            <a:prstDash val="dash"/>
          </a:ln>
        </p:spPr>
        <p:txBody>
          <a:bodyPr/>
          <a:lstStyle/>
          <a:p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FD259F89-BC7C-21A3-9292-C4383802A197}"/>
              </a:ext>
            </a:extLst>
          </p:cNvPr>
          <p:cNvSpPr/>
          <p:nvPr/>
        </p:nvSpPr>
        <p:spPr>
          <a:xfrm>
            <a:off x="9953647" y="4888757"/>
            <a:ext cx="1935140" cy="40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439CD21-B763-55A6-2463-7BAA7A817E91}"/>
              </a:ext>
            </a:extLst>
          </p:cNvPr>
          <p:cNvSpPr/>
          <p:nvPr/>
        </p:nvSpPr>
        <p:spPr>
          <a:xfrm>
            <a:off x="809719" y="5459042"/>
            <a:ext cx="2286983" cy="935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Shaw/Conduent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Defi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FICO/RDN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Salesforce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367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Traditional API Cost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Key Metrics to Capture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Request counts by consumer, endpoint, time period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Response times and latency percentiles (p50, p95, p99)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Error rates and failure patterns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Data transfer volumes (egress costs)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Third-party API call counts and costs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Implementation Approach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APIM Analytics: Built-in metrics, request logging, subscription tracking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Azure Monitor: Custom dimensions for business attribution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Custom Tags: Business unit, cost center, backend system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Critical: Tag during migration to avoid costly backfill later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13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AI/Token Tracking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Three Metering Patterns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Pattern 1 </a:t>
            </a:r>
            <a:r>
              <a:rPr dirty="0">
                <a:latin typeface="Aptos" panose="020B0004020202020204" pitchFamily="34" charset="0"/>
              </a:rPr>
              <a:t>- Gateway Proxy: Route all AI requests through APIM; captures model, tokens, caller, use case; enables rate limiting and cost caps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Pattern 2</a:t>
            </a:r>
            <a:r>
              <a:rPr dirty="0">
                <a:latin typeface="Aptos" panose="020B0004020202020204" pitchFamily="34" charset="0"/>
              </a:rPr>
              <a:t> - SDK Wrapper: Lightweight wrapper at application level; works for embedded AI like Einstein; less centralized visibility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Pattern 3 </a:t>
            </a:r>
            <a:r>
              <a:rPr dirty="0">
                <a:latin typeface="Aptos" panose="020B0004020202020204" pitchFamily="34" charset="0"/>
              </a:rPr>
              <a:t>- Async Metering: Fire-and-forget to event hub; aggregation in data warehouse; enables near-real-time dashboards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SFS Recommendation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Primary</a:t>
            </a:r>
            <a:r>
              <a:rPr dirty="0">
                <a:latin typeface="Aptos" panose="020B0004020202020204" pitchFamily="34" charset="0"/>
              </a:rPr>
              <a:t>: Pattern 1 (Gateway Proxy) for centralized AI requests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Aggregation</a:t>
            </a:r>
            <a:r>
              <a:rPr dirty="0">
                <a:latin typeface="Aptos" panose="020B0004020202020204" pitchFamily="34" charset="0"/>
              </a:rPr>
              <a:t>: Pattern 3 for warehouse-level analytics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Fallback</a:t>
            </a:r>
            <a:r>
              <a:rPr dirty="0">
                <a:latin typeface="Aptos" panose="020B0004020202020204" pitchFamily="34" charset="0"/>
              </a:rPr>
              <a:t>: Pattern 2 where gateway not feasible (Einstein)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Note</a:t>
            </a:r>
            <a:r>
              <a:rPr dirty="0">
                <a:latin typeface="Aptos" panose="020B0004020202020204" pitchFamily="34" charset="0"/>
              </a:rPr>
              <a:t>: Genesys uses token-based consumption model - align tracking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14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788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AI/Token Tracking Patterns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8788" y="822960"/>
            <a:ext cx="3474720" cy="32004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8788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Pattern 1: Gateway Proxy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0228" y="13716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 AI requests route through APIM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Centralized visibility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Policy enforcement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Rate limiting &amp; cost caps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Consistent metering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Requires routing changes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Potential latency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99268" y="822960"/>
            <a:ext cx="3474720" cy="32004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9268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Pattern 2: SDK Wrapper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90708" y="13716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Lightweight wrapper in app code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Works for embedded AI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No infrastructure changes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Platform-specific (Einstein)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Decentralized data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Harder to aggregate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Per-app implementation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39748" y="822960"/>
            <a:ext cx="3474720" cy="32004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39748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Pattern 3: Async Metering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31188" y="13716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Fire-and-forget to event hub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Non-blocking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Warehouse aggregation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Near-real-time dashboards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Flexible schemas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Not real-time enforcement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 Requires event infrastructure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8788" y="4206240"/>
            <a:ext cx="11247120" cy="18288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1667" y="4297680"/>
            <a:ext cx="29989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SFS Recommendation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1668" y="4414684"/>
            <a:ext cx="10881360" cy="1711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Primary: Pattern 1 (Gateway Proxy) for centralized AI requests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Aggregation: Pattern 3 for warehouse analytics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Fallback: Pattern 2 where gateway not feasible (Einstein embedded)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EC0E8-AEE3-E4B9-8D81-42D727BFE8DE}"/>
              </a:ext>
            </a:extLst>
          </p:cNvPr>
          <p:cNvSpPr txBox="1"/>
          <p:nvPr/>
        </p:nvSpPr>
        <p:spPr>
          <a:xfrm>
            <a:off x="2231922" y="6097368"/>
            <a:ext cx="859339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65760" indent="-182880" algn="l">
              <a:buChar char="•"/>
            </a:pPr>
            <a:r>
              <a:rPr lang="en-US" dirty="0">
                <a:latin typeface="Aptos" panose="020B0004020202020204" pitchFamily="34" charset="0"/>
              </a:rPr>
              <a:t>Note: Genesys uses token-based consumption model - align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Chargeback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Building Blocks for Cost Allocation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Consumer Identification: Map requests to business units (retail vs. lease), cost centers, applications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Service Categorization: Distinguish AI/token costs from traditional API costs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Usage Aggregation: Roll up to meaningful reporting periods and dimensions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Cost Allocation Model: Direct attribution vs. shared services allocation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Design Principle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Capture granular data now, decide allocation model later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SF already segments costs by call center and tracks third-party APIs (Google services)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Token costs may double or triple as AI subsidies end - track for ROI validation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Business units should demonstrate ROI to fund AI capabilities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16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6AB3-8264-A5AA-B727-52DB8A1F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7A11-C1A4-8F28-4742-D9D08147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Agentic Management</a:t>
            </a:r>
          </a:p>
        </p:txBody>
      </p:sp>
    </p:spTree>
    <p:extLst>
      <p:ext uri="{BB962C8B-B14F-4D97-AF65-F5344CB8AC3E}">
        <p14:creationId xmlns:p14="http://schemas.microsoft.com/office/powerpoint/2010/main" val="690735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The Agentic AI Management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410044"/>
            <a:ext cx="5018129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Emerging Requirements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Discovery</a:t>
            </a:r>
            <a:r>
              <a:rPr dirty="0">
                <a:latin typeface="Aptos" panose="020B0004020202020204" pitchFamily="34" charset="0"/>
              </a:rPr>
              <a:t>: How do consumers find available AI agents and capabilities?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Registration</a:t>
            </a:r>
            <a:r>
              <a:rPr dirty="0">
                <a:latin typeface="Aptos" panose="020B0004020202020204" pitchFamily="34" charset="0"/>
              </a:rPr>
              <a:t>: How are new agents onboarded with appropriate metadata?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Authorization</a:t>
            </a:r>
            <a:r>
              <a:rPr dirty="0">
                <a:latin typeface="Aptos" panose="020B0004020202020204" pitchFamily="34" charset="0"/>
              </a:rPr>
              <a:t>: Who can invoke which agents with what data access?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Observability</a:t>
            </a:r>
            <a:r>
              <a:rPr dirty="0">
                <a:latin typeface="Aptos" panose="020B0004020202020204" pitchFamily="34" charset="0"/>
              </a:rPr>
              <a:t>: How do we monitor agent behavior, costs, and outcomes?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Governance</a:t>
            </a:r>
            <a:r>
              <a:rPr dirty="0">
                <a:latin typeface="Aptos" panose="020B0004020202020204" pitchFamily="34" charset="0"/>
              </a:rPr>
              <a:t>: How do we ensure compliance and audit trail?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015" y="1412182"/>
            <a:ext cx="5061809" cy="4764741"/>
          </a:xfrm>
        </p:spPr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Parallels to API Management Evolution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API management matured from ad-hoc to governed over 10+ years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Agentic systems face similar lifecycle: discovery → registration → governance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Opportunity: Apply API lessons proactively before proliferation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Scope: Primarily AI agents, but patterns apply to RPA (UiPath) and business rules engines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18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147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129336"/>
            <a:ext cx="11259334" cy="693551"/>
          </a:xfrm>
        </p:spPr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Decision Engines in the Agentic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44" y="827376"/>
            <a:ext cx="6098261" cy="2096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 panose="020B0004020202020204" pitchFamily="34" charset="0"/>
              </a:rPr>
              <a:t>SFS Decision Engines</a:t>
            </a:r>
          </a:p>
          <a:p>
            <a:pPr marL="365760" indent="-182880" algn="l">
              <a:buChar char="•"/>
            </a:pPr>
            <a:r>
              <a:rPr sz="1600" dirty="0">
                <a:latin typeface="Aptos" panose="020B0004020202020204" pitchFamily="34" charset="0"/>
              </a:rPr>
              <a:t>FICO Decision Modeler: Credit decisioning, collections strategies</a:t>
            </a:r>
          </a:p>
          <a:p>
            <a:pPr marL="365760" indent="-182880" algn="l">
              <a:buChar char="•"/>
            </a:pPr>
            <a:r>
              <a:rPr sz="1600" dirty="0">
                <a:latin typeface="Aptos" panose="020B0004020202020204" pitchFamily="34" charset="0"/>
              </a:rPr>
              <a:t>Remarketing Decision Engine: Pricing optimization, channel routing, business rules (FICO platform)</a:t>
            </a:r>
          </a:p>
          <a:p>
            <a:pPr marL="365760" indent="-182880" algn="l">
              <a:buChar char="•"/>
            </a:pPr>
            <a:r>
              <a:rPr sz="1600" dirty="0">
                <a:latin typeface="Aptos" panose="020B0004020202020204" pitchFamily="34" charset="0"/>
              </a:rPr>
              <a:t>Future: Pricing optimization, termination models, reconditioning decisions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772010" y="822888"/>
            <a:ext cx="5351161" cy="1959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 panose="020B0004020202020204" pitchFamily="34" charset="0"/>
              </a:rPr>
              <a:t>Special Considerations</a:t>
            </a:r>
          </a:p>
          <a:p>
            <a:pPr marL="365760" indent="-182880" algn="l">
              <a:buChar char="•"/>
            </a:pPr>
            <a:r>
              <a:rPr sz="1600" dirty="0">
                <a:latin typeface="Aptos" panose="020B0004020202020204" pitchFamily="34" charset="0"/>
              </a:rPr>
              <a:t>Not quite APIs, not quite AI agents - deterministic rule/model-based systems</a:t>
            </a:r>
          </a:p>
          <a:p>
            <a:pPr marL="365760" indent="-182880" algn="l">
              <a:buChar char="•"/>
            </a:pPr>
            <a:r>
              <a:rPr sz="1600" dirty="0">
                <a:latin typeface="Aptos" panose="020B0004020202020204" pitchFamily="34" charset="0"/>
              </a:rPr>
              <a:t>May need special treatment: latency-sensitive, high-stakes, strict versioning/audit</a:t>
            </a:r>
          </a:p>
          <a:p>
            <a:pPr marL="365760" indent="-182880" algn="l">
              <a:buChar char="•"/>
            </a:pPr>
            <a:r>
              <a:rPr sz="1600" dirty="0">
                <a:latin typeface="Aptos" panose="020B0004020202020204" pitchFamily="34" charset="0"/>
              </a:rPr>
              <a:t>Can be 'tools' that AI agents invoke via API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8584" y="6275017"/>
            <a:ext cx="503416" cy="365125"/>
          </a:xfrm>
        </p:spPr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19</a:t>
            </a:fld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A481246-8A89-9177-CF22-1265BC4DC18D}"/>
              </a:ext>
            </a:extLst>
          </p:cNvPr>
          <p:cNvSpPr/>
          <p:nvPr/>
        </p:nvSpPr>
        <p:spPr>
          <a:xfrm>
            <a:off x="2286602" y="4421563"/>
            <a:ext cx="8367252" cy="731520"/>
          </a:xfrm>
          <a:prstGeom prst="rightArrow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C557B744-CA45-3FCC-B29E-068984E2732D}"/>
              </a:ext>
            </a:extLst>
          </p:cNvPr>
          <p:cNvSpPr/>
          <p:nvPr/>
        </p:nvSpPr>
        <p:spPr>
          <a:xfrm>
            <a:off x="2384925" y="4662576"/>
            <a:ext cx="9472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934A9D71-B8D4-156E-BF17-30D1099DD5BC}"/>
              </a:ext>
            </a:extLst>
          </p:cNvPr>
          <p:cNvSpPr/>
          <p:nvPr/>
        </p:nvSpPr>
        <p:spPr>
          <a:xfrm>
            <a:off x="9523525" y="4650163"/>
            <a:ext cx="9472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7263C0F3-4ACD-051B-FB3C-4693236FEF26}"/>
              </a:ext>
            </a:extLst>
          </p:cNvPr>
          <p:cNvSpPr/>
          <p:nvPr/>
        </p:nvSpPr>
        <p:spPr>
          <a:xfrm>
            <a:off x="2513727" y="3094208"/>
            <a:ext cx="2352447" cy="1356851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E870AF3-9F01-6B65-F1F4-43FF12D2D23C}"/>
              </a:ext>
            </a:extLst>
          </p:cNvPr>
          <p:cNvSpPr/>
          <p:nvPr/>
        </p:nvSpPr>
        <p:spPr>
          <a:xfrm>
            <a:off x="2633313" y="3141157"/>
            <a:ext cx="1765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Simple API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21E09F1-A07D-D91A-A17E-CC65DAA2386E}"/>
              </a:ext>
            </a:extLst>
          </p:cNvPr>
          <p:cNvSpPr/>
          <p:nvPr/>
        </p:nvSpPr>
        <p:spPr>
          <a:xfrm>
            <a:off x="2678717" y="3305725"/>
            <a:ext cx="20062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Request/Response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Fixed logic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CRUD operations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Low latency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2D24001C-58EB-A886-EEC2-8B7F18665ED8}"/>
              </a:ext>
            </a:extLst>
          </p:cNvPr>
          <p:cNvSpPr/>
          <p:nvPr/>
        </p:nvSpPr>
        <p:spPr>
          <a:xfrm>
            <a:off x="5318457" y="3094207"/>
            <a:ext cx="2352447" cy="1356852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374C773-8DAF-C95F-EA33-DB6CC25A2EF3}"/>
              </a:ext>
            </a:extLst>
          </p:cNvPr>
          <p:cNvSpPr/>
          <p:nvPr/>
        </p:nvSpPr>
        <p:spPr>
          <a:xfrm>
            <a:off x="5470673" y="3145705"/>
            <a:ext cx="20018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3714326-9159-F9E1-F46D-797CA2270D01}"/>
              </a:ext>
            </a:extLst>
          </p:cNvPr>
          <p:cNvSpPr/>
          <p:nvPr/>
        </p:nvSpPr>
        <p:spPr>
          <a:xfrm>
            <a:off x="5481483" y="3392739"/>
            <a:ext cx="2118410" cy="1019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Rule-based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Model-driven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Auditable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FICO, Remarketing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9C45D1BA-E73B-31F5-19CA-1D29794147D8}"/>
              </a:ext>
            </a:extLst>
          </p:cNvPr>
          <p:cNvSpPr/>
          <p:nvPr/>
        </p:nvSpPr>
        <p:spPr>
          <a:xfrm>
            <a:off x="8079576" y="3094205"/>
            <a:ext cx="2352447" cy="1356853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DD5A08CB-0A84-977D-4E61-91F67317161D}"/>
              </a:ext>
            </a:extLst>
          </p:cNvPr>
          <p:cNvSpPr/>
          <p:nvPr/>
        </p:nvSpPr>
        <p:spPr>
          <a:xfrm>
            <a:off x="8460448" y="3145705"/>
            <a:ext cx="15907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99096CC-F856-FADC-4984-9996C7CFF3BD}"/>
              </a:ext>
            </a:extLst>
          </p:cNvPr>
          <p:cNvSpPr/>
          <p:nvPr/>
        </p:nvSpPr>
        <p:spPr>
          <a:xfrm>
            <a:off x="8235433" y="3394213"/>
            <a:ext cx="2119528" cy="1053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LLM-powered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Contextual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Token consumption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Einstein, Copilot</a:t>
            </a:r>
            <a:endParaRPr lang="en-US" sz="1400" dirty="0">
              <a:latin typeface="Aptos" panose="020B0004020202020204" pitchFamily="34" charset="0"/>
            </a:endParaRPr>
          </a:p>
        </p:txBody>
      </p:sp>
      <p:graphicFrame>
        <p:nvGraphicFramePr>
          <p:cNvPr id="31" name="Table 0">
            <a:extLst>
              <a:ext uri="{FF2B5EF4-FFF2-40B4-BE49-F238E27FC236}">
                <a16:creationId xmlns:a16="http://schemas.microsoft.com/office/drawing/2014/main" id="{62482D09-D133-4261-AD64-3E8463AC6597}"/>
              </a:ext>
            </a:extLst>
          </p:cNvPr>
          <p:cNvGraphicFramePr>
            <a:graphicFrameLocks noGrp="1"/>
          </p:cNvGraphicFramePr>
          <p:nvPr/>
        </p:nvGraphicFramePr>
        <p:xfrm>
          <a:off x="820990" y="5162180"/>
          <a:ext cx="9960077" cy="1295400"/>
        </p:xfrm>
        <a:graphic>
          <a:graphicData uri="http://schemas.openxmlformats.org/drawingml/2006/table">
            <a:tbl>
              <a:tblPr/>
              <a:tblGrid>
                <a:gridCol w="1352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89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89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Registry/Discovery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89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89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Lineage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+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89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Agent Registry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Registry Metadata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Identity</a:t>
            </a:r>
            <a:r>
              <a:rPr dirty="0">
                <a:latin typeface="Aptos" panose="020B0004020202020204" pitchFamily="34" charset="0"/>
              </a:rPr>
              <a:t>: Name, description, owner, version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Capabilities</a:t>
            </a:r>
            <a:r>
              <a:rPr dirty="0">
                <a:latin typeface="Aptos" panose="020B0004020202020204" pitchFamily="34" charset="0"/>
              </a:rPr>
              <a:t>: What can this agent do? Input/output schemas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Cost Profile</a:t>
            </a:r>
            <a:r>
              <a:rPr dirty="0">
                <a:latin typeface="Aptos" panose="020B0004020202020204" pitchFamily="34" charset="0"/>
              </a:rPr>
              <a:t>: Expected token consumption, compute costs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Compliance</a:t>
            </a:r>
            <a:r>
              <a:rPr dirty="0">
                <a:latin typeface="Aptos" panose="020B0004020202020204" pitchFamily="34" charset="0"/>
              </a:rPr>
              <a:t>: Data access classification, PII handling, audit requirements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Status</a:t>
            </a:r>
            <a:r>
              <a:rPr dirty="0">
                <a:latin typeface="Aptos" panose="020B0004020202020204" pitchFamily="34" charset="0"/>
              </a:rPr>
              <a:t>: Active, deprecated, testing, approved platforms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Implementation Options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Option 1</a:t>
            </a:r>
            <a:r>
              <a:rPr dirty="0">
                <a:latin typeface="Aptos" panose="020B0004020202020204" pitchFamily="34" charset="0"/>
              </a:rPr>
              <a:t>: Extend APIM Developer Portal catalog (low effort, near-term)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Option 2</a:t>
            </a:r>
            <a:r>
              <a:rPr dirty="0">
                <a:latin typeface="Aptos" panose="020B0004020202020204" pitchFamily="34" charset="0"/>
              </a:rPr>
              <a:t>: Dedicated registry service (richer features, medium-term)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Option 3</a:t>
            </a:r>
            <a:r>
              <a:rPr dirty="0">
                <a:latin typeface="Aptos" panose="020B0004020202020204" pitchFamily="34" charset="0"/>
              </a:rPr>
              <a:t>: MCP-native discovery (if MCP adopted)</a:t>
            </a:r>
          </a:p>
          <a:p>
            <a:pPr marL="365760" indent="-182880" algn="l">
              <a:buChar char="•"/>
            </a:pPr>
            <a:r>
              <a:rPr b="1" dirty="0">
                <a:latin typeface="Aptos" panose="020B0004020202020204" pitchFamily="34" charset="0"/>
              </a:rPr>
              <a:t>Recommendation</a:t>
            </a:r>
            <a:r>
              <a:rPr dirty="0">
                <a:latin typeface="Aptos" panose="020B0004020202020204" pitchFamily="34" charset="0"/>
              </a:rPr>
              <a:t>: Start manual/extended APIM during pilots; evaluate dedicated registry as scale grows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20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Agent Orchestration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96" y="900866"/>
            <a:ext cx="5650390" cy="3067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700" b="1" dirty="0">
                <a:latin typeface="Aptos" panose="020B0004020202020204" pitchFamily="34" charset="0"/>
              </a:rPr>
              <a:t>Three Orchestration Models</a:t>
            </a:r>
          </a:p>
          <a:p>
            <a:pPr marL="365760" indent="-182880" algn="l">
              <a:buChar char="•"/>
            </a:pPr>
            <a:r>
              <a:rPr sz="1700" b="1" dirty="0">
                <a:latin typeface="Aptos" panose="020B0004020202020204" pitchFamily="34" charset="0"/>
              </a:rPr>
              <a:t>Centralized Orchestrator</a:t>
            </a:r>
            <a:r>
              <a:rPr sz="1700" dirty="0">
                <a:latin typeface="Aptos" panose="020B0004020202020204" pitchFamily="34" charset="0"/>
              </a:rPr>
              <a:t>: Single conductor coordinates all agents; easier monitoring/audit; potential bottleneck</a:t>
            </a:r>
          </a:p>
          <a:p>
            <a:pPr marL="365760" indent="-182880" algn="l">
              <a:buChar char="•"/>
            </a:pPr>
            <a:r>
              <a:rPr sz="1700" b="1" dirty="0">
                <a:latin typeface="Aptos" panose="020B0004020202020204" pitchFamily="34" charset="0"/>
              </a:rPr>
              <a:t>Federated/Peer-to-Peer</a:t>
            </a:r>
            <a:r>
              <a:rPr sz="1700" dirty="0">
                <a:latin typeface="Aptos" panose="020B0004020202020204" pitchFamily="34" charset="0"/>
              </a:rPr>
              <a:t>: Agents communicate directly; flexible and scalable; harder to govern</a:t>
            </a:r>
          </a:p>
          <a:p>
            <a:pPr marL="365760" indent="-182880" algn="l">
              <a:buChar char="•"/>
            </a:pPr>
            <a:r>
              <a:rPr sz="1700" b="1" dirty="0">
                <a:latin typeface="Aptos" panose="020B0004020202020204" pitchFamily="34" charset="0"/>
              </a:rPr>
              <a:t>Domain Orchestrators + Light Coordination</a:t>
            </a:r>
            <a:r>
              <a:rPr sz="1700" dirty="0">
                <a:latin typeface="Aptos" panose="020B0004020202020204" pitchFamily="34" charset="0"/>
              </a:rPr>
              <a:t>: Domain-specific orchestrators with thin cross-domain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663858" y="911375"/>
            <a:ext cx="5061809" cy="2362768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SFS Recommendation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Pattern 3 (Domain Orchestrators) aligns with SFS direction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Domain examples: Compliance, Customer Service, Remarketing, Collections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Supports </a:t>
            </a:r>
            <a:r>
              <a:rPr lang="en-US" dirty="0">
                <a:latin typeface="Aptos" panose="020B0004020202020204" pitchFamily="34" charset="0"/>
              </a:rPr>
              <a:t>“s</a:t>
            </a:r>
            <a:r>
              <a:rPr dirty="0">
                <a:latin typeface="Aptos" panose="020B0004020202020204" pitchFamily="34" charset="0"/>
              </a:rPr>
              <a:t>pecialized bots for complianc</a:t>
            </a:r>
            <a:r>
              <a:rPr lang="en-US" dirty="0">
                <a:latin typeface="Aptos" panose="020B0004020202020204" pitchFamily="34" charset="0"/>
              </a:rPr>
              <a:t>e”</a:t>
            </a:r>
            <a:r>
              <a:rPr dirty="0">
                <a:latin typeface="Aptos" panose="020B0004020202020204" pitchFamily="34" charset="0"/>
              </a:rPr>
              <a:t> approach already discussed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21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E767AFE-F396-4A2A-3C2B-665F35073B7F}"/>
              </a:ext>
            </a:extLst>
          </p:cNvPr>
          <p:cNvSpPr/>
          <p:nvPr/>
        </p:nvSpPr>
        <p:spPr>
          <a:xfrm>
            <a:off x="1393285" y="3494671"/>
            <a:ext cx="8873224" cy="505305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2F871E1-321D-8528-E97A-E102CFF32CA6}"/>
              </a:ext>
            </a:extLst>
          </p:cNvPr>
          <p:cNvSpPr/>
          <p:nvPr/>
        </p:nvSpPr>
        <p:spPr>
          <a:xfrm>
            <a:off x="2360666" y="3589416"/>
            <a:ext cx="7134630" cy="315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Cross-Domain Coordination Layer (Lightweight)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84F9F24-2666-40DD-21C2-7EEB78F8BE4D}"/>
              </a:ext>
            </a:extLst>
          </p:cNvPr>
          <p:cNvSpPr/>
          <p:nvPr/>
        </p:nvSpPr>
        <p:spPr>
          <a:xfrm>
            <a:off x="641478" y="4150138"/>
            <a:ext cx="2406863" cy="1389589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D3106BF-BC80-0414-A735-0BE19DDDFA07}"/>
              </a:ext>
            </a:extLst>
          </p:cNvPr>
          <p:cNvSpPr/>
          <p:nvPr/>
        </p:nvSpPr>
        <p:spPr>
          <a:xfrm>
            <a:off x="641478" y="4213301"/>
            <a:ext cx="2406863" cy="221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6B525A7-9C4F-BCE5-CF6F-FA02E39180C9}"/>
              </a:ext>
            </a:extLst>
          </p:cNvPr>
          <p:cNvSpPr/>
          <p:nvPr/>
        </p:nvSpPr>
        <p:spPr>
          <a:xfrm>
            <a:off x="727437" y="4544907"/>
            <a:ext cx="2234944" cy="757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Wrongful Repo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Prevention Bot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Disclosure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Agents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78C909C-2C8B-A664-AB54-692BF2D2F158}"/>
              </a:ext>
            </a:extLst>
          </p:cNvPr>
          <p:cNvSpPr/>
          <p:nvPr/>
        </p:nvSpPr>
        <p:spPr>
          <a:xfrm>
            <a:off x="3306219" y="4150138"/>
            <a:ext cx="2406863" cy="1389589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3B82FB2-4EE3-16E7-ECB0-33E953C2567F}"/>
              </a:ext>
            </a:extLst>
          </p:cNvPr>
          <p:cNvSpPr/>
          <p:nvPr/>
        </p:nvSpPr>
        <p:spPr>
          <a:xfrm>
            <a:off x="3306219" y="4213301"/>
            <a:ext cx="2406863" cy="221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6EF6FDA-1737-2510-3B4A-BA7BD00137F8}"/>
              </a:ext>
            </a:extLst>
          </p:cNvPr>
          <p:cNvSpPr/>
          <p:nvPr/>
        </p:nvSpPr>
        <p:spPr>
          <a:xfrm>
            <a:off x="3392178" y="4497535"/>
            <a:ext cx="2234944" cy="773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Einstein Assist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Genesys Virtual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Knowledge Bot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249F9CD-729B-4CC3-1C0F-2DB04D1BA76B}"/>
              </a:ext>
            </a:extLst>
          </p:cNvPr>
          <p:cNvSpPr/>
          <p:nvPr/>
        </p:nvSpPr>
        <p:spPr>
          <a:xfrm>
            <a:off x="5970961" y="4150138"/>
            <a:ext cx="2406863" cy="1389589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27D76238-CEF2-5CA1-07FC-8F5FE79E1B7F}"/>
              </a:ext>
            </a:extLst>
          </p:cNvPr>
          <p:cNvSpPr/>
          <p:nvPr/>
        </p:nvSpPr>
        <p:spPr>
          <a:xfrm>
            <a:off x="5970961" y="4213301"/>
            <a:ext cx="2406863" cy="221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E68EC61-F33F-0746-681A-F1024B271C10}"/>
              </a:ext>
            </a:extLst>
          </p:cNvPr>
          <p:cNvSpPr/>
          <p:nvPr/>
        </p:nvSpPr>
        <p:spPr>
          <a:xfrm>
            <a:off x="6056920" y="4544907"/>
            <a:ext cx="2234944" cy="773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FICO Decision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Pricing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Channel Routing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63D95A73-4B9C-6843-0121-6948D8C71424}"/>
              </a:ext>
            </a:extLst>
          </p:cNvPr>
          <p:cNvSpPr/>
          <p:nvPr/>
        </p:nvSpPr>
        <p:spPr>
          <a:xfrm>
            <a:off x="8635702" y="4150138"/>
            <a:ext cx="2406863" cy="1389589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9EF7AFB-A86B-0C69-C325-A43D57E872D8}"/>
              </a:ext>
            </a:extLst>
          </p:cNvPr>
          <p:cNvSpPr/>
          <p:nvPr/>
        </p:nvSpPr>
        <p:spPr>
          <a:xfrm>
            <a:off x="8635702" y="4213301"/>
            <a:ext cx="2406863" cy="221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9A87370-EC05-3DA1-C607-C1B472ABB104}"/>
              </a:ext>
            </a:extLst>
          </p:cNvPr>
          <p:cNvSpPr/>
          <p:nvPr/>
        </p:nvSpPr>
        <p:spPr>
          <a:xfrm>
            <a:off x="8721661" y="4617156"/>
            <a:ext cx="2234944" cy="685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FICO CCS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Observe AI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Payment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5684EC76-C947-1B23-61BB-071AD1838290}"/>
              </a:ext>
            </a:extLst>
          </p:cNvPr>
          <p:cNvSpPr/>
          <p:nvPr/>
        </p:nvSpPr>
        <p:spPr>
          <a:xfrm>
            <a:off x="1844910" y="3999976"/>
            <a:ext cx="0" cy="150161"/>
          </a:xfrm>
          <a:prstGeom prst="line">
            <a:avLst/>
          </a:prstGeom>
          <a:noFill/>
          <a:ln w="12700">
            <a:solidFill>
              <a:srgbClr val="8E44AD"/>
            </a:solidFill>
            <a:prstDash val="dash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FDBA2B54-CC9F-BB6A-BA4F-1E90DCC2E2A7}"/>
              </a:ext>
            </a:extLst>
          </p:cNvPr>
          <p:cNvSpPr/>
          <p:nvPr/>
        </p:nvSpPr>
        <p:spPr>
          <a:xfrm>
            <a:off x="4509651" y="3999976"/>
            <a:ext cx="0" cy="150161"/>
          </a:xfrm>
          <a:prstGeom prst="line">
            <a:avLst/>
          </a:prstGeom>
          <a:noFill/>
          <a:ln w="12700">
            <a:solidFill>
              <a:srgbClr val="8E44AD"/>
            </a:solidFill>
            <a:prstDash val="dash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22E5A22A-FC91-C36B-4A3E-3F79287ED0B5}"/>
              </a:ext>
            </a:extLst>
          </p:cNvPr>
          <p:cNvSpPr/>
          <p:nvPr/>
        </p:nvSpPr>
        <p:spPr>
          <a:xfrm>
            <a:off x="7174392" y="3999976"/>
            <a:ext cx="0" cy="150161"/>
          </a:xfrm>
          <a:prstGeom prst="line">
            <a:avLst/>
          </a:prstGeom>
          <a:noFill/>
          <a:ln w="12700">
            <a:solidFill>
              <a:srgbClr val="8E44AD"/>
            </a:solidFill>
            <a:prstDash val="dash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35B0D010-FB37-147B-549E-F7DB915672B9}"/>
              </a:ext>
            </a:extLst>
          </p:cNvPr>
          <p:cNvSpPr/>
          <p:nvPr/>
        </p:nvSpPr>
        <p:spPr>
          <a:xfrm>
            <a:off x="9839134" y="3999976"/>
            <a:ext cx="0" cy="150161"/>
          </a:xfrm>
          <a:prstGeom prst="line">
            <a:avLst/>
          </a:prstGeom>
          <a:noFill/>
          <a:ln w="12700">
            <a:solidFill>
              <a:srgbClr val="8E44AD"/>
            </a:solidFill>
            <a:prstDash val="dash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CCB039A-A789-2B0F-99A8-A1686D84353D}"/>
              </a:ext>
            </a:extLst>
          </p:cNvPr>
          <p:cNvSpPr/>
          <p:nvPr/>
        </p:nvSpPr>
        <p:spPr>
          <a:xfrm>
            <a:off x="641478" y="5650560"/>
            <a:ext cx="10401087" cy="53688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2941"/>
            </a:solidFill>
            <a:prstDash val="solid"/>
          </a:ln>
        </p:spPr>
        <p:txBody>
          <a:bodyPr/>
          <a:lstStyle/>
          <a:p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F4E672C-4A0B-00FC-3678-53AE5E943D89}"/>
              </a:ext>
            </a:extLst>
          </p:cNvPr>
          <p:cNvSpPr/>
          <p:nvPr/>
        </p:nvSpPr>
        <p:spPr>
          <a:xfrm>
            <a:off x="641478" y="5761095"/>
            <a:ext cx="10573006" cy="315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Shared Services:  Azure APIM  •  Agent Registry  •  Cost Metering  •  Observability  •  Security/Auth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483AAAE-0090-F294-A0B9-978349A4CB4B}"/>
              </a:ext>
            </a:extLst>
          </p:cNvPr>
          <p:cNvSpPr/>
          <p:nvPr/>
        </p:nvSpPr>
        <p:spPr>
          <a:xfrm>
            <a:off x="543394" y="6297982"/>
            <a:ext cx="10573006" cy="252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i="1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Benefits: Domain expertise preserved • Clear ownership • Easier compliance • Scalable governance</a:t>
            </a:r>
            <a:endParaRPr lang="en-US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Architecture: Without MCP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6333" y="877705"/>
            <a:ext cx="8607737" cy="1997543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Key Components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AI Platforms: Einstein, Azure AI, Genesys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Gateway: Azure APIM with policies, analytics, developer portal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Backends: Shaw, Defi, FICO, Salesforce, EDW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Observability: Azure Monitor → Fabric/EDW → Dashboards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22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66B4980-FC24-EFA0-0CCB-BB1F1803BC93}"/>
              </a:ext>
            </a:extLst>
          </p:cNvPr>
          <p:cNvSpPr/>
          <p:nvPr/>
        </p:nvSpPr>
        <p:spPr>
          <a:xfrm>
            <a:off x="1042220" y="2967169"/>
            <a:ext cx="6299294" cy="894701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F907F70-6AA2-2633-E66A-5203D31B8D7F}"/>
              </a:ext>
            </a:extLst>
          </p:cNvPr>
          <p:cNvSpPr/>
          <p:nvPr/>
        </p:nvSpPr>
        <p:spPr>
          <a:xfrm>
            <a:off x="2261415" y="3071492"/>
            <a:ext cx="4722036" cy="255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Platforms &amp; Agents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B697FFE-C5A4-7B57-82DA-07103C4E97E8}"/>
              </a:ext>
            </a:extLst>
          </p:cNvPr>
          <p:cNvSpPr/>
          <p:nvPr/>
        </p:nvSpPr>
        <p:spPr>
          <a:xfrm>
            <a:off x="2333670" y="3327120"/>
            <a:ext cx="4564094" cy="511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Einstein  •  Azure AI  •  Genesys  •  Copilot Studio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27437ED-2848-7BEA-9A9B-BB24C63759C4}"/>
              </a:ext>
            </a:extLst>
          </p:cNvPr>
          <p:cNvSpPr/>
          <p:nvPr/>
        </p:nvSpPr>
        <p:spPr>
          <a:xfrm>
            <a:off x="7540378" y="2981649"/>
            <a:ext cx="3256109" cy="872729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78BA0D2-271C-13E6-4F6B-FA3AD3FAD2DC}"/>
              </a:ext>
            </a:extLst>
          </p:cNvPr>
          <p:cNvSpPr/>
          <p:nvPr/>
        </p:nvSpPr>
        <p:spPr>
          <a:xfrm>
            <a:off x="7933000" y="3071491"/>
            <a:ext cx="3256109" cy="223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7345B0D-5D08-282E-A2BD-836FB8FA8D0F}"/>
              </a:ext>
            </a:extLst>
          </p:cNvPr>
          <p:cNvSpPr/>
          <p:nvPr/>
        </p:nvSpPr>
        <p:spPr>
          <a:xfrm>
            <a:off x="8018687" y="3327120"/>
            <a:ext cx="3084735" cy="511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Manual/APIM Portal</a:t>
            </a:r>
            <a:endParaRPr lang="en-US" sz="1400" dirty="0"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Metadata • Capabilities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8E4671D-F700-96F5-DA6D-A1B48CF699EE}"/>
              </a:ext>
            </a:extLst>
          </p:cNvPr>
          <p:cNvSpPr/>
          <p:nvPr/>
        </p:nvSpPr>
        <p:spPr>
          <a:xfrm>
            <a:off x="1042220" y="4076801"/>
            <a:ext cx="6890780" cy="102251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2941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6544848-4E62-40BF-AD0F-A70CC0AA643C}"/>
              </a:ext>
            </a:extLst>
          </p:cNvPr>
          <p:cNvSpPr/>
          <p:nvPr/>
        </p:nvSpPr>
        <p:spPr>
          <a:xfrm>
            <a:off x="2363340" y="4108755"/>
            <a:ext cx="4165279" cy="255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APIM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00C2D07-8F19-5EE6-707C-808F8C0695C4}"/>
              </a:ext>
            </a:extLst>
          </p:cNvPr>
          <p:cNvSpPr/>
          <p:nvPr/>
        </p:nvSpPr>
        <p:spPr>
          <a:xfrm>
            <a:off x="906660" y="4364384"/>
            <a:ext cx="6940653" cy="575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Gateway  •  Policies (JWT/Okta)  •  Rate Limiting  •  Analytics  •  Developer Portal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5E1F1193-513D-E377-D1C1-19CF2FB5B5D2}"/>
              </a:ext>
            </a:extLst>
          </p:cNvPr>
          <p:cNvSpPr/>
          <p:nvPr/>
        </p:nvSpPr>
        <p:spPr>
          <a:xfrm>
            <a:off x="1042219" y="5340200"/>
            <a:ext cx="9754267" cy="80496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E2B1AF8-AAF0-C470-9A70-C1E179F9E232}"/>
              </a:ext>
            </a:extLst>
          </p:cNvPr>
          <p:cNvSpPr/>
          <p:nvPr/>
        </p:nvSpPr>
        <p:spPr>
          <a:xfrm>
            <a:off x="906659" y="5401650"/>
            <a:ext cx="7303275" cy="233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Backend Systems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352B1D4-28A0-4DC8-DC81-C877DDD9940E}"/>
              </a:ext>
            </a:extLst>
          </p:cNvPr>
          <p:cNvSpPr/>
          <p:nvPr/>
        </p:nvSpPr>
        <p:spPr>
          <a:xfrm>
            <a:off x="1153498" y="5657787"/>
            <a:ext cx="8338784" cy="382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Shaw/Conduent  •  Defi (Lease/Retail)  •  FICO (Credit/Collections/Remarketing)  •  Salesforce  •  EDW/Fabric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14BE1FC-1307-CCC6-E19E-9B9CC92C49D3}"/>
              </a:ext>
            </a:extLst>
          </p:cNvPr>
          <p:cNvSpPr/>
          <p:nvPr/>
        </p:nvSpPr>
        <p:spPr>
          <a:xfrm>
            <a:off x="4370629" y="3861870"/>
            <a:ext cx="342748" cy="214931"/>
          </a:xfrm>
          <a:prstGeom prst="downArrow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EF3FC2A-55F0-4A03-7560-E70810C68D1C}"/>
              </a:ext>
            </a:extLst>
          </p:cNvPr>
          <p:cNvSpPr/>
          <p:nvPr/>
        </p:nvSpPr>
        <p:spPr>
          <a:xfrm>
            <a:off x="4384812" y="5099317"/>
            <a:ext cx="342748" cy="240881"/>
          </a:xfrm>
          <a:prstGeom prst="downArrow">
            <a:avLst/>
          </a:prstGeom>
          <a:solidFill>
            <a:srgbClr val="072941"/>
          </a:solidFill>
          <a:ln/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A83DE903-3CB8-2156-8950-6D720C4C35B9}"/>
              </a:ext>
            </a:extLst>
          </p:cNvPr>
          <p:cNvSpPr/>
          <p:nvPr/>
        </p:nvSpPr>
        <p:spPr>
          <a:xfrm>
            <a:off x="7540378" y="4076801"/>
            <a:ext cx="3256109" cy="1022516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9432480-E1AF-5ACB-57AC-D3C029EB9234}"/>
              </a:ext>
            </a:extLst>
          </p:cNvPr>
          <p:cNvSpPr/>
          <p:nvPr/>
        </p:nvSpPr>
        <p:spPr>
          <a:xfrm>
            <a:off x="7933000" y="4118587"/>
            <a:ext cx="3256109" cy="223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53324198-82FD-F53A-D98F-9CC4FCABCC37}"/>
              </a:ext>
            </a:extLst>
          </p:cNvPr>
          <p:cNvSpPr/>
          <p:nvPr/>
        </p:nvSpPr>
        <p:spPr>
          <a:xfrm>
            <a:off x="8018687" y="4374216"/>
            <a:ext cx="3084735" cy="63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400" dirty="0"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Cost Metering</a:t>
            </a:r>
            <a:endParaRPr lang="en-US" sz="1400" dirty="0"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Architecture: With MCP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3795" y="924235"/>
            <a:ext cx="7514606" cy="166165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MCP Value Proposition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Multiple AI platforms (Einstein, Azure AI, Genesys) → fragmentation risk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MCP provides common protocol layer for tool discovery and invocation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Incremental deployment possible - doesn't require big-bang adoption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Detailed MCP coverage in Section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23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9A7C387-BAAF-B4E5-6CC4-B5E1BF4BE76A}"/>
              </a:ext>
            </a:extLst>
          </p:cNvPr>
          <p:cNvSpPr/>
          <p:nvPr/>
        </p:nvSpPr>
        <p:spPr>
          <a:xfrm>
            <a:off x="675098" y="2771188"/>
            <a:ext cx="7118063" cy="804177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D8D42B3-E183-9951-4D59-CF6F989F8C5F}"/>
              </a:ext>
            </a:extLst>
          </p:cNvPr>
          <p:cNvSpPr/>
          <p:nvPr/>
        </p:nvSpPr>
        <p:spPr>
          <a:xfrm>
            <a:off x="675098" y="2804695"/>
            <a:ext cx="6819197" cy="234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Platforms &amp; Agents (MCP Clients)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F3A30D6-39C0-33A6-1514-20A1B089824A}"/>
              </a:ext>
            </a:extLst>
          </p:cNvPr>
          <p:cNvSpPr/>
          <p:nvPr/>
        </p:nvSpPr>
        <p:spPr>
          <a:xfrm>
            <a:off x="760338" y="3072755"/>
            <a:ext cx="6648717" cy="402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Einstein  •  Azure AI  •  Genesys  •  Copilot Studio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D2FA026-69BA-EA59-A02D-F192C7FB9DF0}"/>
              </a:ext>
            </a:extLst>
          </p:cNvPr>
          <p:cNvSpPr/>
          <p:nvPr/>
        </p:nvSpPr>
        <p:spPr>
          <a:xfrm>
            <a:off x="675098" y="3768387"/>
            <a:ext cx="7118063" cy="670148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F6BCC2-67A9-7152-41F9-C29F5FCE29F8}"/>
              </a:ext>
            </a:extLst>
          </p:cNvPr>
          <p:cNvSpPr/>
          <p:nvPr/>
        </p:nvSpPr>
        <p:spPr>
          <a:xfrm>
            <a:off x="675098" y="3801894"/>
            <a:ext cx="6819197" cy="234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MCP Server Layer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BA59F7F-049C-E3DC-9D0D-6579F2C42D82}"/>
              </a:ext>
            </a:extLst>
          </p:cNvPr>
          <p:cNvSpPr/>
          <p:nvPr/>
        </p:nvSpPr>
        <p:spPr>
          <a:xfrm>
            <a:off x="760338" y="4069953"/>
            <a:ext cx="6648717" cy="301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Tool Discovery  •  Standardized Protocol  •  Capability Registry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9BB6CD97-B305-5FE1-9FA2-07BD286E40A2}"/>
              </a:ext>
            </a:extLst>
          </p:cNvPr>
          <p:cNvSpPr/>
          <p:nvPr/>
        </p:nvSpPr>
        <p:spPr>
          <a:xfrm>
            <a:off x="6641895" y="3801894"/>
            <a:ext cx="767160" cy="201044"/>
          </a:xfrm>
          <a:prstGeom prst="round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72B5D50-F4F3-A8A7-2920-973BBE0D0770}"/>
              </a:ext>
            </a:extLst>
          </p:cNvPr>
          <p:cNvSpPr/>
          <p:nvPr/>
        </p:nvSpPr>
        <p:spPr>
          <a:xfrm>
            <a:off x="6641895" y="3801894"/>
            <a:ext cx="767160" cy="20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>
              <a:latin typeface="Aptos" panose="020B00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27793E-CBF4-8BC4-C0F0-75921C95C957}"/>
              </a:ext>
            </a:extLst>
          </p:cNvPr>
          <p:cNvGrpSpPr/>
          <p:nvPr/>
        </p:nvGrpSpPr>
        <p:grpSpPr>
          <a:xfrm>
            <a:off x="7878401" y="2752600"/>
            <a:ext cx="3281212" cy="1661651"/>
            <a:chOff x="7878401" y="2388806"/>
            <a:chExt cx="3281212" cy="1608355"/>
          </a:xfrm>
        </p:grpSpPr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99E727CE-0B26-A880-7BE2-56D209762F40}"/>
                </a:ext>
              </a:extLst>
            </p:cNvPr>
            <p:cNvSpPr/>
            <p:nvPr/>
          </p:nvSpPr>
          <p:spPr>
            <a:xfrm>
              <a:off x="7878401" y="2388806"/>
              <a:ext cx="3239118" cy="1608355"/>
            </a:xfrm>
            <a:prstGeom prst="roundRect">
              <a:avLst/>
            </a:prstGeom>
            <a:solidFill>
              <a:srgbClr val="F4ECF7"/>
            </a:solidFill>
            <a:ln w="12700">
              <a:solidFill>
                <a:srgbClr val="8E44AD"/>
              </a:solidFill>
              <a:prstDash val="solid"/>
            </a:ln>
          </p:spPr>
          <p:txBody>
            <a:bodyPr/>
            <a:lstStyle/>
            <a:p>
              <a:endParaRPr lang="en-US" sz="3200">
                <a:latin typeface="Aptos" panose="020B0004020202020204" pitchFamily="34" charset="0"/>
              </a:endParaRPr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4A4CC947-6865-92A1-693B-045574C19B84}"/>
                </a:ext>
              </a:extLst>
            </p:cNvPr>
            <p:cNvSpPr/>
            <p:nvPr/>
          </p:nvSpPr>
          <p:spPr>
            <a:xfrm>
              <a:off x="7920495" y="2499893"/>
              <a:ext cx="3239118" cy="2345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b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Agent Registry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3339BD0A-1864-45B2-D0BE-45A492DF1E3D}"/>
                </a:ext>
              </a:extLst>
            </p:cNvPr>
            <p:cNvSpPr/>
            <p:nvPr/>
          </p:nvSpPr>
          <p:spPr>
            <a:xfrm>
              <a:off x="8005735" y="2767953"/>
              <a:ext cx="3068639" cy="120626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MCP-Native Discovery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Tool Schemas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Capabilities</a:t>
              </a:r>
              <a:endParaRPr lang="en-US" sz="1200" dirty="0">
                <a:latin typeface="Aptos" panose="020B00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Cost Profiles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</p:grpSp>
      <p:sp>
        <p:nvSpPr>
          <p:cNvPr id="20" name="Shape 12">
            <a:extLst>
              <a:ext uri="{FF2B5EF4-FFF2-40B4-BE49-F238E27FC236}">
                <a16:creationId xmlns:a16="http://schemas.microsoft.com/office/drawing/2014/main" id="{AAAAEE63-36D3-892F-3D24-21A5B45B009B}"/>
              </a:ext>
            </a:extLst>
          </p:cNvPr>
          <p:cNvSpPr/>
          <p:nvPr/>
        </p:nvSpPr>
        <p:spPr>
          <a:xfrm>
            <a:off x="718244" y="4639579"/>
            <a:ext cx="7074917" cy="80417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72941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5A1FC5B-8C9D-7971-9803-8AB0FC08BB5E}"/>
              </a:ext>
            </a:extLst>
          </p:cNvPr>
          <p:cNvSpPr/>
          <p:nvPr/>
        </p:nvSpPr>
        <p:spPr>
          <a:xfrm>
            <a:off x="2212748" y="4770445"/>
            <a:ext cx="4099561" cy="301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Azure APIM (APIs exposed as MCP Tools)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A0A3FB53-7ACA-A956-9F03-58D21F37C9DD}"/>
              </a:ext>
            </a:extLst>
          </p:cNvPr>
          <p:cNvSpPr/>
          <p:nvPr/>
        </p:nvSpPr>
        <p:spPr>
          <a:xfrm>
            <a:off x="2104103" y="5038505"/>
            <a:ext cx="4293447" cy="402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Gateway  •  Policies  •  Rate Limiting  •  Analytics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3C4200D0-40AC-DDB9-4C55-F103BB9E4782}"/>
              </a:ext>
            </a:extLst>
          </p:cNvPr>
          <p:cNvSpPr/>
          <p:nvPr/>
        </p:nvSpPr>
        <p:spPr>
          <a:xfrm>
            <a:off x="675098" y="5577786"/>
            <a:ext cx="7118063" cy="87119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D7378A5C-732C-016B-A07E-F6BE40E1E3F7}"/>
              </a:ext>
            </a:extLst>
          </p:cNvPr>
          <p:cNvSpPr/>
          <p:nvPr/>
        </p:nvSpPr>
        <p:spPr>
          <a:xfrm>
            <a:off x="675099" y="5611293"/>
            <a:ext cx="6944902" cy="193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Backend Systems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84C72B9-DAC3-4699-21DC-DADF14B07D4B}"/>
              </a:ext>
            </a:extLst>
          </p:cNvPr>
          <p:cNvSpPr/>
          <p:nvPr/>
        </p:nvSpPr>
        <p:spPr>
          <a:xfrm>
            <a:off x="3828976" y="3575364"/>
            <a:ext cx="340960" cy="193021"/>
          </a:xfrm>
          <a:prstGeom prst="downArrow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4C026BF9-1E02-505E-4343-D5487EB8AD68}"/>
              </a:ext>
            </a:extLst>
          </p:cNvPr>
          <p:cNvSpPr/>
          <p:nvPr/>
        </p:nvSpPr>
        <p:spPr>
          <a:xfrm>
            <a:off x="3828976" y="4438534"/>
            <a:ext cx="340960" cy="201046"/>
          </a:xfrm>
          <a:prstGeom prst="downArrow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C38FCA71-E162-C8A1-43E8-D84882E05A68}"/>
              </a:ext>
            </a:extLst>
          </p:cNvPr>
          <p:cNvSpPr/>
          <p:nvPr/>
        </p:nvSpPr>
        <p:spPr>
          <a:xfrm>
            <a:off x="3825237" y="5443756"/>
            <a:ext cx="340960" cy="134030"/>
          </a:xfrm>
          <a:prstGeom prst="downArrow">
            <a:avLst/>
          </a:prstGeom>
          <a:solidFill>
            <a:srgbClr val="072941"/>
          </a:solidFill>
          <a:ln/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6C62C92B-8A0B-A431-5804-34E1E31A31AE}"/>
              </a:ext>
            </a:extLst>
          </p:cNvPr>
          <p:cNvSpPr/>
          <p:nvPr/>
        </p:nvSpPr>
        <p:spPr>
          <a:xfrm>
            <a:off x="7920495" y="4639579"/>
            <a:ext cx="3239118" cy="804177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FCA53E2C-E232-6A99-BCBA-D9DA33C24274}"/>
              </a:ext>
            </a:extLst>
          </p:cNvPr>
          <p:cNvSpPr/>
          <p:nvPr/>
        </p:nvSpPr>
        <p:spPr>
          <a:xfrm>
            <a:off x="7920495" y="4673086"/>
            <a:ext cx="3239118" cy="20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1502ECC7-586B-B63A-0012-BA693ED7E8F3}"/>
              </a:ext>
            </a:extLst>
          </p:cNvPr>
          <p:cNvSpPr/>
          <p:nvPr/>
        </p:nvSpPr>
        <p:spPr>
          <a:xfrm>
            <a:off x="8005735" y="4907638"/>
            <a:ext cx="3068639" cy="402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Azure Monitor • Cost Metering </a:t>
            </a:r>
            <a:b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Dashboards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33606549-24B5-C001-6048-4956DE636226}"/>
              </a:ext>
            </a:extLst>
          </p:cNvPr>
          <p:cNvSpPr/>
          <p:nvPr/>
        </p:nvSpPr>
        <p:spPr>
          <a:xfrm>
            <a:off x="594334" y="5978257"/>
            <a:ext cx="7326161" cy="382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Shaw/Conduent  •  Defi (Lease/Retail)  •  FICO (Credit/Collections/Remarketing)  •  Salesforce  •  EDW/Fabric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BA68-F415-9E06-47DD-8584A41D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66FC-1479-FF56-0D2C-86B618EF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SFS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24946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8168" y="182880"/>
            <a:ext cx="866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Phased Implementation Roadmap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8788" y="3430470"/>
            <a:ext cx="11247120" cy="731520"/>
          </a:xfrm>
          <a:prstGeom prst="rightArrow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878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9614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3350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7086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0822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558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82948" y="36733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8788" y="914399"/>
            <a:ext cx="3876856" cy="2457087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8788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8788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2E86A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Months 1-6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7707" y="1416334"/>
            <a:ext cx="3785416" cy="1953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Embed cost tracking in Azure APIM migration from day one</a:t>
            </a:r>
          </a:p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Establish tagging standards (business unit, cost center, use case)</a:t>
            </a:r>
          </a:p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Deploy Azure Monitor → Fabric pipeline for API analytics</a:t>
            </a:r>
          </a:p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Document 10-12 pilot APIs with full governance metadata</a:t>
            </a:r>
          </a:p>
        </p:txBody>
      </p:sp>
      <p:sp>
        <p:nvSpPr>
          <p:cNvPr id="15" name="Shape 13"/>
          <p:cNvSpPr/>
          <p:nvPr/>
        </p:nvSpPr>
        <p:spPr>
          <a:xfrm>
            <a:off x="4427084" y="914400"/>
            <a:ext cx="3657600" cy="2457086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27084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2: Expansion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27084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39C1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Months 7-12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3588" y="1463040"/>
            <a:ext cx="3474720" cy="1561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Extend patterns to bulk API migration</a:t>
            </a:r>
          </a:p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Implement token tracking for AI services (Einstein, Genesys)</a:t>
            </a:r>
          </a:p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Deploy agent registry (manual or APIM-extended)</a:t>
            </a:r>
          </a:p>
          <a:p>
            <a:pPr marL="365760" indent="-182880">
              <a:buChar char="•"/>
            </a:pPr>
            <a:r>
              <a:rPr lang="en-US" sz="1400" dirty="0">
                <a:latin typeface="Aptos" panose="020B0004020202020204" pitchFamily="34" charset="0"/>
              </a:rPr>
              <a:t>Pilot MCP server for select use cases</a:t>
            </a:r>
          </a:p>
        </p:txBody>
      </p:sp>
      <p:sp>
        <p:nvSpPr>
          <p:cNvPr id="19" name="Shape 17"/>
          <p:cNvSpPr/>
          <p:nvPr/>
        </p:nvSpPr>
        <p:spPr>
          <a:xfrm>
            <a:off x="8139748" y="914400"/>
            <a:ext cx="3464545" cy="2457086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39748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3: Optimization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39748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27AE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Months 13-18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58492" y="1379220"/>
            <a:ext cx="2901121" cy="1422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Complete migration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Chargeback model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MCP expansion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Continuous optimization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0228" y="4043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0228" y="4360114"/>
            <a:ext cx="11247120" cy="1145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M3: Pilot APIs complete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M6: Patterns documented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M12: 50% APIs migrated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Aptos"/>
                <a:ea typeface="Calibri"/>
                <a:cs typeface="Calibri"/>
              </a:rPr>
              <a:t>M18: Migration complete (before MuleSoft license expiry )</a:t>
            </a:r>
            <a:endParaRPr lang="en-US" sz="1600" dirty="0">
              <a:latin typeface="Apto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Integration with Azure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Leverage Migration Momentum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MuleSoft → Azure APIM migration is the forcing function for governance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Each migrated API is an opportunity to add: cost tags,  policies, observability hooks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Establish patterns with pilot 10-12 APIs, then scale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Target: 18-month completion (buffer before MuleSoft license expiry)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Avoid Retrofit Costs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Retrofit cost tracking after migration = 3-5x more expensive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Lessons from pilot: DNS, certificates, RBAC require upfront investment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Build governance into migration checklist, not as afterthought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Document patterns for EA team to validate and replicate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26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52841"/>
          </a:solidFill>
          <a:ln/>
        </p:spPr>
        <p:txBody>
          <a:bodyPr wrap="square" rtlCol="0" anchor="ctr"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6400" y="508000"/>
            <a:ext cx="58163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Platform Readiness Checklist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" y="1690490"/>
            <a:ext cx="6611803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05284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Prerequisites (from Pilot Lessons)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" y="1959571"/>
            <a:ext cx="6482160" cy="3860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DNS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Routes configured; coordination with Stellantis/Europe complete</a:t>
            </a:r>
            <a:endParaRPr lang="en-US" sz="1700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Certificates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Automated renewal in place for all environments</a:t>
            </a:r>
            <a:endParaRPr lang="en-US" sz="1700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RBAC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Roles defined for API developers, DevOps, service accounts</a:t>
            </a:r>
            <a:endParaRPr lang="en-US" sz="1700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Network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Connectivity verified to all backends (Shaw, Defi, FICO, SF)</a:t>
            </a:r>
            <a:endParaRPr lang="en-US" sz="1700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CI/CD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Pipeline templates tested with initial APIs</a:t>
            </a:r>
            <a:endParaRPr lang="en-US" sz="1700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Azure Monitor → Fabric pipeline operational</a:t>
            </a:r>
            <a:endParaRPr lang="en-US" sz="1700" dirty="0">
              <a:latin typeface="Aptos" panose="020B0004020202020204" pitchFamily="34" charset="0"/>
            </a:endParaRPr>
          </a:p>
          <a:p>
            <a:pPr marL="101597" indent="-101597">
              <a:lnSpc>
                <a:spcPts val="2800"/>
              </a:lnSpc>
              <a:buSzPct val="100000"/>
              <a:buChar char="•"/>
            </a:pPr>
            <a:r>
              <a:rPr lang="en-US" sz="1700" b="1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Environments</a:t>
            </a:r>
            <a:r>
              <a:rPr lang="en-US" sz="170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— Dev/QA/UAT/Prod APIM instances provisioned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6400" y="5972771"/>
            <a:ext cx="6611803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1200"/>
              </a:spcBef>
            </a:pPr>
            <a:r>
              <a:rPr lang="en-US" sz="1100" i="1" dirty="0">
                <a:solidFill>
                  <a:srgbClr val="66666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Note: Pilot revealed DNS (3-4 week delay), RBAC, and certificate automation as key infrastructure gaps to address upfront.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91760" y="2146300"/>
            <a:ext cx="4693840" cy="965200"/>
          </a:xfrm>
          <a:prstGeom prst="roundRect">
            <a:avLst>
              <a:gd name="adj" fmla="val 5263"/>
            </a:avLst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txBody>
          <a:bodyPr wrap="square" lIns="91440" tIns="45720" rIns="91440" bIns="45720" rtlCol="0" anchor="ctr"/>
          <a:lstStyle/>
          <a:p>
            <a:endParaRPr lang="en-US" sz="40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69560" y="2324101"/>
            <a:ext cx="4425005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F57F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Migration Gate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69560" y="2590801"/>
            <a:ext cx="4425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050" dirty="0">
                <a:solidFill>
                  <a:srgbClr val="1D1D1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Before each API migration batch, verify infrastructure prerequisites are in place to avoid mid-flight blockers.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91760" y="3263901"/>
            <a:ext cx="4693840" cy="166370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17160" y="3263901"/>
            <a:ext cx="0" cy="1663700"/>
          </a:xfrm>
          <a:prstGeom prst="line">
            <a:avLst/>
          </a:prstGeom>
          <a:noFill/>
          <a:ln w="38100">
            <a:solidFill>
              <a:srgbClr val="1877BC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94960" y="3390901"/>
            <a:ext cx="4425005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1877BC"/>
                </a:solidFill>
                <a:latin typeface="Aptos"/>
                <a:ea typeface="Calibri"/>
                <a:cs typeface="Calibri"/>
              </a:rPr>
              <a:t>Governance</a:t>
            </a:r>
            <a:endParaRPr lang="en-US" sz="1200">
              <a:latin typeface="Aptos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94960" y="3632200"/>
            <a:ext cx="4338240" cy="11684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265" indent="-88265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Aptos"/>
                <a:ea typeface="Calibri"/>
                <a:cs typeface="Calibri"/>
              </a:rPr>
              <a:t>Platform team owns checklist</a:t>
            </a:r>
            <a:endParaRPr lang="en-US" sz="1600">
              <a:latin typeface="Aptos"/>
              <a:ea typeface="Calibri"/>
              <a:cs typeface="Calibri"/>
            </a:endParaRPr>
          </a:p>
          <a:p>
            <a:pPr marL="88265" indent="-88265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Aptos"/>
                <a:ea typeface="Calibri"/>
                <a:cs typeface="Calibri"/>
              </a:rPr>
              <a:t>EA team validates "ready" status</a:t>
            </a:r>
            <a:endParaRPr lang="en-US" sz="1600">
              <a:latin typeface="Aptos"/>
              <a:ea typeface="Calibri"/>
              <a:cs typeface="Calibri"/>
            </a:endParaRPr>
          </a:p>
          <a:p>
            <a:pPr marL="88265" indent="-88265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Aptos"/>
                <a:ea typeface="Calibri"/>
                <a:cs typeface="Calibri"/>
              </a:rPr>
              <a:t>Document patterns for replication</a:t>
            </a:r>
            <a:endParaRPr lang="en-US" sz="1600" dirty="0">
              <a:latin typeface="Aptos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91760" y="5080001"/>
            <a:ext cx="4693840" cy="596900"/>
          </a:xfrm>
          <a:prstGeom prst="roundRect">
            <a:avLst>
              <a:gd name="adj" fmla="val 851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44160" y="5207001"/>
            <a:ext cx="44768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200" b="1" dirty="0">
                <a:solidFill>
                  <a:srgbClr val="1D1D1D"/>
                </a:solidFill>
                <a:latin typeface="Aptos"/>
                <a:ea typeface="Calibri"/>
                <a:cs typeface="Calibri"/>
              </a:rPr>
              <a:t>Key Principle:</a:t>
            </a:r>
            <a:r>
              <a:rPr lang="en-US" sz="1200" dirty="0">
                <a:solidFill>
                  <a:srgbClr val="1D1D1D"/>
                </a:solidFill>
                <a:latin typeface="Aptos"/>
                <a:ea typeface="Calibri"/>
                <a:cs typeface="Calibri"/>
              </a:rPr>
              <a:t> Front-load infrastructure investment. Patterns established with pilot APIs scale to bulk migration.</a:t>
            </a:r>
            <a:endParaRPr lang="en-US" sz="1050" dirty="0">
              <a:latin typeface="Apto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Quick </a:t>
            </a:r>
            <a:r>
              <a:rPr lang="en-US" dirty="0">
                <a:latin typeface="Aptos" panose="020B0004020202020204" pitchFamily="34" charset="0"/>
              </a:rPr>
              <a:t>Win Opportunities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28</a:t>
            </a:fld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1740CB-8C09-536D-7C84-E8A65E407959}"/>
              </a:ext>
            </a:extLst>
          </p:cNvPr>
          <p:cNvGrpSpPr/>
          <p:nvPr/>
        </p:nvGrpSpPr>
        <p:grpSpPr>
          <a:xfrm>
            <a:off x="490761" y="1375367"/>
            <a:ext cx="11247120" cy="4107266"/>
            <a:chOff x="458788" y="822960"/>
            <a:chExt cx="11247120" cy="3840480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21F2AD99-9CBC-59E5-6C9B-DB86F7A8464A}"/>
                </a:ext>
              </a:extLst>
            </p:cNvPr>
            <p:cNvSpPr/>
            <p:nvPr/>
          </p:nvSpPr>
          <p:spPr>
            <a:xfrm>
              <a:off x="458788" y="822960"/>
              <a:ext cx="5486400" cy="2743200"/>
            </a:xfrm>
            <a:prstGeom prst="roundRect">
              <a:avLst/>
            </a:prstGeom>
            <a:solidFill>
              <a:srgbClr val="E8F4FD"/>
            </a:solidFill>
            <a:ln w="12700">
              <a:solidFill>
                <a:srgbClr val="2E86AB"/>
              </a:solidFill>
              <a:prstDash val="solid"/>
            </a:ln>
          </p:spPr>
          <p:txBody>
            <a:bodyPr/>
            <a:lstStyle/>
            <a:p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4EBEABE6-2735-AE42-DD1E-5BD9565DE772}"/>
                </a:ext>
              </a:extLst>
            </p:cNvPr>
            <p:cNvSpPr/>
            <p:nvPr/>
          </p:nvSpPr>
          <p:spPr>
            <a:xfrm>
              <a:off x="1644274" y="868681"/>
              <a:ext cx="4300914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latin typeface="Aptos" panose="020B0004020202020204" pitchFamily="34" charset="0"/>
                </a:rPr>
                <a:t>Migration-Aligned Quick Wins</a:t>
              </a:r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8F8304DD-47EE-78EB-7E45-FB2526E2DE1B}"/>
                </a:ext>
              </a:extLst>
            </p:cNvPr>
            <p:cNvSpPr/>
            <p:nvPr/>
          </p:nvSpPr>
          <p:spPr>
            <a:xfrm>
              <a:off x="550228" y="1280160"/>
              <a:ext cx="5303520" cy="2194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Add custom dimensions to APIM policies during migration (no retrofit needed)</a:t>
              </a:r>
            </a:p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Enable APIM Analytics export to Azure Monitor on each migrated API</a:t>
              </a:r>
            </a:p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Tag APIs with business unit during onboarding (retail vs lease)</a:t>
              </a:r>
            </a:p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Configure rate limiting on expensive third-party APIs (FICO, RDN, </a:t>
              </a:r>
              <a:r>
                <a:rPr lang="en-US" sz="1600" dirty="0" err="1">
                  <a:latin typeface="Aptos" panose="020B0004020202020204" pitchFamily="34" charset="0"/>
                </a:rPr>
                <a:t>Datascan</a:t>
              </a:r>
              <a:r>
                <a:rPr lang="en-US" sz="1600" dirty="0">
                  <a:latin typeface="Aptos" panose="020B0004020202020204" pitchFamily="34" charset="0"/>
                </a:rPr>
                <a:t>)</a:t>
              </a: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D0C4A6CC-6472-284D-E03B-01D2601372DD}"/>
                </a:ext>
              </a:extLst>
            </p:cNvPr>
            <p:cNvSpPr/>
            <p:nvPr/>
          </p:nvSpPr>
          <p:spPr>
            <a:xfrm>
              <a:off x="6219508" y="822960"/>
              <a:ext cx="5486400" cy="2743199"/>
            </a:xfrm>
            <a:prstGeom prst="roundRect">
              <a:avLst/>
            </a:prstGeom>
            <a:solidFill>
              <a:srgbClr val="E8F8F5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6E02AD05-31D2-9AEE-8581-7664298D764D}"/>
                </a:ext>
              </a:extLst>
            </p:cNvPr>
            <p:cNvSpPr/>
            <p:nvPr/>
          </p:nvSpPr>
          <p:spPr>
            <a:xfrm>
              <a:off x="7567074" y="868681"/>
              <a:ext cx="385747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latin typeface="Aptos" panose="020B0004020202020204" pitchFamily="34" charset="0"/>
                </a:rPr>
                <a:t>AI Governance Quick Wins</a:t>
              </a:r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FB870357-7E1F-A6EF-A353-31B5214D623E}"/>
                </a:ext>
              </a:extLst>
            </p:cNvPr>
            <p:cNvSpPr/>
            <p:nvPr/>
          </p:nvSpPr>
          <p:spPr>
            <a:xfrm>
              <a:off x="6310948" y="1280160"/>
              <a:ext cx="5303520" cy="2194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Publish AI governance policy (draft exists - formalize and communicate)</a:t>
              </a:r>
            </a:p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Create approved AI tool list (address ChatGPT 281 users, Gemini 111 users)</a:t>
              </a:r>
            </a:p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Establish AI intake process through EA team before new implementations</a:t>
              </a:r>
            </a:p>
            <a:p>
              <a:pPr marL="365760" indent="-182880">
                <a:buChar char="•"/>
              </a:pPr>
              <a:r>
                <a:rPr lang="en-US" sz="1600" dirty="0">
                  <a:latin typeface="Aptos" panose="020B0004020202020204" pitchFamily="34" charset="0"/>
                </a:rPr>
                <a:t>Document existing AI usage in model catalog (Einstein, Genesys)</a:t>
              </a:r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B994608E-272B-5085-74D0-85BDE8C2704A}"/>
                </a:ext>
              </a:extLst>
            </p:cNvPr>
            <p:cNvSpPr/>
            <p:nvPr/>
          </p:nvSpPr>
          <p:spPr>
            <a:xfrm>
              <a:off x="458788" y="3749040"/>
              <a:ext cx="11247120" cy="914400"/>
            </a:xfrm>
            <a:prstGeom prst="roundRect">
              <a:avLst/>
            </a:prstGeom>
            <a:solidFill>
              <a:srgbClr val="FEF9E7"/>
            </a:solidFill>
            <a:ln w="12700">
              <a:solidFill>
                <a:srgbClr val="F39C12"/>
              </a:solidFill>
              <a:prstDash val="solid"/>
            </a:ln>
          </p:spPr>
          <p:txBody>
            <a:bodyPr/>
            <a:lstStyle/>
            <a:p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42526D23-B81D-DCB1-1873-0C2D9CCDEF9F}"/>
                </a:ext>
              </a:extLst>
            </p:cNvPr>
            <p:cNvSpPr/>
            <p:nvPr/>
          </p:nvSpPr>
          <p:spPr>
            <a:xfrm>
              <a:off x="550228" y="3977640"/>
              <a:ext cx="11064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dirty="0">
                  <a:solidFill>
                    <a:srgbClr val="333333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Key Principle: Embed governance into existing work streams (migration, AI rollout) rather than creating separate initiatives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Governance Framework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Governance Model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EA team as approval gate for new AI implementations (Vik, Larry, Puru)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Domain-specific AI/agents owned by business but governed centrally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Specialized bots for compliance-critical operations (</a:t>
            </a:r>
            <a:r>
              <a:rPr lang="en-US" dirty="0">
                <a:latin typeface="Aptos" panose="020B0004020202020204" pitchFamily="34" charset="0"/>
              </a:rPr>
              <a:t>e.g., </a:t>
            </a:r>
            <a:r>
              <a:rPr dirty="0">
                <a:latin typeface="Aptos" panose="020B0004020202020204" pitchFamily="34" charset="0"/>
              </a:rPr>
              <a:t>wrongful repo prevention)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All new AI deployments require: cost projection, ROI case, data access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 panose="020B0004020202020204" pitchFamily="34" charset="0"/>
              </a:rPr>
              <a:t>Key Stakeholders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Larry Burgess: Infrastructure, Genes</a:t>
            </a:r>
            <a:r>
              <a:rPr lang="en-US" dirty="0">
                <a:latin typeface="Aptos" panose="020B0004020202020204" pitchFamily="34" charset="0"/>
              </a:rPr>
              <a:t>y</a:t>
            </a:r>
            <a:r>
              <a:rPr dirty="0">
                <a:latin typeface="Aptos" panose="020B0004020202020204" pitchFamily="34" charset="0"/>
              </a:rPr>
              <a:t>s SOW, platform decisions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Vik Chopra: Enterprise Architecture, AI governance, 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Puru </a:t>
            </a:r>
            <a:r>
              <a:rPr dirty="0" err="1">
                <a:latin typeface="Aptos" panose="020B0004020202020204" pitchFamily="34" charset="0"/>
              </a:rPr>
              <a:t>Naktode</a:t>
            </a:r>
            <a:r>
              <a:rPr dirty="0">
                <a:latin typeface="Aptos" panose="020B0004020202020204" pitchFamily="34" charset="0"/>
              </a:rPr>
              <a:t>: AI architecture, reference patterns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Nader Afshar: AI Product Owner (new role - needs EA integration)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29</a:t>
            </a:fld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DC3B-1DD1-6CB5-BEA4-05EAE201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CE9F-DA9A-4B11-1234-DFD5CA45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479758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Appendix A: 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Orchestration Terms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API Gateway: Centralized entry point for API traffic with policy enforcement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APIM: Azure API Management - Microsoft's API gateway and management platform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MCP: Model Context Protocol - standard for AI-to-tool communication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Orchestration: Centralized coordination of service interactions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Choreography: Distributed coordination where services react to events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0" indent="0">
              <a:buNone/>
            </a:pPr>
            <a:r>
              <a:rPr sz="1750" b="1" dirty="0">
                <a:latin typeface="Aptos"/>
                <a:ea typeface="Calibri"/>
                <a:cs typeface="Calibri"/>
              </a:rPr>
              <a:t>AI/Agent Terms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Agentic AI: AI systems that can take autonomous actions toward goals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Token: Unit of text processed by LLMs (roughly 4 characters)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Decision Engine: Rule/model-based system for automated decisions (e.g., FICO)</a:t>
            </a:r>
          </a:p>
          <a:p>
            <a:pPr marL="365760" indent="-182880" algn="l">
              <a:buChar char="•"/>
            </a:pPr>
            <a:r>
              <a:rPr sz="1750" dirty="0">
                <a:latin typeface="Aptos"/>
                <a:ea typeface="Calibri"/>
                <a:cs typeface="Calibri"/>
              </a:rPr>
              <a:t>RAG: Retrieval-Augmented Generation - combining search with LLMs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31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24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Appendix B: MuleSoft to Azure APIM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70245" y="970367"/>
            <a:ext cx="7239296" cy="1782931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b="1" dirty="0">
                <a:latin typeface="Aptos" panose="020B0004020202020204" pitchFamily="34" charset="0"/>
              </a:rPr>
              <a:t>Migration Lessons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DNS configuration required European coordination (3-4 week delay)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Certificate management: automated renewal added during fix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RBAC roles needed to be created before migration could proceed</a:t>
            </a:r>
          </a:p>
          <a:p>
            <a:pPr marL="365760" indent="-182880" algn="l">
              <a:spcBef>
                <a:spcPts val="300"/>
              </a:spcBef>
              <a:buChar char="•"/>
            </a:pPr>
            <a:r>
              <a:rPr dirty="0">
                <a:latin typeface="Aptos" panose="020B0004020202020204" pitchFamily="34" charset="0"/>
              </a:rPr>
              <a:t>7-8 endpoints migrated in 7-8 months; patterns now established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32</a:t>
            </a:fld>
            <a:endParaRPr lang="en-US">
              <a:latin typeface="Aptos" panose="020B0004020202020204" pitchFamily="34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050B22A-58C6-1BD5-DA24-0A7DF3A5F8F3}"/>
              </a:ext>
            </a:extLst>
          </p:cNvPr>
          <p:cNvGraphicFramePr>
            <a:graphicFrameLocks noGrp="1"/>
          </p:cNvGraphicFramePr>
          <p:nvPr/>
        </p:nvGraphicFramePr>
        <p:xfrm>
          <a:off x="466333" y="3079806"/>
          <a:ext cx="1124712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2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functionality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Expressions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syntax, same concepts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Experience/Process/System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Products/APIs/Backends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mapping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OAuth/JWT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OAuth/JWT + Azure 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APIM adds native Azure 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self-service capabilities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+ App Insights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tooling, richer Azure ecosystem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+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economics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 xsi:nil="true"/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25B15C-26FF-415B-B462-393769764E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46cb7-97e8-44c0-90d5-6161e615d350"/>
    <ds:schemaRef ds:uri="1bbba5f1-a15e-48ed-ae4b-bc36e8dd2f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DF8674-582C-48CF-9D1C-72280677BFE9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sharepoint/v3"/>
    <ds:schemaRef ds:uri="http://purl.org/dc/terms/"/>
    <ds:schemaRef ds:uri="0eea126e-d378-4180-a2b3-4f5c76938639"/>
    <ds:schemaRef ds:uri="http://www.w3.org/XML/1998/namespace"/>
    <ds:schemaRef ds:uri="1bbba5f1-a15e-48ed-ae4b-bc36e8dd2f5c"/>
    <ds:schemaRef ds:uri="17246cb7-97e8-44c0-90d5-6161e615d3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TotalTime>4905</TotalTime>
  <Words>4762</Words>
  <Application>Microsoft Office PowerPoint</Application>
  <PresentationFormat>Widescreen</PresentationFormat>
  <Paragraphs>802</Paragraphs>
  <Slides>32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EIS_Delivery</vt:lpstr>
      <vt:lpstr>1_EIS-2022</vt:lpstr>
      <vt:lpstr>PowerPoint Presentation</vt:lpstr>
      <vt:lpstr>Agenda</vt:lpstr>
      <vt:lpstr>Executive Summary</vt:lpstr>
      <vt:lpstr>Orchestration Pattern Overview</vt:lpstr>
      <vt:lpstr>PowerPoint Presentation</vt:lpstr>
      <vt:lpstr>Cost &amp; Scalability Fundamentals</vt:lpstr>
      <vt:lpstr>Azure APIM Capabilities Mapped to SFS Needs</vt:lpstr>
      <vt:lpstr>MuleSoft to Azure APIM: Key Considerations</vt:lpstr>
      <vt:lpstr>PowerPoint Presentation</vt:lpstr>
      <vt:lpstr>PowerPoint Presentation</vt:lpstr>
      <vt:lpstr>Cost Monitoring</vt:lpstr>
      <vt:lpstr>Cost Monitoring Architecture</vt:lpstr>
      <vt:lpstr>Traditional API Cost Tracking</vt:lpstr>
      <vt:lpstr>AI/Token Tracking Patterns</vt:lpstr>
      <vt:lpstr>PowerPoint Presentation</vt:lpstr>
      <vt:lpstr>Chargeback Foundation</vt:lpstr>
      <vt:lpstr>Agentic Management</vt:lpstr>
      <vt:lpstr>The Agentic AI Management Challenge</vt:lpstr>
      <vt:lpstr>Decision Engines in the Agentic Landscape</vt:lpstr>
      <vt:lpstr>Agent Registry Patterns</vt:lpstr>
      <vt:lpstr>Agent Orchestration Patterns</vt:lpstr>
      <vt:lpstr>Architecture: Without MCP</vt:lpstr>
      <vt:lpstr>Architecture: With MCP</vt:lpstr>
      <vt:lpstr>SFS Recommendations</vt:lpstr>
      <vt:lpstr>PowerPoint Presentation</vt:lpstr>
      <vt:lpstr>Integration with Azure Migration</vt:lpstr>
      <vt:lpstr>PowerPoint Presentation</vt:lpstr>
      <vt:lpstr>Quick Win Opportunities</vt:lpstr>
      <vt:lpstr>Governance Framework Principles</vt:lpstr>
      <vt:lpstr>Appendix</vt:lpstr>
      <vt:lpstr>Appendix A: Glossary</vt:lpstr>
      <vt:lpstr>Appendix B: MuleSoft to Azure APIM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lastModifiedBy>Thomas Blumer</cp:lastModifiedBy>
  <cp:revision>35</cp:revision>
  <cp:lastPrinted>2025-10-23T18:20:35Z</cp:lastPrinted>
  <dcterms:created xsi:type="dcterms:W3CDTF">2025-09-02T21:00:23Z</dcterms:created>
  <dcterms:modified xsi:type="dcterms:W3CDTF">2026-03-16T14:35:29Z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  <property fmtid="{D5CDD505-2E9C-101B-9397-08002B2CF9AE}" pid="12" name="MSIP_Label_791df23e-ee3d-4e72-bd33-1d096ae15290_Enabled">
    <vt:lpwstr>true</vt:lpwstr>
  </property>
  <property fmtid="{D5CDD505-2E9C-101B-9397-08002B2CF9AE}" pid="13" name="MSIP_Label_791df23e-ee3d-4e72-bd33-1d096ae15290_SetDate">
    <vt:lpwstr>2026-03-16T14:35:28Z</vt:lpwstr>
  </property>
  <property fmtid="{D5CDD505-2E9C-101B-9397-08002B2CF9AE}" pid="14" name="MSIP_Label_791df23e-ee3d-4e72-bd33-1d096ae15290_Method">
    <vt:lpwstr>Standard</vt:lpwstr>
  </property>
  <property fmtid="{D5CDD505-2E9C-101B-9397-08002B2CF9AE}" pid="15" name="MSIP_Label_791df23e-ee3d-4e72-bd33-1d096ae15290_Name">
    <vt:lpwstr>General</vt:lpwstr>
  </property>
  <property fmtid="{D5CDD505-2E9C-101B-9397-08002B2CF9AE}" pid="16" name="MSIP_Label_791df23e-ee3d-4e72-bd33-1d096ae15290_SiteId">
    <vt:lpwstr>aea87219-080c-4106-b601-bed93d828f3c</vt:lpwstr>
  </property>
  <property fmtid="{D5CDD505-2E9C-101B-9397-08002B2CF9AE}" pid="17" name="MSIP_Label_791df23e-ee3d-4e72-bd33-1d096ae15290_ActionId">
    <vt:lpwstr>be0524c0-b7d1-4bd8-a1b5-77e2447d29db</vt:lpwstr>
  </property>
  <property fmtid="{D5CDD505-2E9C-101B-9397-08002B2CF9AE}" pid="18" name="MSIP_Label_791df23e-ee3d-4e72-bd33-1d096ae15290_ContentBits">
    <vt:lpwstr>0</vt:lpwstr>
  </property>
  <property fmtid="{D5CDD505-2E9C-101B-9397-08002B2CF9AE}" pid="19" name="MSIP_Label_791df23e-ee3d-4e72-bd33-1d096ae15290_Tag">
    <vt:lpwstr>10, 3, 0, 2</vt:lpwstr>
  </property>
</Properties>
</file>