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604" r:id="rId4"/>
    <p:sldMasterId id="2147485620" r:id="rId5"/>
    <p:sldMasterId id="2147485630" r:id="rId6"/>
  </p:sldMasterIdLst>
  <p:notesMasterIdLst>
    <p:notesMasterId r:id="rId81"/>
  </p:notesMasterIdLst>
  <p:sldIdLst>
    <p:sldId id="256" r:id="rId7"/>
    <p:sldId id="2147376110" r:id="rId8"/>
    <p:sldId id="269" r:id="rId9"/>
    <p:sldId id="270" r:id="rId10"/>
    <p:sldId id="259" r:id="rId11"/>
    <p:sldId id="260" r:id="rId12"/>
    <p:sldId id="261" r:id="rId13"/>
    <p:sldId id="262" r:id="rId14"/>
    <p:sldId id="263" r:id="rId15"/>
    <p:sldId id="264" r:id="rId16"/>
    <p:sldId id="265" r:id="rId17"/>
    <p:sldId id="266" r:id="rId18"/>
    <p:sldId id="2147376094" r:id="rId19"/>
    <p:sldId id="2147376080" r:id="rId20"/>
    <p:sldId id="2147376090" r:id="rId21"/>
    <p:sldId id="2147376091" r:id="rId22"/>
    <p:sldId id="2147376092"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71" r:id="rId39"/>
    <p:sldId id="257" r:id="rId40"/>
    <p:sldId id="258" r:id="rId41"/>
    <p:sldId id="272" r:id="rId42"/>
    <p:sldId id="273" r:id="rId43"/>
    <p:sldId id="274" r:id="rId44"/>
    <p:sldId id="275" r:id="rId45"/>
    <p:sldId id="276" r:id="rId46"/>
    <p:sldId id="277" r:id="rId47"/>
    <p:sldId id="278" r:id="rId48"/>
    <p:sldId id="279" r:id="rId49"/>
    <p:sldId id="267" r:id="rId50"/>
    <p:sldId id="268" r:id="rId51"/>
    <p:sldId id="280" r:id="rId52"/>
    <p:sldId id="2147376095" r:id="rId53"/>
    <p:sldId id="2147376096" r:id="rId54"/>
    <p:sldId id="2147376097" r:id="rId55"/>
    <p:sldId id="2147376098" r:id="rId56"/>
    <p:sldId id="2147376099" r:id="rId57"/>
    <p:sldId id="2147376100" r:id="rId58"/>
    <p:sldId id="2147376101" r:id="rId59"/>
    <p:sldId id="2147376102" r:id="rId60"/>
    <p:sldId id="2147376103" r:id="rId61"/>
    <p:sldId id="2147376104" r:id="rId62"/>
    <p:sldId id="2147376105" r:id="rId63"/>
    <p:sldId id="2147376106" r:id="rId64"/>
    <p:sldId id="2147376107" r:id="rId65"/>
    <p:sldId id="2147376108" r:id="rId66"/>
    <p:sldId id="2147376109" r:id="rId67"/>
    <p:sldId id="2147376111" r:id="rId68"/>
    <p:sldId id="2147376112" r:id="rId69"/>
    <p:sldId id="2147376113" r:id="rId70"/>
    <p:sldId id="2147376114" r:id="rId71"/>
    <p:sldId id="2147376115" r:id="rId72"/>
    <p:sldId id="2147376116" r:id="rId73"/>
    <p:sldId id="2147376117" r:id="rId74"/>
    <p:sldId id="2147376118" r:id="rId75"/>
    <p:sldId id="2147376119" r:id="rId76"/>
    <p:sldId id="2147376120" r:id="rId77"/>
    <p:sldId id="2147376121" r:id="rId78"/>
    <p:sldId id="2147376122" r:id="rId79"/>
    <p:sldId id="2147376123" r:id="rId8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72941"/>
        </a:solidFill>
        <a:effectLst/>
        <a:uFillTx/>
        <a:latin typeface="+mj-lt"/>
        <a:ea typeface="+mj-ea"/>
        <a:cs typeface="+mj-cs"/>
        <a:sym typeface="Calibri"/>
      </a:defRPr>
    </a:lvl9pPr>
  </p:defaultTextStyle>
  <p:extLst>
    <p:ext uri="{EFAFB233-063F-42B5-8137-9DF3F51BA10A}">
      <p15:sldGuideLst xmlns:p15="http://schemas.microsoft.com/office/powerpoint/2012/main">
        <p15:guide id="1" orient="horz" pos="3696" userDrawn="1">
          <p15:clr>
            <a:srgbClr val="A4A3A4"/>
          </p15:clr>
        </p15:guide>
        <p15:guide id="2" pos="33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8FC50A-AB9F-7234-B831-A22CAAF7FB1E}" name="Ryan Pollack" initials="RP" userId="S::Ryan.Pollack@earley.com::f1080a3a-0fd5-41dd-a2ea-e78fa042f420" providerId="AD"/>
  <p188:author id="{56AC8A0F-D8C2-3D3E-4453-536261358B92}" name="Heather Eisenbraun" initials="HE" userId="S::Heather.Eisenbraun@earley.com::af8590ba-9108-4f55-8849-6d71c7b93ad1" providerId="AD"/>
  <p188:author id="{3B254925-EFC4-6BAD-30B8-6E024CB901BA}" name="Thomas Blumer" initials="TB" userId="S::Thomas.Blumer@earley.com::2c1d0262-690f-4609-bdfe-5ec3ce19bfeb" providerId="AD"/>
  <p188:author id="{00354340-13C1-9EB2-C01C-898E8A338B81}" name="Phil Ryan" initials="PR" userId="S::phil.ryan@earley.com::ec85e699-70e1-412a-ae5d-8b8689f57052" providerId="AD"/>
  <p188:author id="{9D463565-7999-E145-D807-F42E133AFA78}" name="Dave Skrobela" initials="DS" userId="S::Dave.Skrobela@earley.com::1a80532f-18b2-46d0-aa4f-ac04a10667d8" providerId="AD"/>
  <p188:author id="{B70B6884-82CA-26DC-657A-4C24E4D1E827}" name="Seth Earley" initials="" userId="S::Seth@earley.com::628be45f-8d1c-4a33-a8fa-c54e490afe68" providerId="AD"/>
  <p188:author id="{05CA0390-8346-199C-7B17-66418A0FED88}" name="Dave Skrobela" initials="DS" userId="S::dave.skrobela@earley.com::1a80532f-18b2-46d0-aa4f-ac04a10667d8" providerId="AD"/>
  <p188:author id="{FA6691BE-E185-20AF-21EC-A75E6A300ECE}" name="Heather Eisenbraun" initials="HE" userId="S::heather.eisenbraun@earley.com::af8590ba-9108-4f55-8849-6d71c7b93ad1" providerId="AD"/>
  <p188:author id="{09624CC8-35F3-5157-E097-7EAF13479239}" name="Ryan Pollack" initials="RP" userId="S::ryan.pollack@earley.com::f1080a3a-0fd5-41dd-a2ea-e78fa042f420" providerId="AD"/>
  <p188:author id="{4AE393E0-E885-47E0-ECDE-670D4F81BA25}" name="Jordan Cassel" initials="JC" userId="S::jordan.cassel@earley.com::cb5af049-45c7-4d1e-8514-8ed5eeea322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144A"/>
    <a:srgbClr val="0A0A40"/>
    <a:srgbClr val="094978"/>
    <a:srgbClr val="0E1548"/>
    <a:srgbClr val="E7E9EC"/>
    <a:srgbClr val="0F151B"/>
    <a:srgbClr val="F4F7FA"/>
    <a:srgbClr val="8CA5CC"/>
    <a:srgbClr val="839EBA"/>
    <a:srgbClr val="01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491"/>
    <p:restoredTop sz="94538"/>
  </p:normalViewPr>
  <p:slideViewPr>
    <p:cSldViewPr snapToGrid="0">
      <p:cViewPr varScale="1">
        <p:scale>
          <a:sx n="206" d="100"/>
          <a:sy n="206" d="100"/>
        </p:scale>
        <p:origin x="3304" y="168"/>
      </p:cViewPr>
      <p:guideLst>
        <p:guide orient="horz" pos="3696"/>
        <p:guide pos="33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theme" Target="theme/theme1.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2.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notesMaster" Target="notesMasters/notesMaster1.xml"/><Relationship Id="rId86"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microsoft.com/office/2018/10/relationships/authors" Target="authors.xml"/><Relationship Id="rId61" Type="http://schemas.openxmlformats.org/officeDocument/2006/relationships/slide" Target="slides/slide55.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der Afshar" userId="S::nader.afshar@stellantis-fs.com::ef14ed6e-8c34-42b1-8014-4f40650f3772" providerId="AD" clId="Web-{DC51DB52-CD30-BB70-2266-405C786ED59D}"/>
    <pc:docChg chg="mod">
      <pc:chgData name="Nader Afshar" userId="S::nader.afshar@stellantis-fs.com::ef14ed6e-8c34-42b1-8014-4f40650f3772" providerId="AD" clId="Web-{DC51DB52-CD30-BB70-2266-405C786ED59D}" dt="2026-03-15T01:27:29.945" v="0" actId="3347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A9AA15-6E54-4D68-9055-5935DB952ACB}" type="datetimeFigureOut">
              <a:rPr lang="en-US" smtClean="0"/>
              <a:t>3/15/2026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DFBADD-43F2-4F28-AC53-B30F76A30FF2}" type="slidenum">
              <a:rPr lang="en-US" smtClean="0"/>
              <a:t>‹#›</a:t>
            </a:fld>
            <a:endParaRPr lang="en-US"/>
          </a:p>
        </p:txBody>
      </p:sp>
    </p:spTree>
    <p:extLst>
      <p:ext uri="{BB962C8B-B14F-4D97-AF65-F5344CB8AC3E}">
        <p14:creationId xmlns:p14="http://schemas.microsoft.com/office/powerpoint/2010/main" val="1600198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DFBADD-43F2-4F28-AC53-B30F76A30FF2}" type="slidenum">
              <a:rPr lang="en-US" smtClean="0"/>
              <a:t>1</a:t>
            </a:fld>
            <a:endParaRPr lang="en-US"/>
          </a:p>
        </p:txBody>
      </p:sp>
    </p:spTree>
    <p:extLst>
      <p:ext uri="{BB962C8B-B14F-4D97-AF65-F5344CB8AC3E}">
        <p14:creationId xmlns:p14="http://schemas.microsoft.com/office/powerpoint/2010/main" val="2353926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DFBADD-43F2-4F28-AC53-B30F76A30FF2}" type="slidenum">
              <a:rPr lang="en-US" smtClean="0"/>
              <a:t>5</a:t>
            </a:fld>
            <a:endParaRPr lang="en-US"/>
          </a:p>
        </p:txBody>
      </p:sp>
    </p:spTree>
    <p:extLst>
      <p:ext uri="{BB962C8B-B14F-4D97-AF65-F5344CB8AC3E}">
        <p14:creationId xmlns:p14="http://schemas.microsoft.com/office/powerpoint/2010/main" val="821076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7164B-66A4-433A-69DA-6011DADCA2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289611-F058-2B4A-0608-2B0FD46D09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399C61-A47D-97F0-1B32-ABDA5FDEC0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516BEE-8A42-93C5-348A-31544F5C802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j-ea"/>
                <a:cs typeface="+mj-cs"/>
                <a:sym typeface="Calibri"/>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j-ea"/>
              <a:cs typeface="+mj-cs"/>
              <a:sym typeface="Calibri"/>
            </a:endParaRPr>
          </a:p>
        </p:txBody>
      </p:sp>
    </p:spTree>
    <p:extLst>
      <p:ext uri="{BB962C8B-B14F-4D97-AF65-F5344CB8AC3E}">
        <p14:creationId xmlns:p14="http://schemas.microsoft.com/office/powerpoint/2010/main" val="340228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0270F-765B-6093-2F5A-8F8AFFB0D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12A71C-9603-89BD-70E8-D1BC00A229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4963CD-CD3E-9331-6557-36B9186D36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750E14-50A8-3A4B-E835-1CCDC80E431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j-ea"/>
                <a:cs typeface="+mj-cs"/>
                <a:sym typeface="Calibri"/>
              </a:rPr>
              <a:pPr marL="0" marR="0" lvl="0" indent="0" algn="l" defTabSz="914400" rtl="0" eaLnBrk="1" fontAlgn="auto" latinLnBrk="0" hangingPunct="1">
                <a:lnSpc>
                  <a:spcPct val="100000"/>
                </a:lnSpc>
                <a:spcBef>
                  <a:spcPts val="0"/>
                </a:spcBef>
                <a:spcAft>
                  <a:spcPts val="0"/>
                </a:spcAft>
                <a:buClrTx/>
                <a:buSzTx/>
                <a:buFontTx/>
                <a:buNone/>
                <a:tabLst/>
                <a:defRPr/>
              </a:pPr>
              <a:t>61</a:t>
            </a:fld>
            <a:endParaRPr kumimoji="0" lang="en-US" sz="1800" b="0" i="0" u="none" strike="noStrike" kern="1200" cap="none" spc="0" normalizeH="0" baseline="0" noProof="0">
              <a:ln>
                <a:noFill/>
              </a:ln>
              <a:solidFill>
                <a:prstClr val="black"/>
              </a:solidFill>
              <a:effectLst/>
              <a:uLnTx/>
              <a:uFillTx/>
              <a:latin typeface="Aptos" panose="02110004020202020204"/>
              <a:ea typeface="+mj-ea"/>
              <a:cs typeface="+mj-cs"/>
              <a:sym typeface="Calibri"/>
            </a:endParaRPr>
          </a:p>
        </p:txBody>
      </p:sp>
    </p:spTree>
    <p:extLst>
      <p:ext uri="{BB962C8B-B14F-4D97-AF65-F5344CB8AC3E}">
        <p14:creationId xmlns:p14="http://schemas.microsoft.com/office/powerpoint/2010/main" val="6618836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asic Title &amp; Text">
    <p:spTree>
      <p:nvGrpSpPr>
        <p:cNvPr id="1" name=""/>
        <p:cNvGrpSpPr/>
        <p:nvPr/>
      </p:nvGrpSpPr>
      <p:grpSpPr>
        <a:xfrm>
          <a:off x="0" y="0"/>
          <a:ext cx="0" cy="0"/>
          <a:chOff x="0" y="0"/>
          <a:chExt cx="0" cy="0"/>
        </a:xfrm>
      </p:grpSpPr>
      <p:sp>
        <p:nvSpPr>
          <p:cNvPr id="3" name="Shape 7"/>
          <p:cNvSpPr>
            <a:spLocks noGrp="1"/>
          </p:cNvSpPr>
          <p:nvPr>
            <p:ph type="title"/>
          </p:nvPr>
        </p:nvSpPr>
        <p:spPr>
          <a:xfrm>
            <a:off x="466333" y="276752"/>
            <a:ext cx="11259334" cy="693551"/>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a:solidFill>
                  <a:schemeClr val="tx1"/>
                </a:solidFill>
              </a:defRPr>
            </a:lvl1pPr>
          </a:lstStyle>
          <a:p>
            <a:r>
              <a:rPr lang="en-US"/>
              <a:t>Click to edit Master title style</a:t>
            </a:r>
            <a:endParaRPr/>
          </a:p>
        </p:txBody>
      </p:sp>
      <p:sp>
        <p:nvSpPr>
          <p:cNvPr id="7" name="Text Placeholder 6">
            <a:extLst>
              <a:ext uri="{FF2B5EF4-FFF2-40B4-BE49-F238E27FC236}">
                <a16:creationId xmlns:a16="http://schemas.microsoft.com/office/drawing/2014/main" id="{6E5D1925-F01A-4F90-AEA9-FC48E34A04FD}"/>
              </a:ext>
            </a:extLst>
          </p:cNvPr>
          <p:cNvSpPr>
            <a:spLocks noGrp="1"/>
          </p:cNvSpPr>
          <p:nvPr>
            <p:ph type="body" sz="quarter" idx="12"/>
          </p:nvPr>
        </p:nvSpPr>
        <p:spPr>
          <a:xfrm>
            <a:off x="538123" y="1247615"/>
            <a:ext cx="11136773" cy="47783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518F8C80-8A26-4ED2-8B9A-E24D5274526E}"/>
              </a:ext>
            </a:extLst>
          </p:cNvPr>
          <p:cNvSpPr>
            <a:spLocks noGrp="1"/>
          </p:cNvSpPr>
          <p:nvPr>
            <p:ph type="sldNum" sz="quarter" idx="14"/>
          </p:nvPr>
        </p:nvSpPr>
        <p:spPr/>
        <p:txBody>
          <a:bodyPr/>
          <a:lstStyle>
            <a:lvl1pPr>
              <a:defRPr>
                <a:solidFill>
                  <a:schemeClr val="tx1"/>
                </a:solidFill>
              </a:defRPr>
            </a:lvl1pPr>
          </a:lstStyle>
          <a:p>
            <a:fld id="{CAC91855-D87F-47DB-AAE4-308F916E4DE9}" type="slidenum">
              <a:rPr lang="en-US" smtClean="0"/>
              <a:pPr/>
              <a:t>‹#›</a:t>
            </a:fld>
            <a:endParaRPr lang="en-US"/>
          </a:p>
        </p:txBody>
      </p:sp>
    </p:spTree>
    <p:extLst>
      <p:ext uri="{BB962C8B-B14F-4D97-AF65-F5344CB8AC3E}">
        <p14:creationId xmlns:p14="http://schemas.microsoft.com/office/powerpoint/2010/main" val="1265517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andard 2">
    <p:spTree>
      <p:nvGrpSpPr>
        <p:cNvPr id="1" name=""/>
        <p:cNvGrpSpPr/>
        <p:nvPr/>
      </p:nvGrpSpPr>
      <p:grpSpPr>
        <a:xfrm>
          <a:off x="0" y="0"/>
          <a:ext cx="0" cy="0"/>
          <a:chOff x="0" y="0"/>
          <a:chExt cx="0" cy="0"/>
        </a:xfrm>
      </p:grpSpPr>
      <p:sp>
        <p:nvSpPr>
          <p:cNvPr id="3" name="Shape 7"/>
          <p:cNvSpPr>
            <a:spLocks noGrp="1"/>
          </p:cNvSpPr>
          <p:nvPr>
            <p:ph type="title"/>
          </p:nvPr>
        </p:nvSpPr>
        <p:spPr>
          <a:xfrm>
            <a:off x="466333" y="276816"/>
            <a:ext cx="11259334" cy="693551"/>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p>
            <a:r>
              <a:rPr lang="en-US"/>
              <a:t>Click to edit Master title style</a:t>
            </a:r>
            <a:endParaRPr/>
          </a:p>
        </p:txBody>
      </p:sp>
      <p:sp>
        <p:nvSpPr>
          <p:cNvPr id="4" name="Shape 8"/>
          <p:cNvSpPr>
            <a:spLocks noGrp="1"/>
          </p:cNvSpPr>
          <p:nvPr>
            <p:ph idx="1"/>
          </p:nvPr>
        </p:nvSpPr>
        <p:spPr>
          <a:xfrm>
            <a:off x="868196" y="1239008"/>
            <a:ext cx="5018129" cy="4764741"/>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Shape 8"/>
          <p:cNvSpPr>
            <a:spLocks noGrp="1"/>
          </p:cNvSpPr>
          <p:nvPr>
            <p:ph idx="10"/>
          </p:nvPr>
        </p:nvSpPr>
        <p:spPr>
          <a:xfrm>
            <a:off x="6283015" y="1241146"/>
            <a:ext cx="5061809" cy="4764741"/>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Slide Number Placeholder 6">
            <a:extLst>
              <a:ext uri="{FF2B5EF4-FFF2-40B4-BE49-F238E27FC236}">
                <a16:creationId xmlns:a16="http://schemas.microsoft.com/office/drawing/2014/main" id="{958C05F4-9E01-44B6-B564-DFBA3076884F}"/>
              </a:ext>
            </a:extLst>
          </p:cNvPr>
          <p:cNvSpPr>
            <a:spLocks noGrp="1"/>
          </p:cNvSpPr>
          <p:nvPr>
            <p:ph type="sldNum" sz="quarter" idx="12"/>
          </p:nvPr>
        </p:nvSpPr>
        <p:spPr/>
        <p:txBody>
          <a:bodyPr/>
          <a:lstStyle>
            <a:lvl1pPr>
              <a:defRPr>
                <a:solidFill>
                  <a:schemeClr val="tx1"/>
                </a:solidFill>
              </a:defRPr>
            </a:lvl1pPr>
          </a:lstStyle>
          <a:p>
            <a:fld id="{A22638FE-01C9-41BA-BE25-085106FB5C8A}" type="slidenum">
              <a:rPr lang="en-US" smtClean="0"/>
              <a:t>‹#›</a:t>
            </a:fld>
            <a:endParaRPr lang="en-US"/>
          </a:p>
        </p:txBody>
      </p:sp>
    </p:spTree>
    <p:extLst>
      <p:ext uri="{BB962C8B-B14F-4D97-AF65-F5344CB8AC3E}">
        <p14:creationId xmlns:p14="http://schemas.microsoft.com/office/powerpoint/2010/main" val="714447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andard 3">
    <p:spTree>
      <p:nvGrpSpPr>
        <p:cNvPr id="1" name=""/>
        <p:cNvGrpSpPr/>
        <p:nvPr/>
      </p:nvGrpSpPr>
      <p:grpSpPr>
        <a:xfrm>
          <a:off x="0" y="0"/>
          <a:ext cx="0" cy="0"/>
          <a:chOff x="0" y="0"/>
          <a:chExt cx="0" cy="0"/>
        </a:xfrm>
      </p:grpSpPr>
      <p:sp>
        <p:nvSpPr>
          <p:cNvPr id="3" name="Shape 7"/>
          <p:cNvSpPr>
            <a:spLocks noGrp="1"/>
          </p:cNvSpPr>
          <p:nvPr>
            <p:ph type="title"/>
          </p:nvPr>
        </p:nvSpPr>
        <p:spPr>
          <a:xfrm>
            <a:off x="466333" y="285361"/>
            <a:ext cx="11259334" cy="693551"/>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b="1"/>
            </a:lvl1pPr>
          </a:lstStyle>
          <a:p>
            <a:r>
              <a:rPr lang="en-US"/>
              <a:t>Click to edit Master title style</a:t>
            </a:r>
            <a:endParaRPr/>
          </a:p>
        </p:txBody>
      </p:sp>
      <p:sp>
        <p:nvSpPr>
          <p:cNvPr id="4" name="Shape 8"/>
          <p:cNvSpPr>
            <a:spLocks noGrp="1"/>
          </p:cNvSpPr>
          <p:nvPr>
            <p:ph idx="1"/>
          </p:nvPr>
        </p:nvSpPr>
        <p:spPr>
          <a:xfrm>
            <a:off x="609599" y="3273355"/>
            <a:ext cx="3203737" cy="2741208"/>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Shape 8"/>
          <p:cNvSpPr>
            <a:spLocks noGrp="1"/>
          </p:cNvSpPr>
          <p:nvPr>
            <p:ph idx="10"/>
          </p:nvPr>
        </p:nvSpPr>
        <p:spPr>
          <a:xfrm>
            <a:off x="4494133" y="3273355"/>
            <a:ext cx="3203737" cy="2741208"/>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hape 8"/>
          <p:cNvSpPr>
            <a:spLocks noGrp="1"/>
          </p:cNvSpPr>
          <p:nvPr>
            <p:ph idx="11"/>
          </p:nvPr>
        </p:nvSpPr>
        <p:spPr>
          <a:xfrm>
            <a:off x="8378664" y="3273355"/>
            <a:ext cx="3203737" cy="2741208"/>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Picture Placeholder 6"/>
          <p:cNvSpPr>
            <a:spLocks noGrp="1"/>
          </p:cNvSpPr>
          <p:nvPr>
            <p:ph type="pic" sz="quarter" idx="12"/>
          </p:nvPr>
        </p:nvSpPr>
        <p:spPr>
          <a:xfrm>
            <a:off x="609599" y="1257760"/>
            <a:ext cx="3203737" cy="1846262"/>
          </a:xfrm>
        </p:spPr>
        <p:txBody>
          <a:bodyPr/>
          <a:lstStyle/>
          <a:p>
            <a:r>
              <a:rPr lang="en-US"/>
              <a:t>Click icon to add picture</a:t>
            </a:r>
          </a:p>
        </p:txBody>
      </p:sp>
      <p:sp>
        <p:nvSpPr>
          <p:cNvPr id="9" name="Picture Placeholder 6"/>
          <p:cNvSpPr>
            <a:spLocks noGrp="1"/>
          </p:cNvSpPr>
          <p:nvPr>
            <p:ph type="pic" sz="quarter" idx="13"/>
          </p:nvPr>
        </p:nvSpPr>
        <p:spPr>
          <a:xfrm>
            <a:off x="4494133" y="1257760"/>
            <a:ext cx="3203737" cy="1846262"/>
          </a:xfrm>
        </p:spPr>
        <p:txBody>
          <a:bodyPr/>
          <a:lstStyle/>
          <a:p>
            <a:r>
              <a:rPr lang="en-US"/>
              <a:t>Click icon to add picture</a:t>
            </a:r>
          </a:p>
        </p:txBody>
      </p:sp>
      <p:sp>
        <p:nvSpPr>
          <p:cNvPr id="10" name="Picture Placeholder 6"/>
          <p:cNvSpPr>
            <a:spLocks noGrp="1"/>
          </p:cNvSpPr>
          <p:nvPr>
            <p:ph type="pic" sz="quarter" idx="14"/>
          </p:nvPr>
        </p:nvSpPr>
        <p:spPr>
          <a:xfrm>
            <a:off x="8378664" y="1257760"/>
            <a:ext cx="3203737" cy="1846262"/>
          </a:xfrm>
        </p:spPr>
        <p:txBody>
          <a:bodyPr/>
          <a:lstStyle/>
          <a:p>
            <a:r>
              <a:rPr lang="en-US"/>
              <a:t>Click icon to add picture</a:t>
            </a:r>
          </a:p>
        </p:txBody>
      </p:sp>
      <p:sp>
        <p:nvSpPr>
          <p:cNvPr id="11" name="Slide Number Placeholder 4">
            <a:extLst>
              <a:ext uri="{FF2B5EF4-FFF2-40B4-BE49-F238E27FC236}">
                <a16:creationId xmlns:a16="http://schemas.microsoft.com/office/drawing/2014/main" id="{9993ABF0-0745-4718-ADBF-6ABFF935AD54}"/>
              </a:ext>
            </a:extLst>
          </p:cNvPr>
          <p:cNvSpPr>
            <a:spLocks noGrp="1"/>
          </p:cNvSpPr>
          <p:nvPr>
            <p:ph type="sldNum" sz="quarter" idx="15"/>
          </p:nvPr>
        </p:nvSpPr>
        <p:spPr>
          <a:xfrm>
            <a:off x="11591920" y="6448314"/>
            <a:ext cx="503416" cy="365125"/>
          </a:xfrm>
        </p:spPr>
        <p:txBody>
          <a:bodyPr/>
          <a:lstStyle>
            <a:lvl1pPr>
              <a:defRPr>
                <a:solidFill>
                  <a:schemeClr val="tx1"/>
                </a:solidFill>
              </a:defRPr>
            </a:lvl1pPr>
          </a:lstStyle>
          <a:p>
            <a:fld id="{A22638FE-01C9-41BA-BE25-085106FB5C8A}" type="slidenum">
              <a:rPr lang="en-US" smtClean="0"/>
              <a:t>‹#›</a:t>
            </a:fld>
            <a:endParaRPr lang="en-US"/>
          </a:p>
        </p:txBody>
      </p:sp>
    </p:spTree>
    <p:extLst>
      <p:ext uri="{BB962C8B-B14F-4D97-AF65-F5344CB8AC3E}">
        <p14:creationId xmlns:p14="http://schemas.microsoft.com/office/powerpoint/2010/main" val="3233221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ndard 4">
    <p:spTree>
      <p:nvGrpSpPr>
        <p:cNvPr id="1" name=""/>
        <p:cNvGrpSpPr/>
        <p:nvPr/>
      </p:nvGrpSpPr>
      <p:grpSpPr>
        <a:xfrm>
          <a:off x="0" y="0"/>
          <a:ext cx="0" cy="0"/>
          <a:chOff x="0" y="0"/>
          <a:chExt cx="0" cy="0"/>
        </a:xfrm>
      </p:grpSpPr>
      <p:sp>
        <p:nvSpPr>
          <p:cNvPr id="3" name="Shape 7"/>
          <p:cNvSpPr>
            <a:spLocks noGrp="1"/>
          </p:cNvSpPr>
          <p:nvPr>
            <p:ph type="title"/>
          </p:nvPr>
        </p:nvSpPr>
        <p:spPr>
          <a:xfrm>
            <a:off x="466333" y="281941"/>
            <a:ext cx="11259334" cy="693551"/>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b="1"/>
            </a:lvl1pPr>
          </a:lstStyle>
          <a:p>
            <a:r>
              <a:rPr lang="en-US"/>
              <a:t>Click to edit Master title style</a:t>
            </a:r>
            <a:endParaRPr/>
          </a:p>
        </p:txBody>
      </p:sp>
      <p:sp>
        <p:nvSpPr>
          <p:cNvPr id="4" name="Shape 8"/>
          <p:cNvSpPr>
            <a:spLocks noGrp="1"/>
          </p:cNvSpPr>
          <p:nvPr>
            <p:ph idx="1"/>
          </p:nvPr>
        </p:nvSpPr>
        <p:spPr>
          <a:xfrm>
            <a:off x="538123" y="2794610"/>
            <a:ext cx="2562990" cy="3289999"/>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sz="1596"/>
            </a:lvl1pPr>
            <a:lvl2pPr>
              <a:defRPr sz="1596"/>
            </a:lvl2pPr>
            <a:lvl3pPr>
              <a:defRPr sz="1596"/>
            </a:lvl3pPr>
            <a:lvl4pPr>
              <a:defRPr sz="1596"/>
            </a:lvl4pPr>
            <a:lvl5pPr>
              <a:defRPr sz="15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Shape 8"/>
          <p:cNvSpPr>
            <a:spLocks noGrp="1"/>
          </p:cNvSpPr>
          <p:nvPr>
            <p:ph idx="10"/>
          </p:nvPr>
        </p:nvSpPr>
        <p:spPr>
          <a:xfrm>
            <a:off x="3398750" y="2794610"/>
            <a:ext cx="2562990" cy="3289999"/>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sz="1596"/>
            </a:lvl1pPr>
            <a:lvl2pPr>
              <a:defRPr sz="1596"/>
            </a:lvl2pPr>
            <a:lvl3pPr>
              <a:defRPr sz="1596"/>
            </a:lvl3pPr>
            <a:lvl4pPr>
              <a:defRPr sz="1596"/>
            </a:lvl4pPr>
            <a:lvl5pPr>
              <a:defRPr sz="15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Shape 8"/>
          <p:cNvSpPr>
            <a:spLocks noGrp="1"/>
          </p:cNvSpPr>
          <p:nvPr>
            <p:ph idx="11"/>
          </p:nvPr>
        </p:nvSpPr>
        <p:spPr>
          <a:xfrm>
            <a:off x="6247576" y="2794610"/>
            <a:ext cx="2562990" cy="3289999"/>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sz="1596"/>
            </a:lvl1pPr>
            <a:lvl2pPr>
              <a:defRPr sz="1596"/>
            </a:lvl2pPr>
            <a:lvl3pPr>
              <a:defRPr sz="1596"/>
            </a:lvl3pPr>
            <a:lvl4pPr>
              <a:defRPr sz="1596"/>
            </a:lvl4pPr>
            <a:lvl5pPr>
              <a:defRPr sz="15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Shape 8"/>
          <p:cNvSpPr>
            <a:spLocks noGrp="1"/>
          </p:cNvSpPr>
          <p:nvPr>
            <p:ph idx="12"/>
          </p:nvPr>
        </p:nvSpPr>
        <p:spPr>
          <a:xfrm>
            <a:off x="9096402" y="2794610"/>
            <a:ext cx="2562990" cy="3289999"/>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sz="1596"/>
            </a:lvl1pPr>
            <a:lvl2pPr>
              <a:defRPr sz="1596"/>
            </a:lvl2pPr>
            <a:lvl3pPr>
              <a:defRPr sz="1596"/>
            </a:lvl3pPr>
            <a:lvl4pPr>
              <a:defRPr sz="1596"/>
            </a:lvl4pPr>
            <a:lvl5pPr>
              <a:defRPr sz="15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Picture Placeholder 9"/>
          <p:cNvSpPr>
            <a:spLocks noGrp="1"/>
          </p:cNvSpPr>
          <p:nvPr>
            <p:ph type="pic" sz="quarter" idx="13"/>
          </p:nvPr>
        </p:nvSpPr>
        <p:spPr>
          <a:xfrm>
            <a:off x="538760" y="1241143"/>
            <a:ext cx="2561718" cy="1338262"/>
          </a:xfrm>
        </p:spPr>
        <p:txBody>
          <a:bodyPr/>
          <a:lstStyle/>
          <a:p>
            <a:r>
              <a:rPr lang="en-US"/>
              <a:t>Click icon to add picture</a:t>
            </a:r>
          </a:p>
        </p:txBody>
      </p:sp>
      <p:sp>
        <p:nvSpPr>
          <p:cNvPr id="12" name="Picture Placeholder 9"/>
          <p:cNvSpPr>
            <a:spLocks noGrp="1"/>
          </p:cNvSpPr>
          <p:nvPr>
            <p:ph type="pic" sz="quarter" idx="14"/>
          </p:nvPr>
        </p:nvSpPr>
        <p:spPr>
          <a:xfrm>
            <a:off x="3398751" y="1241143"/>
            <a:ext cx="2561718" cy="1338262"/>
          </a:xfrm>
        </p:spPr>
        <p:txBody>
          <a:bodyPr/>
          <a:lstStyle/>
          <a:p>
            <a:r>
              <a:rPr lang="en-US"/>
              <a:t>Click icon to add picture</a:t>
            </a:r>
          </a:p>
        </p:txBody>
      </p:sp>
      <p:sp>
        <p:nvSpPr>
          <p:cNvPr id="13" name="Picture Placeholder 9"/>
          <p:cNvSpPr>
            <a:spLocks noGrp="1"/>
          </p:cNvSpPr>
          <p:nvPr>
            <p:ph type="pic" sz="quarter" idx="15"/>
          </p:nvPr>
        </p:nvSpPr>
        <p:spPr>
          <a:xfrm>
            <a:off x="6248847" y="1241143"/>
            <a:ext cx="2561718" cy="1338262"/>
          </a:xfrm>
        </p:spPr>
        <p:txBody>
          <a:bodyPr/>
          <a:lstStyle/>
          <a:p>
            <a:r>
              <a:rPr lang="en-US"/>
              <a:t>Click icon to add picture</a:t>
            </a:r>
          </a:p>
        </p:txBody>
      </p:sp>
      <p:sp>
        <p:nvSpPr>
          <p:cNvPr id="14" name="Picture Placeholder 9"/>
          <p:cNvSpPr>
            <a:spLocks noGrp="1"/>
          </p:cNvSpPr>
          <p:nvPr>
            <p:ph type="pic" sz="quarter" idx="16"/>
          </p:nvPr>
        </p:nvSpPr>
        <p:spPr>
          <a:xfrm>
            <a:off x="9096403" y="1241143"/>
            <a:ext cx="2561718" cy="1338262"/>
          </a:xfrm>
        </p:spPr>
        <p:txBody>
          <a:bodyPr/>
          <a:lstStyle/>
          <a:p>
            <a:r>
              <a:rPr lang="en-US"/>
              <a:t>Click icon to add picture</a:t>
            </a:r>
          </a:p>
        </p:txBody>
      </p:sp>
      <p:sp>
        <p:nvSpPr>
          <p:cNvPr id="6" name="Slide Number Placeholder 5">
            <a:extLst>
              <a:ext uri="{FF2B5EF4-FFF2-40B4-BE49-F238E27FC236}">
                <a16:creationId xmlns:a16="http://schemas.microsoft.com/office/drawing/2014/main" id="{6BE108EB-7AE9-4A88-8140-8EF5047936B0}"/>
              </a:ext>
            </a:extLst>
          </p:cNvPr>
          <p:cNvSpPr>
            <a:spLocks noGrp="1"/>
          </p:cNvSpPr>
          <p:nvPr>
            <p:ph type="sldNum" sz="quarter" idx="18"/>
          </p:nvPr>
        </p:nvSpPr>
        <p:spPr/>
        <p:txBody>
          <a:bodyPr/>
          <a:lstStyle>
            <a:lvl1pPr>
              <a:defRPr>
                <a:solidFill>
                  <a:schemeClr val="tx1"/>
                </a:solidFill>
              </a:defRPr>
            </a:lvl1pPr>
          </a:lstStyle>
          <a:p>
            <a:fld id="{A22638FE-01C9-41BA-BE25-085106FB5C8A}" type="slidenum">
              <a:rPr lang="en-US" smtClean="0"/>
              <a:t>‹#›</a:t>
            </a:fld>
            <a:endParaRPr lang="en-US"/>
          </a:p>
        </p:txBody>
      </p:sp>
    </p:spTree>
    <p:extLst>
      <p:ext uri="{BB962C8B-B14F-4D97-AF65-F5344CB8AC3E}">
        <p14:creationId xmlns:p14="http://schemas.microsoft.com/office/powerpoint/2010/main" val="1840474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Blue Divi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7424D0-56B3-2443-8CF1-904F331A1CDA}"/>
              </a:ext>
            </a:extLst>
          </p:cNvPr>
          <p:cNvSpPr/>
          <p:nvPr/>
        </p:nvSpPr>
        <p:spPr>
          <a:xfrm>
            <a:off x="-31032" y="3052947"/>
            <a:ext cx="12223033" cy="36933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sp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ea typeface="+mj-ea"/>
              <a:cs typeface="+mj-cs"/>
              <a:sym typeface="Calibri"/>
            </a:endParaRPr>
          </a:p>
        </p:txBody>
      </p:sp>
      <p:pic>
        <p:nvPicPr>
          <p:cNvPr id="9" name="Picture 8">
            <a:extLst>
              <a:ext uri="{FF2B5EF4-FFF2-40B4-BE49-F238E27FC236}">
                <a16:creationId xmlns:a16="http://schemas.microsoft.com/office/drawing/2014/main" id="{2925E9B3-EE83-0644-8A0F-D702C3199662}"/>
              </a:ext>
            </a:extLst>
          </p:cNvPr>
          <p:cNvPicPr>
            <a:picLocks/>
          </p:cNvPicPr>
          <p:nvPr/>
        </p:nvPicPr>
        <p:blipFill rotWithShape="1">
          <a:blip r:embed="rId2" cstate="email">
            <a:extLst>
              <a:ext uri="{28A0092B-C50C-407E-A947-70E740481C1C}">
                <a14:useLocalDpi xmlns:a14="http://schemas.microsoft.com/office/drawing/2010/main"/>
              </a:ext>
            </a:extLst>
          </a:blip>
          <a:srcRect/>
          <a:stretch/>
        </p:blipFill>
        <p:spPr>
          <a:xfrm>
            <a:off x="-31033" y="14747"/>
            <a:ext cx="6132868" cy="6858000"/>
          </a:xfrm>
          <a:prstGeom prst="rect">
            <a:avLst/>
          </a:prstGeom>
        </p:spPr>
      </p:pic>
      <p:sp>
        <p:nvSpPr>
          <p:cNvPr id="10" name="Shape 8">
            <a:extLst>
              <a:ext uri="{FF2B5EF4-FFF2-40B4-BE49-F238E27FC236}">
                <a16:creationId xmlns:a16="http://schemas.microsoft.com/office/drawing/2014/main" id="{F150CF6B-1388-9344-B77C-C085D836C28B}"/>
              </a:ext>
            </a:extLst>
          </p:cNvPr>
          <p:cNvSpPr>
            <a:spLocks noGrp="1"/>
          </p:cNvSpPr>
          <p:nvPr>
            <p:ph idx="12"/>
          </p:nvPr>
        </p:nvSpPr>
        <p:spPr>
          <a:xfrm>
            <a:off x="6532630" y="2243470"/>
            <a:ext cx="5068943" cy="4082902"/>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Rectangle 11">
            <a:extLst>
              <a:ext uri="{FF2B5EF4-FFF2-40B4-BE49-F238E27FC236}">
                <a16:creationId xmlns:a16="http://schemas.microsoft.com/office/drawing/2014/main" id="{1CC22EDC-0F39-FE44-A71D-76BFD2F20E0F}"/>
              </a:ext>
            </a:extLst>
          </p:cNvPr>
          <p:cNvSpPr>
            <a:spLocks/>
          </p:cNvSpPr>
          <p:nvPr/>
        </p:nvSpPr>
        <p:spPr>
          <a:xfrm rot="10800000">
            <a:off x="590428" y="14746"/>
            <a:ext cx="5505572" cy="6858000"/>
          </a:xfrm>
          <a:prstGeom prst="rect">
            <a:avLst/>
          </a:prstGeom>
          <a:gradFill>
            <a:gsLst>
              <a:gs pos="0">
                <a:schemeClr val="tx1"/>
              </a:gs>
              <a:gs pos="100000">
                <a:schemeClr val="tx1">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7" name="Rectangle 6">
            <a:extLst>
              <a:ext uri="{FF2B5EF4-FFF2-40B4-BE49-F238E27FC236}">
                <a16:creationId xmlns:a16="http://schemas.microsoft.com/office/drawing/2014/main" id="{371ED297-7BA9-466D-A965-AC62B16AC0B0}"/>
              </a:ext>
            </a:extLst>
          </p:cNvPr>
          <p:cNvSpPr/>
          <p:nvPr/>
        </p:nvSpPr>
        <p:spPr>
          <a:xfrm>
            <a:off x="918532" y="1162050"/>
            <a:ext cx="915353" cy="9144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5" name="Text Placeholder 14">
            <a:extLst>
              <a:ext uri="{FF2B5EF4-FFF2-40B4-BE49-F238E27FC236}">
                <a16:creationId xmlns:a16="http://schemas.microsoft.com/office/drawing/2014/main" id="{FA3DB315-4FE4-4AB7-AC70-05542D09E924}"/>
              </a:ext>
            </a:extLst>
          </p:cNvPr>
          <p:cNvSpPr>
            <a:spLocks noGrp="1"/>
          </p:cNvSpPr>
          <p:nvPr>
            <p:ph type="body" sz="quarter" idx="10" hasCustomPrompt="1"/>
          </p:nvPr>
        </p:nvSpPr>
        <p:spPr>
          <a:xfrm>
            <a:off x="829539" y="1462546"/>
            <a:ext cx="4800949" cy="1981200"/>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17" name="Text Placeholder 16">
            <a:extLst>
              <a:ext uri="{FF2B5EF4-FFF2-40B4-BE49-F238E27FC236}">
                <a16:creationId xmlns:a16="http://schemas.microsoft.com/office/drawing/2014/main" id="{F2B683F2-4BBD-47C8-894F-EE9C27F61E37}"/>
              </a:ext>
            </a:extLst>
          </p:cNvPr>
          <p:cNvSpPr>
            <a:spLocks noGrp="1"/>
          </p:cNvSpPr>
          <p:nvPr>
            <p:ph type="body" sz="quarter" idx="11" hasCustomPrompt="1"/>
          </p:nvPr>
        </p:nvSpPr>
        <p:spPr>
          <a:xfrm>
            <a:off x="829540" y="583773"/>
            <a:ext cx="4800949" cy="447586"/>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SECTION TITLE CHANGE</a:t>
            </a:r>
          </a:p>
        </p:txBody>
      </p:sp>
      <p:pic>
        <p:nvPicPr>
          <p:cNvPr id="13" name="image1.png">
            <a:extLst>
              <a:ext uri="{FF2B5EF4-FFF2-40B4-BE49-F238E27FC236}">
                <a16:creationId xmlns:a16="http://schemas.microsoft.com/office/drawing/2014/main" id="{B23B9895-056B-D545-B7A2-818AE6726A7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5760" y="6412367"/>
            <a:ext cx="363322" cy="437014"/>
          </a:xfrm>
          <a:prstGeom prst="rect">
            <a:avLst/>
          </a:prstGeom>
          <a:ln w="12700">
            <a:miter lim="400000"/>
          </a:ln>
        </p:spPr>
      </p:pic>
      <p:sp>
        <p:nvSpPr>
          <p:cNvPr id="14" name="TextBox 13">
            <a:extLst>
              <a:ext uri="{FF2B5EF4-FFF2-40B4-BE49-F238E27FC236}">
                <a16:creationId xmlns:a16="http://schemas.microsoft.com/office/drawing/2014/main" id="{44E9CB18-23CA-834A-930A-E74144ECBA94}"/>
              </a:ext>
            </a:extLst>
          </p:cNvPr>
          <p:cNvSpPr txBox="1"/>
          <p:nvPr/>
        </p:nvSpPr>
        <p:spPr>
          <a:xfrm>
            <a:off x="609602" y="6507767"/>
            <a:ext cx="976506" cy="2459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671" tIns="45671" rIns="45671" bIns="45671" numCol="1" spcCol="38100" rtlCol="0" anchor="t">
            <a:spAutoFit/>
          </a:bodyPr>
          <a:lstStyle/>
          <a:p>
            <a:pPr marL="0" marR="0" indent="0" algn="l" defTabSz="913486" rtl="0" fontAlgn="auto" latinLnBrk="0" hangingPunct="0">
              <a:lnSpc>
                <a:spcPct val="100000"/>
              </a:lnSpc>
              <a:spcBef>
                <a:spcPts val="0"/>
              </a:spcBef>
              <a:spcAft>
                <a:spcPts val="0"/>
              </a:spcAft>
              <a:buClrTx/>
              <a:buSzTx/>
              <a:buFontTx/>
              <a:buNone/>
              <a:tabLst/>
            </a:pPr>
            <a:r>
              <a:rPr kumimoji="0" lang="en-US" sz="999" b="0" i="0" u="none" strike="noStrike" cap="none" spc="0" normalizeH="0" baseline="0">
                <a:ln>
                  <a:noFill/>
                </a:ln>
                <a:solidFill>
                  <a:schemeClr val="bg1"/>
                </a:solidFill>
                <a:effectLst/>
                <a:uFillTx/>
                <a:latin typeface="Calibri" panose="020F0502020204030204" pitchFamily="34" charset="0"/>
                <a:ea typeface="+mj-ea"/>
                <a:cs typeface="Calibri" panose="020F0502020204030204" pitchFamily="34" charset="0"/>
                <a:sym typeface="Calibri"/>
              </a:rPr>
              <a:t>www.earley.com</a:t>
            </a:r>
          </a:p>
        </p:txBody>
      </p:sp>
      <p:sp>
        <p:nvSpPr>
          <p:cNvPr id="3" name="Slide Number Placeholder 2">
            <a:extLst>
              <a:ext uri="{FF2B5EF4-FFF2-40B4-BE49-F238E27FC236}">
                <a16:creationId xmlns:a16="http://schemas.microsoft.com/office/drawing/2014/main" id="{2840135C-E513-4757-B7B4-8D9AA58F79F7}"/>
              </a:ext>
            </a:extLst>
          </p:cNvPr>
          <p:cNvSpPr>
            <a:spLocks noGrp="1"/>
          </p:cNvSpPr>
          <p:nvPr>
            <p:ph type="sldNum" sz="quarter" idx="13"/>
          </p:nvPr>
        </p:nvSpPr>
        <p:spPr/>
        <p:txBody>
          <a:bodyPr/>
          <a:lstStyle/>
          <a:p>
            <a:fld id="{A22638FE-01C9-41BA-BE25-085106FB5C8A}" type="slidenum">
              <a:rPr lang="en-US" smtClean="0"/>
              <a:t>‹#›</a:t>
            </a:fld>
            <a:endParaRPr lang="en-US"/>
          </a:p>
        </p:txBody>
      </p:sp>
      <p:sp>
        <p:nvSpPr>
          <p:cNvPr id="16" name="Shape 7">
            <a:extLst>
              <a:ext uri="{FF2B5EF4-FFF2-40B4-BE49-F238E27FC236}">
                <a16:creationId xmlns:a16="http://schemas.microsoft.com/office/drawing/2014/main" id="{413C58AE-F8A0-4EA0-82D5-15D01715A905}"/>
              </a:ext>
            </a:extLst>
          </p:cNvPr>
          <p:cNvSpPr>
            <a:spLocks noGrp="1"/>
          </p:cNvSpPr>
          <p:nvPr>
            <p:ph type="title"/>
          </p:nvPr>
        </p:nvSpPr>
        <p:spPr>
          <a:xfrm>
            <a:off x="6532630" y="1427983"/>
            <a:ext cx="5068943" cy="693551"/>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lgn="l">
              <a:defRPr sz="2398"/>
            </a:lvl1pPr>
          </a:lstStyle>
          <a:p>
            <a:r>
              <a:rPr lang="en-US"/>
              <a:t>Click to edit Master title style</a:t>
            </a:r>
            <a:endParaRPr/>
          </a:p>
        </p:txBody>
      </p:sp>
    </p:spTree>
    <p:extLst>
      <p:ext uri="{BB962C8B-B14F-4D97-AF65-F5344CB8AC3E}">
        <p14:creationId xmlns:p14="http://schemas.microsoft.com/office/powerpoint/2010/main" val="3620403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 Green Divi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7424D0-56B3-2443-8CF1-904F331A1CDA}"/>
              </a:ext>
            </a:extLst>
          </p:cNvPr>
          <p:cNvSpPr/>
          <p:nvPr/>
        </p:nvSpPr>
        <p:spPr>
          <a:xfrm>
            <a:off x="-31032" y="3052947"/>
            <a:ext cx="12223033" cy="36933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sp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ea typeface="+mj-ea"/>
              <a:cs typeface="+mj-cs"/>
              <a:sym typeface="Calibri"/>
            </a:endParaRPr>
          </a:p>
        </p:txBody>
      </p:sp>
      <p:pic>
        <p:nvPicPr>
          <p:cNvPr id="4" name="Picture 3">
            <a:extLst>
              <a:ext uri="{FF2B5EF4-FFF2-40B4-BE49-F238E27FC236}">
                <a16:creationId xmlns:a16="http://schemas.microsoft.com/office/drawing/2014/main" id="{B10CADAF-6331-4204-8876-D79562F3CE17}"/>
              </a:ext>
            </a:extLst>
          </p:cNvPr>
          <p:cNvPicPr>
            <a:picLocks/>
          </p:cNvPicPr>
          <p:nvPr/>
        </p:nvPicPr>
        <p:blipFill rotWithShape="1">
          <a:blip r:embed="rId2" cstate="email">
            <a:extLst>
              <a:ext uri="{28A0092B-C50C-407E-A947-70E740481C1C}">
                <a14:useLocalDpi xmlns:a14="http://schemas.microsoft.com/office/drawing/2010/main"/>
              </a:ext>
            </a:extLst>
          </a:blip>
          <a:srcRect/>
          <a:stretch/>
        </p:blipFill>
        <p:spPr>
          <a:xfrm rot="10800000">
            <a:off x="-36869" y="0"/>
            <a:ext cx="6132868" cy="6858000"/>
          </a:xfrm>
          <a:prstGeom prst="rect">
            <a:avLst/>
          </a:prstGeom>
        </p:spPr>
      </p:pic>
      <p:sp>
        <p:nvSpPr>
          <p:cNvPr id="12" name="Shape 8">
            <a:extLst>
              <a:ext uri="{FF2B5EF4-FFF2-40B4-BE49-F238E27FC236}">
                <a16:creationId xmlns:a16="http://schemas.microsoft.com/office/drawing/2014/main" id="{A3BF2F97-FA42-5A44-94C3-FE5FA8D89BAD}"/>
              </a:ext>
            </a:extLst>
          </p:cNvPr>
          <p:cNvSpPr>
            <a:spLocks noGrp="1"/>
          </p:cNvSpPr>
          <p:nvPr>
            <p:ph idx="12"/>
          </p:nvPr>
        </p:nvSpPr>
        <p:spPr>
          <a:xfrm>
            <a:off x="6532630" y="2243470"/>
            <a:ext cx="5068943" cy="4082902"/>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a:extLst>
              <a:ext uri="{FF2B5EF4-FFF2-40B4-BE49-F238E27FC236}">
                <a16:creationId xmlns:a16="http://schemas.microsoft.com/office/drawing/2014/main" id="{D78D4B1E-E96E-4B4A-BF15-F679E965759E}"/>
              </a:ext>
            </a:extLst>
          </p:cNvPr>
          <p:cNvSpPr>
            <a:spLocks/>
          </p:cNvSpPr>
          <p:nvPr/>
        </p:nvSpPr>
        <p:spPr>
          <a:xfrm rot="10800000">
            <a:off x="-36869" y="14746"/>
            <a:ext cx="6132868" cy="6858000"/>
          </a:xfrm>
          <a:prstGeom prst="rect">
            <a:avLst/>
          </a:prstGeom>
          <a:gradFill>
            <a:gsLst>
              <a:gs pos="0">
                <a:schemeClr val="accent4"/>
              </a:gs>
              <a:gs pos="100000">
                <a:schemeClr val="tx1">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7" name="Rectangle 6">
            <a:extLst>
              <a:ext uri="{FF2B5EF4-FFF2-40B4-BE49-F238E27FC236}">
                <a16:creationId xmlns:a16="http://schemas.microsoft.com/office/drawing/2014/main" id="{371ED297-7BA9-466D-A965-AC62B16AC0B0}"/>
              </a:ext>
            </a:extLst>
          </p:cNvPr>
          <p:cNvSpPr/>
          <p:nvPr/>
        </p:nvSpPr>
        <p:spPr>
          <a:xfrm>
            <a:off x="918532" y="1162050"/>
            <a:ext cx="915353" cy="9144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5" name="Text Placeholder 14">
            <a:extLst>
              <a:ext uri="{FF2B5EF4-FFF2-40B4-BE49-F238E27FC236}">
                <a16:creationId xmlns:a16="http://schemas.microsoft.com/office/drawing/2014/main" id="{FA3DB315-4FE4-4AB7-AC70-05542D09E924}"/>
              </a:ext>
            </a:extLst>
          </p:cNvPr>
          <p:cNvSpPr>
            <a:spLocks noGrp="1"/>
          </p:cNvSpPr>
          <p:nvPr>
            <p:ph type="body" sz="quarter" idx="10" hasCustomPrompt="1"/>
          </p:nvPr>
        </p:nvSpPr>
        <p:spPr>
          <a:xfrm>
            <a:off x="829539" y="1462546"/>
            <a:ext cx="4800949" cy="1981200"/>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17" name="Text Placeholder 16">
            <a:extLst>
              <a:ext uri="{FF2B5EF4-FFF2-40B4-BE49-F238E27FC236}">
                <a16:creationId xmlns:a16="http://schemas.microsoft.com/office/drawing/2014/main" id="{F2B683F2-4BBD-47C8-894F-EE9C27F61E37}"/>
              </a:ext>
            </a:extLst>
          </p:cNvPr>
          <p:cNvSpPr>
            <a:spLocks noGrp="1"/>
          </p:cNvSpPr>
          <p:nvPr>
            <p:ph type="body" sz="quarter" idx="11" hasCustomPrompt="1"/>
          </p:nvPr>
        </p:nvSpPr>
        <p:spPr>
          <a:xfrm>
            <a:off x="829540" y="583773"/>
            <a:ext cx="4800949" cy="447586"/>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SECTION TITLE CHANGE</a:t>
            </a:r>
          </a:p>
        </p:txBody>
      </p:sp>
      <p:pic>
        <p:nvPicPr>
          <p:cNvPr id="18" name="image1.png">
            <a:extLst>
              <a:ext uri="{FF2B5EF4-FFF2-40B4-BE49-F238E27FC236}">
                <a16:creationId xmlns:a16="http://schemas.microsoft.com/office/drawing/2014/main" id="{26A3889F-D7B4-FB4D-A0A0-B7164C643D2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5760" y="6412367"/>
            <a:ext cx="363322" cy="437014"/>
          </a:xfrm>
          <a:prstGeom prst="rect">
            <a:avLst/>
          </a:prstGeom>
          <a:ln w="12700">
            <a:miter lim="400000"/>
          </a:ln>
        </p:spPr>
      </p:pic>
      <p:sp>
        <p:nvSpPr>
          <p:cNvPr id="19" name="TextBox 18">
            <a:extLst>
              <a:ext uri="{FF2B5EF4-FFF2-40B4-BE49-F238E27FC236}">
                <a16:creationId xmlns:a16="http://schemas.microsoft.com/office/drawing/2014/main" id="{0D5CB43F-0B9E-C745-84D3-38DAAEC123E4}"/>
              </a:ext>
            </a:extLst>
          </p:cNvPr>
          <p:cNvSpPr txBox="1"/>
          <p:nvPr/>
        </p:nvSpPr>
        <p:spPr>
          <a:xfrm>
            <a:off x="609602" y="6507767"/>
            <a:ext cx="976506" cy="2459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671" tIns="45671" rIns="45671" bIns="45671" numCol="1" spcCol="38100" rtlCol="0" anchor="t">
            <a:spAutoFit/>
          </a:bodyPr>
          <a:lstStyle/>
          <a:p>
            <a:pPr marL="0" marR="0" indent="0" algn="l" defTabSz="913486" rtl="0" fontAlgn="auto" latinLnBrk="0" hangingPunct="0">
              <a:lnSpc>
                <a:spcPct val="100000"/>
              </a:lnSpc>
              <a:spcBef>
                <a:spcPts val="0"/>
              </a:spcBef>
              <a:spcAft>
                <a:spcPts val="0"/>
              </a:spcAft>
              <a:buClrTx/>
              <a:buSzTx/>
              <a:buFontTx/>
              <a:buNone/>
              <a:tabLst/>
            </a:pPr>
            <a:r>
              <a:rPr kumimoji="0" lang="en-US" sz="999" b="0" i="0" u="none" strike="noStrike" cap="none" spc="0" normalizeH="0" baseline="0">
                <a:ln>
                  <a:noFill/>
                </a:ln>
                <a:solidFill>
                  <a:schemeClr val="bg1"/>
                </a:solidFill>
                <a:effectLst/>
                <a:uFillTx/>
                <a:latin typeface="Calibri" panose="020F0502020204030204" pitchFamily="34" charset="0"/>
                <a:ea typeface="+mj-ea"/>
                <a:cs typeface="Calibri" panose="020F0502020204030204" pitchFamily="34" charset="0"/>
                <a:sym typeface="Calibri"/>
              </a:rPr>
              <a:t>www.earley.com</a:t>
            </a:r>
          </a:p>
        </p:txBody>
      </p:sp>
      <p:sp>
        <p:nvSpPr>
          <p:cNvPr id="3" name="Slide Number Placeholder 2">
            <a:extLst>
              <a:ext uri="{FF2B5EF4-FFF2-40B4-BE49-F238E27FC236}">
                <a16:creationId xmlns:a16="http://schemas.microsoft.com/office/drawing/2014/main" id="{7EE4D1F8-1E0B-4194-9EA9-3B85633A8C0C}"/>
              </a:ext>
            </a:extLst>
          </p:cNvPr>
          <p:cNvSpPr>
            <a:spLocks noGrp="1"/>
          </p:cNvSpPr>
          <p:nvPr>
            <p:ph type="sldNum" sz="quarter" idx="13"/>
          </p:nvPr>
        </p:nvSpPr>
        <p:spPr/>
        <p:txBody>
          <a:bodyPr/>
          <a:lstStyle/>
          <a:p>
            <a:fld id="{A22638FE-01C9-41BA-BE25-085106FB5C8A}" type="slidenum">
              <a:rPr lang="en-US" smtClean="0"/>
              <a:t>‹#›</a:t>
            </a:fld>
            <a:endParaRPr lang="en-US"/>
          </a:p>
        </p:txBody>
      </p:sp>
      <p:sp>
        <p:nvSpPr>
          <p:cNvPr id="16" name="Shape 7">
            <a:extLst>
              <a:ext uri="{FF2B5EF4-FFF2-40B4-BE49-F238E27FC236}">
                <a16:creationId xmlns:a16="http://schemas.microsoft.com/office/drawing/2014/main" id="{56D923B6-7587-4385-92A1-2B3A929250AF}"/>
              </a:ext>
            </a:extLst>
          </p:cNvPr>
          <p:cNvSpPr>
            <a:spLocks noGrp="1"/>
          </p:cNvSpPr>
          <p:nvPr>
            <p:ph type="title"/>
          </p:nvPr>
        </p:nvSpPr>
        <p:spPr>
          <a:xfrm>
            <a:off x="6532630" y="1427983"/>
            <a:ext cx="5068943" cy="693551"/>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lgn="l">
              <a:defRPr sz="2398"/>
            </a:lvl1pPr>
          </a:lstStyle>
          <a:p>
            <a:r>
              <a:rPr lang="en-US"/>
              <a:t>Click to edit Master title style</a:t>
            </a:r>
            <a:endParaRPr/>
          </a:p>
        </p:txBody>
      </p:sp>
    </p:spTree>
    <p:extLst>
      <p:ext uri="{BB962C8B-B14F-4D97-AF65-F5344CB8AC3E}">
        <p14:creationId xmlns:p14="http://schemas.microsoft.com/office/powerpoint/2010/main" val="1016270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Purple Divi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7424D0-56B3-2443-8CF1-904F331A1CDA}"/>
              </a:ext>
            </a:extLst>
          </p:cNvPr>
          <p:cNvSpPr/>
          <p:nvPr/>
        </p:nvSpPr>
        <p:spPr>
          <a:xfrm>
            <a:off x="-31032" y="3052947"/>
            <a:ext cx="12223033" cy="36933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sp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ea typeface="+mj-ea"/>
              <a:cs typeface="+mj-cs"/>
              <a:sym typeface="Calibri"/>
            </a:endParaRPr>
          </a:p>
        </p:txBody>
      </p:sp>
      <p:pic>
        <p:nvPicPr>
          <p:cNvPr id="14" name="Picture 13">
            <a:extLst>
              <a:ext uri="{FF2B5EF4-FFF2-40B4-BE49-F238E27FC236}">
                <a16:creationId xmlns:a16="http://schemas.microsoft.com/office/drawing/2014/main" id="{34DC5778-9DD2-D54A-BF9A-DE2028A17853}"/>
              </a:ext>
            </a:extLst>
          </p:cNvPr>
          <p:cNvPicPr>
            <a:picLocks/>
          </p:cNvPicPr>
          <p:nvPr/>
        </p:nvPicPr>
        <p:blipFill rotWithShape="1">
          <a:blip r:embed="rId2" cstate="email">
            <a:grayscl/>
            <a:extLst>
              <a:ext uri="{28A0092B-C50C-407E-A947-70E740481C1C}">
                <a14:useLocalDpi xmlns:a14="http://schemas.microsoft.com/office/drawing/2010/main"/>
              </a:ext>
            </a:extLst>
          </a:blip>
          <a:srcRect/>
          <a:stretch/>
        </p:blipFill>
        <p:spPr>
          <a:xfrm>
            <a:off x="-36868" y="0"/>
            <a:ext cx="6132868" cy="6858000"/>
          </a:xfrm>
          <a:prstGeom prst="rect">
            <a:avLst/>
          </a:prstGeom>
        </p:spPr>
      </p:pic>
      <p:sp>
        <p:nvSpPr>
          <p:cNvPr id="16" name="Rectangle 15">
            <a:extLst>
              <a:ext uri="{FF2B5EF4-FFF2-40B4-BE49-F238E27FC236}">
                <a16:creationId xmlns:a16="http://schemas.microsoft.com/office/drawing/2014/main" id="{66464445-A72B-FE4D-B60B-5807E20E33C5}"/>
              </a:ext>
            </a:extLst>
          </p:cNvPr>
          <p:cNvSpPr>
            <a:spLocks/>
          </p:cNvSpPr>
          <p:nvPr/>
        </p:nvSpPr>
        <p:spPr>
          <a:xfrm rot="10800000">
            <a:off x="-36869" y="-4"/>
            <a:ext cx="6132868" cy="6872750"/>
          </a:xfrm>
          <a:prstGeom prst="rect">
            <a:avLst/>
          </a:prstGeom>
          <a:solidFill>
            <a:schemeClr val="accent6">
              <a:alpha val="70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8" name="Rectangle 17">
            <a:extLst>
              <a:ext uri="{FF2B5EF4-FFF2-40B4-BE49-F238E27FC236}">
                <a16:creationId xmlns:a16="http://schemas.microsoft.com/office/drawing/2014/main" id="{D1E1C681-A68E-164B-81C1-94BF25E9C474}"/>
              </a:ext>
            </a:extLst>
          </p:cNvPr>
          <p:cNvSpPr>
            <a:spLocks/>
          </p:cNvSpPr>
          <p:nvPr/>
        </p:nvSpPr>
        <p:spPr>
          <a:xfrm rot="10800000">
            <a:off x="-55303" y="-6135"/>
            <a:ext cx="6132868" cy="6872751"/>
          </a:xfrm>
          <a:prstGeom prst="rect">
            <a:avLst/>
          </a:prstGeom>
          <a:gradFill>
            <a:gsLst>
              <a:gs pos="0">
                <a:schemeClr val="accent6"/>
              </a:gs>
              <a:gs pos="100000">
                <a:schemeClr val="accent6">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0" name="Shape 8">
            <a:extLst>
              <a:ext uri="{FF2B5EF4-FFF2-40B4-BE49-F238E27FC236}">
                <a16:creationId xmlns:a16="http://schemas.microsoft.com/office/drawing/2014/main" id="{F150CF6B-1388-9344-B77C-C085D836C28B}"/>
              </a:ext>
            </a:extLst>
          </p:cNvPr>
          <p:cNvSpPr>
            <a:spLocks noGrp="1"/>
          </p:cNvSpPr>
          <p:nvPr>
            <p:ph idx="12"/>
          </p:nvPr>
        </p:nvSpPr>
        <p:spPr>
          <a:xfrm>
            <a:off x="6532630" y="2243470"/>
            <a:ext cx="5068943" cy="4082902"/>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defRPr sz="1796"/>
            </a:lvl1pPr>
            <a:lvl2pPr>
              <a:defRPr sz="1796"/>
            </a:lvl2pPr>
            <a:lvl3pPr>
              <a:defRPr sz="1796"/>
            </a:lvl3pPr>
            <a:lvl4pPr>
              <a:defRPr sz="1796"/>
            </a:lvl4pPr>
            <a:lvl5pPr>
              <a:defRPr sz="179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Text Placeholder 14">
            <a:extLst>
              <a:ext uri="{FF2B5EF4-FFF2-40B4-BE49-F238E27FC236}">
                <a16:creationId xmlns:a16="http://schemas.microsoft.com/office/drawing/2014/main" id="{FA3DB315-4FE4-4AB7-AC70-05542D09E924}"/>
              </a:ext>
            </a:extLst>
          </p:cNvPr>
          <p:cNvSpPr>
            <a:spLocks noGrp="1"/>
          </p:cNvSpPr>
          <p:nvPr>
            <p:ph type="body" sz="quarter" idx="10" hasCustomPrompt="1"/>
          </p:nvPr>
        </p:nvSpPr>
        <p:spPr>
          <a:xfrm>
            <a:off x="829539" y="1462546"/>
            <a:ext cx="4800949" cy="1981200"/>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7" name="Rectangle 6">
            <a:extLst>
              <a:ext uri="{FF2B5EF4-FFF2-40B4-BE49-F238E27FC236}">
                <a16:creationId xmlns:a16="http://schemas.microsoft.com/office/drawing/2014/main" id="{371ED297-7BA9-466D-A965-AC62B16AC0B0}"/>
              </a:ext>
            </a:extLst>
          </p:cNvPr>
          <p:cNvSpPr/>
          <p:nvPr/>
        </p:nvSpPr>
        <p:spPr>
          <a:xfrm>
            <a:off x="918532" y="1162050"/>
            <a:ext cx="915353" cy="9144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7" name="Text Placeholder 16">
            <a:extLst>
              <a:ext uri="{FF2B5EF4-FFF2-40B4-BE49-F238E27FC236}">
                <a16:creationId xmlns:a16="http://schemas.microsoft.com/office/drawing/2014/main" id="{F2B683F2-4BBD-47C8-894F-EE9C27F61E37}"/>
              </a:ext>
            </a:extLst>
          </p:cNvPr>
          <p:cNvSpPr>
            <a:spLocks noGrp="1"/>
          </p:cNvSpPr>
          <p:nvPr>
            <p:ph type="body" sz="quarter" idx="11" hasCustomPrompt="1"/>
          </p:nvPr>
        </p:nvSpPr>
        <p:spPr>
          <a:xfrm>
            <a:off x="829540" y="583773"/>
            <a:ext cx="4800949" cy="447586"/>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SECTION TITLE CHANGE</a:t>
            </a:r>
          </a:p>
        </p:txBody>
      </p:sp>
      <p:pic>
        <p:nvPicPr>
          <p:cNvPr id="19" name="image1.png">
            <a:extLst>
              <a:ext uri="{FF2B5EF4-FFF2-40B4-BE49-F238E27FC236}">
                <a16:creationId xmlns:a16="http://schemas.microsoft.com/office/drawing/2014/main" id="{27DA2935-6602-FF45-9BBD-ECDC22B6F1B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5760" y="6412367"/>
            <a:ext cx="363322" cy="437014"/>
          </a:xfrm>
          <a:prstGeom prst="rect">
            <a:avLst/>
          </a:prstGeom>
          <a:ln w="12700">
            <a:miter lim="400000"/>
          </a:ln>
        </p:spPr>
      </p:pic>
      <p:sp>
        <p:nvSpPr>
          <p:cNvPr id="20" name="TextBox 19">
            <a:extLst>
              <a:ext uri="{FF2B5EF4-FFF2-40B4-BE49-F238E27FC236}">
                <a16:creationId xmlns:a16="http://schemas.microsoft.com/office/drawing/2014/main" id="{643F77F4-4852-0F47-9842-1EEFFF77D289}"/>
              </a:ext>
            </a:extLst>
          </p:cNvPr>
          <p:cNvSpPr txBox="1"/>
          <p:nvPr/>
        </p:nvSpPr>
        <p:spPr>
          <a:xfrm>
            <a:off x="609602" y="6507767"/>
            <a:ext cx="976506" cy="2459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671" tIns="45671" rIns="45671" bIns="45671" numCol="1" spcCol="38100" rtlCol="0" anchor="t">
            <a:spAutoFit/>
          </a:bodyPr>
          <a:lstStyle/>
          <a:p>
            <a:pPr marL="0" marR="0" indent="0" algn="l" defTabSz="913486" rtl="0" fontAlgn="auto" latinLnBrk="0" hangingPunct="0">
              <a:lnSpc>
                <a:spcPct val="100000"/>
              </a:lnSpc>
              <a:spcBef>
                <a:spcPts val="0"/>
              </a:spcBef>
              <a:spcAft>
                <a:spcPts val="0"/>
              </a:spcAft>
              <a:buClrTx/>
              <a:buSzTx/>
              <a:buFontTx/>
              <a:buNone/>
              <a:tabLst/>
            </a:pPr>
            <a:r>
              <a:rPr kumimoji="0" lang="en-US" sz="999" b="0" i="0" u="none" strike="noStrike" cap="none" spc="0" normalizeH="0" baseline="0">
                <a:ln>
                  <a:noFill/>
                </a:ln>
                <a:solidFill>
                  <a:schemeClr val="bg1"/>
                </a:solidFill>
                <a:effectLst/>
                <a:uFillTx/>
                <a:latin typeface="Calibri" panose="020F0502020204030204" pitchFamily="34" charset="0"/>
                <a:ea typeface="+mj-ea"/>
                <a:cs typeface="Calibri" panose="020F0502020204030204" pitchFamily="34" charset="0"/>
                <a:sym typeface="Calibri"/>
              </a:rPr>
              <a:t>www.earley.com</a:t>
            </a:r>
          </a:p>
        </p:txBody>
      </p:sp>
      <p:sp>
        <p:nvSpPr>
          <p:cNvPr id="3" name="Slide Number Placeholder 2">
            <a:extLst>
              <a:ext uri="{FF2B5EF4-FFF2-40B4-BE49-F238E27FC236}">
                <a16:creationId xmlns:a16="http://schemas.microsoft.com/office/drawing/2014/main" id="{B3673AA5-14B2-4B53-AA68-67C31532F569}"/>
              </a:ext>
            </a:extLst>
          </p:cNvPr>
          <p:cNvSpPr>
            <a:spLocks noGrp="1"/>
          </p:cNvSpPr>
          <p:nvPr>
            <p:ph type="sldNum" sz="quarter" idx="13"/>
          </p:nvPr>
        </p:nvSpPr>
        <p:spPr/>
        <p:txBody>
          <a:bodyPr/>
          <a:lstStyle/>
          <a:p>
            <a:fld id="{A22638FE-01C9-41BA-BE25-085106FB5C8A}" type="slidenum">
              <a:rPr lang="en-US" smtClean="0"/>
              <a:t>‹#›</a:t>
            </a:fld>
            <a:endParaRPr lang="en-US"/>
          </a:p>
        </p:txBody>
      </p:sp>
      <p:sp>
        <p:nvSpPr>
          <p:cNvPr id="21" name="Shape 7">
            <a:extLst>
              <a:ext uri="{FF2B5EF4-FFF2-40B4-BE49-F238E27FC236}">
                <a16:creationId xmlns:a16="http://schemas.microsoft.com/office/drawing/2014/main" id="{421DD9DB-A286-49C6-8AFA-BE6E8E644406}"/>
              </a:ext>
            </a:extLst>
          </p:cNvPr>
          <p:cNvSpPr>
            <a:spLocks noGrp="1"/>
          </p:cNvSpPr>
          <p:nvPr>
            <p:ph type="title"/>
          </p:nvPr>
        </p:nvSpPr>
        <p:spPr>
          <a:xfrm>
            <a:off x="6532630" y="1427983"/>
            <a:ext cx="5068943" cy="693551"/>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lvl1pPr algn="l">
              <a:defRPr sz="2398"/>
            </a:lvl1pPr>
          </a:lstStyle>
          <a:p>
            <a:r>
              <a:rPr lang="en-US"/>
              <a:t>Click to edit Master title style</a:t>
            </a:r>
            <a:endParaRPr/>
          </a:p>
        </p:txBody>
      </p:sp>
    </p:spTree>
    <p:extLst>
      <p:ext uri="{BB962C8B-B14F-4D97-AF65-F5344CB8AC3E}">
        <p14:creationId xmlns:p14="http://schemas.microsoft.com/office/powerpoint/2010/main" val="1069935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ue Divi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0CC2603-1D97-BF47-85CB-7AB423FC21F7}"/>
              </a:ext>
            </a:extLst>
          </p:cNvPr>
          <p:cNvPicPr>
            <a:picLocks/>
          </p:cNvPicPr>
          <p:nvPr/>
        </p:nvPicPr>
        <p:blipFill rotWithShape="1">
          <a:blip r:embed="rId2" cstate="email">
            <a:extLst>
              <a:ext uri="{28A0092B-C50C-407E-A947-70E740481C1C}">
                <a14:useLocalDpi xmlns:a14="http://schemas.microsoft.com/office/drawing/2010/main"/>
              </a:ext>
            </a:extLst>
          </a:blip>
          <a:srcRect l="-255"/>
          <a:stretch/>
        </p:blipFill>
        <p:spPr>
          <a:xfrm>
            <a:off x="-31033" y="14747"/>
            <a:ext cx="12223033" cy="6858000"/>
          </a:xfrm>
          <a:prstGeom prst="rect">
            <a:avLst/>
          </a:prstGeom>
        </p:spPr>
      </p:pic>
      <p:sp>
        <p:nvSpPr>
          <p:cNvPr id="10" name="Rectangle 9">
            <a:extLst>
              <a:ext uri="{FF2B5EF4-FFF2-40B4-BE49-F238E27FC236}">
                <a16:creationId xmlns:a16="http://schemas.microsoft.com/office/drawing/2014/main" id="{CA0B8211-E477-3846-88DD-E660E474E004}"/>
              </a:ext>
            </a:extLst>
          </p:cNvPr>
          <p:cNvSpPr>
            <a:spLocks/>
          </p:cNvSpPr>
          <p:nvPr/>
        </p:nvSpPr>
        <p:spPr>
          <a:xfrm rot="10800000">
            <a:off x="0" y="14746"/>
            <a:ext cx="12191998" cy="6858000"/>
          </a:xfrm>
          <a:prstGeom prst="rect">
            <a:avLst/>
          </a:prstGeom>
          <a:gradFill>
            <a:gsLst>
              <a:gs pos="0">
                <a:schemeClr val="tx1"/>
              </a:gs>
              <a:gs pos="100000">
                <a:schemeClr val="tx1">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pic>
        <p:nvPicPr>
          <p:cNvPr id="9" name="Picture 2" descr="eis-logo">
            <a:extLst>
              <a:ext uri="{FF2B5EF4-FFF2-40B4-BE49-F238E27FC236}">
                <a16:creationId xmlns:a16="http://schemas.microsoft.com/office/drawing/2014/main" id="{E66A3F7A-CC93-40F8-9D87-551A28785452}"/>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833627" y="2506514"/>
            <a:ext cx="1231305" cy="1479817"/>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03341223-3D9C-1E49-99BB-E0632A812AB6}"/>
              </a:ext>
            </a:extLst>
          </p:cNvPr>
          <p:cNvSpPr/>
          <p:nvPr/>
        </p:nvSpPr>
        <p:spPr>
          <a:xfrm>
            <a:off x="6096000" y="3401498"/>
            <a:ext cx="915353" cy="9144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2" name="Text Placeholder 14">
            <a:extLst>
              <a:ext uri="{FF2B5EF4-FFF2-40B4-BE49-F238E27FC236}">
                <a16:creationId xmlns:a16="http://schemas.microsoft.com/office/drawing/2014/main" id="{F5236ECC-A4BA-FB41-8C8D-01CF691B8547}"/>
              </a:ext>
            </a:extLst>
          </p:cNvPr>
          <p:cNvSpPr>
            <a:spLocks noGrp="1"/>
          </p:cNvSpPr>
          <p:nvPr>
            <p:ph type="body" sz="quarter" idx="10" hasCustomPrompt="1"/>
          </p:nvPr>
        </p:nvSpPr>
        <p:spPr>
          <a:xfrm>
            <a:off x="6095998" y="1162050"/>
            <a:ext cx="5053514" cy="1981200"/>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13" name="Text Placeholder 16">
            <a:extLst>
              <a:ext uri="{FF2B5EF4-FFF2-40B4-BE49-F238E27FC236}">
                <a16:creationId xmlns:a16="http://schemas.microsoft.com/office/drawing/2014/main" id="{45AA1624-823B-5146-9A2E-869560E86F29}"/>
              </a:ext>
            </a:extLst>
          </p:cNvPr>
          <p:cNvSpPr>
            <a:spLocks noGrp="1"/>
          </p:cNvSpPr>
          <p:nvPr>
            <p:ph type="body" sz="quarter" idx="11" hasCustomPrompt="1"/>
          </p:nvPr>
        </p:nvSpPr>
        <p:spPr>
          <a:xfrm>
            <a:off x="6096000" y="3751186"/>
            <a:ext cx="5177468" cy="847725"/>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subtitle</a:t>
            </a:r>
          </a:p>
        </p:txBody>
      </p:sp>
    </p:spTree>
    <p:extLst>
      <p:ext uri="{BB962C8B-B14F-4D97-AF65-F5344CB8AC3E}">
        <p14:creationId xmlns:p14="http://schemas.microsoft.com/office/powerpoint/2010/main" val="3244238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Green Divi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0CADAF-6331-4204-8876-D79562F3CE1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rot="10800000">
            <a:off x="-31029" y="-4"/>
            <a:ext cx="12223028" cy="6858004"/>
          </a:xfrm>
          <a:prstGeom prst="rect">
            <a:avLst/>
          </a:prstGeom>
        </p:spPr>
      </p:pic>
      <p:sp>
        <p:nvSpPr>
          <p:cNvPr id="5" name="Rectangle 4">
            <a:extLst>
              <a:ext uri="{FF2B5EF4-FFF2-40B4-BE49-F238E27FC236}">
                <a16:creationId xmlns:a16="http://schemas.microsoft.com/office/drawing/2014/main" id="{5A6840FF-03F7-4D2A-BABC-09762FFBD409}"/>
              </a:ext>
            </a:extLst>
          </p:cNvPr>
          <p:cNvSpPr/>
          <p:nvPr/>
        </p:nvSpPr>
        <p:spPr>
          <a:xfrm rot="10800000">
            <a:off x="-31028" y="14746"/>
            <a:ext cx="12223029" cy="6858000"/>
          </a:xfrm>
          <a:prstGeom prst="rect">
            <a:avLst/>
          </a:prstGeom>
          <a:gradFill>
            <a:gsLst>
              <a:gs pos="0">
                <a:schemeClr val="accent4"/>
              </a:gs>
              <a:gs pos="100000">
                <a:schemeClr val="tx1">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pic>
        <p:nvPicPr>
          <p:cNvPr id="9" name="Picture 2" descr="eis-logo">
            <a:extLst>
              <a:ext uri="{FF2B5EF4-FFF2-40B4-BE49-F238E27FC236}">
                <a16:creationId xmlns:a16="http://schemas.microsoft.com/office/drawing/2014/main" id="{E66A3F7A-CC93-40F8-9D87-551A28785452}"/>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833627" y="2506514"/>
            <a:ext cx="1231305" cy="147981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F3C651B6-B639-6241-910B-EAF34417E92D}"/>
              </a:ext>
            </a:extLst>
          </p:cNvPr>
          <p:cNvSpPr/>
          <p:nvPr/>
        </p:nvSpPr>
        <p:spPr>
          <a:xfrm>
            <a:off x="6096000" y="3401498"/>
            <a:ext cx="915353" cy="9144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0" name="Text Placeholder 14">
            <a:extLst>
              <a:ext uri="{FF2B5EF4-FFF2-40B4-BE49-F238E27FC236}">
                <a16:creationId xmlns:a16="http://schemas.microsoft.com/office/drawing/2014/main" id="{174A78D8-2844-1C41-B024-A81F0BB1CF85}"/>
              </a:ext>
            </a:extLst>
          </p:cNvPr>
          <p:cNvSpPr>
            <a:spLocks noGrp="1"/>
          </p:cNvSpPr>
          <p:nvPr>
            <p:ph type="body" sz="quarter" idx="10" hasCustomPrompt="1"/>
          </p:nvPr>
        </p:nvSpPr>
        <p:spPr>
          <a:xfrm>
            <a:off x="6095998" y="1162050"/>
            <a:ext cx="5053514" cy="1981200"/>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11" name="Text Placeholder 16">
            <a:extLst>
              <a:ext uri="{FF2B5EF4-FFF2-40B4-BE49-F238E27FC236}">
                <a16:creationId xmlns:a16="http://schemas.microsoft.com/office/drawing/2014/main" id="{B2D5719B-D8F5-E84C-975E-87CA6CA4F2BF}"/>
              </a:ext>
            </a:extLst>
          </p:cNvPr>
          <p:cNvSpPr>
            <a:spLocks noGrp="1"/>
          </p:cNvSpPr>
          <p:nvPr>
            <p:ph type="body" sz="quarter" idx="11" hasCustomPrompt="1"/>
          </p:nvPr>
        </p:nvSpPr>
        <p:spPr>
          <a:xfrm>
            <a:off x="6096000" y="3751186"/>
            <a:ext cx="5177468" cy="847725"/>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subtitle</a:t>
            </a:r>
          </a:p>
        </p:txBody>
      </p:sp>
    </p:spTree>
    <p:extLst>
      <p:ext uri="{BB962C8B-B14F-4D97-AF65-F5344CB8AC3E}">
        <p14:creationId xmlns:p14="http://schemas.microsoft.com/office/powerpoint/2010/main" val="3736236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urple Divi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26E84C2-78EB-4D1A-A479-FDE6F0049F93}"/>
              </a:ext>
            </a:extLst>
          </p:cNvPr>
          <p:cNvPicPr>
            <a:picLocks noChangeAspect="1"/>
          </p:cNvPicPr>
          <p:nvPr/>
        </p:nvPicPr>
        <p:blipFill rotWithShape="1">
          <a:blip r:embed="rId2" cstate="email">
            <a:grayscl/>
            <a:extLst>
              <a:ext uri="{28A0092B-C50C-407E-A947-70E740481C1C}">
                <a14:useLocalDpi xmlns:a14="http://schemas.microsoft.com/office/drawing/2010/main"/>
              </a:ext>
            </a:extLst>
          </a:blip>
          <a:srcRect/>
          <a:stretch/>
        </p:blipFill>
        <p:spPr>
          <a:xfrm>
            <a:off x="0" y="-3"/>
            <a:ext cx="12192000" cy="6858003"/>
          </a:xfrm>
          <a:prstGeom prst="rect">
            <a:avLst/>
          </a:prstGeom>
        </p:spPr>
      </p:pic>
      <p:sp>
        <p:nvSpPr>
          <p:cNvPr id="10" name="Rectangle 9">
            <a:extLst>
              <a:ext uri="{FF2B5EF4-FFF2-40B4-BE49-F238E27FC236}">
                <a16:creationId xmlns:a16="http://schemas.microsoft.com/office/drawing/2014/main" id="{6FE22296-8181-41B9-9124-1582127577FA}"/>
              </a:ext>
            </a:extLst>
          </p:cNvPr>
          <p:cNvSpPr/>
          <p:nvPr/>
        </p:nvSpPr>
        <p:spPr>
          <a:xfrm>
            <a:off x="0" y="3237494"/>
            <a:ext cx="12270576" cy="369010"/>
          </a:xfrm>
          <a:prstGeom prst="rect">
            <a:avLst/>
          </a:prstGeom>
          <a:solidFill>
            <a:schemeClr val="accent6">
              <a:alpha val="76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sp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ea typeface="+mj-ea"/>
              <a:cs typeface="+mj-cs"/>
              <a:sym typeface="Calibri"/>
            </a:endParaRPr>
          </a:p>
        </p:txBody>
      </p:sp>
      <p:sp>
        <p:nvSpPr>
          <p:cNvPr id="11" name="Rectangle 10">
            <a:extLst>
              <a:ext uri="{FF2B5EF4-FFF2-40B4-BE49-F238E27FC236}">
                <a16:creationId xmlns:a16="http://schemas.microsoft.com/office/drawing/2014/main" id="{6D5771A4-7CD4-2340-B6DE-3DA6E571F127}"/>
              </a:ext>
            </a:extLst>
          </p:cNvPr>
          <p:cNvSpPr>
            <a:spLocks/>
          </p:cNvSpPr>
          <p:nvPr/>
        </p:nvSpPr>
        <p:spPr>
          <a:xfrm rot="10800000">
            <a:off x="0" y="18218"/>
            <a:ext cx="12270576" cy="6858000"/>
          </a:xfrm>
          <a:prstGeom prst="rect">
            <a:avLst/>
          </a:prstGeom>
          <a:gradFill>
            <a:gsLst>
              <a:gs pos="0">
                <a:schemeClr val="accent6"/>
              </a:gs>
              <a:gs pos="100000">
                <a:schemeClr val="accent6">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7" name="Rectangle 6">
            <a:extLst>
              <a:ext uri="{FF2B5EF4-FFF2-40B4-BE49-F238E27FC236}">
                <a16:creationId xmlns:a16="http://schemas.microsoft.com/office/drawing/2014/main" id="{371ED297-7BA9-466D-A965-AC62B16AC0B0}"/>
              </a:ext>
            </a:extLst>
          </p:cNvPr>
          <p:cNvSpPr/>
          <p:nvPr/>
        </p:nvSpPr>
        <p:spPr>
          <a:xfrm>
            <a:off x="6096000" y="3401498"/>
            <a:ext cx="915353" cy="91440"/>
          </a:xfrm>
          <a:prstGeom prst="rect">
            <a:avLst/>
          </a:prstGeom>
          <a:solidFill>
            <a:schemeClr val="bg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pic>
        <p:nvPicPr>
          <p:cNvPr id="9" name="Picture 2" descr="eis-logo">
            <a:extLst>
              <a:ext uri="{FF2B5EF4-FFF2-40B4-BE49-F238E27FC236}">
                <a16:creationId xmlns:a16="http://schemas.microsoft.com/office/drawing/2014/main" id="{E66A3F7A-CC93-40F8-9D87-551A28785452}"/>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833627" y="2506514"/>
            <a:ext cx="1231305" cy="1479817"/>
          </a:xfrm>
          <a:prstGeom prst="rect">
            <a:avLst/>
          </a:prstGeom>
          <a:noFill/>
          <a:extLst>
            <a:ext uri="{909E8E84-426E-40DD-AFC4-6F175D3DCCD1}">
              <a14:hiddenFill xmlns:a14="http://schemas.microsoft.com/office/drawing/2010/main">
                <a:solidFill>
                  <a:srgbClr val="FFFFFF"/>
                </a:solidFill>
              </a14:hiddenFill>
            </a:ext>
          </a:extLst>
        </p:spPr>
      </p:pic>
      <p:sp>
        <p:nvSpPr>
          <p:cNvPr id="15" name="Text Placeholder 14">
            <a:extLst>
              <a:ext uri="{FF2B5EF4-FFF2-40B4-BE49-F238E27FC236}">
                <a16:creationId xmlns:a16="http://schemas.microsoft.com/office/drawing/2014/main" id="{FA3DB315-4FE4-4AB7-AC70-05542D09E924}"/>
              </a:ext>
            </a:extLst>
          </p:cNvPr>
          <p:cNvSpPr>
            <a:spLocks noGrp="1"/>
          </p:cNvSpPr>
          <p:nvPr>
            <p:ph type="body" sz="quarter" idx="10" hasCustomPrompt="1"/>
          </p:nvPr>
        </p:nvSpPr>
        <p:spPr>
          <a:xfrm>
            <a:off x="6095998" y="1162050"/>
            <a:ext cx="5053514" cy="1981200"/>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17" name="Text Placeholder 16">
            <a:extLst>
              <a:ext uri="{FF2B5EF4-FFF2-40B4-BE49-F238E27FC236}">
                <a16:creationId xmlns:a16="http://schemas.microsoft.com/office/drawing/2014/main" id="{F2B683F2-4BBD-47C8-894F-EE9C27F61E37}"/>
              </a:ext>
            </a:extLst>
          </p:cNvPr>
          <p:cNvSpPr>
            <a:spLocks noGrp="1"/>
          </p:cNvSpPr>
          <p:nvPr>
            <p:ph type="body" sz="quarter" idx="11" hasCustomPrompt="1"/>
          </p:nvPr>
        </p:nvSpPr>
        <p:spPr>
          <a:xfrm>
            <a:off x="6096000" y="3751186"/>
            <a:ext cx="5177468" cy="847725"/>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subtitle</a:t>
            </a:r>
          </a:p>
        </p:txBody>
      </p:sp>
    </p:spTree>
    <p:extLst>
      <p:ext uri="{BB962C8B-B14F-4D97-AF65-F5344CB8AC3E}">
        <p14:creationId xmlns:p14="http://schemas.microsoft.com/office/powerpoint/2010/main" val="1979809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Blu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0CC2603-1D97-BF47-85CB-7AB423FC21F7}"/>
              </a:ext>
            </a:extLst>
          </p:cNvPr>
          <p:cNvPicPr>
            <a:picLocks/>
          </p:cNvPicPr>
          <p:nvPr/>
        </p:nvPicPr>
        <p:blipFill rotWithShape="1">
          <a:blip r:embed="rId2" cstate="email">
            <a:extLst>
              <a:ext uri="{28A0092B-C50C-407E-A947-70E740481C1C}">
                <a14:useLocalDpi xmlns:a14="http://schemas.microsoft.com/office/drawing/2010/main"/>
              </a:ext>
            </a:extLst>
          </a:blip>
          <a:srcRect l="-255"/>
          <a:stretch/>
        </p:blipFill>
        <p:spPr>
          <a:xfrm>
            <a:off x="-31033" y="14747"/>
            <a:ext cx="12223033" cy="6858000"/>
          </a:xfrm>
          <a:prstGeom prst="rect">
            <a:avLst/>
          </a:prstGeom>
        </p:spPr>
      </p:pic>
      <p:sp>
        <p:nvSpPr>
          <p:cNvPr id="10" name="Rectangle 9">
            <a:extLst>
              <a:ext uri="{FF2B5EF4-FFF2-40B4-BE49-F238E27FC236}">
                <a16:creationId xmlns:a16="http://schemas.microsoft.com/office/drawing/2014/main" id="{CA0B8211-E477-3846-88DD-E660E474E004}"/>
              </a:ext>
            </a:extLst>
          </p:cNvPr>
          <p:cNvSpPr>
            <a:spLocks/>
          </p:cNvSpPr>
          <p:nvPr/>
        </p:nvSpPr>
        <p:spPr>
          <a:xfrm rot="10800000">
            <a:off x="0" y="4153"/>
            <a:ext cx="12191998" cy="6858000"/>
          </a:xfrm>
          <a:prstGeom prst="rect">
            <a:avLst/>
          </a:prstGeom>
          <a:gradFill>
            <a:gsLst>
              <a:gs pos="0">
                <a:schemeClr val="tx1"/>
              </a:gs>
              <a:gs pos="100000">
                <a:schemeClr val="tx1">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pic>
        <p:nvPicPr>
          <p:cNvPr id="26" name="Picture 25">
            <a:extLst>
              <a:ext uri="{FF2B5EF4-FFF2-40B4-BE49-F238E27FC236}">
                <a16:creationId xmlns:a16="http://schemas.microsoft.com/office/drawing/2014/main" id="{9651F526-8B4A-634B-A35B-9F78BF1E6A1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38830" y="2992311"/>
            <a:ext cx="2936611" cy="1178181"/>
          </a:xfrm>
          <a:prstGeom prst="rect">
            <a:avLst/>
          </a:prstGeom>
        </p:spPr>
      </p:pic>
      <p:sp>
        <p:nvSpPr>
          <p:cNvPr id="27" name="Rectangle 45">
            <a:extLst>
              <a:ext uri="{FF2B5EF4-FFF2-40B4-BE49-F238E27FC236}">
                <a16:creationId xmlns:a16="http://schemas.microsoft.com/office/drawing/2014/main" id="{26E1ED27-EDE9-FB46-BFE9-E705E3F4E2AF}"/>
              </a:ext>
            </a:extLst>
          </p:cNvPr>
          <p:cNvSpPr/>
          <p:nvPr/>
        </p:nvSpPr>
        <p:spPr>
          <a:xfrm rot="817502">
            <a:off x="5011627" y="-665636"/>
            <a:ext cx="7829622" cy="8567794"/>
          </a:xfrm>
          <a:custGeom>
            <a:avLst/>
            <a:gdLst>
              <a:gd name="connsiteX0" fmla="*/ 0 w 8614253"/>
              <a:gd name="connsiteY0" fmla="*/ 0 h 11082883"/>
              <a:gd name="connsiteX1" fmla="*/ 8614253 w 8614253"/>
              <a:gd name="connsiteY1" fmla="*/ 0 h 11082883"/>
              <a:gd name="connsiteX2" fmla="*/ 8614253 w 8614253"/>
              <a:gd name="connsiteY2" fmla="*/ 11082883 h 11082883"/>
              <a:gd name="connsiteX3" fmla="*/ 0 w 8614253"/>
              <a:gd name="connsiteY3" fmla="*/ 11082883 h 11082883"/>
              <a:gd name="connsiteX4" fmla="*/ 0 w 8614253"/>
              <a:gd name="connsiteY4" fmla="*/ 0 h 11082883"/>
              <a:gd name="connsiteX0" fmla="*/ 277202 w 8614253"/>
              <a:gd name="connsiteY0" fmla="*/ 2006227 h 11082883"/>
              <a:gd name="connsiteX1" fmla="*/ 8614253 w 8614253"/>
              <a:gd name="connsiteY1" fmla="*/ 0 h 11082883"/>
              <a:gd name="connsiteX2" fmla="*/ 8614253 w 8614253"/>
              <a:gd name="connsiteY2" fmla="*/ 11082883 h 11082883"/>
              <a:gd name="connsiteX3" fmla="*/ 0 w 8614253"/>
              <a:gd name="connsiteY3" fmla="*/ 11082883 h 11082883"/>
              <a:gd name="connsiteX4" fmla="*/ 277202 w 8614253"/>
              <a:gd name="connsiteY4" fmla="*/ 2006227 h 11082883"/>
              <a:gd name="connsiteX0" fmla="*/ 277202 w 8614253"/>
              <a:gd name="connsiteY0" fmla="*/ 1411375 h 10488031"/>
              <a:gd name="connsiteX1" fmla="*/ 6232006 w 8614253"/>
              <a:gd name="connsiteY1" fmla="*/ 0 h 10488031"/>
              <a:gd name="connsiteX2" fmla="*/ 8614253 w 8614253"/>
              <a:gd name="connsiteY2" fmla="*/ 10488031 h 10488031"/>
              <a:gd name="connsiteX3" fmla="*/ 0 w 8614253"/>
              <a:gd name="connsiteY3" fmla="*/ 10488031 h 10488031"/>
              <a:gd name="connsiteX4" fmla="*/ 277202 w 8614253"/>
              <a:gd name="connsiteY4" fmla="*/ 1411375 h 10488031"/>
              <a:gd name="connsiteX0" fmla="*/ 277202 w 8614253"/>
              <a:gd name="connsiteY0" fmla="*/ 1436311 h 10512967"/>
              <a:gd name="connsiteX1" fmla="*/ 6191115 w 8614253"/>
              <a:gd name="connsiteY1" fmla="*/ 0 h 10512967"/>
              <a:gd name="connsiteX2" fmla="*/ 8614253 w 8614253"/>
              <a:gd name="connsiteY2" fmla="*/ 10512967 h 10512967"/>
              <a:gd name="connsiteX3" fmla="*/ 0 w 8614253"/>
              <a:gd name="connsiteY3" fmla="*/ 10512967 h 10512967"/>
              <a:gd name="connsiteX4" fmla="*/ 277202 w 8614253"/>
              <a:gd name="connsiteY4" fmla="*/ 1436311 h 10512967"/>
              <a:gd name="connsiteX0" fmla="*/ 277202 w 7759139"/>
              <a:gd name="connsiteY0" fmla="*/ 1436311 h 10512967"/>
              <a:gd name="connsiteX1" fmla="*/ 6191115 w 7759139"/>
              <a:gd name="connsiteY1" fmla="*/ 0 h 10512967"/>
              <a:gd name="connsiteX2" fmla="*/ 7759139 w 7759139"/>
              <a:gd name="connsiteY2" fmla="*/ 6625675 h 10512967"/>
              <a:gd name="connsiteX3" fmla="*/ 0 w 7759139"/>
              <a:gd name="connsiteY3" fmla="*/ 10512967 h 10512967"/>
              <a:gd name="connsiteX4" fmla="*/ 277202 w 7759139"/>
              <a:gd name="connsiteY4" fmla="*/ 1436311 h 10512967"/>
              <a:gd name="connsiteX0" fmla="*/ 320521 w 7802458"/>
              <a:gd name="connsiteY0" fmla="*/ 1436311 h 8537169"/>
              <a:gd name="connsiteX1" fmla="*/ 6234434 w 7802458"/>
              <a:gd name="connsiteY1" fmla="*/ 0 h 8537169"/>
              <a:gd name="connsiteX2" fmla="*/ 7802458 w 7802458"/>
              <a:gd name="connsiteY2" fmla="*/ 6625675 h 8537169"/>
              <a:gd name="connsiteX3" fmla="*/ 0 w 7802458"/>
              <a:gd name="connsiteY3" fmla="*/ 8537169 h 8537169"/>
              <a:gd name="connsiteX4" fmla="*/ 320521 w 7802458"/>
              <a:gd name="connsiteY4" fmla="*/ 1436311 h 8537169"/>
              <a:gd name="connsiteX0" fmla="*/ 32276 w 7802458"/>
              <a:gd name="connsiteY0" fmla="*/ 1541024 h 8537169"/>
              <a:gd name="connsiteX1" fmla="*/ 6234434 w 7802458"/>
              <a:gd name="connsiteY1" fmla="*/ 0 h 8537169"/>
              <a:gd name="connsiteX2" fmla="*/ 7802458 w 7802458"/>
              <a:gd name="connsiteY2" fmla="*/ 6625675 h 8537169"/>
              <a:gd name="connsiteX3" fmla="*/ 0 w 7802458"/>
              <a:gd name="connsiteY3" fmla="*/ 8537169 h 8537169"/>
              <a:gd name="connsiteX4" fmla="*/ 32276 w 7802458"/>
              <a:gd name="connsiteY4" fmla="*/ 1541024 h 8537169"/>
              <a:gd name="connsiteX0" fmla="*/ 32700 w 7802458"/>
              <a:gd name="connsiteY0" fmla="*/ 1481886 h 8537169"/>
              <a:gd name="connsiteX1" fmla="*/ 6234434 w 7802458"/>
              <a:gd name="connsiteY1" fmla="*/ 0 h 8537169"/>
              <a:gd name="connsiteX2" fmla="*/ 7802458 w 7802458"/>
              <a:gd name="connsiteY2" fmla="*/ 6625675 h 8537169"/>
              <a:gd name="connsiteX3" fmla="*/ 0 w 7802458"/>
              <a:gd name="connsiteY3" fmla="*/ 8537169 h 8537169"/>
              <a:gd name="connsiteX4" fmla="*/ 32700 w 7802458"/>
              <a:gd name="connsiteY4" fmla="*/ 1481886 h 8537169"/>
              <a:gd name="connsiteX0" fmla="*/ 32700 w 7802458"/>
              <a:gd name="connsiteY0" fmla="*/ 1501211 h 8556494"/>
              <a:gd name="connsiteX1" fmla="*/ 6207611 w 7802458"/>
              <a:gd name="connsiteY1" fmla="*/ 0 h 8556494"/>
              <a:gd name="connsiteX2" fmla="*/ 7802458 w 7802458"/>
              <a:gd name="connsiteY2" fmla="*/ 6645000 h 8556494"/>
              <a:gd name="connsiteX3" fmla="*/ 0 w 7802458"/>
              <a:gd name="connsiteY3" fmla="*/ 8556494 h 8556494"/>
              <a:gd name="connsiteX4" fmla="*/ 32700 w 7802458"/>
              <a:gd name="connsiteY4" fmla="*/ 1501211 h 8556494"/>
              <a:gd name="connsiteX0" fmla="*/ 32700 w 7820515"/>
              <a:gd name="connsiteY0" fmla="*/ 1501211 h 8556494"/>
              <a:gd name="connsiteX1" fmla="*/ 6207611 w 7820515"/>
              <a:gd name="connsiteY1" fmla="*/ 0 h 8556494"/>
              <a:gd name="connsiteX2" fmla="*/ 7820515 w 7820515"/>
              <a:gd name="connsiteY2" fmla="*/ 6673831 h 8556494"/>
              <a:gd name="connsiteX3" fmla="*/ 0 w 7820515"/>
              <a:gd name="connsiteY3" fmla="*/ 8556494 h 8556494"/>
              <a:gd name="connsiteX4" fmla="*/ 32700 w 7820515"/>
              <a:gd name="connsiteY4" fmla="*/ 1501211 h 8556494"/>
              <a:gd name="connsiteX0" fmla="*/ 33651 w 7821466"/>
              <a:gd name="connsiteY0" fmla="*/ 1501211 h 8567794"/>
              <a:gd name="connsiteX1" fmla="*/ 6208562 w 7821466"/>
              <a:gd name="connsiteY1" fmla="*/ 0 h 8567794"/>
              <a:gd name="connsiteX2" fmla="*/ 7821466 w 7821466"/>
              <a:gd name="connsiteY2" fmla="*/ 6673831 h 8567794"/>
              <a:gd name="connsiteX3" fmla="*/ 0 w 7821466"/>
              <a:gd name="connsiteY3" fmla="*/ 8567794 h 8567794"/>
              <a:gd name="connsiteX4" fmla="*/ 33651 w 7821466"/>
              <a:gd name="connsiteY4" fmla="*/ 1501211 h 85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1466" h="8567794">
                <a:moveTo>
                  <a:pt x="33651" y="1501211"/>
                </a:moveTo>
                <a:lnTo>
                  <a:pt x="6208562" y="0"/>
                </a:lnTo>
                <a:lnTo>
                  <a:pt x="7821466" y="6673831"/>
                </a:lnTo>
                <a:lnTo>
                  <a:pt x="0" y="8567794"/>
                </a:lnTo>
                <a:lnTo>
                  <a:pt x="33651" y="1501211"/>
                </a:lnTo>
                <a:close/>
              </a:path>
            </a:pathLst>
          </a:custGeom>
          <a:solidFill>
            <a:schemeClr val="tx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31" name="Rectangle 30">
            <a:extLst>
              <a:ext uri="{FF2B5EF4-FFF2-40B4-BE49-F238E27FC236}">
                <a16:creationId xmlns:a16="http://schemas.microsoft.com/office/drawing/2014/main" id="{42079E7E-A85E-C047-B8D1-4620089A3369}"/>
              </a:ext>
            </a:extLst>
          </p:cNvPr>
          <p:cNvSpPr/>
          <p:nvPr/>
        </p:nvSpPr>
        <p:spPr>
          <a:xfrm>
            <a:off x="6095999" y="3533720"/>
            <a:ext cx="915353" cy="91440"/>
          </a:xfrm>
          <a:prstGeom prst="rect">
            <a:avLst/>
          </a:prstGeom>
          <a:solidFill>
            <a:srgbClr val="13518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7" name="Text Placeholder 16">
            <a:extLst>
              <a:ext uri="{FF2B5EF4-FFF2-40B4-BE49-F238E27FC236}">
                <a16:creationId xmlns:a16="http://schemas.microsoft.com/office/drawing/2014/main" id="{F2B683F2-4BBD-47C8-894F-EE9C27F61E37}"/>
              </a:ext>
            </a:extLst>
          </p:cNvPr>
          <p:cNvSpPr>
            <a:spLocks noGrp="1"/>
          </p:cNvSpPr>
          <p:nvPr>
            <p:ph type="body" sz="quarter" idx="11" hasCustomPrompt="1"/>
          </p:nvPr>
        </p:nvSpPr>
        <p:spPr>
          <a:xfrm>
            <a:off x="6102276" y="3866693"/>
            <a:ext cx="5317394" cy="847725"/>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subtitle</a:t>
            </a:r>
          </a:p>
        </p:txBody>
      </p:sp>
      <p:sp>
        <p:nvSpPr>
          <p:cNvPr id="15" name="Text Placeholder 14">
            <a:extLst>
              <a:ext uri="{FF2B5EF4-FFF2-40B4-BE49-F238E27FC236}">
                <a16:creationId xmlns:a16="http://schemas.microsoft.com/office/drawing/2014/main" id="{FA3DB315-4FE4-4AB7-AC70-05542D09E924}"/>
              </a:ext>
            </a:extLst>
          </p:cNvPr>
          <p:cNvSpPr>
            <a:spLocks noGrp="1"/>
          </p:cNvSpPr>
          <p:nvPr>
            <p:ph type="body" sz="quarter" idx="10" hasCustomPrompt="1"/>
          </p:nvPr>
        </p:nvSpPr>
        <p:spPr>
          <a:xfrm>
            <a:off x="6080483" y="1162050"/>
            <a:ext cx="5317393" cy="2205332"/>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4" name="Text Placeholder 3">
            <a:extLst>
              <a:ext uri="{FF2B5EF4-FFF2-40B4-BE49-F238E27FC236}">
                <a16:creationId xmlns:a16="http://schemas.microsoft.com/office/drawing/2014/main" id="{16B534A6-0E8D-7D41-AE7B-4A5A9032A93A}"/>
              </a:ext>
            </a:extLst>
          </p:cNvPr>
          <p:cNvSpPr>
            <a:spLocks noGrp="1"/>
          </p:cNvSpPr>
          <p:nvPr>
            <p:ph type="body" sz="quarter" idx="12" hasCustomPrompt="1"/>
          </p:nvPr>
        </p:nvSpPr>
        <p:spPr>
          <a:xfrm>
            <a:off x="6096001" y="5197478"/>
            <a:ext cx="5323670" cy="1065213"/>
          </a:xfrm>
        </p:spPr>
        <p:txBody>
          <a:bodyPr>
            <a:normAutofit/>
          </a:bodyPr>
          <a:lstStyle>
            <a:lvl1pPr>
              <a:defRPr sz="1598">
                <a:solidFill>
                  <a:schemeClr val="bg1"/>
                </a:solidFill>
                <a:latin typeface="Calibri" panose="020F0502020204030204" pitchFamily="34" charset="0"/>
              </a:defRPr>
            </a:lvl1pPr>
          </a:lstStyle>
          <a:p>
            <a:pPr lvl="0"/>
            <a:r>
              <a:rPr lang="en-US"/>
              <a:t>Author Name</a:t>
            </a:r>
          </a:p>
          <a:p>
            <a:pPr lvl="0"/>
            <a:r>
              <a:rPr lang="en-US"/>
              <a:t>Date</a:t>
            </a:r>
          </a:p>
          <a:p>
            <a:pPr lvl="0"/>
            <a:r>
              <a:rPr lang="en-US"/>
              <a:t>Client</a:t>
            </a:r>
          </a:p>
        </p:txBody>
      </p:sp>
    </p:spTree>
    <p:extLst>
      <p:ext uri="{BB962C8B-B14F-4D97-AF65-F5344CB8AC3E}">
        <p14:creationId xmlns:p14="http://schemas.microsoft.com/office/powerpoint/2010/main" val="52614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Green">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F144138-D22C-4146-BF55-B4991D4FE94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rot="10800000">
            <a:off x="-31029" y="-4"/>
            <a:ext cx="12223028" cy="6858004"/>
          </a:xfrm>
          <a:prstGeom prst="rect">
            <a:avLst/>
          </a:prstGeom>
        </p:spPr>
      </p:pic>
      <p:sp>
        <p:nvSpPr>
          <p:cNvPr id="12" name="Rectangle 11">
            <a:extLst>
              <a:ext uri="{FF2B5EF4-FFF2-40B4-BE49-F238E27FC236}">
                <a16:creationId xmlns:a16="http://schemas.microsoft.com/office/drawing/2014/main" id="{E3F56388-0B15-F442-A126-191C092C3EFD}"/>
              </a:ext>
            </a:extLst>
          </p:cNvPr>
          <p:cNvSpPr/>
          <p:nvPr/>
        </p:nvSpPr>
        <p:spPr>
          <a:xfrm rot="10800000">
            <a:off x="-31028" y="14746"/>
            <a:ext cx="12223029" cy="6858000"/>
          </a:xfrm>
          <a:prstGeom prst="rect">
            <a:avLst/>
          </a:prstGeom>
          <a:gradFill>
            <a:gsLst>
              <a:gs pos="0">
                <a:schemeClr val="accent4"/>
              </a:gs>
              <a:gs pos="100000">
                <a:schemeClr val="tx1">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pic>
        <p:nvPicPr>
          <p:cNvPr id="26" name="Picture 25">
            <a:extLst>
              <a:ext uri="{FF2B5EF4-FFF2-40B4-BE49-F238E27FC236}">
                <a16:creationId xmlns:a16="http://schemas.microsoft.com/office/drawing/2014/main" id="{9651F526-8B4A-634B-A35B-9F78BF1E6A1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38830" y="2992311"/>
            <a:ext cx="2936611" cy="1178181"/>
          </a:xfrm>
          <a:prstGeom prst="rect">
            <a:avLst/>
          </a:prstGeom>
        </p:spPr>
      </p:pic>
      <p:sp>
        <p:nvSpPr>
          <p:cNvPr id="27" name="Rectangle 45">
            <a:extLst>
              <a:ext uri="{FF2B5EF4-FFF2-40B4-BE49-F238E27FC236}">
                <a16:creationId xmlns:a16="http://schemas.microsoft.com/office/drawing/2014/main" id="{26E1ED27-EDE9-FB46-BFE9-E705E3F4E2AF}"/>
              </a:ext>
            </a:extLst>
          </p:cNvPr>
          <p:cNvSpPr/>
          <p:nvPr/>
        </p:nvSpPr>
        <p:spPr>
          <a:xfrm rot="817502">
            <a:off x="5011627" y="-665636"/>
            <a:ext cx="7829622" cy="8567794"/>
          </a:xfrm>
          <a:custGeom>
            <a:avLst/>
            <a:gdLst>
              <a:gd name="connsiteX0" fmla="*/ 0 w 8614253"/>
              <a:gd name="connsiteY0" fmla="*/ 0 h 11082883"/>
              <a:gd name="connsiteX1" fmla="*/ 8614253 w 8614253"/>
              <a:gd name="connsiteY1" fmla="*/ 0 h 11082883"/>
              <a:gd name="connsiteX2" fmla="*/ 8614253 w 8614253"/>
              <a:gd name="connsiteY2" fmla="*/ 11082883 h 11082883"/>
              <a:gd name="connsiteX3" fmla="*/ 0 w 8614253"/>
              <a:gd name="connsiteY3" fmla="*/ 11082883 h 11082883"/>
              <a:gd name="connsiteX4" fmla="*/ 0 w 8614253"/>
              <a:gd name="connsiteY4" fmla="*/ 0 h 11082883"/>
              <a:gd name="connsiteX0" fmla="*/ 277202 w 8614253"/>
              <a:gd name="connsiteY0" fmla="*/ 2006227 h 11082883"/>
              <a:gd name="connsiteX1" fmla="*/ 8614253 w 8614253"/>
              <a:gd name="connsiteY1" fmla="*/ 0 h 11082883"/>
              <a:gd name="connsiteX2" fmla="*/ 8614253 w 8614253"/>
              <a:gd name="connsiteY2" fmla="*/ 11082883 h 11082883"/>
              <a:gd name="connsiteX3" fmla="*/ 0 w 8614253"/>
              <a:gd name="connsiteY3" fmla="*/ 11082883 h 11082883"/>
              <a:gd name="connsiteX4" fmla="*/ 277202 w 8614253"/>
              <a:gd name="connsiteY4" fmla="*/ 2006227 h 11082883"/>
              <a:gd name="connsiteX0" fmla="*/ 277202 w 8614253"/>
              <a:gd name="connsiteY0" fmla="*/ 1411375 h 10488031"/>
              <a:gd name="connsiteX1" fmla="*/ 6232006 w 8614253"/>
              <a:gd name="connsiteY1" fmla="*/ 0 h 10488031"/>
              <a:gd name="connsiteX2" fmla="*/ 8614253 w 8614253"/>
              <a:gd name="connsiteY2" fmla="*/ 10488031 h 10488031"/>
              <a:gd name="connsiteX3" fmla="*/ 0 w 8614253"/>
              <a:gd name="connsiteY3" fmla="*/ 10488031 h 10488031"/>
              <a:gd name="connsiteX4" fmla="*/ 277202 w 8614253"/>
              <a:gd name="connsiteY4" fmla="*/ 1411375 h 10488031"/>
              <a:gd name="connsiteX0" fmla="*/ 277202 w 8614253"/>
              <a:gd name="connsiteY0" fmla="*/ 1436311 h 10512967"/>
              <a:gd name="connsiteX1" fmla="*/ 6191115 w 8614253"/>
              <a:gd name="connsiteY1" fmla="*/ 0 h 10512967"/>
              <a:gd name="connsiteX2" fmla="*/ 8614253 w 8614253"/>
              <a:gd name="connsiteY2" fmla="*/ 10512967 h 10512967"/>
              <a:gd name="connsiteX3" fmla="*/ 0 w 8614253"/>
              <a:gd name="connsiteY3" fmla="*/ 10512967 h 10512967"/>
              <a:gd name="connsiteX4" fmla="*/ 277202 w 8614253"/>
              <a:gd name="connsiteY4" fmla="*/ 1436311 h 10512967"/>
              <a:gd name="connsiteX0" fmla="*/ 277202 w 7759139"/>
              <a:gd name="connsiteY0" fmla="*/ 1436311 h 10512967"/>
              <a:gd name="connsiteX1" fmla="*/ 6191115 w 7759139"/>
              <a:gd name="connsiteY1" fmla="*/ 0 h 10512967"/>
              <a:gd name="connsiteX2" fmla="*/ 7759139 w 7759139"/>
              <a:gd name="connsiteY2" fmla="*/ 6625675 h 10512967"/>
              <a:gd name="connsiteX3" fmla="*/ 0 w 7759139"/>
              <a:gd name="connsiteY3" fmla="*/ 10512967 h 10512967"/>
              <a:gd name="connsiteX4" fmla="*/ 277202 w 7759139"/>
              <a:gd name="connsiteY4" fmla="*/ 1436311 h 10512967"/>
              <a:gd name="connsiteX0" fmla="*/ 320521 w 7802458"/>
              <a:gd name="connsiteY0" fmla="*/ 1436311 h 8537169"/>
              <a:gd name="connsiteX1" fmla="*/ 6234434 w 7802458"/>
              <a:gd name="connsiteY1" fmla="*/ 0 h 8537169"/>
              <a:gd name="connsiteX2" fmla="*/ 7802458 w 7802458"/>
              <a:gd name="connsiteY2" fmla="*/ 6625675 h 8537169"/>
              <a:gd name="connsiteX3" fmla="*/ 0 w 7802458"/>
              <a:gd name="connsiteY3" fmla="*/ 8537169 h 8537169"/>
              <a:gd name="connsiteX4" fmla="*/ 320521 w 7802458"/>
              <a:gd name="connsiteY4" fmla="*/ 1436311 h 8537169"/>
              <a:gd name="connsiteX0" fmla="*/ 32276 w 7802458"/>
              <a:gd name="connsiteY0" fmla="*/ 1541024 h 8537169"/>
              <a:gd name="connsiteX1" fmla="*/ 6234434 w 7802458"/>
              <a:gd name="connsiteY1" fmla="*/ 0 h 8537169"/>
              <a:gd name="connsiteX2" fmla="*/ 7802458 w 7802458"/>
              <a:gd name="connsiteY2" fmla="*/ 6625675 h 8537169"/>
              <a:gd name="connsiteX3" fmla="*/ 0 w 7802458"/>
              <a:gd name="connsiteY3" fmla="*/ 8537169 h 8537169"/>
              <a:gd name="connsiteX4" fmla="*/ 32276 w 7802458"/>
              <a:gd name="connsiteY4" fmla="*/ 1541024 h 8537169"/>
              <a:gd name="connsiteX0" fmla="*/ 32700 w 7802458"/>
              <a:gd name="connsiteY0" fmla="*/ 1481886 h 8537169"/>
              <a:gd name="connsiteX1" fmla="*/ 6234434 w 7802458"/>
              <a:gd name="connsiteY1" fmla="*/ 0 h 8537169"/>
              <a:gd name="connsiteX2" fmla="*/ 7802458 w 7802458"/>
              <a:gd name="connsiteY2" fmla="*/ 6625675 h 8537169"/>
              <a:gd name="connsiteX3" fmla="*/ 0 w 7802458"/>
              <a:gd name="connsiteY3" fmla="*/ 8537169 h 8537169"/>
              <a:gd name="connsiteX4" fmla="*/ 32700 w 7802458"/>
              <a:gd name="connsiteY4" fmla="*/ 1481886 h 8537169"/>
              <a:gd name="connsiteX0" fmla="*/ 32700 w 7802458"/>
              <a:gd name="connsiteY0" fmla="*/ 1501211 h 8556494"/>
              <a:gd name="connsiteX1" fmla="*/ 6207611 w 7802458"/>
              <a:gd name="connsiteY1" fmla="*/ 0 h 8556494"/>
              <a:gd name="connsiteX2" fmla="*/ 7802458 w 7802458"/>
              <a:gd name="connsiteY2" fmla="*/ 6645000 h 8556494"/>
              <a:gd name="connsiteX3" fmla="*/ 0 w 7802458"/>
              <a:gd name="connsiteY3" fmla="*/ 8556494 h 8556494"/>
              <a:gd name="connsiteX4" fmla="*/ 32700 w 7802458"/>
              <a:gd name="connsiteY4" fmla="*/ 1501211 h 8556494"/>
              <a:gd name="connsiteX0" fmla="*/ 32700 w 7820515"/>
              <a:gd name="connsiteY0" fmla="*/ 1501211 h 8556494"/>
              <a:gd name="connsiteX1" fmla="*/ 6207611 w 7820515"/>
              <a:gd name="connsiteY1" fmla="*/ 0 h 8556494"/>
              <a:gd name="connsiteX2" fmla="*/ 7820515 w 7820515"/>
              <a:gd name="connsiteY2" fmla="*/ 6673831 h 8556494"/>
              <a:gd name="connsiteX3" fmla="*/ 0 w 7820515"/>
              <a:gd name="connsiteY3" fmla="*/ 8556494 h 8556494"/>
              <a:gd name="connsiteX4" fmla="*/ 32700 w 7820515"/>
              <a:gd name="connsiteY4" fmla="*/ 1501211 h 8556494"/>
              <a:gd name="connsiteX0" fmla="*/ 33651 w 7821466"/>
              <a:gd name="connsiteY0" fmla="*/ 1501211 h 8567794"/>
              <a:gd name="connsiteX1" fmla="*/ 6208562 w 7821466"/>
              <a:gd name="connsiteY1" fmla="*/ 0 h 8567794"/>
              <a:gd name="connsiteX2" fmla="*/ 7821466 w 7821466"/>
              <a:gd name="connsiteY2" fmla="*/ 6673831 h 8567794"/>
              <a:gd name="connsiteX3" fmla="*/ 0 w 7821466"/>
              <a:gd name="connsiteY3" fmla="*/ 8567794 h 8567794"/>
              <a:gd name="connsiteX4" fmla="*/ 33651 w 7821466"/>
              <a:gd name="connsiteY4" fmla="*/ 1501211 h 85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1466" h="8567794">
                <a:moveTo>
                  <a:pt x="33651" y="1501211"/>
                </a:moveTo>
                <a:lnTo>
                  <a:pt x="6208562" y="0"/>
                </a:lnTo>
                <a:lnTo>
                  <a:pt x="7821466" y="6673831"/>
                </a:lnTo>
                <a:lnTo>
                  <a:pt x="0" y="8567794"/>
                </a:lnTo>
                <a:lnTo>
                  <a:pt x="33651" y="1501211"/>
                </a:lnTo>
                <a:close/>
              </a:path>
            </a:pathLst>
          </a:custGeom>
          <a:solidFill>
            <a:schemeClr val="tx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31" name="Rectangle 30">
            <a:extLst>
              <a:ext uri="{FF2B5EF4-FFF2-40B4-BE49-F238E27FC236}">
                <a16:creationId xmlns:a16="http://schemas.microsoft.com/office/drawing/2014/main" id="{42079E7E-A85E-C047-B8D1-4620089A3369}"/>
              </a:ext>
            </a:extLst>
          </p:cNvPr>
          <p:cNvSpPr/>
          <p:nvPr/>
        </p:nvSpPr>
        <p:spPr>
          <a:xfrm>
            <a:off x="6095999" y="3533720"/>
            <a:ext cx="915353" cy="91440"/>
          </a:xfrm>
          <a:prstGeom prst="rect">
            <a:avLst/>
          </a:prstGeom>
          <a:solidFill>
            <a:schemeClr val="accent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7" name="Text Placeholder 16">
            <a:extLst>
              <a:ext uri="{FF2B5EF4-FFF2-40B4-BE49-F238E27FC236}">
                <a16:creationId xmlns:a16="http://schemas.microsoft.com/office/drawing/2014/main" id="{F2B683F2-4BBD-47C8-894F-EE9C27F61E37}"/>
              </a:ext>
            </a:extLst>
          </p:cNvPr>
          <p:cNvSpPr>
            <a:spLocks noGrp="1"/>
          </p:cNvSpPr>
          <p:nvPr>
            <p:ph type="body" sz="quarter" idx="11" hasCustomPrompt="1"/>
          </p:nvPr>
        </p:nvSpPr>
        <p:spPr>
          <a:xfrm>
            <a:off x="6102276" y="3866693"/>
            <a:ext cx="5317394" cy="847725"/>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subtitle</a:t>
            </a:r>
          </a:p>
        </p:txBody>
      </p:sp>
      <p:sp>
        <p:nvSpPr>
          <p:cNvPr id="15" name="Text Placeholder 14">
            <a:extLst>
              <a:ext uri="{FF2B5EF4-FFF2-40B4-BE49-F238E27FC236}">
                <a16:creationId xmlns:a16="http://schemas.microsoft.com/office/drawing/2014/main" id="{FA3DB315-4FE4-4AB7-AC70-05542D09E924}"/>
              </a:ext>
            </a:extLst>
          </p:cNvPr>
          <p:cNvSpPr>
            <a:spLocks noGrp="1"/>
          </p:cNvSpPr>
          <p:nvPr>
            <p:ph type="body" sz="quarter" idx="10" hasCustomPrompt="1"/>
          </p:nvPr>
        </p:nvSpPr>
        <p:spPr>
          <a:xfrm>
            <a:off x="6080483" y="1162050"/>
            <a:ext cx="5317393" cy="2205332"/>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4" name="Text Placeholder 3">
            <a:extLst>
              <a:ext uri="{FF2B5EF4-FFF2-40B4-BE49-F238E27FC236}">
                <a16:creationId xmlns:a16="http://schemas.microsoft.com/office/drawing/2014/main" id="{16B534A6-0E8D-7D41-AE7B-4A5A9032A93A}"/>
              </a:ext>
            </a:extLst>
          </p:cNvPr>
          <p:cNvSpPr>
            <a:spLocks noGrp="1"/>
          </p:cNvSpPr>
          <p:nvPr>
            <p:ph type="body" sz="quarter" idx="12" hasCustomPrompt="1"/>
          </p:nvPr>
        </p:nvSpPr>
        <p:spPr>
          <a:xfrm>
            <a:off x="6096001" y="5197478"/>
            <a:ext cx="5323670" cy="1065213"/>
          </a:xfrm>
        </p:spPr>
        <p:txBody>
          <a:bodyPr>
            <a:normAutofit/>
          </a:bodyPr>
          <a:lstStyle>
            <a:lvl1pPr>
              <a:defRPr sz="1598">
                <a:solidFill>
                  <a:schemeClr val="bg1"/>
                </a:solidFill>
                <a:latin typeface="Calibri" panose="020F0502020204030204" pitchFamily="34" charset="0"/>
              </a:defRPr>
            </a:lvl1pPr>
          </a:lstStyle>
          <a:p>
            <a:pPr lvl="0"/>
            <a:r>
              <a:rPr lang="en-US"/>
              <a:t>Author Name</a:t>
            </a:r>
          </a:p>
          <a:p>
            <a:pPr lvl="0"/>
            <a:r>
              <a:rPr lang="en-US"/>
              <a:t>Date</a:t>
            </a:r>
          </a:p>
          <a:p>
            <a:pPr lvl="0"/>
            <a:r>
              <a:rPr lang="en-US"/>
              <a:t>Client</a:t>
            </a:r>
          </a:p>
        </p:txBody>
      </p:sp>
    </p:spTree>
    <p:extLst>
      <p:ext uri="{BB962C8B-B14F-4D97-AF65-F5344CB8AC3E}">
        <p14:creationId xmlns:p14="http://schemas.microsoft.com/office/powerpoint/2010/main" val="9688220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Purpl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A018148-0706-5241-8BC6-07E2B1F5F7DF}"/>
              </a:ext>
            </a:extLst>
          </p:cNvPr>
          <p:cNvPicPr>
            <a:picLocks noChangeAspect="1"/>
          </p:cNvPicPr>
          <p:nvPr/>
        </p:nvPicPr>
        <p:blipFill rotWithShape="1">
          <a:blip r:embed="rId2" cstate="email">
            <a:grayscl/>
            <a:extLst>
              <a:ext uri="{28A0092B-C50C-407E-A947-70E740481C1C}">
                <a14:useLocalDpi xmlns:a14="http://schemas.microsoft.com/office/drawing/2010/main"/>
              </a:ext>
            </a:extLst>
          </a:blip>
          <a:srcRect/>
          <a:stretch/>
        </p:blipFill>
        <p:spPr>
          <a:xfrm>
            <a:off x="0" y="-3"/>
            <a:ext cx="12192000" cy="6858003"/>
          </a:xfrm>
          <a:prstGeom prst="rect">
            <a:avLst/>
          </a:prstGeom>
        </p:spPr>
      </p:pic>
      <p:sp>
        <p:nvSpPr>
          <p:cNvPr id="12" name="Rectangle 11">
            <a:extLst>
              <a:ext uri="{FF2B5EF4-FFF2-40B4-BE49-F238E27FC236}">
                <a16:creationId xmlns:a16="http://schemas.microsoft.com/office/drawing/2014/main" id="{F95DCA34-BE71-0B4F-A5F1-31722061925B}"/>
              </a:ext>
            </a:extLst>
          </p:cNvPr>
          <p:cNvSpPr/>
          <p:nvPr/>
        </p:nvSpPr>
        <p:spPr>
          <a:xfrm>
            <a:off x="-8972" y="3244495"/>
            <a:ext cx="12200971" cy="369010"/>
          </a:xfrm>
          <a:prstGeom prst="rect">
            <a:avLst/>
          </a:prstGeom>
          <a:solidFill>
            <a:schemeClr val="accent6">
              <a:alpha val="76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sp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ea typeface="+mj-ea"/>
              <a:cs typeface="+mj-cs"/>
              <a:sym typeface="Calibri"/>
            </a:endParaRPr>
          </a:p>
        </p:txBody>
      </p:sp>
      <p:sp>
        <p:nvSpPr>
          <p:cNvPr id="13" name="Rectangle 12">
            <a:extLst>
              <a:ext uri="{FF2B5EF4-FFF2-40B4-BE49-F238E27FC236}">
                <a16:creationId xmlns:a16="http://schemas.microsoft.com/office/drawing/2014/main" id="{83B6622E-299B-D140-BB3F-A91125245E88}"/>
              </a:ext>
            </a:extLst>
          </p:cNvPr>
          <p:cNvSpPr>
            <a:spLocks/>
          </p:cNvSpPr>
          <p:nvPr/>
        </p:nvSpPr>
        <p:spPr>
          <a:xfrm rot="10800000">
            <a:off x="-359324" y="0"/>
            <a:ext cx="12270576" cy="6858000"/>
          </a:xfrm>
          <a:prstGeom prst="rect">
            <a:avLst/>
          </a:prstGeom>
          <a:gradFill>
            <a:gsLst>
              <a:gs pos="0">
                <a:schemeClr val="accent6"/>
              </a:gs>
              <a:gs pos="100000">
                <a:schemeClr val="accent6">
                  <a:alpha val="0"/>
                </a:schemeClr>
              </a:gs>
            </a:gsLst>
            <a:lin ang="0" scaled="0"/>
          </a:gra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pic>
        <p:nvPicPr>
          <p:cNvPr id="26" name="Picture 25">
            <a:extLst>
              <a:ext uri="{FF2B5EF4-FFF2-40B4-BE49-F238E27FC236}">
                <a16:creationId xmlns:a16="http://schemas.microsoft.com/office/drawing/2014/main" id="{9651F526-8B4A-634B-A35B-9F78BF1E6A1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38830" y="2992311"/>
            <a:ext cx="2936611" cy="1178181"/>
          </a:xfrm>
          <a:prstGeom prst="rect">
            <a:avLst/>
          </a:prstGeom>
        </p:spPr>
      </p:pic>
      <p:sp>
        <p:nvSpPr>
          <p:cNvPr id="27" name="Rectangle 45">
            <a:extLst>
              <a:ext uri="{FF2B5EF4-FFF2-40B4-BE49-F238E27FC236}">
                <a16:creationId xmlns:a16="http://schemas.microsoft.com/office/drawing/2014/main" id="{26E1ED27-EDE9-FB46-BFE9-E705E3F4E2AF}"/>
              </a:ext>
            </a:extLst>
          </p:cNvPr>
          <p:cNvSpPr/>
          <p:nvPr/>
        </p:nvSpPr>
        <p:spPr>
          <a:xfrm rot="817502">
            <a:off x="5011627" y="-665636"/>
            <a:ext cx="7829622" cy="8567794"/>
          </a:xfrm>
          <a:custGeom>
            <a:avLst/>
            <a:gdLst>
              <a:gd name="connsiteX0" fmla="*/ 0 w 8614253"/>
              <a:gd name="connsiteY0" fmla="*/ 0 h 11082883"/>
              <a:gd name="connsiteX1" fmla="*/ 8614253 w 8614253"/>
              <a:gd name="connsiteY1" fmla="*/ 0 h 11082883"/>
              <a:gd name="connsiteX2" fmla="*/ 8614253 w 8614253"/>
              <a:gd name="connsiteY2" fmla="*/ 11082883 h 11082883"/>
              <a:gd name="connsiteX3" fmla="*/ 0 w 8614253"/>
              <a:gd name="connsiteY3" fmla="*/ 11082883 h 11082883"/>
              <a:gd name="connsiteX4" fmla="*/ 0 w 8614253"/>
              <a:gd name="connsiteY4" fmla="*/ 0 h 11082883"/>
              <a:gd name="connsiteX0" fmla="*/ 277202 w 8614253"/>
              <a:gd name="connsiteY0" fmla="*/ 2006227 h 11082883"/>
              <a:gd name="connsiteX1" fmla="*/ 8614253 w 8614253"/>
              <a:gd name="connsiteY1" fmla="*/ 0 h 11082883"/>
              <a:gd name="connsiteX2" fmla="*/ 8614253 w 8614253"/>
              <a:gd name="connsiteY2" fmla="*/ 11082883 h 11082883"/>
              <a:gd name="connsiteX3" fmla="*/ 0 w 8614253"/>
              <a:gd name="connsiteY3" fmla="*/ 11082883 h 11082883"/>
              <a:gd name="connsiteX4" fmla="*/ 277202 w 8614253"/>
              <a:gd name="connsiteY4" fmla="*/ 2006227 h 11082883"/>
              <a:gd name="connsiteX0" fmla="*/ 277202 w 8614253"/>
              <a:gd name="connsiteY0" fmla="*/ 1411375 h 10488031"/>
              <a:gd name="connsiteX1" fmla="*/ 6232006 w 8614253"/>
              <a:gd name="connsiteY1" fmla="*/ 0 h 10488031"/>
              <a:gd name="connsiteX2" fmla="*/ 8614253 w 8614253"/>
              <a:gd name="connsiteY2" fmla="*/ 10488031 h 10488031"/>
              <a:gd name="connsiteX3" fmla="*/ 0 w 8614253"/>
              <a:gd name="connsiteY3" fmla="*/ 10488031 h 10488031"/>
              <a:gd name="connsiteX4" fmla="*/ 277202 w 8614253"/>
              <a:gd name="connsiteY4" fmla="*/ 1411375 h 10488031"/>
              <a:gd name="connsiteX0" fmla="*/ 277202 w 8614253"/>
              <a:gd name="connsiteY0" fmla="*/ 1436311 h 10512967"/>
              <a:gd name="connsiteX1" fmla="*/ 6191115 w 8614253"/>
              <a:gd name="connsiteY1" fmla="*/ 0 h 10512967"/>
              <a:gd name="connsiteX2" fmla="*/ 8614253 w 8614253"/>
              <a:gd name="connsiteY2" fmla="*/ 10512967 h 10512967"/>
              <a:gd name="connsiteX3" fmla="*/ 0 w 8614253"/>
              <a:gd name="connsiteY3" fmla="*/ 10512967 h 10512967"/>
              <a:gd name="connsiteX4" fmla="*/ 277202 w 8614253"/>
              <a:gd name="connsiteY4" fmla="*/ 1436311 h 10512967"/>
              <a:gd name="connsiteX0" fmla="*/ 277202 w 7759139"/>
              <a:gd name="connsiteY0" fmla="*/ 1436311 h 10512967"/>
              <a:gd name="connsiteX1" fmla="*/ 6191115 w 7759139"/>
              <a:gd name="connsiteY1" fmla="*/ 0 h 10512967"/>
              <a:gd name="connsiteX2" fmla="*/ 7759139 w 7759139"/>
              <a:gd name="connsiteY2" fmla="*/ 6625675 h 10512967"/>
              <a:gd name="connsiteX3" fmla="*/ 0 w 7759139"/>
              <a:gd name="connsiteY3" fmla="*/ 10512967 h 10512967"/>
              <a:gd name="connsiteX4" fmla="*/ 277202 w 7759139"/>
              <a:gd name="connsiteY4" fmla="*/ 1436311 h 10512967"/>
              <a:gd name="connsiteX0" fmla="*/ 320521 w 7802458"/>
              <a:gd name="connsiteY0" fmla="*/ 1436311 h 8537169"/>
              <a:gd name="connsiteX1" fmla="*/ 6234434 w 7802458"/>
              <a:gd name="connsiteY1" fmla="*/ 0 h 8537169"/>
              <a:gd name="connsiteX2" fmla="*/ 7802458 w 7802458"/>
              <a:gd name="connsiteY2" fmla="*/ 6625675 h 8537169"/>
              <a:gd name="connsiteX3" fmla="*/ 0 w 7802458"/>
              <a:gd name="connsiteY3" fmla="*/ 8537169 h 8537169"/>
              <a:gd name="connsiteX4" fmla="*/ 320521 w 7802458"/>
              <a:gd name="connsiteY4" fmla="*/ 1436311 h 8537169"/>
              <a:gd name="connsiteX0" fmla="*/ 32276 w 7802458"/>
              <a:gd name="connsiteY0" fmla="*/ 1541024 h 8537169"/>
              <a:gd name="connsiteX1" fmla="*/ 6234434 w 7802458"/>
              <a:gd name="connsiteY1" fmla="*/ 0 h 8537169"/>
              <a:gd name="connsiteX2" fmla="*/ 7802458 w 7802458"/>
              <a:gd name="connsiteY2" fmla="*/ 6625675 h 8537169"/>
              <a:gd name="connsiteX3" fmla="*/ 0 w 7802458"/>
              <a:gd name="connsiteY3" fmla="*/ 8537169 h 8537169"/>
              <a:gd name="connsiteX4" fmla="*/ 32276 w 7802458"/>
              <a:gd name="connsiteY4" fmla="*/ 1541024 h 8537169"/>
              <a:gd name="connsiteX0" fmla="*/ 32700 w 7802458"/>
              <a:gd name="connsiteY0" fmla="*/ 1481886 h 8537169"/>
              <a:gd name="connsiteX1" fmla="*/ 6234434 w 7802458"/>
              <a:gd name="connsiteY1" fmla="*/ 0 h 8537169"/>
              <a:gd name="connsiteX2" fmla="*/ 7802458 w 7802458"/>
              <a:gd name="connsiteY2" fmla="*/ 6625675 h 8537169"/>
              <a:gd name="connsiteX3" fmla="*/ 0 w 7802458"/>
              <a:gd name="connsiteY3" fmla="*/ 8537169 h 8537169"/>
              <a:gd name="connsiteX4" fmla="*/ 32700 w 7802458"/>
              <a:gd name="connsiteY4" fmla="*/ 1481886 h 8537169"/>
              <a:gd name="connsiteX0" fmla="*/ 32700 w 7802458"/>
              <a:gd name="connsiteY0" fmla="*/ 1501211 h 8556494"/>
              <a:gd name="connsiteX1" fmla="*/ 6207611 w 7802458"/>
              <a:gd name="connsiteY1" fmla="*/ 0 h 8556494"/>
              <a:gd name="connsiteX2" fmla="*/ 7802458 w 7802458"/>
              <a:gd name="connsiteY2" fmla="*/ 6645000 h 8556494"/>
              <a:gd name="connsiteX3" fmla="*/ 0 w 7802458"/>
              <a:gd name="connsiteY3" fmla="*/ 8556494 h 8556494"/>
              <a:gd name="connsiteX4" fmla="*/ 32700 w 7802458"/>
              <a:gd name="connsiteY4" fmla="*/ 1501211 h 8556494"/>
              <a:gd name="connsiteX0" fmla="*/ 32700 w 7820515"/>
              <a:gd name="connsiteY0" fmla="*/ 1501211 h 8556494"/>
              <a:gd name="connsiteX1" fmla="*/ 6207611 w 7820515"/>
              <a:gd name="connsiteY1" fmla="*/ 0 h 8556494"/>
              <a:gd name="connsiteX2" fmla="*/ 7820515 w 7820515"/>
              <a:gd name="connsiteY2" fmla="*/ 6673831 h 8556494"/>
              <a:gd name="connsiteX3" fmla="*/ 0 w 7820515"/>
              <a:gd name="connsiteY3" fmla="*/ 8556494 h 8556494"/>
              <a:gd name="connsiteX4" fmla="*/ 32700 w 7820515"/>
              <a:gd name="connsiteY4" fmla="*/ 1501211 h 8556494"/>
              <a:gd name="connsiteX0" fmla="*/ 33651 w 7821466"/>
              <a:gd name="connsiteY0" fmla="*/ 1501211 h 8567794"/>
              <a:gd name="connsiteX1" fmla="*/ 6208562 w 7821466"/>
              <a:gd name="connsiteY1" fmla="*/ 0 h 8567794"/>
              <a:gd name="connsiteX2" fmla="*/ 7821466 w 7821466"/>
              <a:gd name="connsiteY2" fmla="*/ 6673831 h 8567794"/>
              <a:gd name="connsiteX3" fmla="*/ 0 w 7821466"/>
              <a:gd name="connsiteY3" fmla="*/ 8567794 h 8567794"/>
              <a:gd name="connsiteX4" fmla="*/ 33651 w 7821466"/>
              <a:gd name="connsiteY4" fmla="*/ 1501211 h 85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1466" h="8567794">
                <a:moveTo>
                  <a:pt x="33651" y="1501211"/>
                </a:moveTo>
                <a:lnTo>
                  <a:pt x="6208562" y="0"/>
                </a:lnTo>
                <a:lnTo>
                  <a:pt x="7821466" y="6673831"/>
                </a:lnTo>
                <a:lnTo>
                  <a:pt x="0" y="8567794"/>
                </a:lnTo>
                <a:lnTo>
                  <a:pt x="33651" y="1501211"/>
                </a:lnTo>
                <a:close/>
              </a:path>
            </a:pathLst>
          </a:custGeom>
          <a:solidFill>
            <a:schemeClr val="tx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31" name="Rectangle 30">
            <a:extLst>
              <a:ext uri="{FF2B5EF4-FFF2-40B4-BE49-F238E27FC236}">
                <a16:creationId xmlns:a16="http://schemas.microsoft.com/office/drawing/2014/main" id="{42079E7E-A85E-C047-B8D1-4620089A3369}"/>
              </a:ext>
            </a:extLst>
          </p:cNvPr>
          <p:cNvSpPr/>
          <p:nvPr/>
        </p:nvSpPr>
        <p:spPr>
          <a:xfrm>
            <a:off x="6095999" y="3533720"/>
            <a:ext cx="915353" cy="91440"/>
          </a:xfrm>
          <a:prstGeom prst="rect">
            <a:avLst/>
          </a:prstGeom>
          <a:solidFill>
            <a:schemeClr val="accent6"/>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671" tIns="45671" rIns="45671" bIns="45671" numCol="1" spcCol="38100" rtlCol="0" anchor="ctr">
            <a:noAutofit/>
          </a:bodyPr>
          <a:lstStyle/>
          <a:p>
            <a:pPr marL="0" marR="0" indent="0" algn="l" defTabSz="913486" rtl="0" fontAlgn="auto" latinLnBrk="0" hangingPunct="0">
              <a:lnSpc>
                <a:spcPct val="100000"/>
              </a:lnSpc>
              <a:spcBef>
                <a:spcPts val="0"/>
              </a:spcBef>
              <a:spcAft>
                <a:spcPts val="0"/>
              </a:spcAft>
              <a:buClrTx/>
              <a:buSzTx/>
              <a:buFontTx/>
              <a:buNone/>
              <a:tabLst/>
            </a:pPr>
            <a:endParaRPr kumimoji="0" lang="en-US" sz="1798" b="0" i="0" u="none" strike="noStrike" cap="none" spc="0" normalizeH="0" baseline="0">
              <a:ln>
                <a:noFill/>
              </a:ln>
              <a:solidFill>
                <a:srgbClr val="072941"/>
              </a:solidFill>
              <a:effectLst/>
              <a:uFillTx/>
              <a:latin typeface="Calibri" panose="020F0502020204030204" pitchFamily="34" charset="0"/>
              <a:sym typeface="Calibri"/>
            </a:endParaRPr>
          </a:p>
        </p:txBody>
      </p:sp>
      <p:sp>
        <p:nvSpPr>
          <p:cNvPr id="17" name="Text Placeholder 16">
            <a:extLst>
              <a:ext uri="{FF2B5EF4-FFF2-40B4-BE49-F238E27FC236}">
                <a16:creationId xmlns:a16="http://schemas.microsoft.com/office/drawing/2014/main" id="{F2B683F2-4BBD-47C8-894F-EE9C27F61E37}"/>
              </a:ext>
            </a:extLst>
          </p:cNvPr>
          <p:cNvSpPr>
            <a:spLocks noGrp="1"/>
          </p:cNvSpPr>
          <p:nvPr>
            <p:ph type="body" sz="quarter" idx="11" hasCustomPrompt="1"/>
          </p:nvPr>
        </p:nvSpPr>
        <p:spPr>
          <a:xfrm>
            <a:off x="6102276" y="3866693"/>
            <a:ext cx="5317394" cy="847725"/>
          </a:xfrm>
        </p:spPr>
        <p:txBody>
          <a:bodyPr>
            <a:no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2pPr>
            <a:lvl3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3pPr>
            <a:lvl4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smtClean="0">
                <a:ln>
                  <a:noFill/>
                </a:ln>
                <a:solidFill>
                  <a:schemeClr val="bg1"/>
                </a:solidFill>
                <a:effectLst/>
                <a:uFillTx/>
                <a:latin typeface="+mj-lt"/>
                <a:ea typeface="Arial" charset="0"/>
                <a:cs typeface="Arial" charset="0"/>
                <a:sym typeface="Helvetica"/>
              </a:defRPr>
            </a:lvl4pPr>
            <a:lvl5pPr marL="0" marR="0" indent="0" algn="l" defTabSz="912573" rtl="0" eaLnBrk="1" fontAlgn="auto" latinLnBrk="0" hangingPunct="1">
              <a:lnSpc>
                <a:spcPct val="100000"/>
              </a:lnSpc>
              <a:spcBef>
                <a:spcPts val="1198"/>
              </a:spcBef>
              <a:spcAft>
                <a:spcPts val="0"/>
              </a:spcAft>
              <a:buClrTx/>
              <a:buSzTx/>
              <a:buFontTx/>
              <a:buNone/>
              <a:tabLst/>
              <a:defRPr kumimoji="0" lang="en-US" sz="1998" b="0" i="0" u="none" strike="noStrike" cap="all" spc="0" normalizeH="0" baseline="0" dirty="0">
                <a:ln>
                  <a:noFill/>
                </a:ln>
                <a:solidFill>
                  <a:schemeClr val="bg1"/>
                </a:solidFill>
                <a:effectLst/>
                <a:uFillTx/>
                <a:latin typeface="+mj-lt"/>
                <a:ea typeface="Arial" charset="0"/>
                <a:cs typeface="Arial" charset="0"/>
                <a:sym typeface="Helvetica"/>
              </a:defRPr>
            </a:lvl5pPr>
          </a:lstStyle>
          <a:p>
            <a:pPr lvl="0"/>
            <a:r>
              <a:rPr lang="en-US"/>
              <a:t>Click to edit subtitle</a:t>
            </a:r>
          </a:p>
        </p:txBody>
      </p:sp>
      <p:sp>
        <p:nvSpPr>
          <p:cNvPr id="15" name="Text Placeholder 14">
            <a:extLst>
              <a:ext uri="{FF2B5EF4-FFF2-40B4-BE49-F238E27FC236}">
                <a16:creationId xmlns:a16="http://schemas.microsoft.com/office/drawing/2014/main" id="{FA3DB315-4FE4-4AB7-AC70-05542D09E924}"/>
              </a:ext>
            </a:extLst>
          </p:cNvPr>
          <p:cNvSpPr>
            <a:spLocks noGrp="1"/>
          </p:cNvSpPr>
          <p:nvPr>
            <p:ph type="body" sz="quarter" idx="10" hasCustomPrompt="1"/>
          </p:nvPr>
        </p:nvSpPr>
        <p:spPr>
          <a:xfrm>
            <a:off x="6080483" y="1162050"/>
            <a:ext cx="5317393" cy="2205332"/>
          </a:xfrm>
        </p:spPr>
        <p:txBody>
          <a:bodyPr>
            <a:normAutofit/>
          </a:bodyPr>
          <a:lstStyle>
            <a:lvl1pPr marL="0" marR="0" indent="0" algn="l" defTabSz="912573" rtl="0" eaLnBrk="1" fontAlgn="auto" latinLnBrk="0" hangingPunct="1">
              <a:lnSpc>
                <a:spcPct val="100000"/>
              </a:lnSpc>
              <a:spcBef>
                <a:spcPts val="1198"/>
              </a:spcBef>
              <a:spcAft>
                <a:spcPts val="0"/>
              </a:spcAft>
              <a:buClrTx/>
              <a:buSzTx/>
              <a:buFontTx/>
              <a:buNone/>
              <a:tabLst/>
              <a:defRPr kumimoji="0" lang="en-US" sz="3596" b="1" i="0" u="none" strike="noStrike" cap="none" spc="0" normalizeH="0" baseline="0" dirty="0">
                <a:ln>
                  <a:noFill/>
                </a:ln>
                <a:solidFill>
                  <a:schemeClr val="bg1"/>
                </a:solidFill>
                <a:effectLst/>
                <a:uFillTx/>
                <a:latin typeface="Calibri" panose="020F0502020204030204" pitchFamily="34" charset="0"/>
                <a:ea typeface="Calibri" panose="020F0502020204030204" pitchFamily="34" charset="0"/>
                <a:cs typeface="Calibri" panose="020F0502020204030204" pitchFamily="34" charset="0"/>
                <a:sym typeface="Helvetica"/>
              </a:defRPr>
            </a:lvl1pPr>
          </a:lstStyle>
          <a:p>
            <a:pPr lvl="0"/>
            <a:r>
              <a:rPr lang="en-US"/>
              <a:t>Click To Edit Title</a:t>
            </a:r>
          </a:p>
        </p:txBody>
      </p:sp>
      <p:sp>
        <p:nvSpPr>
          <p:cNvPr id="4" name="Text Placeholder 3">
            <a:extLst>
              <a:ext uri="{FF2B5EF4-FFF2-40B4-BE49-F238E27FC236}">
                <a16:creationId xmlns:a16="http://schemas.microsoft.com/office/drawing/2014/main" id="{16B534A6-0E8D-7D41-AE7B-4A5A9032A93A}"/>
              </a:ext>
            </a:extLst>
          </p:cNvPr>
          <p:cNvSpPr>
            <a:spLocks noGrp="1"/>
          </p:cNvSpPr>
          <p:nvPr>
            <p:ph type="body" sz="quarter" idx="12" hasCustomPrompt="1"/>
          </p:nvPr>
        </p:nvSpPr>
        <p:spPr>
          <a:xfrm>
            <a:off x="6096001" y="5197478"/>
            <a:ext cx="5323670" cy="1065213"/>
          </a:xfrm>
        </p:spPr>
        <p:txBody>
          <a:bodyPr>
            <a:normAutofit/>
          </a:bodyPr>
          <a:lstStyle>
            <a:lvl1pPr>
              <a:defRPr sz="1598">
                <a:solidFill>
                  <a:schemeClr val="bg1"/>
                </a:solidFill>
                <a:latin typeface="Calibri" panose="020F0502020204030204" pitchFamily="34" charset="0"/>
              </a:defRPr>
            </a:lvl1pPr>
          </a:lstStyle>
          <a:p>
            <a:pPr lvl="0"/>
            <a:r>
              <a:rPr lang="en-US"/>
              <a:t>Author Name</a:t>
            </a:r>
          </a:p>
          <a:p>
            <a:pPr lvl="0"/>
            <a:r>
              <a:rPr lang="en-US"/>
              <a:t>Date</a:t>
            </a:r>
          </a:p>
          <a:p>
            <a:pPr lvl="0"/>
            <a:r>
              <a:rPr lang="en-US"/>
              <a:t>Client</a:t>
            </a:r>
          </a:p>
        </p:txBody>
      </p:sp>
    </p:spTree>
    <p:extLst>
      <p:ext uri="{BB962C8B-B14F-4D97-AF65-F5344CB8AC3E}">
        <p14:creationId xmlns:p14="http://schemas.microsoft.com/office/powerpoint/2010/main" val="27081149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9C7908-BA04-472D-AE0E-2EC318BCA14B}"/>
              </a:ext>
            </a:extLst>
          </p:cNvPr>
          <p:cNvSpPr>
            <a:spLocks noGrp="1"/>
          </p:cNvSpPr>
          <p:nvPr>
            <p:ph type="title"/>
          </p:nvPr>
        </p:nvSpPr>
        <p:spPr>
          <a:xfrm>
            <a:off x="466333" y="286157"/>
            <a:ext cx="11259334" cy="693551"/>
          </a:xfrm>
        </p:spPr>
        <p:txBody>
          <a:bodyPr/>
          <a:lstStyle/>
          <a:p>
            <a:r>
              <a:rPr lang="en-US"/>
              <a:t>Click to edit Master title style</a:t>
            </a:r>
          </a:p>
        </p:txBody>
      </p:sp>
      <p:sp>
        <p:nvSpPr>
          <p:cNvPr id="10" name="Shape 194"/>
          <p:cNvSpPr/>
          <p:nvPr/>
        </p:nvSpPr>
        <p:spPr>
          <a:xfrm rot="16200000">
            <a:off x="6036239" y="-6036238"/>
            <a:ext cx="119527" cy="12192001"/>
          </a:xfrm>
          <a:prstGeom prst="rect">
            <a:avLst/>
          </a:prstGeom>
          <a:solidFill>
            <a:srgbClr val="135181"/>
          </a:solidFill>
          <a:ln w="12700">
            <a:miter lim="400000"/>
          </a:ln>
        </p:spPr>
        <p:txBody>
          <a:bodyPr lIns="45671" rIns="45671" anchor="ctr"/>
          <a:lstStyle/>
          <a:p>
            <a:pPr algn="ctr">
              <a:defRPr>
                <a:solidFill>
                  <a:srgbClr val="FFFFFF"/>
                </a:solidFill>
              </a:defRPr>
            </a:pPr>
            <a:endParaRPr sz="1798">
              <a:latin typeface="Calibri" panose="020F0502020204030204" pitchFamily="34" charset="0"/>
            </a:endParaRPr>
          </a:p>
        </p:txBody>
      </p:sp>
      <p:sp>
        <p:nvSpPr>
          <p:cNvPr id="12" name="Shape 194">
            <a:extLst>
              <a:ext uri="{FF2B5EF4-FFF2-40B4-BE49-F238E27FC236}">
                <a16:creationId xmlns:a16="http://schemas.microsoft.com/office/drawing/2014/main" id="{FD4ACCAB-4A5B-4C90-B30B-07467397023C}"/>
              </a:ext>
            </a:extLst>
          </p:cNvPr>
          <p:cNvSpPr/>
          <p:nvPr/>
        </p:nvSpPr>
        <p:spPr>
          <a:xfrm rot="16200000">
            <a:off x="6036239" y="-6036238"/>
            <a:ext cx="119527" cy="12192001"/>
          </a:xfrm>
          <a:prstGeom prst="rect">
            <a:avLst/>
          </a:prstGeom>
          <a:solidFill>
            <a:srgbClr val="135181"/>
          </a:solidFill>
          <a:ln w="12700">
            <a:miter lim="400000"/>
          </a:ln>
        </p:spPr>
        <p:txBody>
          <a:bodyPr lIns="45671" rIns="45671" anchor="ctr"/>
          <a:lstStyle/>
          <a:p>
            <a:pPr algn="ctr">
              <a:defRPr>
                <a:solidFill>
                  <a:srgbClr val="FFFFFF"/>
                </a:solidFill>
              </a:defRPr>
            </a:pPr>
            <a:endParaRPr sz="1798">
              <a:latin typeface="Calibri" panose="020F0502020204030204" pitchFamily="34" charset="0"/>
            </a:endParaRPr>
          </a:p>
        </p:txBody>
      </p:sp>
    </p:spTree>
    <p:extLst>
      <p:ext uri="{BB962C8B-B14F-4D97-AF65-F5344CB8AC3E}">
        <p14:creationId xmlns:p14="http://schemas.microsoft.com/office/powerpoint/2010/main" val="40880358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2247CCE-89C6-3398-EA67-035B11CFB9CC}"/>
              </a:ext>
            </a:extLst>
          </p:cNvPr>
          <p:cNvSpPr>
            <a:spLocks noGrp="1"/>
          </p:cNvSpPr>
          <p:nvPr>
            <p:ph type="sldNum" sz="quarter" idx="10"/>
          </p:nvPr>
        </p:nvSpPr>
        <p:spPr/>
        <p:txBody>
          <a:bodyPr/>
          <a:lstStyle/>
          <a:p>
            <a:fld id="{A22638FE-01C9-41BA-BE25-085106FB5C8A}" type="slidenum">
              <a:rPr lang="en-US" smtClean="0"/>
              <a:t>‹#›</a:t>
            </a:fld>
            <a:endParaRPr lang="en-US"/>
          </a:p>
        </p:txBody>
      </p:sp>
    </p:spTree>
    <p:extLst>
      <p:ext uri="{BB962C8B-B14F-4D97-AF65-F5344CB8AC3E}">
        <p14:creationId xmlns:p14="http://schemas.microsoft.com/office/powerpoint/2010/main" val="11302938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1356546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8145298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1800890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32938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A blue text on a black background&#10;&#10;AI-generated content may be incorrect.">
            <a:extLst>
              <a:ext uri="{FF2B5EF4-FFF2-40B4-BE49-F238E27FC236}">
                <a16:creationId xmlns:a16="http://schemas.microsoft.com/office/drawing/2014/main" id="{742634CB-621C-0AA3-325D-CF93F158160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1975" y="6441507"/>
            <a:ext cx="1073150" cy="319045"/>
          </a:xfrm>
          <a:prstGeom prst="rect">
            <a:avLst/>
          </a:prstGeom>
        </p:spPr>
      </p:pic>
      <p:sp>
        <p:nvSpPr>
          <p:cNvPr id="10" name="Slide Number Placeholder 16">
            <a:extLst>
              <a:ext uri="{FF2B5EF4-FFF2-40B4-BE49-F238E27FC236}">
                <a16:creationId xmlns:a16="http://schemas.microsoft.com/office/drawing/2014/main" id="{5573FDDA-2222-F089-2A12-1953DB6267E9}"/>
              </a:ext>
            </a:extLst>
          </p:cNvPr>
          <p:cNvSpPr txBox="1">
            <a:spLocks/>
          </p:cNvSpPr>
          <p:nvPr userDrawn="1"/>
        </p:nvSpPr>
        <p:spPr>
          <a:xfrm>
            <a:off x="11728412" y="6501106"/>
            <a:ext cx="335850" cy="161583"/>
          </a:xfrm>
          <a:prstGeom prst="rect">
            <a:avLst/>
          </a:prstGeom>
        </p:spPr>
        <p:txBody>
          <a:bodyPr vert="horz" wrap="square" lIns="0" tIns="0" rIns="0" bIns="0" rtlCol="0" anchor="t">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DC3E0BD-1E1B-4C56-A5B4-794BEE42BE14}" type="slidenum">
              <a:rPr lang="en-US" sz="1050" spc="144" smtClean="0">
                <a:solidFill>
                  <a:schemeClr val="bg1">
                    <a:lumMod val="75000"/>
                  </a:schemeClr>
                </a:solidFill>
                <a:latin typeface="Poppins Light" panose="00000400000000000000" pitchFamily="2" charset="0"/>
                <a:cs typeface="Poppins Light" panose="00000400000000000000" pitchFamily="2" charset="0"/>
              </a:rPr>
              <a:pPr/>
              <a:t>‹#›</a:t>
            </a:fld>
            <a:endParaRPr lang="en-US" sz="1050" spc="144">
              <a:solidFill>
                <a:schemeClr val="bg1">
                  <a:lumMod val="75000"/>
                </a:schemeClr>
              </a:solidFill>
              <a:latin typeface="Poppins Light" panose="00000400000000000000" pitchFamily="2" charset="0"/>
              <a:cs typeface="Poppins Light" panose="00000400000000000000" pitchFamily="2" charset="0"/>
            </a:endParaRPr>
          </a:p>
        </p:txBody>
      </p:sp>
      <p:sp>
        <p:nvSpPr>
          <p:cNvPr id="4" name="Footer Placeholder 3">
            <a:extLst>
              <a:ext uri="{FF2B5EF4-FFF2-40B4-BE49-F238E27FC236}">
                <a16:creationId xmlns:a16="http://schemas.microsoft.com/office/drawing/2014/main" id="{7CE09213-FC9E-9CA9-6246-4269C560CDD5}"/>
              </a:ext>
            </a:extLst>
          </p:cNvPr>
          <p:cNvSpPr>
            <a:spLocks noGrp="1"/>
          </p:cNvSpPr>
          <p:nvPr>
            <p:ph type="ftr" sz="quarter" idx="3"/>
          </p:nvPr>
        </p:nvSpPr>
        <p:spPr>
          <a:xfrm>
            <a:off x="7381875" y="6487240"/>
            <a:ext cx="4248150" cy="246221"/>
          </a:xfrm>
          <a:prstGeom prst="rect">
            <a:avLst/>
          </a:prstGeom>
        </p:spPr>
        <p:txBody>
          <a:bodyPr/>
          <a:lstStyle>
            <a:lvl1pPr algn="ctr">
              <a:defRPr sz="900">
                <a:latin typeface="Calibri" panose="020F0502020204030204" pitchFamily="34" charset="0"/>
                <a:ea typeface="Calibri" panose="020F0502020204030204" pitchFamily="34" charset="0"/>
                <a:cs typeface="Calibri" panose="020F0502020204030204" pitchFamily="34" charset="0"/>
              </a:defRPr>
            </a:lvl1pPr>
          </a:lstStyle>
          <a:p>
            <a:pPr hangingPunct="1">
              <a:defRPr/>
            </a:pPr>
            <a:endParaRPr lang="en-US" kern="1200">
              <a:solidFill>
                <a:srgbClr val="04153D"/>
              </a:solidFill>
            </a:endParaRPr>
          </a:p>
        </p:txBody>
      </p:sp>
      <p:sp>
        <p:nvSpPr>
          <p:cNvPr id="5" name="Slide Number Placeholder 4">
            <a:extLst>
              <a:ext uri="{FF2B5EF4-FFF2-40B4-BE49-F238E27FC236}">
                <a16:creationId xmlns:a16="http://schemas.microsoft.com/office/drawing/2014/main" id="{039A2AAC-2181-F1F7-05B8-D983BB107341}"/>
              </a:ext>
            </a:extLst>
          </p:cNvPr>
          <p:cNvSpPr>
            <a:spLocks noGrp="1"/>
          </p:cNvSpPr>
          <p:nvPr>
            <p:ph type="sldNum" sz="quarter" idx="4"/>
          </p:nvPr>
        </p:nvSpPr>
        <p:spPr>
          <a:xfrm>
            <a:off x="11735240" y="6487240"/>
            <a:ext cx="437271" cy="246221"/>
          </a:xfrm>
          <a:prstGeom prst="rect">
            <a:avLst/>
          </a:prstGeom>
        </p:spPr>
        <p:txBody>
          <a:bodyPr anchor="ctr">
            <a:spAutoFit/>
          </a:bodyPr>
          <a:lstStyle>
            <a:lvl1pPr algn="ctr">
              <a:defRPr sz="100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fld id="{02D52048-A6CF-4AE3-B50C-6065BBDD86DF}" type="slidenum">
              <a:rPr lang="en-ID" smtClean="0"/>
              <a:pPr/>
              <a:t>‹#›</a:t>
            </a:fld>
            <a:endParaRPr lang="en-ID"/>
          </a:p>
        </p:txBody>
      </p:sp>
    </p:spTree>
    <p:extLst>
      <p:ext uri="{BB962C8B-B14F-4D97-AF65-F5344CB8AC3E}">
        <p14:creationId xmlns:p14="http://schemas.microsoft.com/office/powerpoint/2010/main" val="7874707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1415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2.xml"/><Relationship Id="rId1" Type="http://schemas.openxmlformats.org/officeDocument/2006/relationships/slideLayout" Target="../slideLayouts/slideLayout20.xml"/><Relationship Id="rId4" Type="http://schemas.openxmlformats.org/officeDocument/2006/relationships/image" Target="../media/image13.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hape 7"/>
          <p:cNvSpPr>
            <a:spLocks noGrp="1"/>
          </p:cNvSpPr>
          <p:nvPr>
            <p:ph type="title"/>
          </p:nvPr>
        </p:nvSpPr>
        <p:spPr>
          <a:xfrm>
            <a:off x="466333" y="275273"/>
            <a:ext cx="11259334" cy="693551"/>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p>
            <a:endParaRPr/>
          </a:p>
        </p:txBody>
      </p:sp>
      <p:sp>
        <p:nvSpPr>
          <p:cNvPr id="8" name="Shape 8"/>
          <p:cNvSpPr>
            <a:spLocks noGrp="1"/>
          </p:cNvSpPr>
          <p:nvPr>
            <p:ph type="body" idx="1"/>
          </p:nvPr>
        </p:nvSpPr>
        <p:spPr>
          <a:xfrm>
            <a:off x="538124" y="1241146"/>
            <a:ext cx="11143530" cy="4764741"/>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9" name="Shape 194"/>
          <p:cNvSpPr/>
          <p:nvPr/>
        </p:nvSpPr>
        <p:spPr>
          <a:xfrm rot="16200000">
            <a:off x="6036240" y="-6036238"/>
            <a:ext cx="119527" cy="12192001"/>
          </a:xfrm>
          <a:prstGeom prst="rect">
            <a:avLst/>
          </a:prstGeom>
          <a:solidFill>
            <a:srgbClr val="135181"/>
          </a:solidFill>
          <a:ln w="12700">
            <a:miter lim="400000"/>
          </a:ln>
        </p:spPr>
        <p:txBody>
          <a:bodyPr lIns="45623" rIns="45623" anchor="ctr"/>
          <a:lstStyle/>
          <a:p>
            <a:pPr algn="ctr">
              <a:defRPr>
                <a:solidFill>
                  <a:srgbClr val="FFFFFF"/>
                </a:solidFill>
              </a:defRPr>
            </a:pPr>
            <a:endParaRPr sz="1796">
              <a:latin typeface="Calibri" panose="020F0502020204030204" pitchFamily="34" charset="0"/>
            </a:endParaRPr>
          </a:p>
        </p:txBody>
      </p:sp>
      <p:sp>
        <p:nvSpPr>
          <p:cNvPr id="11" name="Shape 195"/>
          <p:cNvSpPr/>
          <p:nvPr/>
        </p:nvSpPr>
        <p:spPr>
          <a:xfrm flipV="1">
            <a:off x="11588799" y="6504877"/>
            <a:ext cx="0" cy="252001"/>
          </a:xfrm>
          <a:prstGeom prst="line">
            <a:avLst/>
          </a:prstGeom>
          <a:ln w="19050">
            <a:solidFill>
              <a:srgbClr val="084A79"/>
            </a:solidFill>
          </a:ln>
        </p:spPr>
        <p:txBody>
          <a:bodyPr lIns="45623" rIns="45623"/>
          <a:lstStyle/>
          <a:p>
            <a:endParaRPr sz="1796">
              <a:latin typeface="Calibri" panose="020F0502020204030204" pitchFamily="34" charset="0"/>
            </a:endParaRPr>
          </a:p>
        </p:txBody>
      </p:sp>
      <p:pic>
        <p:nvPicPr>
          <p:cNvPr id="12" name="image1.png"/>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115760" y="6412367"/>
            <a:ext cx="363322" cy="437014"/>
          </a:xfrm>
          <a:prstGeom prst="rect">
            <a:avLst/>
          </a:prstGeom>
          <a:ln w="12700">
            <a:miter lim="400000"/>
          </a:ln>
        </p:spPr>
      </p:pic>
      <p:sp>
        <p:nvSpPr>
          <p:cNvPr id="18" name="Shape 193">
            <a:extLst>
              <a:ext uri="{FF2B5EF4-FFF2-40B4-BE49-F238E27FC236}">
                <a16:creationId xmlns:a16="http://schemas.microsoft.com/office/drawing/2014/main" id="{E14E0D4A-2183-4715-BD53-68FAA9B3560A}"/>
              </a:ext>
            </a:extLst>
          </p:cNvPr>
          <p:cNvSpPr/>
          <p:nvPr/>
        </p:nvSpPr>
        <p:spPr>
          <a:xfrm>
            <a:off x="8483246" y="6570227"/>
            <a:ext cx="3036908" cy="215444"/>
          </a:xfrm>
          <a:prstGeom prst="rect">
            <a:avLst/>
          </a:prstGeom>
          <a:ln w="12700">
            <a:miter lim="400000"/>
          </a:ln>
          <a:extLst>
            <a:ext uri="{C572A759-6A51-4108-AA02-DFA0A04FC94B}">
              <ma14:wrappingTextBoxFlag xmlns:ma14="http://schemas.microsoft.com/office/mac/drawingml/2011/main" xmlns="" val="1"/>
            </a:ext>
          </a:extLst>
        </p:spPr>
        <p:txBody>
          <a:bodyPr wrap="none" lIns="45623" rIns="45623">
            <a:spAutoFit/>
          </a:bodyPr>
          <a:lstStyle>
            <a:lvl1pPr>
              <a:defRPr sz="600">
                <a:solidFill>
                  <a:srgbClr val="808080"/>
                </a:solidFill>
                <a:latin typeface="Helvetica Neue Light"/>
                <a:ea typeface="Helvetica Neue Light"/>
                <a:cs typeface="Helvetica Neue Light"/>
                <a:sym typeface="Helvetica Neue Light"/>
              </a:defRPr>
            </a:lvl1pPr>
          </a:lstStyle>
          <a:p>
            <a:r>
              <a:rPr sz="799">
                <a:latin typeface="Calibri" panose="020F0502020204030204" pitchFamily="34" charset="0"/>
                <a:ea typeface="Arial" charset="0"/>
                <a:cs typeface="Calibri" panose="020F0502020204030204" pitchFamily="34" charset="0"/>
              </a:rPr>
              <a:t>Copyright © </a:t>
            </a:r>
            <a:r>
              <a:rPr lang="en-US" sz="799">
                <a:latin typeface="Calibri" panose="020F0502020204030204" pitchFamily="34" charset="0"/>
                <a:ea typeface="Arial" charset="0"/>
                <a:cs typeface="Calibri" panose="020F0502020204030204" pitchFamily="34" charset="0"/>
              </a:rPr>
              <a:t>2025</a:t>
            </a:r>
            <a:r>
              <a:rPr sz="799">
                <a:latin typeface="Calibri" panose="020F0502020204030204" pitchFamily="34" charset="0"/>
                <a:ea typeface="Arial" charset="0"/>
                <a:cs typeface="Calibri" panose="020F0502020204030204" pitchFamily="34" charset="0"/>
              </a:rPr>
              <a:t> Earley Information Science, Inc.  All Rights Reserved.</a:t>
            </a:r>
          </a:p>
        </p:txBody>
      </p:sp>
      <p:pic>
        <p:nvPicPr>
          <p:cNvPr id="20" name="image1.png">
            <a:extLst>
              <a:ext uri="{FF2B5EF4-FFF2-40B4-BE49-F238E27FC236}">
                <a16:creationId xmlns:a16="http://schemas.microsoft.com/office/drawing/2014/main" id="{7E136C74-3E38-4711-B2DC-88AB407C6326}"/>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115760" y="6412367"/>
            <a:ext cx="363322" cy="437014"/>
          </a:xfrm>
          <a:prstGeom prst="rect">
            <a:avLst/>
          </a:prstGeom>
          <a:ln w="12700">
            <a:miter lim="400000"/>
          </a:ln>
        </p:spPr>
      </p:pic>
      <p:sp>
        <p:nvSpPr>
          <p:cNvPr id="4" name="Slide Number Placeholder 3">
            <a:extLst>
              <a:ext uri="{FF2B5EF4-FFF2-40B4-BE49-F238E27FC236}">
                <a16:creationId xmlns:a16="http://schemas.microsoft.com/office/drawing/2014/main" id="{372B7096-F130-43EC-B3EC-C13B8324107C}"/>
              </a:ext>
            </a:extLst>
          </p:cNvPr>
          <p:cNvSpPr>
            <a:spLocks noGrp="1"/>
          </p:cNvSpPr>
          <p:nvPr>
            <p:ph type="sldNum" sz="quarter" idx="4"/>
          </p:nvPr>
        </p:nvSpPr>
        <p:spPr>
          <a:xfrm>
            <a:off x="11591920" y="6448314"/>
            <a:ext cx="503416" cy="365125"/>
          </a:xfrm>
          <a:prstGeom prst="rect">
            <a:avLst/>
          </a:prstGeom>
        </p:spPr>
        <p:txBody>
          <a:bodyPr vert="horz" lIns="91440" tIns="45720" rIns="91440" bIns="45720" rtlCol="0" anchor="ctr"/>
          <a:lstStyle>
            <a:lvl1pPr algn="l">
              <a:defRPr sz="1199">
                <a:solidFill>
                  <a:schemeClr val="tx1"/>
                </a:solidFill>
                <a:latin typeface="Calibri" panose="020F0502020204030204" pitchFamily="34" charset="0"/>
              </a:defRPr>
            </a:lvl1pPr>
          </a:lstStyle>
          <a:p>
            <a:fld id="{A22638FE-01C9-41BA-BE25-085106FB5C8A}" type="slidenum">
              <a:rPr lang="en-US" smtClean="0"/>
              <a:t>‹#›</a:t>
            </a:fld>
            <a:endParaRPr lang="en-US"/>
          </a:p>
        </p:txBody>
      </p:sp>
      <p:pic>
        <p:nvPicPr>
          <p:cNvPr id="13" name="image1.png">
            <a:extLst>
              <a:ext uri="{FF2B5EF4-FFF2-40B4-BE49-F238E27FC236}">
                <a16:creationId xmlns:a16="http://schemas.microsoft.com/office/drawing/2014/main" id="{C3296FC5-3030-41DC-9395-66F320BD0EFB}"/>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115760" y="6412367"/>
            <a:ext cx="363322" cy="437014"/>
          </a:xfrm>
          <a:prstGeom prst="rect">
            <a:avLst/>
          </a:prstGeom>
          <a:ln w="12700">
            <a:miter lim="400000"/>
          </a:ln>
        </p:spPr>
      </p:pic>
    </p:spTree>
    <p:extLst>
      <p:ext uri="{BB962C8B-B14F-4D97-AF65-F5344CB8AC3E}">
        <p14:creationId xmlns:p14="http://schemas.microsoft.com/office/powerpoint/2010/main" val="2515422724"/>
      </p:ext>
    </p:extLst>
  </p:cSld>
  <p:clrMap bg1="lt1" tx1="dk1" bg2="lt2" tx2="dk2" accent1="accent1" accent2="accent2" accent3="accent3" accent4="accent4" accent5="accent5" accent6="accent6" hlink="hlink" folHlink="folHlink"/>
  <p:sldLayoutIdLst>
    <p:sldLayoutId id="2147485609" r:id="rId1"/>
    <p:sldLayoutId id="2147483664" r:id="rId2"/>
    <p:sldLayoutId id="2147485606" r:id="rId3"/>
    <p:sldLayoutId id="2147483666" r:id="rId4"/>
    <p:sldLayoutId id="2147485612" r:id="rId5"/>
    <p:sldLayoutId id="2147485613" r:id="rId6"/>
    <p:sldLayoutId id="2147485618" r:id="rId7"/>
    <p:sldLayoutId id="2147485619" r:id="rId8"/>
    <p:sldLayoutId id="2147485608" r:id="rId9"/>
    <p:sldLayoutId id="2147485607" r:id="rId10"/>
    <p:sldLayoutId id="2147485611" r:id="rId11"/>
    <p:sldLayoutId id="2147483674" r:id="rId12"/>
    <p:sldLayoutId id="2147485614" r:id="rId13"/>
    <p:sldLayoutId id="2147485615" r:id="rId14"/>
    <p:sldLayoutId id="2147485616" r:id="rId15"/>
    <p:sldLayoutId id="2147485626" r:id="rId16"/>
    <p:sldLayoutId id="2147485627" r:id="rId17"/>
    <p:sldLayoutId id="2147485628" r:id="rId18"/>
    <p:sldLayoutId id="2147485629" r:id="rId19"/>
  </p:sldLayoutIdLst>
  <p:hf hdr="0" ftr="0" dt="0"/>
  <p:txStyles>
    <p:titleStyle>
      <a:lvl1pPr marL="0" marR="0" indent="0" algn="ctr" defTabSz="912573" rtl="0" eaLnBrk="1" latinLnBrk="0" hangingPunct="1">
        <a:lnSpc>
          <a:spcPct val="100000"/>
        </a:lnSpc>
        <a:spcBef>
          <a:spcPts val="1198"/>
        </a:spcBef>
        <a:spcAft>
          <a:spcPts val="0"/>
        </a:spcAft>
        <a:buClrTx/>
        <a:buSzTx/>
        <a:buFontTx/>
        <a:buNone/>
        <a:tabLst/>
        <a:defRPr sz="3200" b="1" i="0" u="none" strike="noStrike" cap="none" spc="0" baseline="0">
          <a:ln>
            <a:noFill/>
          </a:ln>
          <a:solidFill>
            <a:schemeClr val="tx1"/>
          </a:solidFill>
          <a:uFillTx/>
          <a:latin typeface="Calibri" panose="020F0502020204030204" pitchFamily="34" charset="0"/>
          <a:ea typeface="Calibri" panose="020F0502020204030204" pitchFamily="34" charset="0"/>
          <a:cs typeface="Calibri" panose="020F0502020204030204" pitchFamily="34" charset="0"/>
          <a:sym typeface="Helvetica"/>
        </a:defRPr>
      </a:lvl1pPr>
      <a:lvl2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2pPr>
      <a:lvl3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3pPr>
      <a:lvl4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4pPr>
      <a:lvl5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5pPr>
      <a:lvl6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6pPr>
      <a:lvl7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7pPr>
      <a:lvl8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8pPr>
      <a:lvl9pPr marL="0" marR="0" indent="0" algn="l" defTabSz="912573" rtl="0" eaLnBrk="1" latinLnBrk="0" hangingPunct="1">
        <a:lnSpc>
          <a:spcPct val="100000"/>
        </a:lnSpc>
        <a:spcBef>
          <a:spcPts val="1198"/>
        </a:spcBef>
        <a:spcAft>
          <a:spcPts val="0"/>
        </a:spcAft>
        <a:buClrTx/>
        <a:buSzTx/>
        <a:buFontTx/>
        <a:buNone/>
        <a:tabLst/>
        <a:defRPr sz="5390" b="1" i="0" u="none" strike="noStrike" cap="none" spc="0" baseline="0">
          <a:ln>
            <a:noFill/>
          </a:ln>
          <a:solidFill>
            <a:srgbClr val="808080"/>
          </a:solidFill>
          <a:uFillTx/>
          <a:latin typeface="+mn-lt"/>
          <a:ea typeface="+mn-ea"/>
          <a:cs typeface="+mn-cs"/>
          <a:sym typeface="Helvetica"/>
        </a:defRPr>
      </a:lvl9pPr>
    </p:titleStyle>
    <p:bodyStyle>
      <a:lvl1pPr marL="0" marR="0" indent="0" algn="l" defTabSz="912573" rtl="0" eaLnBrk="1" latinLnBrk="0" hangingPunct="1">
        <a:lnSpc>
          <a:spcPct val="100000"/>
        </a:lnSpc>
        <a:spcBef>
          <a:spcPts val="698"/>
        </a:spcBef>
        <a:spcAft>
          <a:spcPts val="0"/>
        </a:spcAft>
        <a:buClrTx/>
        <a:buSzTx/>
        <a:buFont typeface="Arial" charset="0"/>
        <a:buNone/>
        <a:tabLst/>
        <a:defRPr sz="1996" b="0" i="0" u="none" strike="noStrike" cap="none" spc="0" baseline="0">
          <a:ln>
            <a:noFill/>
          </a:ln>
          <a:solidFill>
            <a:schemeClr val="tx1"/>
          </a:solidFill>
          <a:uFillTx/>
          <a:latin typeface="Calibri" panose="020F0502020204030204" pitchFamily="34" charset="0"/>
          <a:ea typeface="Calibri" panose="020F0502020204030204" pitchFamily="34" charset="0"/>
          <a:cs typeface="Calibri" panose="020F0502020204030204" pitchFamily="34" charset="0"/>
          <a:sym typeface="Helvetica"/>
        </a:defRPr>
      </a:lvl1pPr>
      <a:lvl2pPr marL="456286" marR="0" indent="-273772" algn="l" defTabSz="912573" rtl="0" eaLnBrk="1" latinLnBrk="0" hangingPunct="1">
        <a:lnSpc>
          <a:spcPct val="100000"/>
        </a:lnSpc>
        <a:spcBef>
          <a:spcPts val="698"/>
        </a:spcBef>
        <a:spcAft>
          <a:spcPts val="0"/>
        </a:spcAft>
        <a:buClrTx/>
        <a:buSzPct val="100000"/>
        <a:buFont typeface="Arial" charset="0"/>
        <a:buChar char="•"/>
        <a:tabLst/>
        <a:defRPr sz="1996" b="0" i="0" u="none" strike="noStrike" cap="none" spc="0" baseline="0">
          <a:ln>
            <a:noFill/>
          </a:ln>
          <a:solidFill>
            <a:schemeClr val="tx1"/>
          </a:solidFill>
          <a:uFillTx/>
          <a:latin typeface="Calibri" panose="020F0502020204030204" pitchFamily="34" charset="0"/>
          <a:ea typeface="Calibri" panose="020F0502020204030204" pitchFamily="34" charset="0"/>
          <a:cs typeface="Calibri" panose="020F0502020204030204" pitchFamily="34" charset="0"/>
          <a:sym typeface="Helvetica"/>
        </a:defRPr>
      </a:lvl2pPr>
      <a:lvl3pPr marL="912573" marR="0" indent="-273772" algn="l" defTabSz="912573" rtl="0" eaLnBrk="1" latinLnBrk="0" hangingPunct="1">
        <a:lnSpc>
          <a:spcPct val="100000"/>
        </a:lnSpc>
        <a:spcBef>
          <a:spcPts val="698"/>
        </a:spcBef>
        <a:spcAft>
          <a:spcPts val="0"/>
        </a:spcAft>
        <a:buClrTx/>
        <a:buSzPct val="100000"/>
        <a:buFont typeface="Arial" charset="0"/>
        <a:buChar char="•"/>
        <a:tabLst/>
        <a:defRPr sz="1996" b="0" i="0" u="none" strike="noStrike" cap="none" spc="0" baseline="0">
          <a:ln>
            <a:noFill/>
          </a:ln>
          <a:solidFill>
            <a:schemeClr val="tx1"/>
          </a:solidFill>
          <a:uFillTx/>
          <a:latin typeface="Calibri" panose="020F0502020204030204" pitchFamily="34" charset="0"/>
          <a:ea typeface="Calibri" panose="020F0502020204030204" pitchFamily="34" charset="0"/>
          <a:cs typeface="Calibri" panose="020F0502020204030204" pitchFamily="34" charset="0"/>
          <a:sym typeface="Helvetica"/>
        </a:defRPr>
      </a:lvl3pPr>
      <a:lvl4pPr marL="1368858" marR="0" indent="-273772" algn="l" defTabSz="912573" rtl="0" eaLnBrk="1" latinLnBrk="0" hangingPunct="1">
        <a:lnSpc>
          <a:spcPct val="100000"/>
        </a:lnSpc>
        <a:spcBef>
          <a:spcPts val="698"/>
        </a:spcBef>
        <a:spcAft>
          <a:spcPts val="0"/>
        </a:spcAft>
        <a:buClrTx/>
        <a:buSzPct val="100000"/>
        <a:buFont typeface="Arial" charset="0"/>
        <a:buChar char="•"/>
        <a:tabLst/>
        <a:defRPr sz="1996" b="0" i="0" u="none" strike="noStrike" cap="none" spc="0" baseline="0">
          <a:ln>
            <a:noFill/>
          </a:ln>
          <a:solidFill>
            <a:schemeClr val="tx1"/>
          </a:solidFill>
          <a:uFillTx/>
          <a:latin typeface="Calibri" panose="020F0502020204030204" pitchFamily="34" charset="0"/>
          <a:ea typeface="Calibri" panose="020F0502020204030204" pitchFamily="34" charset="0"/>
          <a:cs typeface="Calibri" panose="020F0502020204030204" pitchFamily="34" charset="0"/>
          <a:sym typeface="Helvetica"/>
        </a:defRPr>
      </a:lvl4pPr>
      <a:lvl5pPr marL="1825144" marR="0" indent="-273772" algn="l" defTabSz="912573" rtl="0" eaLnBrk="1" latinLnBrk="0" hangingPunct="1">
        <a:lnSpc>
          <a:spcPct val="100000"/>
        </a:lnSpc>
        <a:spcBef>
          <a:spcPts val="698"/>
        </a:spcBef>
        <a:spcAft>
          <a:spcPts val="0"/>
        </a:spcAft>
        <a:buClrTx/>
        <a:buSzPct val="100000"/>
        <a:buFont typeface="Arial" charset="0"/>
        <a:buChar char="•"/>
        <a:tabLst/>
        <a:defRPr sz="1996" b="0" i="0" u="none" strike="noStrike" cap="none" spc="0" baseline="0">
          <a:ln>
            <a:noFill/>
          </a:ln>
          <a:solidFill>
            <a:schemeClr val="tx1"/>
          </a:solidFill>
          <a:uFillTx/>
          <a:latin typeface="Calibri" panose="020F0502020204030204" pitchFamily="34" charset="0"/>
          <a:ea typeface="Calibri" panose="020F0502020204030204" pitchFamily="34" charset="0"/>
          <a:cs typeface="Calibri" panose="020F0502020204030204" pitchFamily="34" charset="0"/>
          <a:sym typeface="Helvetica"/>
        </a:defRPr>
      </a:lvl5pPr>
      <a:lvl6pPr marL="2646459" marR="0" indent="-365029" algn="l" defTabSz="912573" rtl="0" eaLnBrk="1" latinLnBrk="0" hangingPunct="1">
        <a:lnSpc>
          <a:spcPct val="100000"/>
        </a:lnSpc>
        <a:spcBef>
          <a:spcPts val="698"/>
        </a:spcBef>
        <a:spcAft>
          <a:spcPts val="0"/>
        </a:spcAft>
        <a:buClrTx/>
        <a:buSzPct val="100000"/>
        <a:buFontTx/>
        <a:buChar char="•"/>
        <a:tabLst/>
        <a:defRPr sz="3194" b="0" i="0" u="none" strike="noStrike" cap="none" spc="0" baseline="0">
          <a:ln>
            <a:noFill/>
          </a:ln>
          <a:solidFill>
            <a:srgbClr val="072941"/>
          </a:solidFill>
          <a:uFillTx/>
          <a:latin typeface="+mn-lt"/>
          <a:ea typeface="+mn-ea"/>
          <a:cs typeface="+mn-cs"/>
          <a:sym typeface="Helvetica"/>
        </a:defRPr>
      </a:lvl6pPr>
      <a:lvl7pPr marL="3102745" marR="0" indent="-365029" algn="l" defTabSz="912573" rtl="0" eaLnBrk="1" latinLnBrk="0" hangingPunct="1">
        <a:lnSpc>
          <a:spcPct val="100000"/>
        </a:lnSpc>
        <a:spcBef>
          <a:spcPts val="698"/>
        </a:spcBef>
        <a:spcAft>
          <a:spcPts val="0"/>
        </a:spcAft>
        <a:buClrTx/>
        <a:buSzPct val="100000"/>
        <a:buFontTx/>
        <a:buChar char="•"/>
        <a:tabLst/>
        <a:defRPr sz="3194" b="0" i="0" u="none" strike="noStrike" cap="none" spc="0" baseline="0">
          <a:ln>
            <a:noFill/>
          </a:ln>
          <a:solidFill>
            <a:srgbClr val="072941"/>
          </a:solidFill>
          <a:uFillTx/>
          <a:latin typeface="+mn-lt"/>
          <a:ea typeface="+mn-ea"/>
          <a:cs typeface="+mn-cs"/>
          <a:sym typeface="Helvetica"/>
        </a:defRPr>
      </a:lvl7pPr>
      <a:lvl8pPr marL="3559030" marR="0" indent="-365028" algn="l" defTabSz="912573" rtl="0" eaLnBrk="1" latinLnBrk="0" hangingPunct="1">
        <a:lnSpc>
          <a:spcPct val="100000"/>
        </a:lnSpc>
        <a:spcBef>
          <a:spcPts val="698"/>
        </a:spcBef>
        <a:spcAft>
          <a:spcPts val="0"/>
        </a:spcAft>
        <a:buClrTx/>
        <a:buSzPct val="100000"/>
        <a:buFontTx/>
        <a:buChar char="•"/>
        <a:tabLst/>
        <a:defRPr sz="3194" b="0" i="0" u="none" strike="noStrike" cap="none" spc="0" baseline="0">
          <a:ln>
            <a:noFill/>
          </a:ln>
          <a:solidFill>
            <a:srgbClr val="072941"/>
          </a:solidFill>
          <a:uFillTx/>
          <a:latin typeface="+mn-lt"/>
          <a:ea typeface="+mn-ea"/>
          <a:cs typeface="+mn-cs"/>
          <a:sym typeface="Helvetica"/>
        </a:defRPr>
      </a:lvl8pPr>
      <a:lvl9pPr marL="4015317" marR="0" indent="-365028" algn="l" defTabSz="912573" rtl="0" eaLnBrk="1" latinLnBrk="0" hangingPunct="1">
        <a:lnSpc>
          <a:spcPct val="100000"/>
        </a:lnSpc>
        <a:spcBef>
          <a:spcPts val="698"/>
        </a:spcBef>
        <a:spcAft>
          <a:spcPts val="0"/>
        </a:spcAft>
        <a:buClrTx/>
        <a:buSzPct val="100000"/>
        <a:buFontTx/>
        <a:buChar char="•"/>
        <a:tabLst/>
        <a:defRPr sz="3194" b="0" i="0" u="none" strike="noStrike" cap="none" spc="0" baseline="0">
          <a:ln>
            <a:noFill/>
          </a:ln>
          <a:solidFill>
            <a:srgbClr val="072941"/>
          </a:solidFill>
          <a:uFillTx/>
          <a:latin typeface="+mn-lt"/>
          <a:ea typeface="+mn-ea"/>
          <a:cs typeface="+mn-cs"/>
          <a:sym typeface="Helvetica"/>
        </a:defRPr>
      </a:lvl9pPr>
    </p:bodyStyle>
    <p:otherStyle>
      <a:lvl1pPr marL="0" marR="0" indent="0"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1pPr>
      <a:lvl2pPr marL="0" marR="0" indent="456286"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2pPr>
      <a:lvl3pPr marL="0" marR="0" indent="912573"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3pPr>
      <a:lvl4pPr marL="0" marR="0" indent="1368858"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4pPr>
      <a:lvl5pPr marL="0" marR="0" indent="1825144"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5pPr>
      <a:lvl6pPr marL="0" marR="0" indent="2281430"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6pPr>
      <a:lvl7pPr marL="0" marR="0" indent="2737717"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7pPr>
      <a:lvl8pPr marL="0" marR="0" indent="3194003"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8pPr>
      <a:lvl9pPr marL="0" marR="0" indent="3650288" algn="ctr" defTabSz="912573" rtl="0" eaLnBrk="1" latinLnBrk="0" hangingPunct="1">
        <a:lnSpc>
          <a:spcPct val="100000"/>
        </a:lnSpc>
        <a:spcBef>
          <a:spcPts val="0"/>
        </a:spcBef>
        <a:spcAft>
          <a:spcPts val="0"/>
        </a:spcAft>
        <a:buClrTx/>
        <a:buSzTx/>
        <a:buFontTx/>
        <a:buNone/>
        <a:tabLst/>
        <a:defRPr sz="1398" b="0" i="0" u="none" strike="noStrike" cap="none" spc="0" baseline="0">
          <a:ln>
            <a:noFill/>
          </a:ln>
          <a:solidFill>
            <a:schemeClr val="tx1"/>
          </a:solidFill>
          <a:uFillTx/>
          <a:latin typeface="+mn-lt"/>
          <a:ea typeface="+mn-ea"/>
          <a:cs typeface="+mn-cs"/>
          <a:sym typeface="Helvetica"/>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B6622AE-15AB-3693-1E20-3C4DCF1A34D2}"/>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
        <p:nvSpPr>
          <p:cNvPr id="2" name="Footer Placeholder 3">
            <a:extLst>
              <a:ext uri="{FF2B5EF4-FFF2-40B4-BE49-F238E27FC236}">
                <a16:creationId xmlns:a16="http://schemas.microsoft.com/office/drawing/2014/main" id="{451FBB87-35F4-307D-73BC-BC1F29C1C60A}"/>
              </a:ext>
            </a:extLst>
          </p:cNvPr>
          <p:cNvSpPr>
            <a:spLocks noGrp="1"/>
          </p:cNvSpPr>
          <p:nvPr>
            <p:ph type="ftr" sz="quarter" idx="3"/>
          </p:nvPr>
        </p:nvSpPr>
        <p:spPr>
          <a:xfrm>
            <a:off x="7381875" y="6487240"/>
            <a:ext cx="4248150" cy="246221"/>
          </a:xfrm>
          <a:prstGeom prst="rect">
            <a:avLst/>
          </a:prstGeom>
        </p:spPr>
        <p:txBody>
          <a:bodyPr/>
          <a:lstStyle>
            <a:lvl1pPr algn="ctr">
              <a:defRPr sz="900">
                <a:latin typeface="Calibri" panose="020F0502020204030204" pitchFamily="34" charset="0"/>
                <a:ea typeface="Calibri" panose="020F0502020204030204" pitchFamily="34" charset="0"/>
                <a:cs typeface="Calibri" panose="020F0502020204030204" pitchFamily="34" charset="0"/>
              </a:defRPr>
            </a:lvl1pPr>
          </a:lstStyle>
          <a:p>
            <a:pPr hangingPunct="1">
              <a:defRPr/>
            </a:pPr>
            <a:endParaRPr lang="en-US" kern="1200">
              <a:solidFill>
                <a:srgbClr val="04153D"/>
              </a:solidFill>
            </a:endParaRPr>
          </a:p>
        </p:txBody>
      </p:sp>
      <p:pic>
        <p:nvPicPr>
          <p:cNvPr id="3" name="Picture 2" descr="A blue text on a black background&#10;&#10;AI-generated content may be incorrect.">
            <a:extLst>
              <a:ext uri="{FF2B5EF4-FFF2-40B4-BE49-F238E27FC236}">
                <a16:creationId xmlns:a16="http://schemas.microsoft.com/office/drawing/2014/main" id="{A1FFFA46-A092-173C-15EB-E829F3D653D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61975" y="6441507"/>
            <a:ext cx="1073150" cy="319045"/>
          </a:xfrm>
          <a:prstGeom prst="rect">
            <a:avLst/>
          </a:prstGeom>
        </p:spPr>
      </p:pic>
      <p:sp>
        <p:nvSpPr>
          <p:cNvPr id="4" name="Slide Number Placeholder 4">
            <a:extLst>
              <a:ext uri="{FF2B5EF4-FFF2-40B4-BE49-F238E27FC236}">
                <a16:creationId xmlns:a16="http://schemas.microsoft.com/office/drawing/2014/main" id="{13FE06A3-E275-89B9-7396-979DAB8C458F}"/>
              </a:ext>
            </a:extLst>
          </p:cNvPr>
          <p:cNvSpPr>
            <a:spLocks noGrp="1"/>
          </p:cNvSpPr>
          <p:nvPr>
            <p:ph type="sldNum" sz="quarter" idx="4"/>
          </p:nvPr>
        </p:nvSpPr>
        <p:spPr>
          <a:xfrm>
            <a:off x="11735240" y="6487240"/>
            <a:ext cx="437271" cy="246221"/>
          </a:xfrm>
          <a:prstGeom prst="rect">
            <a:avLst/>
          </a:prstGeom>
        </p:spPr>
        <p:txBody>
          <a:bodyPr anchor="ctr">
            <a:spAutoFit/>
          </a:bodyPr>
          <a:lstStyle>
            <a:lvl1pPr algn="ctr">
              <a:defRPr sz="100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fld id="{02D52048-A6CF-4AE3-B50C-6065BBDD86DF}" type="slidenum">
              <a:rPr lang="en-ID" smtClean="0"/>
              <a:pPr/>
              <a:t>‹#›</a:t>
            </a:fld>
            <a:endParaRPr lang="en-ID"/>
          </a:p>
        </p:txBody>
      </p:sp>
    </p:spTree>
    <p:extLst>
      <p:ext uri="{BB962C8B-B14F-4D97-AF65-F5344CB8AC3E}">
        <p14:creationId xmlns:p14="http://schemas.microsoft.com/office/powerpoint/2010/main" val="625676737"/>
      </p:ext>
    </p:extLst>
  </p:cSld>
  <p:clrMap bg1="lt1" tx1="dk1" bg2="lt2" tx2="dk2" accent1="accent1" accent2="accent2" accent3="accent3" accent4="accent4" accent5="accent5" accent6="accent6" hlink="hlink" folHlink="folHlink"/>
  <p:sldLayoutIdLst>
    <p:sldLayoutId id="214748562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443783"/>
      </p:ext>
    </p:extLst>
  </p:cSld>
  <p:clrMap bg1="lt1" tx1="dk1" bg2="lt2" tx2="dk2" accent1="accent1" accent2="accent2" accent3="accent3" accent4="accent4" accent5="accent5" accent6="accent6" hlink="hlink" folHlink="folHlink"/>
  <p:sldLayoutIdLst>
    <p:sldLayoutId id="214748563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9.xml"/><Relationship Id="rId4" Type="http://schemas.openxmlformats.org/officeDocument/2006/relationships/image" Target="../media/image14.emf"/></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21.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7.xml"/><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21.xml"/></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0.xml"/><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21.xml"/></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2.xml"/><Relationship Id="rId1" Type="http://schemas.openxmlformats.org/officeDocument/2006/relationships/slideLayout" Target="../slideLayouts/slideLayout21.xml"/></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3.xml"/><Relationship Id="rId1" Type="http://schemas.openxmlformats.org/officeDocument/2006/relationships/slideLayout" Target="../slideLayouts/slideLayout21.xml"/></Relationships>
</file>

<file path=ppt/slides/_rels/slide6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4.xml"/><Relationship Id="rId1" Type="http://schemas.openxmlformats.org/officeDocument/2006/relationships/slideLayout" Target="../slideLayouts/slideLayout21.xml"/></Relationships>
</file>

<file path=ppt/slides/_rels/slide6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5.xml"/><Relationship Id="rId1" Type="http://schemas.openxmlformats.org/officeDocument/2006/relationships/slideLayout" Target="../slideLayouts/slideLayout21.xml"/></Relationships>
</file>

<file path=ppt/slides/_rels/slide6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6.xml"/><Relationship Id="rId1" Type="http://schemas.openxmlformats.org/officeDocument/2006/relationships/slideLayout" Target="../slideLayouts/slideLayout21.xml"/></Relationships>
</file>

<file path=ppt/slides/_rels/slide6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7.xml"/><Relationship Id="rId1" Type="http://schemas.openxmlformats.org/officeDocument/2006/relationships/slideLayout" Target="../slideLayouts/slideLayout21.xml"/></Relationships>
</file>

<file path=ppt/slides/_rels/slide6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8.xml"/><Relationship Id="rId1" Type="http://schemas.openxmlformats.org/officeDocument/2006/relationships/slideLayout" Target="../slideLayouts/slideLayout21.xml"/></Relationships>
</file>

<file path=ppt/slides/_rels/slide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9.xml"/><Relationship Id="rId1" Type="http://schemas.openxmlformats.org/officeDocument/2006/relationships/slideLayout" Target="../slideLayouts/slideLayout21.xml"/></Relationships>
</file>

<file path=ppt/slides/_rels/slide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0.xml"/><Relationship Id="rId1" Type="http://schemas.openxmlformats.org/officeDocument/2006/relationships/slideLayout" Target="../slideLayouts/slideLayout21.xml"/></Relationships>
</file>

<file path=ppt/slides/_rels/slide7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21.xml"/></Relationships>
</file>

<file path=ppt/slides/_rels/slide7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2.xml"/><Relationship Id="rId1" Type="http://schemas.openxmlformats.org/officeDocument/2006/relationships/slideLayout" Target="../slideLayouts/slideLayout21.xml"/></Relationships>
</file>

<file path=ppt/slides/_rels/slide7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3.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pPr>
              <a:defRPr sz="1800">
                <a:solidFill>
                  <a:srgbClr val="D6E4F0"/>
                </a:solidFill>
              </a:defRPr>
            </a:pPr>
            <a:r>
              <a:t>Salesforce  |  Data / EDW  |  Integration</a:t>
            </a:r>
          </a:p>
        </p:txBody>
      </p:sp>
      <p:sp>
        <p:nvSpPr>
          <p:cNvPr id="3" name="Text Placeholder 2"/>
          <p:cNvSpPr>
            <a:spLocks noGrp="1"/>
          </p:cNvSpPr>
          <p:nvPr>
            <p:ph type="body" sz="quarter" idx="10"/>
          </p:nvPr>
        </p:nvSpPr>
        <p:spPr/>
        <p:txBody>
          <a:bodyPr/>
          <a:lstStyle/>
          <a:p>
            <a:pPr>
              <a:defRPr sz="3600" b="1">
                <a:solidFill>
                  <a:srgbClr val="FFFFFF"/>
                </a:solidFill>
              </a:defRPr>
            </a:pPr>
            <a:r>
              <a:t>SFS SDLC AI Enhancement</a:t>
            </a:r>
          </a:p>
          <a:p>
            <a:pPr>
              <a:defRPr sz="3600" b="1">
                <a:solidFill>
                  <a:srgbClr val="FFFFFF"/>
                </a:solidFill>
              </a:defRPr>
            </a:pPr>
            <a:r>
              <a:t>Recommendations</a:t>
            </a:r>
          </a:p>
        </p:txBody>
      </p:sp>
      <p:sp>
        <p:nvSpPr>
          <p:cNvPr id="4" name="Text Placeholder 3"/>
          <p:cNvSpPr>
            <a:spLocks noGrp="1"/>
          </p:cNvSpPr>
          <p:nvPr>
            <p:ph type="body" sz="quarter" idx="12"/>
          </p:nvPr>
        </p:nvSpPr>
        <p:spPr/>
        <p:txBody>
          <a:bodyPr/>
          <a:lstStyle/>
          <a:p>
            <a:pPr>
              <a:defRPr sz="1200" i="1">
                <a:solidFill>
                  <a:srgbClr val="808080"/>
                </a:solidFill>
              </a:defRPr>
            </a:pPr>
            <a:r>
              <a:t>Prepared exclusively for Stellantis Financial Services US</a:t>
            </a:r>
          </a:p>
          <a:p>
            <a:pPr>
              <a:defRPr sz="1200" i="1">
                <a:solidFill>
                  <a:srgbClr val="808080"/>
                </a:solidFill>
              </a:defRPr>
            </a:pPr>
            <a:r>
              <a:t>February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0"/>
            <a:ext cx="91440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Contents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1097280" y="1280160"/>
            <a:ext cx="594360" cy="5029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1097280" y="128016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01</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1965960" y="1280160"/>
            <a:ext cx="7315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Framing and Overview</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1097280" y="1938528"/>
            <a:ext cx="8686800" cy="0"/>
          </a:xfrm>
          <a:prstGeom prst="line">
            <a:avLst/>
          </a:prstGeom>
          <a:noFill/>
          <a:ln w="9525">
            <a:solidFill>
              <a:srgbClr val="D9D9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097280" y="2057400"/>
            <a:ext cx="594360" cy="5029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1097280" y="205740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02</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965960" y="2057400"/>
            <a:ext cx="7315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Security and Cost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1097280" y="2715768"/>
            <a:ext cx="8686800" cy="0"/>
          </a:xfrm>
          <a:prstGeom prst="line">
            <a:avLst/>
          </a:prstGeom>
          <a:noFill/>
          <a:ln w="9525">
            <a:solidFill>
              <a:srgbClr val="D9D9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1097280" y="2834640"/>
            <a:ext cx="594360" cy="5029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1097280" y="283464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03</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965960" y="2834640"/>
            <a:ext cx="7315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Workflow Opportunities: Salesforce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1097280" y="3493008"/>
            <a:ext cx="8686800" cy="0"/>
          </a:xfrm>
          <a:prstGeom prst="line">
            <a:avLst/>
          </a:prstGeom>
          <a:noFill/>
          <a:ln w="9525">
            <a:solidFill>
              <a:srgbClr val="D9D9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1097280" y="3611880"/>
            <a:ext cx="594360" cy="5029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1097280" y="361188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04</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1965960" y="3611880"/>
            <a:ext cx="7315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Workflow Opportunities: Data / EDW</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1097280" y="4270248"/>
            <a:ext cx="8686800" cy="0"/>
          </a:xfrm>
          <a:prstGeom prst="line">
            <a:avLst/>
          </a:prstGeom>
          <a:noFill/>
          <a:ln w="9525">
            <a:solidFill>
              <a:srgbClr val="D9D9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1097280" y="4389120"/>
            <a:ext cx="594360" cy="5029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1097280" y="438912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05</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1965960" y="4389120"/>
            <a:ext cx="7315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Workflow Opportunities: Integration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1097280" y="5047488"/>
            <a:ext cx="8686800" cy="0"/>
          </a:xfrm>
          <a:prstGeom prst="line">
            <a:avLst/>
          </a:prstGeom>
          <a:noFill/>
          <a:ln w="9525">
            <a:solidFill>
              <a:srgbClr val="D9D9D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1097280" y="5166360"/>
            <a:ext cx="594360" cy="5029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1097280" y="516636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06</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1965960" y="5166360"/>
            <a:ext cx="7315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Appendix: Tooling, </a:t>
            </a:r>
            <a:r>
              <a:rPr kumimoji="0" lang="en-US" sz="2000" b="0" i="0" u="none" strike="noStrike" kern="1200" cap="none" spc="0" normalizeH="0" baseline="0" noProof="0" dirty="0" err="1">
                <a:ln>
                  <a:noFill/>
                </a:ln>
                <a:solidFill>
                  <a:srgbClr val="1F4E79"/>
                </a:solidFill>
                <a:effectLst/>
                <a:uLnTx/>
                <a:uFillTx/>
                <a:latin typeface="Calibri" pitchFamily="34" charset="0"/>
                <a:ea typeface="Calibri" pitchFamily="34" charset="-122"/>
                <a:cs typeface="Calibri" pitchFamily="34" charset="-120"/>
              </a:rPr>
              <a:t>etc</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457200" y="6400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11247120" y="6400800"/>
            <a:ext cx="4572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 name="Image 0" descr="/home/claude/eis_logo.png"/>
          <p:cNvPicPr>
            <a:picLocks noChangeAspect="1"/>
          </p:cNvPicPr>
          <p:nvPr/>
        </p:nvPicPr>
        <p:blipFill>
          <a:blip r:embed="rId3"/>
          <a:stretch>
            <a:fillRect/>
          </a:stretch>
        </p:blipFill>
        <p:spPr>
          <a:xfrm>
            <a:off x="10883854" y="6400800"/>
            <a:ext cx="1076498" cy="320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endParaRPr lang="en-US"/>
          </a:p>
        </p:txBody>
      </p:sp>
      <p:sp>
        <p:nvSpPr>
          <p:cNvPr id="3" name="Text 1"/>
          <p:cNvSpPr/>
          <p:nvPr/>
        </p:nvSpPr>
        <p:spPr>
          <a:xfrm>
            <a:off x="457200" y="45720"/>
            <a:ext cx="11274552"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Executive Context</a:t>
            </a:r>
            <a:endParaRPr lang="en-US" sz="2200" dirty="0"/>
          </a:p>
        </p:txBody>
      </p:sp>
      <p:sp>
        <p:nvSpPr>
          <p:cNvPr id="4" name="Text 2"/>
          <p:cNvSpPr/>
          <p:nvPr/>
        </p:nvSpPr>
        <p:spPr>
          <a:xfrm>
            <a:off x="433951" y="3276725"/>
            <a:ext cx="6741763" cy="320040"/>
          </a:xfrm>
          <a:prstGeom prst="rect">
            <a:avLst/>
          </a:prstGeom>
          <a:noFill/>
          <a:ln/>
        </p:spPr>
        <p:txBody>
          <a:bodyPr wrap="square" lIns="0" tIns="0" rIns="0" bIns="0" rtlCol="0" anchor="ctr"/>
          <a:lstStyle/>
          <a:p>
            <a:pPr marL="0" indent="0">
              <a:buNone/>
            </a:pPr>
            <a:r>
              <a:rPr lang="en-US" sz="2400" b="1" dirty="0">
                <a:solidFill>
                  <a:srgbClr val="1F4E79"/>
                </a:solidFill>
                <a:latin typeface="Calibri" pitchFamily="34" charset="0"/>
                <a:ea typeface="Calibri" pitchFamily="34" charset="-122"/>
                <a:cs typeface="Calibri" pitchFamily="34" charset="-120"/>
              </a:rPr>
              <a:t>What We Did</a:t>
            </a:r>
            <a:endParaRPr lang="en-US" sz="2400" dirty="0"/>
          </a:p>
        </p:txBody>
      </p:sp>
      <p:sp>
        <p:nvSpPr>
          <p:cNvPr id="5" name="Text 3"/>
          <p:cNvSpPr/>
          <p:nvPr/>
        </p:nvSpPr>
        <p:spPr>
          <a:xfrm>
            <a:off x="433951" y="3642485"/>
            <a:ext cx="6741763" cy="1280160"/>
          </a:xfrm>
          <a:prstGeom prst="rect">
            <a:avLst/>
          </a:prstGeom>
          <a:noFill/>
          <a:ln/>
        </p:spPr>
        <p:txBody>
          <a:bodyPr wrap="square" lIns="0" tIns="0" rIns="0" bIns="0" rtlCol="0" anchor="t"/>
          <a:lstStyle/>
          <a:p>
            <a:pPr marL="171450" indent="-171450">
              <a:spcAft>
                <a:spcPts val="1200"/>
              </a:spcAft>
              <a:buFont typeface="Arial" panose="020B0604020202020204" pitchFamily="34" charset="0"/>
              <a:buChar char="•"/>
            </a:pPr>
            <a:r>
              <a:rPr lang="en-US" sz="1600" dirty="0">
                <a:solidFill>
                  <a:srgbClr val="333333"/>
                </a:solidFill>
                <a:latin typeface="Calibri" pitchFamily="34" charset="0"/>
                <a:ea typeface="Calibri" pitchFamily="34" charset="-122"/>
                <a:cs typeface="Calibri" pitchFamily="34" charset="-120"/>
              </a:rPr>
              <a:t>Conducted structured interviews with </a:t>
            </a:r>
            <a:r>
              <a:rPr lang="en-US" sz="1600" b="1" dirty="0">
                <a:solidFill>
                  <a:srgbClr val="333333"/>
                </a:solidFill>
                <a:latin typeface="Calibri" pitchFamily="34" charset="0"/>
                <a:ea typeface="Calibri" pitchFamily="34" charset="-122"/>
                <a:cs typeface="Calibri" pitchFamily="34" charset="-120"/>
              </a:rPr>
              <a:t>SFS technical leaders </a:t>
            </a:r>
            <a:r>
              <a:rPr lang="en-US" sz="1600" dirty="0">
                <a:solidFill>
                  <a:srgbClr val="333333"/>
                </a:solidFill>
                <a:latin typeface="Calibri" pitchFamily="34" charset="0"/>
                <a:ea typeface="Calibri" pitchFamily="34" charset="-122"/>
                <a:cs typeface="Calibri" pitchFamily="34" charset="-120"/>
              </a:rPr>
              <a:t>across three development workflows</a:t>
            </a:r>
          </a:p>
          <a:p>
            <a:pPr marL="171450" indent="-171450">
              <a:spcAft>
                <a:spcPts val="1200"/>
              </a:spcAft>
              <a:buFont typeface="Arial" panose="020B0604020202020204" pitchFamily="34" charset="0"/>
              <a:buChar char="•"/>
            </a:pPr>
            <a:r>
              <a:rPr lang="en-US" sz="1600" dirty="0">
                <a:solidFill>
                  <a:srgbClr val="333333"/>
                </a:solidFill>
                <a:latin typeface="Calibri" pitchFamily="34" charset="0"/>
                <a:ea typeface="Calibri" pitchFamily="34" charset="-122"/>
                <a:cs typeface="Calibri" pitchFamily="34" charset="-120"/>
              </a:rPr>
              <a:t>Mapped each team's SDLC end-to-end, identified pain points and bottlenecks, and </a:t>
            </a:r>
            <a:r>
              <a:rPr lang="en-US" sz="1600" b="1" dirty="0">
                <a:solidFill>
                  <a:srgbClr val="333333"/>
                </a:solidFill>
                <a:latin typeface="Calibri" pitchFamily="34" charset="0"/>
                <a:ea typeface="Calibri" pitchFamily="34" charset="-122"/>
                <a:cs typeface="Calibri" pitchFamily="34" charset="-120"/>
              </a:rPr>
              <a:t>assessed where AI tools can deliver measurable improvement</a:t>
            </a:r>
            <a:r>
              <a:rPr lang="en-US" sz="1600" dirty="0">
                <a:solidFill>
                  <a:srgbClr val="333333"/>
                </a:solidFill>
                <a:latin typeface="Calibri" pitchFamily="34" charset="0"/>
                <a:ea typeface="Calibri" pitchFamily="34" charset="-122"/>
                <a:cs typeface="Calibri" pitchFamily="34" charset="-120"/>
              </a:rPr>
              <a:t>. </a:t>
            </a:r>
          </a:p>
          <a:p>
            <a:pPr marL="171450" indent="-171450">
              <a:spcAft>
                <a:spcPts val="1200"/>
              </a:spcAft>
              <a:buFont typeface="Arial" panose="020B0604020202020204" pitchFamily="34" charset="0"/>
              <a:buChar char="•"/>
            </a:pPr>
            <a:r>
              <a:rPr lang="en-US" sz="1600" dirty="0">
                <a:solidFill>
                  <a:srgbClr val="333333"/>
                </a:solidFill>
                <a:latin typeface="Calibri" pitchFamily="34" charset="0"/>
                <a:ea typeface="Calibri" pitchFamily="34" charset="-122"/>
                <a:cs typeface="Calibri" pitchFamily="34" charset="-120"/>
              </a:rPr>
              <a:t>Recommendations reflect EIS’ </a:t>
            </a:r>
            <a:r>
              <a:rPr lang="en-US" sz="1600" b="1" dirty="0">
                <a:solidFill>
                  <a:srgbClr val="333333"/>
                </a:solidFill>
                <a:latin typeface="Calibri" pitchFamily="34" charset="0"/>
                <a:ea typeface="Calibri" pitchFamily="34" charset="-122"/>
                <a:cs typeface="Calibri" pitchFamily="34" charset="-120"/>
              </a:rPr>
              <a:t>current understanding</a:t>
            </a:r>
            <a:r>
              <a:rPr lang="en-US" sz="1600" dirty="0">
                <a:solidFill>
                  <a:srgbClr val="333333"/>
                </a:solidFill>
                <a:latin typeface="Calibri" pitchFamily="34" charset="0"/>
                <a:ea typeface="Calibri" pitchFamily="34" charset="-122"/>
                <a:cs typeface="Calibri" pitchFamily="34" charset="-120"/>
              </a:rPr>
              <a:t> of SFS tools, processes and priorities, coupled with </a:t>
            </a:r>
            <a:r>
              <a:rPr lang="en-US" sz="1600" b="1" dirty="0">
                <a:solidFill>
                  <a:srgbClr val="333333"/>
                </a:solidFill>
                <a:latin typeface="Calibri" pitchFamily="34" charset="0"/>
                <a:ea typeface="Calibri" pitchFamily="34" charset="-122"/>
                <a:cs typeface="Calibri" pitchFamily="34" charset="-120"/>
              </a:rPr>
              <a:t>independent research and experience</a:t>
            </a:r>
            <a:r>
              <a:rPr lang="en-US" sz="1600" dirty="0">
                <a:solidFill>
                  <a:srgbClr val="333333"/>
                </a:solidFill>
                <a:latin typeface="Calibri" pitchFamily="34" charset="0"/>
                <a:ea typeface="Calibri" pitchFamily="34" charset="-122"/>
                <a:cs typeface="Calibri" pitchFamily="34" charset="-120"/>
              </a:rPr>
              <a:t>, and validated against against current AI coding benchmarks.</a:t>
            </a:r>
            <a:endParaRPr lang="en-US" sz="1600" dirty="0"/>
          </a:p>
        </p:txBody>
      </p:sp>
      <p:sp>
        <p:nvSpPr>
          <p:cNvPr id="11" name="Shape 9"/>
          <p:cNvSpPr/>
          <p:nvPr/>
        </p:nvSpPr>
        <p:spPr>
          <a:xfrm>
            <a:off x="457200" y="6355080"/>
            <a:ext cx="11274552" cy="0"/>
          </a:xfrm>
          <a:prstGeom prst="line">
            <a:avLst/>
          </a:prstGeom>
          <a:noFill/>
          <a:ln w="6350">
            <a:solidFill>
              <a:srgbClr val="BFBFBF"/>
            </a:solidFill>
            <a:prstDash val="solid"/>
          </a:ln>
        </p:spPr>
        <p:txBody>
          <a:bodyPr/>
          <a:lstStyle/>
          <a:p>
            <a:endParaRPr lang="en-US"/>
          </a:p>
        </p:txBody>
      </p:sp>
      <p:pic>
        <p:nvPicPr>
          <p:cNvPr id="12"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13" name="Text 10"/>
          <p:cNvSpPr/>
          <p:nvPr/>
        </p:nvSpPr>
        <p:spPr>
          <a:xfrm>
            <a:off x="5180076" y="6419088"/>
            <a:ext cx="1828800" cy="320040"/>
          </a:xfrm>
          <a:prstGeom prst="rect">
            <a:avLst/>
          </a:prstGeom>
          <a:noFill/>
          <a:ln/>
        </p:spPr>
        <p:txBody>
          <a:bodyPr wrap="square" rtlCol="0" anchor="ctr"/>
          <a:lstStyle/>
          <a:p>
            <a:pPr marL="0" indent="0" algn="ctr">
              <a:buNone/>
            </a:pPr>
            <a:r>
              <a:rPr lang="en-US" sz="800" dirty="0">
                <a:solidFill>
                  <a:srgbClr val="808080"/>
                </a:solidFill>
                <a:latin typeface="Calibri" pitchFamily="34" charset="0"/>
                <a:ea typeface="Calibri" pitchFamily="34" charset="-122"/>
                <a:cs typeface="Calibri" pitchFamily="34" charset="-120"/>
              </a:rPr>
              <a:t>CONFIDENTIAL</a:t>
            </a:r>
            <a:endParaRPr lang="en-US" sz="800" dirty="0"/>
          </a:p>
        </p:txBody>
      </p:sp>
      <p:sp>
        <p:nvSpPr>
          <p:cNvPr id="14" name="Text 11"/>
          <p:cNvSpPr/>
          <p:nvPr/>
        </p:nvSpPr>
        <p:spPr>
          <a:xfrm>
            <a:off x="11274552" y="6419088"/>
            <a:ext cx="457200" cy="320040"/>
          </a:xfrm>
          <a:prstGeom prst="rect">
            <a:avLst/>
          </a:prstGeom>
          <a:noFill/>
          <a:ln/>
        </p:spPr>
        <p:txBody>
          <a:bodyPr wrap="square" rtlCol="0" anchor="ctr"/>
          <a:lstStyle/>
          <a:p>
            <a:pPr marL="0" indent="0" algn="r">
              <a:buNone/>
            </a:pPr>
            <a:r>
              <a:rPr lang="en-US" sz="800" dirty="0">
                <a:solidFill>
                  <a:srgbClr val="808080"/>
                </a:solidFill>
                <a:latin typeface="Calibri" pitchFamily="34" charset="0"/>
                <a:ea typeface="Calibri" pitchFamily="34" charset="-122"/>
                <a:cs typeface="Calibri" pitchFamily="34" charset="-120"/>
              </a:rPr>
              <a:t>2</a:t>
            </a:r>
            <a:endParaRPr lang="en-US" sz="800" dirty="0"/>
          </a:p>
        </p:txBody>
      </p:sp>
      <p:sp>
        <p:nvSpPr>
          <p:cNvPr id="15" name="Text 2">
            <a:extLst>
              <a:ext uri="{FF2B5EF4-FFF2-40B4-BE49-F238E27FC236}">
                <a16:creationId xmlns:a16="http://schemas.microsoft.com/office/drawing/2014/main" id="{B99406A6-D943-000F-3B9D-6D0880456A74}"/>
              </a:ext>
            </a:extLst>
          </p:cNvPr>
          <p:cNvSpPr/>
          <p:nvPr/>
        </p:nvSpPr>
        <p:spPr>
          <a:xfrm>
            <a:off x="433951" y="929891"/>
            <a:ext cx="6741763" cy="320040"/>
          </a:xfrm>
          <a:prstGeom prst="rect">
            <a:avLst/>
          </a:prstGeom>
          <a:noFill/>
          <a:ln/>
        </p:spPr>
        <p:txBody>
          <a:bodyPr wrap="square" lIns="0" tIns="0" rIns="0" bIns="0" rtlCol="0" anchor="ctr"/>
          <a:lstStyle/>
          <a:p>
            <a:pPr marL="0" indent="0">
              <a:buNone/>
            </a:pPr>
            <a:r>
              <a:rPr lang="en-US" sz="2400" b="1" dirty="0">
                <a:solidFill>
                  <a:srgbClr val="1F4E79"/>
                </a:solidFill>
                <a:latin typeface="Calibri" pitchFamily="34" charset="0"/>
                <a:ea typeface="Calibri" pitchFamily="34" charset="-122"/>
                <a:cs typeface="Calibri" pitchFamily="34" charset="-120"/>
              </a:rPr>
              <a:t>The Ask</a:t>
            </a:r>
            <a:endParaRPr lang="en-US" sz="2400" dirty="0"/>
          </a:p>
        </p:txBody>
      </p:sp>
      <p:sp>
        <p:nvSpPr>
          <p:cNvPr id="16" name="Text 3">
            <a:extLst>
              <a:ext uri="{FF2B5EF4-FFF2-40B4-BE49-F238E27FC236}">
                <a16:creationId xmlns:a16="http://schemas.microsoft.com/office/drawing/2014/main" id="{98183E03-F583-1024-DFD3-827AF82427C9}"/>
              </a:ext>
            </a:extLst>
          </p:cNvPr>
          <p:cNvSpPr/>
          <p:nvPr/>
        </p:nvSpPr>
        <p:spPr>
          <a:xfrm>
            <a:off x="433951" y="1295650"/>
            <a:ext cx="6881249" cy="1711017"/>
          </a:xfrm>
          <a:prstGeom prst="rect">
            <a:avLst/>
          </a:prstGeom>
          <a:noFill/>
          <a:ln/>
        </p:spPr>
        <p:txBody>
          <a:bodyPr wrap="square" lIns="0" tIns="0" rIns="0" bIns="0" rtlCol="0" anchor="t"/>
          <a:lstStyle/>
          <a:p>
            <a:pPr marL="171450" indent="-171450">
              <a:spcAft>
                <a:spcPts val="1200"/>
              </a:spcAft>
              <a:buFont typeface="Arial" panose="020B0604020202020204" pitchFamily="34" charset="0"/>
              <a:buChar char="•"/>
            </a:pPr>
            <a:r>
              <a:rPr lang="en-US" sz="1600" dirty="0">
                <a:solidFill>
                  <a:srgbClr val="333333"/>
                </a:solidFill>
                <a:latin typeface="Calibri" pitchFamily="34" charset="0"/>
                <a:ea typeface="Calibri" pitchFamily="34" charset="-122"/>
                <a:cs typeface="Calibri" pitchFamily="34" charset="-120"/>
              </a:rPr>
              <a:t>SFS wants to improve SDLC outcomes—</a:t>
            </a:r>
            <a:r>
              <a:rPr lang="en-US" sz="1600" b="1" dirty="0">
                <a:solidFill>
                  <a:srgbClr val="333333"/>
                </a:solidFill>
                <a:latin typeface="Calibri" pitchFamily="34" charset="0"/>
                <a:ea typeface="Calibri" pitchFamily="34" charset="-122"/>
                <a:cs typeface="Calibri" pitchFamily="34" charset="-120"/>
              </a:rPr>
              <a:t>higher velocity</a:t>
            </a:r>
            <a:r>
              <a:rPr lang="en-US" sz="1600" dirty="0">
                <a:solidFill>
                  <a:srgbClr val="333333"/>
                </a:solidFill>
                <a:latin typeface="Calibri" pitchFamily="34" charset="0"/>
                <a:ea typeface="Calibri" pitchFamily="34" charset="-122"/>
                <a:cs typeface="Calibri" pitchFamily="34" charset="-120"/>
              </a:rPr>
              <a:t>, </a:t>
            </a:r>
            <a:r>
              <a:rPr lang="en-US" sz="1600" b="1" dirty="0">
                <a:solidFill>
                  <a:srgbClr val="333333"/>
                </a:solidFill>
                <a:latin typeface="Calibri" pitchFamily="34" charset="0"/>
                <a:ea typeface="Calibri" pitchFamily="34" charset="-122"/>
                <a:cs typeface="Calibri" pitchFamily="34" charset="-120"/>
              </a:rPr>
              <a:t>better quality</a:t>
            </a:r>
            <a:r>
              <a:rPr lang="en-US" sz="1600" dirty="0">
                <a:solidFill>
                  <a:srgbClr val="333333"/>
                </a:solidFill>
                <a:latin typeface="Calibri" pitchFamily="34" charset="0"/>
                <a:ea typeface="Calibri" pitchFamily="34" charset="-122"/>
                <a:cs typeface="Calibri" pitchFamily="34" charset="-120"/>
              </a:rPr>
              <a:t>, </a:t>
            </a:r>
            <a:r>
              <a:rPr lang="en-US" sz="1600" b="1" dirty="0">
                <a:solidFill>
                  <a:srgbClr val="333333"/>
                </a:solidFill>
                <a:latin typeface="Calibri" pitchFamily="34" charset="0"/>
                <a:ea typeface="Calibri" pitchFamily="34" charset="-122"/>
                <a:cs typeface="Calibri" pitchFamily="34" charset="-120"/>
              </a:rPr>
              <a:t>and greater delivery reliability</a:t>
            </a:r>
            <a:r>
              <a:rPr lang="en-US" sz="1600" dirty="0">
                <a:solidFill>
                  <a:srgbClr val="333333"/>
                </a:solidFill>
                <a:latin typeface="Calibri" pitchFamily="34" charset="0"/>
                <a:ea typeface="Calibri" pitchFamily="34" charset="-122"/>
                <a:cs typeface="Calibri" pitchFamily="34" charset="-120"/>
              </a:rPr>
              <a:t>—to meet pressing </a:t>
            </a:r>
            <a:r>
              <a:rPr lang="en-US" sz="1600" b="1" dirty="0">
                <a:solidFill>
                  <a:srgbClr val="333333"/>
                </a:solidFill>
                <a:latin typeface="Calibri" pitchFamily="34" charset="0"/>
                <a:ea typeface="Calibri" pitchFamily="34" charset="-122"/>
                <a:cs typeface="Calibri" pitchFamily="34" charset="-120"/>
              </a:rPr>
              <a:t>business timelines</a:t>
            </a:r>
            <a:r>
              <a:rPr lang="en-US" sz="1600" dirty="0">
                <a:solidFill>
                  <a:srgbClr val="333333"/>
                </a:solidFill>
                <a:latin typeface="Calibri" pitchFamily="34" charset="0"/>
                <a:ea typeface="Calibri" pitchFamily="34" charset="-122"/>
                <a:cs typeface="Calibri" pitchFamily="34" charset="-120"/>
              </a:rPr>
              <a:t>, tight </a:t>
            </a:r>
            <a:r>
              <a:rPr lang="en-US" sz="1600" b="1" dirty="0">
                <a:solidFill>
                  <a:srgbClr val="333333"/>
                </a:solidFill>
                <a:latin typeface="Calibri" pitchFamily="34" charset="0"/>
                <a:ea typeface="Calibri" pitchFamily="34" charset="-122"/>
                <a:cs typeface="Calibri" pitchFamily="34" charset="-120"/>
              </a:rPr>
              <a:t>resource constraints</a:t>
            </a:r>
            <a:r>
              <a:rPr lang="en-US" sz="1600" dirty="0">
                <a:solidFill>
                  <a:srgbClr val="333333"/>
                </a:solidFill>
                <a:latin typeface="Calibri" pitchFamily="34" charset="0"/>
                <a:ea typeface="Calibri" pitchFamily="34" charset="-122"/>
                <a:cs typeface="Calibri" pitchFamily="34" charset="-120"/>
              </a:rPr>
              <a:t>, and aggressive </a:t>
            </a:r>
            <a:r>
              <a:rPr lang="en-US" sz="1600" b="1" dirty="0">
                <a:solidFill>
                  <a:srgbClr val="333333"/>
                </a:solidFill>
                <a:latin typeface="Calibri" pitchFamily="34" charset="0"/>
                <a:ea typeface="Calibri" pitchFamily="34" charset="-122"/>
                <a:cs typeface="Calibri" pitchFamily="34" charset="-120"/>
              </a:rPr>
              <a:t>scaling projections</a:t>
            </a:r>
            <a:r>
              <a:rPr lang="en-US" sz="1600" dirty="0">
                <a:solidFill>
                  <a:srgbClr val="333333"/>
                </a:solidFill>
                <a:latin typeface="Calibri" pitchFamily="34" charset="0"/>
                <a:ea typeface="Calibri" pitchFamily="34" charset="-122"/>
                <a:cs typeface="Calibri" pitchFamily="34" charset="-120"/>
              </a:rPr>
              <a:t>.</a:t>
            </a:r>
          </a:p>
          <a:p>
            <a:pPr marL="171450" indent="-171450">
              <a:spcAft>
                <a:spcPts val="1200"/>
              </a:spcAft>
              <a:buFont typeface="Arial" panose="020B0604020202020204" pitchFamily="34" charset="0"/>
              <a:buChar char="•"/>
            </a:pPr>
            <a:r>
              <a:rPr lang="en-US" sz="1600" dirty="0">
                <a:solidFill>
                  <a:srgbClr val="333333"/>
                </a:solidFill>
                <a:latin typeface="Calibri" pitchFamily="34" charset="0"/>
                <a:ea typeface="Calibri" pitchFamily="34" charset="-122"/>
                <a:cs typeface="Calibri" pitchFamily="34" charset="-120"/>
              </a:rPr>
              <a:t>EIS was </a:t>
            </a:r>
            <a:r>
              <a:rPr lang="en-US" sz="1600" dirty="0"/>
              <a:t>asked to provide guidance around AI opportunities across the SDLC, focusing on </a:t>
            </a:r>
            <a:r>
              <a:rPr lang="en-US" sz="1600" dirty="0">
                <a:solidFill>
                  <a:srgbClr val="333333"/>
                </a:solidFill>
                <a:latin typeface="Calibri" pitchFamily="34" charset="0"/>
                <a:ea typeface="Calibri" pitchFamily="34" charset="-122"/>
                <a:cs typeface="Calibri" pitchFamily="34" charset="-120"/>
              </a:rPr>
              <a:t>three development workflows: </a:t>
            </a:r>
            <a:r>
              <a:rPr lang="en-US" sz="1600" b="1" dirty="0">
                <a:solidFill>
                  <a:srgbClr val="333333"/>
                </a:solidFill>
                <a:latin typeface="Calibri" pitchFamily="34" charset="0"/>
                <a:ea typeface="Calibri" pitchFamily="34" charset="-122"/>
                <a:cs typeface="Calibri" pitchFamily="34" charset="-120"/>
              </a:rPr>
              <a:t>Salesforce</a:t>
            </a:r>
            <a:r>
              <a:rPr lang="en-US" sz="1600" dirty="0">
                <a:solidFill>
                  <a:srgbClr val="333333"/>
                </a:solidFill>
                <a:latin typeface="Calibri" pitchFamily="34" charset="0"/>
                <a:ea typeface="Calibri" pitchFamily="34" charset="-122"/>
                <a:cs typeface="Calibri" pitchFamily="34" charset="-120"/>
              </a:rPr>
              <a:t>, </a:t>
            </a:r>
            <a:r>
              <a:rPr lang="en-US" sz="1600" b="1" dirty="0">
                <a:solidFill>
                  <a:srgbClr val="333333"/>
                </a:solidFill>
                <a:latin typeface="Calibri" pitchFamily="34" charset="0"/>
                <a:ea typeface="Calibri" pitchFamily="34" charset="-122"/>
                <a:cs typeface="Calibri" pitchFamily="34" charset="-120"/>
              </a:rPr>
              <a:t>Data/EDW</a:t>
            </a:r>
            <a:r>
              <a:rPr lang="en-US" sz="1600" dirty="0">
                <a:solidFill>
                  <a:srgbClr val="333333"/>
                </a:solidFill>
                <a:latin typeface="Calibri" pitchFamily="34" charset="0"/>
                <a:ea typeface="Calibri" pitchFamily="34" charset="-122"/>
                <a:cs typeface="Calibri" pitchFamily="34" charset="-120"/>
              </a:rPr>
              <a:t>, and </a:t>
            </a:r>
            <a:r>
              <a:rPr lang="en-US" sz="1600" b="1" dirty="0">
                <a:solidFill>
                  <a:srgbClr val="333333"/>
                </a:solidFill>
                <a:latin typeface="Calibri" pitchFamily="34" charset="0"/>
                <a:ea typeface="Calibri" pitchFamily="34" charset="-122"/>
                <a:cs typeface="Calibri" pitchFamily="34" charset="-120"/>
              </a:rPr>
              <a:t>Integrations</a:t>
            </a:r>
            <a:r>
              <a:rPr lang="en-US" sz="1600" dirty="0">
                <a:solidFill>
                  <a:srgbClr val="333333"/>
                </a:solidFill>
                <a:latin typeface="Calibri" pitchFamily="34" charset="0"/>
                <a:ea typeface="Calibri" pitchFamily="34" charset="-122"/>
                <a:cs typeface="Calibri" pitchFamily="34" charset="-120"/>
              </a:rPr>
              <a:t>.</a:t>
            </a:r>
          </a:p>
        </p:txBody>
      </p:sp>
      <p:sp>
        <p:nvSpPr>
          <p:cNvPr id="17" name="Rectangle 16">
            <a:extLst>
              <a:ext uri="{FF2B5EF4-FFF2-40B4-BE49-F238E27FC236}">
                <a16:creationId xmlns:a16="http://schemas.microsoft.com/office/drawing/2014/main" id="{AB6F6694-ADA4-8BBB-E73C-92041B36FCCD}"/>
              </a:ext>
            </a:extLst>
          </p:cNvPr>
          <p:cNvSpPr/>
          <p:nvPr/>
        </p:nvSpPr>
        <p:spPr>
          <a:xfrm>
            <a:off x="7498079" y="1097280"/>
            <a:ext cx="4206240" cy="5029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7DE52AD6-0CB7-DF47-0259-B50B6C0B8CD8}"/>
              </a:ext>
            </a:extLst>
          </p:cNvPr>
          <p:cNvSpPr txBox="1"/>
          <p:nvPr/>
        </p:nvSpPr>
        <p:spPr>
          <a:xfrm>
            <a:off x="7680960" y="1188720"/>
            <a:ext cx="3840480" cy="365760"/>
          </a:xfrm>
          <a:prstGeom prst="rect">
            <a:avLst/>
          </a:prstGeom>
          <a:noFill/>
        </p:spPr>
        <p:txBody>
          <a:bodyPr wrap="square" anchor="t">
            <a:spAutoFit/>
          </a:bodyPr>
          <a:lstStyle/>
          <a:p>
            <a:pPr algn="l">
              <a:defRPr sz="1800" b="1" i="0">
                <a:solidFill>
                  <a:srgbClr val="1F4E79"/>
                </a:solidFill>
                <a:latin typeface="Calibri"/>
              </a:defRPr>
            </a:pPr>
            <a:r>
              <a:t>Key Sources</a:t>
            </a:r>
          </a:p>
        </p:txBody>
      </p:sp>
      <p:sp>
        <p:nvSpPr>
          <p:cNvPr id="19" name="TextBox 18">
            <a:extLst>
              <a:ext uri="{FF2B5EF4-FFF2-40B4-BE49-F238E27FC236}">
                <a16:creationId xmlns:a16="http://schemas.microsoft.com/office/drawing/2014/main" id="{8F5F1F51-3D60-3A36-222B-C8CBA2F0B13B}"/>
              </a:ext>
            </a:extLst>
          </p:cNvPr>
          <p:cNvSpPr txBox="1"/>
          <p:nvPr/>
        </p:nvSpPr>
        <p:spPr>
          <a:xfrm>
            <a:off x="7680960" y="1645920"/>
            <a:ext cx="3840480" cy="2985433"/>
          </a:xfrm>
          <a:prstGeom prst="rect">
            <a:avLst/>
          </a:prstGeom>
          <a:noFill/>
        </p:spPr>
        <p:txBody>
          <a:bodyPr wrap="square" anchor="t">
            <a:spAutoFit/>
          </a:bodyPr>
          <a:lstStyle/>
          <a:p>
            <a:pPr algn="l">
              <a:defRPr sz="1300" b="1" i="0">
                <a:solidFill>
                  <a:srgbClr val="1F4E79"/>
                </a:solidFill>
                <a:latin typeface="Calibri"/>
              </a:defRPr>
            </a:pPr>
            <a:r>
              <a:rPr dirty="0"/>
              <a:t>Salesforce</a:t>
            </a:r>
          </a:p>
          <a:p>
            <a:pPr algn="l">
              <a:defRPr sz="1100" b="0" i="0">
                <a:solidFill>
                  <a:srgbClr val="333333"/>
                </a:solidFill>
                <a:latin typeface="Calibri"/>
              </a:defRPr>
            </a:pPr>
            <a:r>
              <a:rPr dirty="0"/>
              <a:t>Cassidy Hodge, Deepak </a:t>
            </a:r>
            <a:r>
              <a:rPr dirty="0" err="1"/>
              <a:t>Khemchandani</a:t>
            </a:r>
            <a:r>
              <a:rPr dirty="0"/>
              <a:t>,</a:t>
            </a:r>
          </a:p>
          <a:p>
            <a:pPr algn="l">
              <a:defRPr sz="1100" b="0" i="0">
                <a:solidFill>
                  <a:srgbClr val="333333"/>
                </a:solidFill>
                <a:latin typeface="Calibri"/>
              </a:defRPr>
            </a:pPr>
            <a:r>
              <a:rPr dirty="0"/>
              <a:t>Carlos Garcia, Corinne Anderson</a:t>
            </a:r>
          </a:p>
          <a:p>
            <a:pPr algn="l">
              <a:defRPr sz="600" b="0" i="0">
                <a:solidFill>
                  <a:srgbClr val="333333"/>
                </a:solidFill>
                <a:latin typeface="Calibri"/>
              </a:defRPr>
            </a:pPr>
            <a:endParaRPr dirty="0"/>
          </a:p>
          <a:p>
            <a:pPr algn="l">
              <a:defRPr sz="1300" b="1" i="0">
                <a:solidFill>
                  <a:srgbClr val="1F4E79"/>
                </a:solidFill>
                <a:latin typeface="Calibri"/>
              </a:defRPr>
            </a:pPr>
            <a:r>
              <a:rPr dirty="0"/>
              <a:t>Data / EDW</a:t>
            </a:r>
          </a:p>
          <a:p>
            <a:pPr algn="l">
              <a:defRPr sz="1100" b="0" i="0">
                <a:solidFill>
                  <a:srgbClr val="333333"/>
                </a:solidFill>
                <a:latin typeface="Calibri"/>
              </a:defRPr>
            </a:pPr>
            <a:r>
              <a:rPr dirty="0"/>
              <a:t>Bobby Goodwin</a:t>
            </a:r>
            <a:r>
              <a:rPr lang="en-US" dirty="0"/>
              <a:t>, Tobin Page, </a:t>
            </a:r>
          </a:p>
          <a:p>
            <a:pPr algn="l">
              <a:defRPr sz="1100" b="0" i="0">
                <a:solidFill>
                  <a:srgbClr val="333333"/>
                </a:solidFill>
                <a:latin typeface="Calibri"/>
              </a:defRPr>
            </a:pPr>
            <a:r>
              <a:rPr lang="en-US" dirty="0"/>
              <a:t>Jeff Harrington, Adam Rutherford</a:t>
            </a:r>
            <a:endParaRPr dirty="0"/>
          </a:p>
          <a:p>
            <a:pPr algn="l">
              <a:defRPr sz="600" b="0" i="0">
                <a:solidFill>
                  <a:srgbClr val="333333"/>
                </a:solidFill>
                <a:latin typeface="Calibri"/>
              </a:defRPr>
            </a:pPr>
            <a:endParaRPr dirty="0"/>
          </a:p>
          <a:p>
            <a:pPr algn="l">
              <a:defRPr sz="1300" b="1" i="0">
                <a:solidFill>
                  <a:srgbClr val="1F4E79"/>
                </a:solidFill>
                <a:latin typeface="Calibri"/>
              </a:defRPr>
            </a:pPr>
            <a:r>
              <a:rPr dirty="0"/>
              <a:t>Integration</a:t>
            </a:r>
          </a:p>
          <a:p>
            <a:pPr algn="l">
              <a:defRPr sz="1100" b="0" i="0">
                <a:solidFill>
                  <a:srgbClr val="333333"/>
                </a:solidFill>
                <a:latin typeface="Calibri"/>
              </a:defRPr>
            </a:pPr>
            <a:r>
              <a:rPr dirty="0"/>
              <a:t>Kris Krishnan, Herb Williams</a:t>
            </a:r>
          </a:p>
          <a:p>
            <a:pPr algn="l">
              <a:defRPr sz="600" b="0" i="0">
                <a:solidFill>
                  <a:srgbClr val="333333"/>
                </a:solidFill>
                <a:latin typeface="Calibri"/>
              </a:defRPr>
            </a:pPr>
            <a:endParaRPr dirty="0"/>
          </a:p>
          <a:p>
            <a:pPr algn="l">
              <a:defRPr sz="1300" b="1" i="0">
                <a:solidFill>
                  <a:srgbClr val="1F4E79"/>
                </a:solidFill>
                <a:latin typeface="Calibri"/>
              </a:defRPr>
            </a:pPr>
            <a:r>
              <a:rPr dirty="0"/>
              <a:t>Architecture &amp; AI</a:t>
            </a:r>
          </a:p>
          <a:p>
            <a:pPr algn="l">
              <a:defRPr sz="1100" b="0" i="0">
                <a:solidFill>
                  <a:srgbClr val="333333"/>
                </a:solidFill>
                <a:latin typeface="Calibri"/>
              </a:defRPr>
            </a:pPr>
            <a:r>
              <a:rPr dirty="0"/>
              <a:t>Nader Afshar, Tony Grogan,</a:t>
            </a:r>
          </a:p>
          <a:p>
            <a:pPr algn="l">
              <a:defRPr sz="1100" b="0" i="0">
                <a:solidFill>
                  <a:srgbClr val="333333"/>
                </a:solidFill>
                <a:latin typeface="Calibri"/>
              </a:defRPr>
            </a:pPr>
            <a:r>
              <a:rPr dirty="0"/>
              <a:t>Vik Chopra, Larry Burgess</a:t>
            </a:r>
            <a:r>
              <a:rPr lang="en-US" dirty="0"/>
              <a:t>, Ryan Miller</a:t>
            </a:r>
            <a:endParaRPr dirty="0"/>
          </a:p>
          <a:p>
            <a:pPr algn="l">
              <a:defRPr sz="600" b="0" i="0">
                <a:solidFill>
                  <a:srgbClr val="333333"/>
                </a:solidFill>
                <a:latin typeface="Calibri"/>
              </a:defRPr>
            </a:pPr>
            <a:endParaRPr dirty="0"/>
          </a:p>
          <a:p>
            <a:pPr algn="l">
              <a:defRPr sz="1300" b="1" i="0">
                <a:solidFill>
                  <a:srgbClr val="1F4E79"/>
                </a:solidFill>
                <a:latin typeface="Calibri"/>
              </a:defRPr>
            </a:pPr>
            <a:r>
              <a:rPr dirty="0"/>
              <a:t>Documentation</a:t>
            </a:r>
          </a:p>
          <a:p>
            <a:pPr algn="l">
              <a:defRPr sz="1100" b="0" i="0">
                <a:solidFill>
                  <a:srgbClr val="333333"/>
                </a:solidFill>
                <a:latin typeface="Calibri"/>
              </a:defRPr>
            </a:pPr>
            <a:r>
              <a:rPr dirty="0"/>
              <a:t>Architecture, tooling and</a:t>
            </a:r>
          </a:p>
          <a:p>
            <a:pPr algn="l">
              <a:defRPr sz="1100" b="0" i="0">
                <a:solidFill>
                  <a:srgbClr val="333333"/>
                </a:solidFill>
                <a:latin typeface="Calibri"/>
              </a:defRPr>
            </a:pPr>
            <a:r>
              <a:rPr dirty="0"/>
              <a:t>process documentation</a:t>
            </a:r>
          </a:p>
        </p:txBody>
      </p:sp>
      <p:sp>
        <p:nvSpPr>
          <p:cNvPr id="6" name="TextBox 5">
            <a:extLst>
              <a:ext uri="{FF2B5EF4-FFF2-40B4-BE49-F238E27FC236}">
                <a16:creationId xmlns:a16="http://schemas.microsoft.com/office/drawing/2014/main" id="{9EED01E2-EA61-C378-20F9-1615E8E1C0E9}"/>
              </a:ext>
            </a:extLst>
          </p:cNvPr>
          <p:cNvSpPr txBox="1"/>
          <p:nvPr/>
        </p:nvSpPr>
        <p:spPr>
          <a:xfrm>
            <a:off x="134857" y="6442950"/>
            <a:ext cx="322343" cy="36933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err="1">
              <a:ln>
                <a:noFill/>
              </a:ln>
              <a:solidFill>
                <a:srgbClr val="072941"/>
              </a:solidFill>
              <a:effectLst/>
              <a:uFillTx/>
              <a:latin typeface="+mj-lt"/>
              <a:ea typeface="+mj-ea"/>
              <a:cs typeface="+mj-cs"/>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endParaRPr lang="en-US"/>
          </a:p>
        </p:txBody>
      </p:sp>
      <p:sp>
        <p:nvSpPr>
          <p:cNvPr id="3" name="Text 1"/>
          <p:cNvSpPr/>
          <p:nvPr/>
        </p:nvSpPr>
        <p:spPr>
          <a:xfrm>
            <a:off x="457200" y="45720"/>
            <a:ext cx="11274552"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How to Read This Deck</a:t>
            </a:r>
            <a:endParaRPr lang="en-US" sz="2200" dirty="0"/>
          </a:p>
        </p:txBody>
      </p:sp>
      <p:sp>
        <p:nvSpPr>
          <p:cNvPr id="4" name="Shape 2"/>
          <p:cNvSpPr/>
          <p:nvPr/>
        </p:nvSpPr>
        <p:spPr>
          <a:xfrm>
            <a:off x="457200" y="1005840"/>
            <a:ext cx="3566160" cy="2286000"/>
          </a:xfrm>
          <a:prstGeom prst="rect">
            <a:avLst/>
          </a:prstGeom>
          <a:solidFill>
            <a:srgbClr val="F2F2F2"/>
          </a:solidFill>
          <a:ln/>
        </p:spPr>
        <p:txBody>
          <a:bodyPr/>
          <a:lstStyle/>
          <a:p>
            <a:endParaRPr lang="en-US"/>
          </a:p>
        </p:txBody>
      </p:sp>
      <p:sp>
        <p:nvSpPr>
          <p:cNvPr id="5" name="Shape 3"/>
          <p:cNvSpPr/>
          <p:nvPr/>
        </p:nvSpPr>
        <p:spPr>
          <a:xfrm>
            <a:off x="457200" y="1005840"/>
            <a:ext cx="3566160" cy="73152"/>
          </a:xfrm>
          <a:prstGeom prst="rect">
            <a:avLst/>
          </a:prstGeom>
          <a:solidFill>
            <a:srgbClr val="2E75B6"/>
          </a:solidFill>
          <a:ln/>
        </p:spPr>
        <p:txBody>
          <a:bodyPr/>
          <a:lstStyle/>
          <a:p>
            <a:endParaRPr lang="en-US" sz="2800"/>
          </a:p>
        </p:txBody>
      </p:sp>
      <p:sp>
        <p:nvSpPr>
          <p:cNvPr id="6" name="Text 4"/>
          <p:cNvSpPr/>
          <p:nvPr/>
        </p:nvSpPr>
        <p:spPr>
          <a:xfrm>
            <a:off x="594360" y="1188720"/>
            <a:ext cx="3291840" cy="36576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Salesforce</a:t>
            </a:r>
            <a:endParaRPr lang="en-US" sz="2800" dirty="0"/>
          </a:p>
        </p:txBody>
      </p:sp>
      <p:sp>
        <p:nvSpPr>
          <p:cNvPr id="7" name="Text 5"/>
          <p:cNvSpPr/>
          <p:nvPr/>
        </p:nvSpPr>
        <p:spPr>
          <a:xfrm>
            <a:off x="594360" y="1554480"/>
            <a:ext cx="3291840" cy="274320"/>
          </a:xfrm>
          <a:prstGeom prst="rect">
            <a:avLst/>
          </a:prstGeom>
          <a:noFill/>
          <a:ln/>
        </p:spPr>
        <p:txBody>
          <a:bodyPr wrap="square" lIns="0" tIns="0" rIns="0" bIns="0" rtlCol="0" anchor="ctr"/>
          <a:lstStyle/>
          <a:p>
            <a:pPr marL="0" indent="0">
              <a:buNone/>
            </a:pPr>
            <a:r>
              <a:rPr lang="en-US" b="1" dirty="0">
                <a:solidFill>
                  <a:srgbClr val="2E75B6"/>
                </a:solidFill>
                <a:latin typeface="Calibri" pitchFamily="34" charset="0"/>
                <a:ea typeface="Calibri" pitchFamily="34" charset="-122"/>
                <a:cs typeface="Calibri" pitchFamily="34" charset="-120"/>
              </a:rPr>
              <a:t>12 Opportunities</a:t>
            </a:r>
            <a:endParaRPr lang="en-US" dirty="0"/>
          </a:p>
        </p:txBody>
      </p:sp>
      <p:sp>
        <p:nvSpPr>
          <p:cNvPr id="8" name="Text 6"/>
          <p:cNvSpPr/>
          <p:nvPr/>
        </p:nvSpPr>
        <p:spPr>
          <a:xfrm>
            <a:off x="594360" y="1920240"/>
            <a:ext cx="3291840" cy="118872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Apex/LWC development, Copado CI/CD,</a:t>
            </a:r>
            <a:endParaRPr lang="en-US" sz="1400" dirty="0"/>
          </a:p>
          <a:p>
            <a:pPr marL="0" indent="0">
              <a:buNone/>
            </a:pPr>
            <a:r>
              <a:rPr lang="en-US" sz="1400" dirty="0">
                <a:solidFill>
                  <a:srgbClr val="333333"/>
                </a:solidFill>
                <a:latin typeface="Calibri" pitchFamily="34" charset="0"/>
                <a:ea typeface="Calibri" pitchFamily="34" charset="-122"/>
                <a:cs typeface="Calibri" pitchFamily="34" charset="-120"/>
              </a:rPr>
              <a:t>Spira test management, manual QA,</a:t>
            </a:r>
            <a:endParaRPr lang="en-US" sz="1400" dirty="0"/>
          </a:p>
          <a:p>
            <a:pPr marL="0" indent="0">
              <a:buNone/>
            </a:pPr>
            <a:r>
              <a:rPr lang="en-US" sz="1400" dirty="0">
                <a:solidFill>
                  <a:srgbClr val="333333"/>
                </a:solidFill>
                <a:latin typeface="Calibri" pitchFamily="34" charset="0"/>
                <a:ea typeface="Calibri" pitchFamily="34" charset="-122"/>
                <a:cs typeface="Calibri" pitchFamily="34" charset="-120"/>
              </a:rPr>
              <a:t>automation (Playwright/Behave)</a:t>
            </a:r>
            <a:endParaRPr lang="en-US" sz="1400" dirty="0"/>
          </a:p>
        </p:txBody>
      </p:sp>
      <p:sp>
        <p:nvSpPr>
          <p:cNvPr id="9" name="Shape 7"/>
          <p:cNvSpPr/>
          <p:nvPr/>
        </p:nvSpPr>
        <p:spPr>
          <a:xfrm>
            <a:off x="4297680" y="1005840"/>
            <a:ext cx="3566160" cy="2286000"/>
          </a:xfrm>
          <a:prstGeom prst="rect">
            <a:avLst/>
          </a:prstGeom>
          <a:solidFill>
            <a:srgbClr val="F2F2F2"/>
          </a:solidFill>
          <a:ln/>
        </p:spPr>
        <p:txBody>
          <a:bodyPr/>
          <a:lstStyle/>
          <a:p>
            <a:endParaRPr lang="en-US"/>
          </a:p>
        </p:txBody>
      </p:sp>
      <p:sp>
        <p:nvSpPr>
          <p:cNvPr id="10" name="Shape 8"/>
          <p:cNvSpPr/>
          <p:nvPr/>
        </p:nvSpPr>
        <p:spPr>
          <a:xfrm>
            <a:off x="4297680" y="1005840"/>
            <a:ext cx="3566160" cy="73152"/>
          </a:xfrm>
          <a:prstGeom prst="rect">
            <a:avLst/>
          </a:prstGeom>
          <a:solidFill>
            <a:srgbClr val="4472C4"/>
          </a:solidFill>
          <a:ln/>
        </p:spPr>
        <p:txBody>
          <a:bodyPr/>
          <a:lstStyle/>
          <a:p>
            <a:endParaRPr lang="en-US" sz="2800"/>
          </a:p>
        </p:txBody>
      </p:sp>
      <p:sp>
        <p:nvSpPr>
          <p:cNvPr id="11" name="Text 9"/>
          <p:cNvSpPr/>
          <p:nvPr/>
        </p:nvSpPr>
        <p:spPr>
          <a:xfrm>
            <a:off x="4434840" y="1188720"/>
            <a:ext cx="3291840" cy="36576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Data / EDW</a:t>
            </a:r>
            <a:endParaRPr lang="en-US" sz="2800" dirty="0"/>
          </a:p>
        </p:txBody>
      </p:sp>
      <p:sp>
        <p:nvSpPr>
          <p:cNvPr id="12" name="Text 10"/>
          <p:cNvSpPr/>
          <p:nvPr/>
        </p:nvSpPr>
        <p:spPr>
          <a:xfrm>
            <a:off x="4434840" y="1554480"/>
            <a:ext cx="3291840" cy="274320"/>
          </a:xfrm>
          <a:prstGeom prst="rect">
            <a:avLst/>
          </a:prstGeom>
          <a:noFill/>
          <a:ln/>
        </p:spPr>
        <p:txBody>
          <a:bodyPr wrap="square" lIns="0" tIns="0" rIns="0" bIns="0" rtlCol="0" anchor="ctr"/>
          <a:lstStyle/>
          <a:p>
            <a:pPr marL="0" indent="0">
              <a:buNone/>
            </a:pPr>
            <a:r>
              <a:rPr lang="en-US" b="1" dirty="0">
                <a:solidFill>
                  <a:srgbClr val="4472C4"/>
                </a:solidFill>
                <a:latin typeface="Calibri" pitchFamily="34" charset="0"/>
                <a:ea typeface="Calibri" pitchFamily="34" charset="-122"/>
                <a:cs typeface="Calibri" pitchFamily="34" charset="-120"/>
              </a:rPr>
              <a:t>11 Opportunities</a:t>
            </a:r>
            <a:endParaRPr lang="en-US" dirty="0"/>
          </a:p>
        </p:txBody>
      </p:sp>
      <p:sp>
        <p:nvSpPr>
          <p:cNvPr id="13" name="Text 11"/>
          <p:cNvSpPr/>
          <p:nvPr/>
        </p:nvSpPr>
        <p:spPr>
          <a:xfrm>
            <a:off x="4434840" y="1920240"/>
            <a:ext cx="3291840" cy="118872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SQL stored procedures, Fabric migration,</a:t>
            </a:r>
            <a:endParaRPr lang="en-US" sz="1400" dirty="0"/>
          </a:p>
          <a:p>
            <a:pPr marL="0" indent="0">
              <a:buNone/>
            </a:pPr>
            <a:r>
              <a:rPr lang="en-US" sz="1400" dirty="0">
                <a:solidFill>
                  <a:srgbClr val="333333"/>
                </a:solidFill>
                <a:latin typeface="Calibri" pitchFamily="34" charset="0"/>
                <a:ea typeface="Calibri" pitchFamily="34" charset="-122"/>
                <a:cs typeface="Calibri" pitchFamily="34" charset="-120"/>
              </a:rPr>
              <a:t>PySpark notebooks, SSIS conversion,</a:t>
            </a:r>
            <a:endParaRPr lang="en-US" sz="1400" dirty="0"/>
          </a:p>
          <a:p>
            <a:pPr marL="0" indent="0">
              <a:buNone/>
            </a:pPr>
            <a:r>
              <a:rPr lang="en-US" sz="1400" dirty="0">
                <a:solidFill>
                  <a:srgbClr val="333333"/>
                </a:solidFill>
                <a:latin typeface="Calibri" pitchFamily="34" charset="0"/>
                <a:ea typeface="Calibri" pitchFamily="34" charset="-122"/>
                <a:cs typeface="Calibri" pitchFamily="34" charset="-120"/>
              </a:rPr>
              <a:t>CI/CD pipeline standardization</a:t>
            </a:r>
            <a:endParaRPr lang="en-US" sz="1400" dirty="0"/>
          </a:p>
        </p:txBody>
      </p:sp>
      <p:sp>
        <p:nvSpPr>
          <p:cNvPr id="14" name="Shape 12"/>
          <p:cNvSpPr/>
          <p:nvPr/>
        </p:nvSpPr>
        <p:spPr>
          <a:xfrm>
            <a:off x="8138160" y="1005840"/>
            <a:ext cx="3566160" cy="2286000"/>
          </a:xfrm>
          <a:prstGeom prst="rect">
            <a:avLst/>
          </a:prstGeom>
          <a:solidFill>
            <a:srgbClr val="F2F2F2"/>
          </a:solidFill>
          <a:ln/>
        </p:spPr>
        <p:txBody>
          <a:bodyPr/>
          <a:lstStyle/>
          <a:p>
            <a:endParaRPr lang="en-US"/>
          </a:p>
        </p:txBody>
      </p:sp>
      <p:sp>
        <p:nvSpPr>
          <p:cNvPr id="15" name="Shape 13"/>
          <p:cNvSpPr/>
          <p:nvPr/>
        </p:nvSpPr>
        <p:spPr>
          <a:xfrm>
            <a:off x="8138160" y="1005840"/>
            <a:ext cx="3566160" cy="73152"/>
          </a:xfrm>
          <a:prstGeom prst="rect">
            <a:avLst/>
          </a:prstGeom>
          <a:solidFill>
            <a:srgbClr val="548235"/>
          </a:solidFill>
          <a:ln/>
        </p:spPr>
        <p:txBody>
          <a:bodyPr/>
          <a:lstStyle/>
          <a:p>
            <a:endParaRPr lang="en-US" sz="2800"/>
          </a:p>
        </p:txBody>
      </p:sp>
      <p:sp>
        <p:nvSpPr>
          <p:cNvPr id="16" name="Text 14"/>
          <p:cNvSpPr/>
          <p:nvPr/>
        </p:nvSpPr>
        <p:spPr>
          <a:xfrm>
            <a:off x="8275320" y="1188720"/>
            <a:ext cx="3291840" cy="36576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Integration</a:t>
            </a:r>
            <a:endParaRPr lang="en-US" sz="2800" dirty="0"/>
          </a:p>
        </p:txBody>
      </p:sp>
      <p:sp>
        <p:nvSpPr>
          <p:cNvPr id="17" name="Text 15"/>
          <p:cNvSpPr/>
          <p:nvPr/>
        </p:nvSpPr>
        <p:spPr>
          <a:xfrm>
            <a:off x="8275320" y="1554480"/>
            <a:ext cx="3291840" cy="274320"/>
          </a:xfrm>
          <a:prstGeom prst="rect">
            <a:avLst/>
          </a:prstGeom>
          <a:noFill/>
          <a:ln/>
        </p:spPr>
        <p:txBody>
          <a:bodyPr wrap="square" lIns="0" tIns="0" rIns="0" bIns="0" rtlCol="0" anchor="ctr"/>
          <a:lstStyle/>
          <a:p>
            <a:pPr marL="0" indent="0">
              <a:buNone/>
            </a:pPr>
            <a:r>
              <a:rPr lang="en-US" b="1" dirty="0">
                <a:solidFill>
                  <a:srgbClr val="548235"/>
                </a:solidFill>
                <a:latin typeface="Calibri" pitchFamily="34" charset="0"/>
                <a:ea typeface="Calibri" pitchFamily="34" charset="-122"/>
                <a:cs typeface="Calibri" pitchFamily="34" charset="-120"/>
              </a:rPr>
              <a:t>11 Opportunities</a:t>
            </a:r>
            <a:endParaRPr lang="en-US" dirty="0"/>
          </a:p>
        </p:txBody>
      </p:sp>
      <p:sp>
        <p:nvSpPr>
          <p:cNvPr id="18" name="Text 16"/>
          <p:cNvSpPr/>
          <p:nvPr/>
        </p:nvSpPr>
        <p:spPr>
          <a:xfrm>
            <a:off x="8275320" y="1920240"/>
            <a:ext cx="3291840" cy="1188720"/>
          </a:xfrm>
          <a:prstGeom prst="rect">
            <a:avLst/>
          </a:prstGeom>
          <a:noFill/>
          <a:ln/>
        </p:spPr>
        <p:txBody>
          <a:bodyPr wrap="square" lIns="0" tIns="0" rIns="0" bIns="0" rtlCol="0" anchor="t"/>
          <a:lstStyle/>
          <a:p>
            <a:pPr marL="0" indent="0">
              <a:buNone/>
            </a:pPr>
            <a:r>
              <a:rPr lang="en-US" sz="1400" dirty="0">
                <a:solidFill>
                  <a:srgbClr val="333333"/>
                </a:solidFill>
                <a:latin typeface="Calibri" pitchFamily="34" charset="0"/>
                <a:ea typeface="Calibri" pitchFamily="34" charset="-122"/>
                <a:cs typeface="Calibri" pitchFamily="34" charset="-120"/>
              </a:rPr>
              <a:t>.NET Azure APIs, MuleSoft migration,</a:t>
            </a:r>
            <a:endParaRPr lang="en-US" sz="1400" dirty="0"/>
          </a:p>
          <a:p>
            <a:pPr marL="0" indent="0">
              <a:buNone/>
            </a:pPr>
            <a:r>
              <a:rPr lang="en-US" sz="1400" dirty="0">
                <a:solidFill>
                  <a:srgbClr val="333333"/>
                </a:solidFill>
                <a:latin typeface="Calibri" pitchFamily="34" charset="0"/>
                <a:ea typeface="Calibri" pitchFamily="34" charset="-122"/>
                <a:cs typeface="Calibri" pitchFamily="34" charset="-120"/>
              </a:rPr>
              <a:t>Terraform IaC, APIM configuration,</a:t>
            </a:r>
            <a:endParaRPr lang="en-US" sz="1400" dirty="0"/>
          </a:p>
          <a:p>
            <a:pPr marL="0" indent="0">
              <a:buNone/>
            </a:pPr>
            <a:r>
              <a:rPr lang="en-US" sz="1400" dirty="0">
                <a:solidFill>
                  <a:srgbClr val="333333"/>
                </a:solidFill>
                <a:latin typeface="Calibri" pitchFamily="34" charset="0"/>
                <a:ea typeface="Calibri" pitchFamily="34" charset="-122"/>
                <a:cs typeface="Calibri" pitchFamily="34" charset="-120"/>
              </a:rPr>
              <a:t>Azure DevOps pipelines</a:t>
            </a:r>
            <a:endParaRPr lang="en-US" sz="1400" dirty="0"/>
          </a:p>
        </p:txBody>
      </p:sp>
      <p:sp>
        <p:nvSpPr>
          <p:cNvPr id="19" name="Text 17"/>
          <p:cNvSpPr/>
          <p:nvPr/>
        </p:nvSpPr>
        <p:spPr>
          <a:xfrm>
            <a:off x="457200" y="3566160"/>
            <a:ext cx="5005953" cy="320040"/>
          </a:xfrm>
          <a:prstGeom prst="rect">
            <a:avLst/>
          </a:prstGeom>
          <a:noFill/>
          <a:ln/>
        </p:spPr>
        <p:txBody>
          <a:bodyPr wrap="square" lIns="0" tIns="0" rIns="0" bIns="0" rtlCol="0" anchor="ctr"/>
          <a:lstStyle/>
          <a:p>
            <a:pPr marL="0" indent="0">
              <a:buNone/>
            </a:pPr>
            <a:r>
              <a:rPr lang="en-US" sz="2400" b="1" dirty="0">
                <a:solidFill>
                  <a:srgbClr val="1F4E79"/>
                </a:solidFill>
                <a:latin typeface="Calibri" pitchFamily="34" charset="0"/>
                <a:ea typeface="Calibri" pitchFamily="34" charset="-122"/>
                <a:cs typeface="Calibri" pitchFamily="34" charset="-120"/>
              </a:rPr>
              <a:t>Deck Structure</a:t>
            </a:r>
            <a:endParaRPr lang="en-US" sz="2400" dirty="0"/>
          </a:p>
        </p:txBody>
      </p:sp>
      <p:sp>
        <p:nvSpPr>
          <p:cNvPr id="20" name="Text 18"/>
          <p:cNvSpPr/>
          <p:nvPr/>
        </p:nvSpPr>
        <p:spPr>
          <a:xfrm>
            <a:off x="457200" y="3931920"/>
            <a:ext cx="4510007" cy="2057399"/>
          </a:xfrm>
          <a:prstGeom prst="rect">
            <a:avLst/>
          </a:prstGeom>
          <a:noFill/>
          <a:ln/>
        </p:spPr>
        <p:txBody>
          <a:bodyPr wrap="square" lIns="0" tIns="0" rIns="0" bIns="0" rtlCol="0" anchor="t"/>
          <a:lstStyle/>
          <a:p>
            <a:pPr marL="0" indent="0">
              <a:spcAft>
                <a:spcPts val="600"/>
              </a:spcAft>
              <a:buNone/>
            </a:pPr>
            <a:r>
              <a:rPr lang="en-US" sz="1400" b="1" dirty="0">
                <a:solidFill>
                  <a:srgbClr val="333333"/>
                </a:solidFill>
                <a:latin typeface="Calibri" pitchFamily="34" charset="0"/>
                <a:ea typeface="Calibri" pitchFamily="34" charset="-122"/>
                <a:cs typeface="Calibri" pitchFamily="34" charset="-120"/>
              </a:rPr>
              <a:t>Shared Framing: </a:t>
            </a:r>
            <a:r>
              <a:rPr lang="en-US" sz="1400" dirty="0">
                <a:solidFill>
                  <a:srgbClr val="333333"/>
                </a:solidFill>
                <a:latin typeface="Calibri" pitchFamily="34" charset="0"/>
                <a:ea typeface="Calibri" pitchFamily="34" charset="-122"/>
                <a:cs typeface="Calibri" pitchFamily="34" charset="-120"/>
              </a:rPr>
              <a:t>AI tooling categories, model landscape, and cross-cutting themes that apply to all three areas</a:t>
            </a:r>
            <a:endParaRPr lang="en-US" sz="1400" dirty="0"/>
          </a:p>
          <a:p>
            <a:pPr>
              <a:spcAft>
                <a:spcPts val="600"/>
              </a:spcAft>
            </a:pPr>
            <a:r>
              <a:rPr lang="en-US" sz="1400" b="1" dirty="0">
                <a:solidFill>
                  <a:srgbClr val="333333"/>
                </a:solidFill>
                <a:latin typeface="Calibri" pitchFamily="34" charset="0"/>
                <a:ea typeface="Calibri" pitchFamily="34" charset="-122"/>
                <a:cs typeface="Calibri" pitchFamily="34" charset="-120"/>
              </a:rPr>
              <a:t>Security &amp; Cost: </a:t>
            </a:r>
            <a:r>
              <a:rPr lang="en-US" sz="1400" dirty="0">
                <a:solidFill>
                  <a:srgbClr val="333333"/>
                </a:solidFill>
                <a:latin typeface="Calibri" pitchFamily="34" charset="0"/>
                <a:ea typeface="Calibri" pitchFamily="34" charset="-122"/>
                <a:cs typeface="Calibri" pitchFamily="34" charset="-120"/>
              </a:rPr>
              <a:t>Managed risk, predictable cost</a:t>
            </a:r>
            <a:endParaRPr lang="en-US" sz="1400" b="1" dirty="0">
              <a:solidFill>
                <a:srgbClr val="333333"/>
              </a:solidFill>
              <a:latin typeface="Calibri" pitchFamily="34" charset="0"/>
              <a:ea typeface="Calibri" pitchFamily="34" charset="-122"/>
              <a:cs typeface="Calibri" pitchFamily="34" charset="-120"/>
            </a:endParaRPr>
          </a:p>
          <a:p>
            <a:pPr marL="0" indent="0">
              <a:spcAft>
                <a:spcPts val="600"/>
              </a:spcAft>
              <a:buNone/>
            </a:pPr>
            <a:r>
              <a:rPr lang="en-US" sz="1400" b="1" dirty="0">
                <a:solidFill>
                  <a:srgbClr val="333333"/>
                </a:solidFill>
                <a:latin typeface="Calibri" pitchFamily="34" charset="0"/>
                <a:ea typeface="Calibri" pitchFamily="34" charset="-122"/>
                <a:cs typeface="Calibri" pitchFamily="34" charset="-120"/>
              </a:rPr>
              <a:t>Per-Workflow Detail: </a:t>
            </a:r>
            <a:r>
              <a:rPr lang="en-US" sz="1400" dirty="0">
                <a:solidFill>
                  <a:srgbClr val="333333"/>
                </a:solidFill>
                <a:latin typeface="Calibri" pitchFamily="34" charset="0"/>
                <a:ea typeface="Calibri" pitchFamily="34" charset="-122"/>
                <a:cs typeface="Calibri" pitchFamily="34" charset="-120"/>
              </a:rPr>
              <a:t>Each workflow section includes a summary matrix, one slide per opportunity, coverage maps, and quick wins</a:t>
            </a:r>
            <a:endParaRPr lang="en-US" sz="1400" dirty="0"/>
          </a:p>
          <a:p>
            <a:pPr marL="0" indent="0">
              <a:spcAft>
                <a:spcPts val="600"/>
              </a:spcAft>
              <a:buNone/>
            </a:pPr>
            <a:r>
              <a:rPr lang="en-US" sz="1050" b="1" dirty="0">
                <a:solidFill>
                  <a:schemeClr val="bg1"/>
                </a:solidFill>
                <a:latin typeface="Calibri" pitchFamily="34" charset="0"/>
                <a:ea typeface="Calibri" pitchFamily="34" charset="-122"/>
                <a:cs typeface="Calibri" pitchFamily="34" charset="-120"/>
              </a:rPr>
              <a:t>Synthesis: </a:t>
            </a:r>
            <a:r>
              <a:rPr lang="en-US" sz="1050" dirty="0">
                <a:solidFill>
                  <a:schemeClr val="bg1"/>
                </a:solidFill>
                <a:latin typeface="Calibri" pitchFamily="34" charset="0"/>
                <a:ea typeface="Calibri" pitchFamily="34" charset="-122"/>
                <a:cs typeface="Calibri" pitchFamily="34" charset="-120"/>
              </a:rPr>
              <a:t>Cross-area alignment, shared prerequisites, phased approach, and next steps</a:t>
            </a:r>
            <a:endParaRPr lang="en-US" sz="1050" dirty="0">
              <a:solidFill>
                <a:schemeClr val="bg1"/>
              </a:solidFill>
            </a:endParaRPr>
          </a:p>
          <a:p>
            <a:pPr marL="0" indent="0">
              <a:spcAft>
                <a:spcPts val="600"/>
              </a:spcAft>
              <a:buNone/>
            </a:pPr>
            <a:r>
              <a:rPr lang="en-US" sz="1400" b="1" dirty="0">
                <a:solidFill>
                  <a:srgbClr val="333333"/>
                </a:solidFill>
                <a:latin typeface="Calibri" pitchFamily="34" charset="0"/>
                <a:ea typeface="Calibri" pitchFamily="34" charset="-122"/>
                <a:cs typeface="Calibri" pitchFamily="34" charset="-120"/>
              </a:rPr>
              <a:t>Appendices: </a:t>
            </a:r>
            <a:r>
              <a:rPr lang="en-US" sz="1400" dirty="0">
                <a:solidFill>
                  <a:srgbClr val="333333"/>
                </a:solidFill>
                <a:latin typeface="Calibri" pitchFamily="34" charset="0"/>
                <a:ea typeface="Calibri" pitchFamily="34" charset="-122"/>
                <a:cs typeface="Calibri" pitchFamily="34" charset="-120"/>
              </a:rPr>
              <a:t>Full tooling landscape, model rankings, current tool inventories, and SDLC references</a:t>
            </a:r>
            <a:endParaRPr lang="en-US" sz="1400" dirty="0"/>
          </a:p>
        </p:txBody>
      </p:sp>
      <p:pic>
        <p:nvPicPr>
          <p:cNvPr id="22"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3" name="Text 20"/>
          <p:cNvSpPr/>
          <p:nvPr/>
        </p:nvSpPr>
        <p:spPr>
          <a:xfrm>
            <a:off x="5180076" y="6419088"/>
            <a:ext cx="1828800" cy="320040"/>
          </a:xfrm>
          <a:prstGeom prst="rect">
            <a:avLst/>
          </a:prstGeom>
          <a:noFill/>
          <a:ln/>
        </p:spPr>
        <p:txBody>
          <a:bodyPr wrap="square" rtlCol="0" anchor="ctr"/>
          <a:lstStyle/>
          <a:p>
            <a:pPr marL="0" indent="0" algn="ctr">
              <a:buNone/>
            </a:pPr>
            <a:r>
              <a:rPr lang="en-US" sz="800" dirty="0">
                <a:solidFill>
                  <a:srgbClr val="808080"/>
                </a:solidFill>
                <a:latin typeface="Calibri" pitchFamily="34" charset="0"/>
                <a:ea typeface="Calibri" pitchFamily="34" charset="-122"/>
                <a:cs typeface="Calibri" pitchFamily="34" charset="-120"/>
              </a:rPr>
              <a:t>CONFIDENTIAL</a:t>
            </a:r>
            <a:endParaRPr lang="en-US" sz="800" dirty="0"/>
          </a:p>
        </p:txBody>
      </p:sp>
      <p:sp>
        <p:nvSpPr>
          <p:cNvPr id="24" name="Text 21"/>
          <p:cNvSpPr/>
          <p:nvPr/>
        </p:nvSpPr>
        <p:spPr>
          <a:xfrm>
            <a:off x="11274552" y="6419088"/>
            <a:ext cx="457200" cy="320040"/>
          </a:xfrm>
          <a:prstGeom prst="rect">
            <a:avLst/>
          </a:prstGeom>
          <a:noFill/>
          <a:ln/>
        </p:spPr>
        <p:txBody>
          <a:bodyPr wrap="square" rtlCol="0" anchor="ctr"/>
          <a:lstStyle/>
          <a:p>
            <a:pPr marL="0" indent="0" algn="r">
              <a:buNone/>
            </a:pPr>
            <a:r>
              <a:rPr lang="en-US" sz="800" dirty="0">
                <a:solidFill>
                  <a:srgbClr val="808080"/>
                </a:solidFill>
                <a:latin typeface="Calibri" pitchFamily="34" charset="0"/>
                <a:ea typeface="Calibri" pitchFamily="34" charset="-122"/>
                <a:cs typeface="Calibri" pitchFamily="34" charset="-120"/>
              </a:rPr>
              <a:t>3</a:t>
            </a:r>
            <a:endParaRPr lang="en-US" sz="800" dirty="0"/>
          </a:p>
        </p:txBody>
      </p:sp>
      <p:sp>
        <p:nvSpPr>
          <p:cNvPr id="25" name="Text 17">
            <a:extLst>
              <a:ext uri="{FF2B5EF4-FFF2-40B4-BE49-F238E27FC236}">
                <a16:creationId xmlns:a16="http://schemas.microsoft.com/office/drawing/2014/main" id="{EAE8FBA2-E3ED-56E2-00C2-C9BE3817B6AA}"/>
              </a:ext>
            </a:extLst>
          </p:cNvPr>
          <p:cNvSpPr/>
          <p:nvPr/>
        </p:nvSpPr>
        <p:spPr>
          <a:xfrm>
            <a:off x="6828554" y="3559961"/>
            <a:ext cx="5858359" cy="320040"/>
          </a:xfrm>
          <a:prstGeom prst="rect">
            <a:avLst/>
          </a:prstGeom>
          <a:noFill/>
          <a:ln/>
        </p:spPr>
        <p:txBody>
          <a:bodyPr wrap="square" lIns="0" tIns="0" rIns="0" bIns="0" rtlCol="0" anchor="ctr"/>
          <a:lstStyle/>
          <a:p>
            <a:pPr marL="0" indent="0">
              <a:buNone/>
            </a:pPr>
            <a:r>
              <a:rPr lang="en-US" sz="2400" b="1" dirty="0">
                <a:solidFill>
                  <a:srgbClr val="1F4E79"/>
                </a:solidFill>
                <a:latin typeface="Calibri" pitchFamily="34" charset="0"/>
                <a:cs typeface="Calibri" pitchFamily="34" charset="-120"/>
              </a:rPr>
              <a:t>Each opportunity slide includes:</a:t>
            </a:r>
          </a:p>
        </p:txBody>
      </p:sp>
      <p:sp>
        <p:nvSpPr>
          <p:cNvPr id="26" name="Text 18">
            <a:extLst>
              <a:ext uri="{FF2B5EF4-FFF2-40B4-BE49-F238E27FC236}">
                <a16:creationId xmlns:a16="http://schemas.microsoft.com/office/drawing/2014/main" id="{F51F997B-D472-4F31-878A-016F6825AF48}"/>
              </a:ext>
            </a:extLst>
          </p:cNvPr>
          <p:cNvSpPr/>
          <p:nvPr/>
        </p:nvSpPr>
        <p:spPr>
          <a:xfrm>
            <a:off x="6828554" y="3941219"/>
            <a:ext cx="4570449" cy="2240280"/>
          </a:xfrm>
          <a:prstGeom prst="rect">
            <a:avLst/>
          </a:prstGeom>
          <a:noFill/>
          <a:ln/>
        </p:spPr>
        <p:txBody>
          <a:bodyPr wrap="square" lIns="0" tIns="0" rIns="0" bIns="0" rtlCol="0" anchor="t"/>
          <a:lstStyle/>
          <a:p>
            <a:pPr marL="176213" indent="-176213">
              <a:spcAft>
                <a:spcPts val="600"/>
              </a:spcAft>
              <a:buFont typeface="Arial" panose="020B0604020202020204" pitchFamily="34" charset="0"/>
              <a:buChar char="•"/>
            </a:pPr>
            <a:r>
              <a:rPr lang="en-US" sz="1400" dirty="0">
                <a:solidFill>
                  <a:srgbClr val="333333"/>
                </a:solidFill>
                <a:latin typeface="Calibri" pitchFamily="34" charset="0"/>
                <a:cs typeface="Calibri" pitchFamily="34" charset="-120"/>
              </a:rPr>
              <a:t>Priority (High / Medium / Longer-term)</a:t>
            </a:r>
          </a:p>
          <a:p>
            <a:pPr marL="176213" indent="-176213">
              <a:spcAft>
                <a:spcPts val="600"/>
              </a:spcAft>
              <a:buFont typeface="Arial" panose="020B0604020202020204" pitchFamily="34" charset="0"/>
              <a:buChar char="•"/>
            </a:pPr>
            <a:r>
              <a:rPr lang="en-US" sz="1400" dirty="0">
                <a:solidFill>
                  <a:srgbClr val="333333"/>
                </a:solidFill>
                <a:latin typeface="Calibri" pitchFamily="34" charset="0"/>
                <a:cs typeface="Calibri" pitchFamily="34" charset="-120"/>
              </a:rPr>
              <a:t>SDLC Stage</a:t>
            </a:r>
          </a:p>
          <a:p>
            <a:pPr marL="176213" indent="-176213">
              <a:spcAft>
                <a:spcPts val="600"/>
              </a:spcAft>
              <a:buFont typeface="Arial" panose="020B0604020202020204" pitchFamily="34" charset="0"/>
              <a:buChar char="•"/>
            </a:pPr>
            <a:r>
              <a:rPr lang="en-US" sz="1400" dirty="0">
                <a:solidFill>
                  <a:srgbClr val="333333"/>
                </a:solidFill>
                <a:latin typeface="Calibri" pitchFamily="34" charset="0"/>
                <a:cs typeface="Calibri" pitchFamily="34" charset="-120"/>
              </a:rPr>
              <a:t>The Need - How AI Helps</a:t>
            </a:r>
          </a:p>
          <a:p>
            <a:pPr marL="176213" indent="-176213">
              <a:spcAft>
                <a:spcPts val="600"/>
              </a:spcAft>
              <a:buFont typeface="Arial" panose="020B0604020202020204" pitchFamily="34" charset="0"/>
              <a:buChar char="•"/>
            </a:pPr>
            <a:r>
              <a:rPr lang="en-US" sz="1400" dirty="0">
                <a:solidFill>
                  <a:srgbClr val="333333"/>
                </a:solidFill>
                <a:latin typeface="Calibri" pitchFamily="34" charset="0"/>
                <a:cs typeface="Calibri" pitchFamily="34" charset="-120"/>
              </a:rPr>
              <a:t>Tooling Required with Approval Gate</a:t>
            </a:r>
          </a:p>
          <a:p>
            <a:pPr marL="176213" indent="-176213">
              <a:spcAft>
                <a:spcPts val="600"/>
              </a:spcAft>
              <a:buFont typeface="Arial" panose="020B0604020202020204" pitchFamily="34" charset="0"/>
              <a:buChar char="•"/>
            </a:pPr>
            <a:r>
              <a:rPr lang="en-US" sz="1400" dirty="0">
                <a:solidFill>
                  <a:srgbClr val="333333"/>
                </a:solidFill>
                <a:latin typeface="Calibri" pitchFamily="34" charset="0"/>
                <a:cs typeface="Calibri" pitchFamily="34" charset="-120"/>
              </a:rPr>
              <a:t>Key Considerations</a:t>
            </a:r>
          </a:p>
          <a:p>
            <a:pPr marL="176213" indent="-176213">
              <a:spcAft>
                <a:spcPts val="600"/>
              </a:spcAft>
              <a:buFont typeface="Arial" panose="020B0604020202020204" pitchFamily="34" charset="0"/>
              <a:buChar char="•"/>
            </a:pPr>
            <a:r>
              <a:rPr lang="en-US" sz="1400" dirty="0">
                <a:solidFill>
                  <a:srgbClr val="333333"/>
                </a:solidFill>
                <a:latin typeface="Calibri" pitchFamily="34" charset="0"/>
                <a:cs typeface="Calibri" pitchFamily="34" charset="-120"/>
              </a:rPr>
              <a:t>Key Metrics</a:t>
            </a:r>
          </a:p>
          <a:p>
            <a:pPr marL="176213" indent="-176213">
              <a:spcAft>
                <a:spcPts val="600"/>
              </a:spcAft>
              <a:buFont typeface="Arial" panose="020B0604020202020204" pitchFamily="34" charset="0"/>
              <a:buChar char="•"/>
            </a:pPr>
            <a:r>
              <a:rPr lang="en-US" sz="1400" dirty="0">
                <a:solidFill>
                  <a:srgbClr val="333333"/>
                </a:solidFill>
                <a:latin typeface="Calibri" pitchFamily="34" charset="0"/>
                <a:cs typeface="Calibri" pitchFamily="34" charset="-120"/>
              </a:rPr>
              <a:t>Implementation Path</a:t>
            </a:r>
          </a:p>
        </p:txBody>
      </p:sp>
      <p:pic>
        <p:nvPicPr>
          <p:cNvPr id="28" name="Picture 27">
            <a:extLst>
              <a:ext uri="{FF2B5EF4-FFF2-40B4-BE49-F238E27FC236}">
                <a16:creationId xmlns:a16="http://schemas.microsoft.com/office/drawing/2014/main" id="{0DCF8366-6799-F330-69C4-F08D3CB53412}"/>
              </a:ext>
            </a:extLst>
          </p:cNvPr>
          <p:cNvPicPr>
            <a:picLocks noChangeAspect="1"/>
          </p:cNvPicPr>
          <p:nvPr/>
        </p:nvPicPr>
        <p:blipFill>
          <a:blip r:embed="rId4"/>
          <a:stretch>
            <a:fillRect/>
          </a:stretch>
        </p:blipFill>
        <p:spPr>
          <a:xfrm>
            <a:off x="5937250" y="3244850"/>
            <a:ext cx="317500" cy="368300"/>
          </a:xfrm>
          <a:prstGeom prst="rect">
            <a:avLst/>
          </a:prstGeom>
        </p:spPr>
      </p:pic>
      <p:sp>
        <p:nvSpPr>
          <p:cNvPr id="30" name="TextBox 29">
            <a:extLst>
              <a:ext uri="{FF2B5EF4-FFF2-40B4-BE49-F238E27FC236}">
                <a16:creationId xmlns:a16="http://schemas.microsoft.com/office/drawing/2014/main" id="{9E25B142-DDA3-3A5A-6E0E-E66965FCE36A}"/>
              </a:ext>
            </a:extLst>
          </p:cNvPr>
          <p:cNvSpPr txBox="1"/>
          <p:nvPr/>
        </p:nvSpPr>
        <p:spPr>
          <a:xfrm>
            <a:off x="134857" y="6442950"/>
            <a:ext cx="322343" cy="36933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err="1">
              <a:ln>
                <a:noFill/>
              </a:ln>
              <a:solidFill>
                <a:srgbClr val="072941"/>
              </a:solidFill>
              <a:effectLst/>
              <a:uFillTx/>
              <a:latin typeface="+mj-lt"/>
              <a:ea typeface="+mj-ea"/>
              <a:cs typeface="+mj-cs"/>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Foundational Opportunity</a:t>
            </a:r>
          </a:p>
        </p:txBody>
      </p:sp>
      <p:sp>
        <p:nvSpPr>
          <p:cNvPr id="3" name="TextBox 2"/>
          <p:cNvSpPr txBox="1"/>
          <p:nvPr/>
        </p:nvSpPr>
        <p:spPr>
          <a:xfrm>
            <a:off x="548640" y="1168569"/>
            <a:ext cx="10972800" cy="923330"/>
          </a:xfrm>
          <a:prstGeom prst="rect">
            <a:avLst/>
          </a:prstGeom>
          <a:noFill/>
        </p:spPr>
        <p:txBody>
          <a:bodyPr wrap="square" anchor="t">
            <a:spAutoFit/>
          </a:bodyPr>
          <a:lstStyle/>
          <a:p>
            <a:pPr algn="l">
              <a:defRPr sz="1400" b="0">
                <a:solidFill>
                  <a:srgbClr val="333333"/>
                </a:solidFill>
                <a:latin typeface="Calibri"/>
              </a:defRPr>
            </a:pPr>
            <a:r>
              <a:rPr dirty="0"/>
              <a:t>Before we can realize SDLC benefits from AI, we need to </a:t>
            </a:r>
            <a:r>
              <a:rPr b="1" dirty="0"/>
              <a:t>improve access to appropriate AI tools.</a:t>
            </a:r>
          </a:p>
          <a:p>
            <a:pPr algn="l">
              <a:defRPr sz="600" b="0">
                <a:solidFill>
                  <a:srgbClr val="333333"/>
                </a:solidFill>
                <a:latin typeface="Calibri"/>
              </a:defRPr>
            </a:pPr>
            <a:endParaRPr lang="en-US" dirty="0"/>
          </a:p>
          <a:p>
            <a:pPr algn="l">
              <a:defRPr sz="1400" b="0">
                <a:solidFill>
                  <a:srgbClr val="333333"/>
                </a:solidFill>
                <a:latin typeface="Calibri"/>
              </a:defRPr>
            </a:pPr>
            <a:r>
              <a:rPr b="1" dirty="0"/>
              <a:t>MS365 Copilot </a:t>
            </a:r>
            <a:r>
              <a:rPr dirty="0"/>
              <a:t>is approved and useful for general tasks — but it is </a:t>
            </a:r>
            <a:r>
              <a:rPr lang="en-US" dirty="0"/>
              <a:t>very much inadequate for most SDLC applications</a:t>
            </a:r>
          </a:p>
          <a:p>
            <a:pPr algn="l">
              <a:defRPr sz="1400" b="0">
                <a:solidFill>
                  <a:srgbClr val="333333"/>
                </a:solidFill>
                <a:latin typeface="Calibri"/>
              </a:defRPr>
            </a:pPr>
            <a:endParaRPr lang="en-US" sz="600" dirty="0"/>
          </a:p>
          <a:p>
            <a:pPr algn="l">
              <a:defRPr sz="1400" b="0">
                <a:solidFill>
                  <a:srgbClr val="333333"/>
                </a:solidFill>
                <a:latin typeface="Calibri"/>
              </a:defRPr>
            </a:pPr>
            <a:r>
              <a:rPr dirty="0"/>
              <a:t>The first enabler is </a:t>
            </a:r>
            <a:r>
              <a:rPr b="1" dirty="0"/>
              <a:t>governance</a:t>
            </a:r>
            <a:r>
              <a:rPr dirty="0"/>
              <a:t>: getting the </a:t>
            </a:r>
            <a:r>
              <a:rPr b="1" dirty="0"/>
              <a:t>right tools approved </a:t>
            </a:r>
            <a:r>
              <a:rPr dirty="0"/>
              <a:t>for use.</a:t>
            </a:r>
          </a:p>
        </p:txBody>
      </p:sp>
      <p:sp>
        <p:nvSpPr>
          <p:cNvPr id="4" name="TextBox 3"/>
          <p:cNvSpPr txBox="1"/>
          <p:nvPr/>
        </p:nvSpPr>
        <p:spPr>
          <a:xfrm>
            <a:off x="548640" y="2415410"/>
            <a:ext cx="10972800" cy="365760"/>
          </a:xfrm>
          <a:prstGeom prst="rect">
            <a:avLst/>
          </a:prstGeom>
          <a:noFill/>
        </p:spPr>
        <p:txBody>
          <a:bodyPr wrap="square" anchor="t">
            <a:spAutoFit/>
          </a:bodyPr>
          <a:lstStyle/>
          <a:p>
            <a:pPr algn="l">
              <a:defRPr sz="1500" b="1" i="0">
                <a:solidFill>
                  <a:srgbClr val="1F4E79"/>
                </a:solidFill>
                <a:latin typeface="Calibri"/>
              </a:defRPr>
            </a:pPr>
            <a:r>
              <a:rPr dirty="0"/>
              <a:t>Three categories of AI tooling. SFS has no official enterprise approval for any of them.</a:t>
            </a:r>
          </a:p>
        </p:txBody>
      </p:sp>
      <p:sp>
        <p:nvSpPr>
          <p:cNvPr id="5" name="Rectangle 4"/>
          <p:cNvSpPr/>
          <p:nvPr/>
        </p:nvSpPr>
        <p:spPr>
          <a:xfrm>
            <a:off x="548640" y="2872610"/>
            <a:ext cx="3520440" cy="3474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2872610"/>
            <a:ext cx="3520440" cy="5029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890898"/>
            <a:ext cx="3246120" cy="502920"/>
          </a:xfrm>
          <a:prstGeom prst="rect">
            <a:avLst/>
          </a:prstGeom>
          <a:noFill/>
        </p:spPr>
        <p:txBody>
          <a:bodyPr wrap="square" anchor="ctr">
            <a:spAutoFit/>
          </a:bodyPr>
          <a:lstStyle/>
          <a:p>
            <a:pPr algn="l">
              <a:defRPr sz="1400" b="1" i="0">
                <a:solidFill>
                  <a:srgbClr val="FFFFFF"/>
                </a:solidFill>
                <a:latin typeface="Calibri"/>
              </a:defRPr>
            </a:pPr>
            <a:r>
              <a:t>Category 1: AI Chat Clients</a:t>
            </a:r>
          </a:p>
        </p:txBody>
      </p:sp>
      <p:sp>
        <p:nvSpPr>
          <p:cNvPr id="8" name="TextBox 7"/>
          <p:cNvSpPr txBox="1"/>
          <p:nvPr/>
        </p:nvSpPr>
        <p:spPr>
          <a:xfrm>
            <a:off x="685800" y="3512690"/>
            <a:ext cx="3246120" cy="274320"/>
          </a:xfrm>
          <a:prstGeom prst="rect">
            <a:avLst/>
          </a:prstGeom>
          <a:noFill/>
        </p:spPr>
        <p:txBody>
          <a:bodyPr wrap="square" anchor="t">
            <a:spAutoFit/>
          </a:bodyPr>
          <a:lstStyle/>
          <a:p>
            <a:pPr algn="l">
              <a:defRPr sz="1100" b="1" i="0">
                <a:solidFill>
                  <a:srgbClr val="1F4E79"/>
                </a:solidFill>
                <a:latin typeface="Calibri"/>
              </a:defRPr>
            </a:pPr>
            <a:r>
              <a:t>What it is:</a:t>
            </a:r>
          </a:p>
        </p:txBody>
      </p:sp>
      <p:sp>
        <p:nvSpPr>
          <p:cNvPr id="9" name="TextBox 8"/>
          <p:cNvSpPr txBox="1"/>
          <p:nvPr/>
        </p:nvSpPr>
        <p:spPr>
          <a:xfrm>
            <a:off x="685800" y="3741290"/>
            <a:ext cx="3246120" cy="594360"/>
          </a:xfrm>
          <a:prstGeom prst="rect">
            <a:avLst/>
          </a:prstGeom>
          <a:noFill/>
        </p:spPr>
        <p:txBody>
          <a:bodyPr wrap="square" anchor="t">
            <a:spAutoFit/>
          </a:bodyPr>
          <a:lstStyle/>
          <a:p>
            <a:pPr algn="l">
              <a:defRPr sz="1200" b="0" i="0">
                <a:solidFill>
                  <a:srgbClr val="333333"/>
                </a:solidFill>
                <a:latin typeface="Calibri"/>
              </a:defRPr>
            </a:pPr>
            <a:r>
              <a:t>Browser-based AI for planning, review, and analysis</a:t>
            </a:r>
          </a:p>
        </p:txBody>
      </p:sp>
      <p:sp>
        <p:nvSpPr>
          <p:cNvPr id="10" name="TextBox 9"/>
          <p:cNvSpPr txBox="1"/>
          <p:nvPr/>
        </p:nvSpPr>
        <p:spPr>
          <a:xfrm>
            <a:off x="685800" y="4335650"/>
            <a:ext cx="3246120" cy="274320"/>
          </a:xfrm>
          <a:prstGeom prst="rect">
            <a:avLst/>
          </a:prstGeom>
          <a:noFill/>
        </p:spPr>
        <p:txBody>
          <a:bodyPr wrap="square" anchor="t">
            <a:spAutoFit/>
          </a:bodyPr>
          <a:lstStyle/>
          <a:p>
            <a:pPr algn="l">
              <a:defRPr sz="1100" b="1" i="0">
                <a:solidFill>
                  <a:srgbClr val="1F4E79"/>
                </a:solidFill>
                <a:latin typeface="Calibri"/>
              </a:defRPr>
            </a:pPr>
            <a:r>
              <a:t>SDLC use:</a:t>
            </a:r>
          </a:p>
        </p:txBody>
      </p:sp>
      <p:sp>
        <p:nvSpPr>
          <p:cNvPr id="11" name="TextBox 10"/>
          <p:cNvSpPr txBox="1"/>
          <p:nvPr/>
        </p:nvSpPr>
        <p:spPr>
          <a:xfrm>
            <a:off x="685800" y="4564250"/>
            <a:ext cx="3246120" cy="594360"/>
          </a:xfrm>
          <a:prstGeom prst="rect">
            <a:avLst/>
          </a:prstGeom>
          <a:noFill/>
        </p:spPr>
        <p:txBody>
          <a:bodyPr wrap="square" anchor="t">
            <a:spAutoFit/>
          </a:bodyPr>
          <a:lstStyle/>
          <a:p>
            <a:pPr algn="l">
              <a:defRPr sz="1200" b="0" i="0">
                <a:solidFill>
                  <a:srgbClr val="333333"/>
                </a:solidFill>
                <a:latin typeface="Calibri"/>
              </a:defRPr>
            </a:pPr>
            <a:r>
              <a:t>Story quality review, discovery-to-stories, architecture diagrams, documentation</a:t>
            </a:r>
          </a:p>
        </p:txBody>
      </p:sp>
      <p:sp>
        <p:nvSpPr>
          <p:cNvPr id="12" name="TextBox 11"/>
          <p:cNvSpPr txBox="1"/>
          <p:nvPr/>
        </p:nvSpPr>
        <p:spPr>
          <a:xfrm>
            <a:off x="685800" y="5250050"/>
            <a:ext cx="3246120" cy="320040"/>
          </a:xfrm>
          <a:prstGeom prst="rect">
            <a:avLst/>
          </a:prstGeom>
          <a:noFill/>
        </p:spPr>
        <p:txBody>
          <a:bodyPr wrap="square" anchor="t">
            <a:spAutoFit/>
          </a:bodyPr>
          <a:lstStyle/>
          <a:p>
            <a:pPr algn="l">
              <a:defRPr sz="1300" b="1" i="0">
                <a:solidFill>
                  <a:srgbClr val="2E75B6"/>
                </a:solidFill>
                <a:latin typeface="Calibri"/>
              </a:defRPr>
            </a:pPr>
            <a:r>
              <a:t>Unlocks 8 of 34 opportunities</a:t>
            </a:r>
          </a:p>
        </p:txBody>
      </p:sp>
      <p:sp>
        <p:nvSpPr>
          <p:cNvPr id="13" name="Rectangle 12"/>
          <p:cNvSpPr/>
          <p:nvPr/>
        </p:nvSpPr>
        <p:spPr>
          <a:xfrm>
            <a:off x="4343400" y="2872610"/>
            <a:ext cx="3520440" cy="3474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43400" y="2872610"/>
            <a:ext cx="3520440" cy="50292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0560" y="2890898"/>
            <a:ext cx="3246120" cy="502920"/>
          </a:xfrm>
          <a:prstGeom prst="rect">
            <a:avLst/>
          </a:prstGeom>
          <a:noFill/>
        </p:spPr>
        <p:txBody>
          <a:bodyPr wrap="square" anchor="ctr">
            <a:spAutoFit/>
          </a:bodyPr>
          <a:lstStyle/>
          <a:p>
            <a:pPr algn="l">
              <a:defRPr sz="1400" b="1" i="0">
                <a:solidFill>
                  <a:srgbClr val="FFFFFF"/>
                </a:solidFill>
                <a:latin typeface="Calibri"/>
              </a:defRPr>
            </a:pPr>
            <a:r>
              <a:t>Category 2: AI Coding Tools</a:t>
            </a:r>
          </a:p>
        </p:txBody>
      </p:sp>
      <p:sp>
        <p:nvSpPr>
          <p:cNvPr id="16" name="TextBox 15"/>
          <p:cNvSpPr txBox="1"/>
          <p:nvPr/>
        </p:nvSpPr>
        <p:spPr>
          <a:xfrm>
            <a:off x="4480560" y="3512690"/>
            <a:ext cx="3246120" cy="274320"/>
          </a:xfrm>
          <a:prstGeom prst="rect">
            <a:avLst/>
          </a:prstGeom>
          <a:noFill/>
        </p:spPr>
        <p:txBody>
          <a:bodyPr wrap="square" anchor="t">
            <a:spAutoFit/>
          </a:bodyPr>
          <a:lstStyle/>
          <a:p>
            <a:pPr algn="l">
              <a:defRPr sz="1100" b="1" i="0">
                <a:solidFill>
                  <a:srgbClr val="1F4E79"/>
                </a:solidFill>
                <a:latin typeface="Calibri"/>
              </a:defRPr>
            </a:pPr>
            <a:r>
              <a:t>What it is:</a:t>
            </a:r>
          </a:p>
        </p:txBody>
      </p:sp>
      <p:sp>
        <p:nvSpPr>
          <p:cNvPr id="17" name="TextBox 16"/>
          <p:cNvSpPr txBox="1"/>
          <p:nvPr/>
        </p:nvSpPr>
        <p:spPr>
          <a:xfrm>
            <a:off x="4480560" y="3741290"/>
            <a:ext cx="3246120" cy="594360"/>
          </a:xfrm>
          <a:prstGeom prst="rect">
            <a:avLst/>
          </a:prstGeom>
          <a:noFill/>
        </p:spPr>
        <p:txBody>
          <a:bodyPr wrap="square" anchor="t">
            <a:spAutoFit/>
          </a:bodyPr>
          <a:lstStyle/>
          <a:p>
            <a:pPr algn="l">
              <a:defRPr sz="1200" b="0" i="0">
                <a:solidFill>
                  <a:srgbClr val="333333"/>
                </a:solidFill>
                <a:latin typeface="Calibri"/>
              </a:defRPr>
            </a:pPr>
            <a:r>
              <a:t>IDE-integrated code assistance, from autocomplete to agentic multi-file work</a:t>
            </a:r>
          </a:p>
        </p:txBody>
      </p:sp>
      <p:sp>
        <p:nvSpPr>
          <p:cNvPr id="18" name="TextBox 17"/>
          <p:cNvSpPr txBox="1"/>
          <p:nvPr/>
        </p:nvSpPr>
        <p:spPr>
          <a:xfrm>
            <a:off x="4480560" y="4335650"/>
            <a:ext cx="3246120" cy="274320"/>
          </a:xfrm>
          <a:prstGeom prst="rect">
            <a:avLst/>
          </a:prstGeom>
          <a:noFill/>
        </p:spPr>
        <p:txBody>
          <a:bodyPr wrap="square" anchor="t">
            <a:spAutoFit/>
          </a:bodyPr>
          <a:lstStyle/>
          <a:p>
            <a:pPr algn="l">
              <a:defRPr sz="1100" b="1" i="0">
                <a:solidFill>
                  <a:srgbClr val="1F4E79"/>
                </a:solidFill>
                <a:latin typeface="Calibri"/>
              </a:defRPr>
            </a:pPr>
            <a:r>
              <a:t>SDLC use:</a:t>
            </a:r>
          </a:p>
        </p:txBody>
      </p:sp>
      <p:sp>
        <p:nvSpPr>
          <p:cNvPr id="19" name="TextBox 18"/>
          <p:cNvSpPr txBox="1"/>
          <p:nvPr/>
        </p:nvSpPr>
        <p:spPr>
          <a:xfrm>
            <a:off x="4480560" y="4564250"/>
            <a:ext cx="3246120" cy="594360"/>
          </a:xfrm>
          <a:prstGeom prst="rect">
            <a:avLst/>
          </a:prstGeom>
          <a:noFill/>
        </p:spPr>
        <p:txBody>
          <a:bodyPr wrap="square" anchor="t">
            <a:spAutoFit/>
          </a:bodyPr>
          <a:lstStyle/>
          <a:p>
            <a:pPr algn="l">
              <a:defRPr sz="1200" b="0" i="0">
                <a:solidFill>
                  <a:srgbClr val="333333"/>
                </a:solidFill>
                <a:latin typeface="Calibri"/>
              </a:defRPr>
            </a:pPr>
            <a:r>
              <a:t>Code assist, code review, test gen, migration code, CI/CD pipelines</a:t>
            </a:r>
          </a:p>
        </p:txBody>
      </p:sp>
      <p:sp>
        <p:nvSpPr>
          <p:cNvPr id="20" name="TextBox 19"/>
          <p:cNvSpPr txBox="1"/>
          <p:nvPr/>
        </p:nvSpPr>
        <p:spPr>
          <a:xfrm>
            <a:off x="4480560" y="5250050"/>
            <a:ext cx="3246120" cy="320040"/>
          </a:xfrm>
          <a:prstGeom prst="rect">
            <a:avLst/>
          </a:prstGeom>
          <a:noFill/>
        </p:spPr>
        <p:txBody>
          <a:bodyPr wrap="square" anchor="t">
            <a:spAutoFit/>
          </a:bodyPr>
          <a:lstStyle/>
          <a:p>
            <a:pPr algn="l">
              <a:defRPr sz="1300" b="1" i="0">
                <a:solidFill>
                  <a:srgbClr val="548235"/>
                </a:solidFill>
                <a:latin typeface="Calibri"/>
              </a:defRPr>
            </a:pPr>
            <a:r>
              <a:t>Unlocks 24 of 34 opportunities</a:t>
            </a:r>
          </a:p>
        </p:txBody>
      </p:sp>
      <p:sp>
        <p:nvSpPr>
          <p:cNvPr id="21" name="Rectangle 20"/>
          <p:cNvSpPr/>
          <p:nvPr/>
        </p:nvSpPr>
        <p:spPr>
          <a:xfrm>
            <a:off x="8138160" y="2872610"/>
            <a:ext cx="3520440" cy="3474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38160" y="2872610"/>
            <a:ext cx="3520440" cy="5029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75320" y="2890898"/>
            <a:ext cx="3246120" cy="502920"/>
          </a:xfrm>
          <a:prstGeom prst="rect">
            <a:avLst/>
          </a:prstGeom>
          <a:noFill/>
        </p:spPr>
        <p:txBody>
          <a:bodyPr wrap="square" anchor="ctr">
            <a:spAutoFit/>
          </a:bodyPr>
          <a:lstStyle/>
          <a:p>
            <a:pPr algn="l">
              <a:defRPr sz="1400" b="1" i="0">
                <a:solidFill>
                  <a:srgbClr val="FFFFFF"/>
                </a:solidFill>
                <a:latin typeface="Calibri"/>
              </a:defRPr>
            </a:pPr>
            <a:r>
              <a:t>Category 3: Enterprise AI API Access</a:t>
            </a:r>
          </a:p>
        </p:txBody>
      </p:sp>
      <p:sp>
        <p:nvSpPr>
          <p:cNvPr id="24" name="TextBox 23"/>
          <p:cNvSpPr txBox="1"/>
          <p:nvPr/>
        </p:nvSpPr>
        <p:spPr>
          <a:xfrm>
            <a:off x="8275320" y="3512690"/>
            <a:ext cx="3246120" cy="274320"/>
          </a:xfrm>
          <a:prstGeom prst="rect">
            <a:avLst/>
          </a:prstGeom>
          <a:noFill/>
        </p:spPr>
        <p:txBody>
          <a:bodyPr wrap="square" anchor="t">
            <a:spAutoFit/>
          </a:bodyPr>
          <a:lstStyle/>
          <a:p>
            <a:pPr algn="l">
              <a:defRPr sz="1100" b="1" i="0">
                <a:solidFill>
                  <a:srgbClr val="1F4E79"/>
                </a:solidFill>
                <a:latin typeface="Calibri"/>
              </a:defRPr>
            </a:pPr>
            <a:r>
              <a:t>What it is:</a:t>
            </a:r>
          </a:p>
        </p:txBody>
      </p:sp>
      <p:sp>
        <p:nvSpPr>
          <p:cNvPr id="25" name="TextBox 24"/>
          <p:cNvSpPr txBox="1"/>
          <p:nvPr/>
        </p:nvSpPr>
        <p:spPr>
          <a:xfrm>
            <a:off x="8275320" y="3741290"/>
            <a:ext cx="3246120" cy="594360"/>
          </a:xfrm>
          <a:prstGeom prst="rect">
            <a:avLst/>
          </a:prstGeom>
          <a:noFill/>
        </p:spPr>
        <p:txBody>
          <a:bodyPr wrap="square" anchor="t">
            <a:spAutoFit/>
          </a:bodyPr>
          <a:lstStyle/>
          <a:p>
            <a:pPr algn="l">
              <a:defRPr sz="1200" b="0" i="0">
                <a:solidFill>
                  <a:srgbClr val="333333"/>
                </a:solidFill>
                <a:latin typeface="Calibri"/>
              </a:defRPr>
            </a:pPr>
            <a:r>
              <a:t>Programmatic AI for automated pipeline integration</a:t>
            </a:r>
          </a:p>
        </p:txBody>
      </p:sp>
      <p:sp>
        <p:nvSpPr>
          <p:cNvPr id="26" name="TextBox 25"/>
          <p:cNvSpPr txBox="1"/>
          <p:nvPr/>
        </p:nvSpPr>
        <p:spPr>
          <a:xfrm>
            <a:off x="8275320" y="4335650"/>
            <a:ext cx="3246120" cy="274320"/>
          </a:xfrm>
          <a:prstGeom prst="rect">
            <a:avLst/>
          </a:prstGeom>
          <a:noFill/>
        </p:spPr>
        <p:txBody>
          <a:bodyPr wrap="square" anchor="t">
            <a:spAutoFit/>
          </a:bodyPr>
          <a:lstStyle/>
          <a:p>
            <a:pPr algn="l">
              <a:defRPr sz="1100" b="1" i="0">
                <a:solidFill>
                  <a:srgbClr val="1F4E79"/>
                </a:solidFill>
                <a:latin typeface="Calibri"/>
              </a:defRPr>
            </a:pPr>
            <a:r>
              <a:t>SDLC use:</a:t>
            </a:r>
          </a:p>
        </p:txBody>
      </p:sp>
      <p:sp>
        <p:nvSpPr>
          <p:cNvPr id="27" name="TextBox 26"/>
          <p:cNvSpPr txBox="1"/>
          <p:nvPr/>
        </p:nvSpPr>
        <p:spPr>
          <a:xfrm>
            <a:off x="8275320" y="4564250"/>
            <a:ext cx="3246120" cy="594360"/>
          </a:xfrm>
          <a:prstGeom prst="rect">
            <a:avLst/>
          </a:prstGeom>
          <a:noFill/>
        </p:spPr>
        <p:txBody>
          <a:bodyPr wrap="square" anchor="t">
            <a:spAutoFit/>
          </a:bodyPr>
          <a:lstStyle/>
          <a:p>
            <a:pPr algn="l">
              <a:defRPr sz="1200" b="0" i="0">
                <a:solidFill>
                  <a:srgbClr val="333333"/>
                </a:solidFill>
                <a:latin typeface="Calibri"/>
              </a:defRPr>
            </a:pPr>
            <a:r>
              <a:t>CI/CD quality gates, scheduled analysis, system-to-system automation</a:t>
            </a:r>
          </a:p>
        </p:txBody>
      </p:sp>
      <p:sp>
        <p:nvSpPr>
          <p:cNvPr id="28" name="TextBox 27"/>
          <p:cNvSpPr txBox="1"/>
          <p:nvPr/>
        </p:nvSpPr>
        <p:spPr>
          <a:xfrm>
            <a:off x="8275320" y="5250050"/>
            <a:ext cx="3246120" cy="320040"/>
          </a:xfrm>
          <a:prstGeom prst="rect">
            <a:avLst/>
          </a:prstGeom>
          <a:noFill/>
        </p:spPr>
        <p:txBody>
          <a:bodyPr wrap="square" anchor="t">
            <a:spAutoFit/>
          </a:bodyPr>
          <a:lstStyle/>
          <a:p>
            <a:pPr algn="l">
              <a:defRPr sz="1300" b="1" i="0">
                <a:solidFill>
                  <a:srgbClr val="4472C4"/>
                </a:solidFill>
                <a:latin typeface="Calibri"/>
              </a:defRPr>
            </a:pPr>
            <a:r>
              <a:t>Unlocks remaining automation opportunities</a:t>
            </a:r>
          </a:p>
        </p:txBody>
      </p:sp>
      <p:pic>
        <p:nvPicPr>
          <p:cNvPr id="29" name="Picture 28">
            <a:extLst>
              <a:ext uri="{FF2B5EF4-FFF2-40B4-BE49-F238E27FC236}">
                <a16:creationId xmlns:a16="http://schemas.microsoft.com/office/drawing/2014/main" id="{A8A21FF8-66C4-5EA7-0F1B-B16480BFAD8A}"/>
              </a:ext>
            </a:extLst>
          </p:cNvPr>
          <p:cNvPicPr>
            <a:picLocks noChangeAspect="1"/>
          </p:cNvPicPr>
          <p:nvPr/>
        </p:nvPicPr>
        <p:blipFill>
          <a:blip r:embed="rId3"/>
          <a:stretch>
            <a:fillRect/>
          </a:stretch>
        </p:blipFill>
        <p:spPr>
          <a:xfrm>
            <a:off x="182880" y="6396349"/>
            <a:ext cx="11112262" cy="4284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Getting to the Right Toolset</a:t>
            </a:r>
          </a:p>
        </p:txBody>
      </p:sp>
      <p:sp>
        <p:nvSpPr>
          <p:cNvPr id="3" name="TextBox 2"/>
          <p:cNvSpPr txBox="1"/>
          <p:nvPr/>
        </p:nvSpPr>
        <p:spPr>
          <a:xfrm>
            <a:off x="548640" y="1371600"/>
            <a:ext cx="10972800" cy="833305"/>
          </a:xfrm>
          <a:prstGeom prst="rect">
            <a:avLst/>
          </a:prstGeom>
          <a:noFill/>
        </p:spPr>
        <p:txBody>
          <a:bodyPr wrap="square" anchor="t">
            <a:spAutoFit/>
          </a:bodyPr>
          <a:lstStyle/>
          <a:p>
            <a:pPr algn="l">
              <a:lnSpc>
                <a:spcPts val="3000"/>
              </a:lnSpc>
              <a:defRPr sz="2000" b="1" i="0">
                <a:solidFill>
                  <a:srgbClr val="1F4E79"/>
                </a:solidFill>
                <a:latin typeface="Calibri"/>
              </a:defRPr>
            </a:pPr>
            <a:r>
              <a:rPr lang="en-US" dirty="0"/>
              <a:t>Utilize the governance framework to</a:t>
            </a:r>
            <a:r>
              <a:rPr dirty="0"/>
              <a:t> approve enterprise access to </a:t>
            </a:r>
            <a:r>
              <a:rPr lang="en-US" dirty="0"/>
              <a:t>the appropriate</a:t>
            </a:r>
            <a:r>
              <a:rPr dirty="0"/>
              <a:t> tools per category — then apply them case by case.</a:t>
            </a:r>
          </a:p>
        </p:txBody>
      </p:sp>
      <p:sp>
        <p:nvSpPr>
          <p:cNvPr id="4" name="TextBox 3"/>
          <p:cNvSpPr txBox="1"/>
          <p:nvPr/>
        </p:nvSpPr>
        <p:spPr>
          <a:xfrm>
            <a:off x="548640" y="2560320"/>
            <a:ext cx="10972800" cy="1858842"/>
          </a:xfrm>
          <a:prstGeom prst="rect">
            <a:avLst/>
          </a:prstGeom>
          <a:noFill/>
        </p:spPr>
        <p:txBody>
          <a:bodyPr wrap="square" anchor="t">
            <a:spAutoFit/>
          </a:bodyPr>
          <a:lstStyle/>
          <a:p>
            <a:pPr algn="l">
              <a:lnSpc>
                <a:spcPts val="2800"/>
              </a:lnSpc>
              <a:defRPr sz="1800" b="0" i="0">
                <a:solidFill>
                  <a:srgbClr val="333333"/>
                </a:solidFill>
                <a:latin typeface="Calibri"/>
              </a:defRPr>
            </a:pPr>
            <a:r>
              <a:rPr dirty="0"/>
              <a:t>One size does not fit all. </a:t>
            </a:r>
            <a:endParaRPr lang="en-US" dirty="0"/>
          </a:p>
          <a:p>
            <a:pPr marL="285750" indent="-285750" algn="l">
              <a:lnSpc>
                <a:spcPts val="2800"/>
              </a:lnSpc>
              <a:buFont typeface="Arial" panose="020B0604020202020204" pitchFamily="34" charset="0"/>
              <a:buChar char="•"/>
              <a:defRPr sz="1800" b="0" i="0">
                <a:solidFill>
                  <a:srgbClr val="333333"/>
                </a:solidFill>
                <a:latin typeface="Calibri"/>
              </a:defRPr>
            </a:pPr>
            <a:r>
              <a:rPr dirty="0"/>
              <a:t>Different workflows </a:t>
            </a:r>
            <a:r>
              <a:rPr lang="en-US" dirty="0"/>
              <a:t>and use cases </a:t>
            </a:r>
            <a:r>
              <a:rPr dirty="0"/>
              <a:t>have different pain points, different existing toolchains, different reasoning demands, and different levels of task complexity. </a:t>
            </a:r>
            <a:endParaRPr lang="en-US" dirty="0"/>
          </a:p>
          <a:p>
            <a:pPr marL="285750" indent="-285750" algn="l">
              <a:lnSpc>
                <a:spcPts val="2800"/>
              </a:lnSpc>
              <a:buFont typeface="Arial" panose="020B0604020202020204" pitchFamily="34" charset="0"/>
              <a:buChar char="•"/>
              <a:defRPr sz="1800" b="0" i="0">
                <a:solidFill>
                  <a:srgbClr val="333333"/>
                </a:solidFill>
                <a:latin typeface="Calibri"/>
              </a:defRPr>
            </a:pPr>
            <a:r>
              <a:rPr dirty="0"/>
              <a:t>The right tool </a:t>
            </a:r>
            <a:r>
              <a:rPr lang="en-US" dirty="0"/>
              <a:t>for a given use case depends on ecosystem integration considerations, cost, team priorities, and myriad other factors.</a:t>
            </a:r>
            <a:endParaRPr dirty="0"/>
          </a:p>
        </p:txBody>
      </p:sp>
      <p:sp>
        <p:nvSpPr>
          <p:cNvPr id="5" name="Rectangle 4"/>
          <p:cNvSpPr/>
          <p:nvPr/>
        </p:nvSpPr>
        <p:spPr>
          <a:xfrm>
            <a:off x="548640" y="4830821"/>
            <a:ext cx="11064240" cy="822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876541"/>
            <a:ext cx="10698480" cy="731520"/>
          </a:xfrm>
          <a:prstGeom prst="rect">
            <a:avLst/>
          </a:prstGeom>
          <a:noFill/>
        </p:spPr>
        <p:txBody>
          <a:bodyPr wrap="square" anchor="ctr">
            <a:spAutoFit/>
          </a:bodyPr>
          <a:lstStyle/>
          <a:p>
            <a:pPr algn="l">
              <a:defRPr sz="1600" b="0" i="0">
                <a:solidFill>
                  <a:srgbClr val="666666"/>
                </a:solidFill>
                <a:latin typeface="Calibri"/>
              </a:defRPr>
            </a:pPr>
            <a:r>
              <a:rPr dirty="0"/>
              <a:t>We’ve outlined evaluation criteria and specific considerations for each category. See Appendix: Tooling for the full comparison.</a:t>
            </a:r>
          </a:p>
        </p:txBody>
      </p:sp>
      <p:pic>
        <p:nvPicPr>
          <p:cNvPr id="7" name="Picture 6">
            <a:extLst>
              <a:ext uri="{FF2B5EF4-FFF2-40B4-BE49-F238E27FC236}">
                <a16:creationId xmlns:a16="http://schemas.microsoft.com/office/drawing/2014/main" id="{40FEC60B-2EC7-4173-1375-609DA59E1B97}"/>
              </a:ext>
            </a:extLst>
          </p:cNvPr>
          <p:cNvPicPr>
            <a:picLocks noChangeAspect="1"/>
          </p:cNvPicPr>
          <p:nvPr/>
        </p:nvPicPr>
        <p:blipFill>
          <a:blip r:embed="rId2"/>
          <a:stretch>
            <a:fillRect/>
          </a:stretch>
        </p:blipFill>
        <p:spPr>
          <a:xfrm>
            <a:off x="182880" y="6396349"/>
            <a:ext cx="11112262" cy="4284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to Consider When Evaluating Tools</a:t>
            </a:r>
          </a:p>
        </p:txBody>
      </p:sp>
      <p:sp>
        <p:nvSpPr>
          <p:cNvPr id="3" name="TextBox 2"/>
          <p:cNvSpPr txBox="1"/>
          <p:nvPr/>
        </p:nvSpPr>
        <p:spPr>
          <a:xfrm>
            <a:off x="548640" y="1005840"/>
            <a:ext cx="10972800" cy="365760"/>
          </a:xfrm>
          <a:prstGeom prst="rect">
            <a:avLst/>
          </a:prstGeom>
          <a:noFill/>
        </p:spPr>
        <p:txBody>
          <a:bodyPr wrap="square" anchor="t">
            <a:spAutoFit/>
          </a:bodyPr>
          <a:lstStyle/>
          <a:p>
            <a:pPr algn="l">
              <a:defRPr sz="1500" b="0" i="0">
                <a:solidFill>
                  <a:srgbClr val="333333"/>
                </a:solidFill>
                <a:latin typeface="Calibri"/>
              </a:defRPr>
            </a:pPr>
            <a:r>
              <a:t>Regardless of category, tool evaluation involves the same core dimensions:</a:t>
            </a:r>
          </a:p>
        </p:txBody>
      </p:sp>
      <p:sp>
        <p:nvSpPr>
          <p:cNvPr id="4" name="Rectangle 3"/>
          <p:cNvSpPr/>
          <p:nvPr/>
        </p:nvSpPr>
        <p:spPr>
          <a:xfrm>
            <a:off x="548640" y="1508760"/>
            <a:ext cx="11064240" cy="5669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54480"/>
            <a:ext cx="2651760" cy="457200"/>
          </a:xfrm>
          <a:prstGeom prst="rect">
            <a:avLst/>
          </a:prstGeom>
          <a:noFill/>
        </p:spPr>
        <p:txBody>
          <a:bodyPr wrap="square" anchor="ctr">
            <a:spAutoFit/>
          </a:bodyPr>
          <a:lstStyle/>
          <a:p>
            <a:pPr algn="l">
              <a:defRPr sz="1400" b="1" i="0">
                <a:solidFill>
                  <a:srgbClr val="1F4E79"/>
                </a:solidFill>
                <a:latin typeface="Calibri"/>
              </a:defRPr>
            </a:pPr>
            <a:r>
              <a:t>Seat cost</a:t>
            </a:r>
          </a:p>
        </p:txBody>
      </p:sp>
      <p:sp>
        <p:nvSpPr>
          <p:cNvPr id="6" name="TextBox 5"/>
          <p:cNvSpPr txBox="1"/>
          <p:nvPr/>
        </p:nvSpPr>
        <p:spPr>
          <a:xfrm>
            <a:off x="3383280" y="1554480"/>
            <a:ext cx="8046720" cy="457200"/>
          </a:xfrm>
          <a:prstGeom prst="rect">
            <a:avLst/>
          </a:prstGeom>
          <a:noFill/>
        </p:spPr>
        <p:txBody>
          <a:bodyPr wrap="square" anchor="ctr">
            <a:spAutoFit/>
          </a:bodyPr>
          <a:lstStyle/>
          <a:p>
            <a:pPr algn="l">
              <a:defRPr sz="1300" b="0" i="0">
                <a:solidFill>
                  <a:srgbClr val="333333"/>
                </a:solidFill>
                <a:latin typeface="Calibri"/>
              </a:defRPr>
            </a:pPr>
            <a:r>
              <a:t>Subscription pricing varies from $10 to $200/month depending on capability tier</a:t>
            </a:r>
          </a:p>
        </p:txBody>
      </p:sp>
      <p:sp>
        <p:nvSpPr>
          <p:cNvPr id="7" name="TextBox 6"/>
          <p:cNvSpPr txBox="1"/>
          <p:nvPr/>
        </p:nvSpPr>
        <p:spPr>
          <a:xfrm>
            <a:off x="640080" y="2194559"/>
            <a:ext cx="2651760" cy="457200"/>
          </a:xfrm>
          <a:prstGeom prst="rect">
            <a:avLst/>
          </a:prstGeom>
          <a:noFill/>
        </p:spPr>
        <p:txBody>
          <a:bodyPr wrap="square" anchor="ctr">
            <a:spAutoFit/>
          </a:bodyPr>
          <a:lstStyle/>
          <a:p>
            <a:pPr algn="l">
              <a:defRPr sz="1400" b="1" i="0">
                <a:solidFill>
                  <a:srgbClr val="1F4E79"/>
                </a:solidFill>
                <a:latin typeface="Calibri"/>
              </a:defRPr>
            </a:pPr>
            <a:r>
              <a:t>Enterprise pricing</a:t>
            </a:r>
          </a:p>
        </p:txBody>
      </p:sp>
      <p:sp>
        <p:nvSpPr>
          <p:cNvPr id="8" name="TextBox 7"/>
          <p:cNvSpPr txBox="1"/>
          <p:nvPr/>
        </p:nvSpPr>
        <p:spPr>
          <a:xfrm>
            <a:off x="3383280" y="2194559"/>
            <a:ext cx="8046720" cy="457200"/>
          </a:xfrm>
          <a:prstGeom prst="rect">
            <a:avLst/>
          </a:prstGeom>
          <a:noFill/>
        </p:spPr>
        <p:txBody>
          <a:bodyPr wrap="square" anchor="ctr">
            <a:spAutoFit/>
          </a:bodyPr>
          <a:lstStyle/>
          <a:p>
            <a:pPr algn="l">
              <a:defRPr sz="1300" b="0" i="0">
                <a:solidFill>
                  <a:srgbClr val="333333"/>
                </a:solidFill>
                <a:latin typeface="Calibri"/>
              </a:defRPr>
            </a:pPr>
            <a:r>
              <a:t>Volume discounts, bundled plans, shared subscription budgets across tools</a:t>
            </a:r>
          </a:p>
        </p:txBody>
      </p:sp>
      <p:sp>
        <p:nvSpPr>
          <p:cNvPr id="9" name="Rectangle 8"/>
          <p:cNvSpPr/>
          <p:nvPr/>
        </p:nvSpPr>
        <p:spPr>
          <a:xfrm>
            <a:off x="548640" y="2788920"/>
            <a:ext cx="11064240" cy="5669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834639"/>
            <a:ext cx="2651760" cy="457200"/>
          </a:xfrm>
          <a:prstGeom prst="rect">
            <a:avLst/>
          </a:prstGeom>
          <a:noFill/>
        </p:spPr>
        <p:txBody>
          <a:bodyPr wrap="square" anchor="ctr">
            <a:spAutoFit/>
          </a:bodyPr>
          <a:lstStyle/>
          <a:p>
            <a:pPr algn="l">
              <a:defRPr sz="1400" b="1" i="0">
                <a:solidFill>
                  <a:srgbClr val="1F4E79"/>
                </a:solidFill>
                <a:latin typeface="Calibri"/>
              </a:defRPr>
            </a:pPr>
            <a:r>
              <a:t>Vendor relationship</a:t>
            </a:r>
          </a:p>
        </p:txBody>
      </p:sp>
      <p:sp>
        <p:nvSpPr>
          <p:cNvPr id="11" name="TextBox 10"/>
          <p:cNvSpPr txBox="1"/>
          <p:nvPr/>
        </p:nvSpPr>
        <p:spPr>
          <a:xfrm>
            <a:off x="3383280" y="2834639"/>
            <a:ext cx="8046720" cy="457200"/>
          </a:xfrm>
          <a:prstGeom prst="rect">
            <a:avLst/>
          </a:prstGeom>
          <a:noFill/>
        </p:spPr>
        <p:txBody>
          <a:bodyPr wrap="square" anchor="ctr">
            <a:spAutoFit/>
          </a:bodyPr>
          <a:lstStyle/>
          <a:p>
            <a:pPr algn="l">
              <a:defRPr sz="1300" b="0" i="0">
                <a:solidFill>
                  <a:srgbClr val="333333"/>
                </a:solidFill>
                <a:latin typeface="Calibri"/>
              </a:defRPr>
            </a:pPr>
            <a:r>
              <a:t>Existing enterprise agreements, procurement pathway, support and SLA terms</a:t>
            </a:r>
          </a:p>
        </p:txBody>
      </p:sp>
      <p:sp>
        <p:nvSpPr>
          <p:cNvPr id="12" name="TextBox 11"/>
          <p:cNvSpPr txBox="1"/>
          <p:nvPr/>
        </p:nvSpPr>
        <p:spPr>
          <a:xfrm>
            <a:off x="640080" y="3474719"/>
            <a:ext cx="2651760" cy="457200"/>
          </a:xfrm>
          <a:prstGeom prst="rect">
            <a:avLst/>
          </a:prstGeom>
          <a:noFill/>
        </p:spPr>
        <p:txBody>
          <a:bodyPr wrap="square" anchor="ctr">
            <a:spAutoFit/>
          </a:bodyPr>
          <a:lstStyle/>
          <a:p>
            <a:pPr algn="l">
              <a:defRPr sz="1400" b="1" i="0">
                <a:solidFill>
                  <a:srgbClr val="1F4E79"/>
                </a:solidFill>
                <a:latin typeface="Calibri"/>
              </a:defRPr>
            </a:pPr>
            <a:r>
              <a:t>Security / data handling</a:t>
            </a:r>
          </a:p>
        </p:txBody>
      </p:sp>
      <p:sp>
        <p:nvSpPr>
          <p:cNvPr id="13" name="TextBox 12"/>
          <p:cNvSpPr txBox="1"/>
          <p:nvPr/>
        </p:nvSpPr>
        <p:spPr>
          <a:xfrm>
            <a:off x="3383280" y="3474719"/>
            <a:ext cx="8046720" cy="457200"/>
          </a:xfrm>
          <a:prstGeom prst="rect">
            <a:avLst/>
          </a:prstGeom>
          <a:noFill/>
        </p:spPr>
        <p:txBody>
          <a:bodyPr wrap="square" anchor="ctr">
            <a:spAutoFit/>
          </a:bodyPr>
          <a:lstStyle/>
          <a:p>
            <a:pPr algn="l">
              <a:defRPr sz="1300" b="0" i="0">
                <a:solidFill>
                  <a:srgbClr val="333333"/>
                </a:solidFill>
                <a:latin typeface="Calibri"/>
              </a:defRPr>
            </a:pPr>
            <a:r>
              <a:t>SOC 2, data retention and training policies, zero-retention options, hosting options</a:t>
            </a:r>
          </a:p>
        </p:txBody>
      </p:sp>
      <p:sp>
        <p:nvSpPr>
          <p:cNvPr id="14" name="Rectangle 13"/>
          <p:cNvSpPr/>
          <p:nvPr/>
        </p:nvSpPr>
        <p:spPr>
          <a:xfrm>
            <a:off x="548640" y="4069079"/>
            <a:ext cx="11064240" cy="5669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4114799"/>
            <a:ext cx="2651760" cy="457200"/>
          </a:xfrm>
          <a:prstGeom prst="rect">
            <a:avLst/>
          </a:prstGeom>
          <a:noFill/>
        </p:spPr>
        <p:txBody>
          <a:bodyPr wrap="square" anchor="ctr">
            <a:spAutoFit/>
          </a:bodyPr>
          <a:lstStyle/>
          <a:p>
            <a:pPr algn="l">
              <a:defRPr sz="1400" b="1" i="0">
                <a:solidFill>
                  <a:srgbClr val="1F4E79"/>
                </a:solidFill>
                <a:latin typeface="Calibri"/>
              </a:defRPr>
            </a:pPr>
            <a:r>
              <a:t>Workflow integration</a:t>
            </a:r>
          </a:p>
        </p:txBody>
      </p:sp>
      <p:sp>
        <p:nvSpPr>
          <p:cNvPr id="16" name="TextBox 15"/>
          <p:cNvSpPr txBox="1"/>
          <p:nvPr/>
        </p:nvSpPr>
        <p:spPr>
          <a:xfrm>
            <a:off x="3383280" y="4114799"/>
            <a:ext cx="8046720" cy="457200"/>
          </a:xfrm>
          <a:prstGeom prst="rect">
            <a:avLst/>
          </a:prstGeom>
          <a:noFill/>
        </p:spPr>
        <p:txBody>
          <a:bodyPr wrap="square" anchor="ctr">
            <a:spAutoFit/>
          </a:bodyPr>
          <a:lstStyle/>
          <a:p>
            <a:pPr algn="l">
              <a:defRPr sz="1300" b="0" i="0">
                <a:solidFill>
                  <a:srgbClr val="333333"/>
                </a:solidFill>
                <a:latin typeface="Calibri"/>
              </a:defRPr>
            </a:pPr>
            <a:r>
              <a:t>IDE compatibility, CI/CD platform support, existing toolchain fit</a:t>
            </a:r>
          </a:p>
        </p:txBody>
      </p:sp>
      <p:sp>
        <p:nvSpPr>
          <p:cNvPr id="17" name="TextBox 16"/>
          <p:cNvSpPr txBox="1"/>
          <p:nvPr/>
        </p:nvSpPr>
        <p:spPr>
          <a:xfrm>
            <a:off x="640080" y="4754880"/>
            <a:ext cx="2651760" cy="457200"/>
          </a:xfrm>
          <a:prstGeom prst="rect">
            <a:avLst/>
          </a:prstGeom>
          <a:noFill/>
        </p:spPr>
        <p:txBody>
          <a:bodyPr wrap="square" anchor="ctr">
            <a:spAutoFit/>
          </a:bodyPr>
          <a:lstStyle/>
          <a:p>
            <a:pPr algn="l">
              <a:defRPr sz="1400" b="1" i="0">
                <a:solidFill>
                  <a:srgbClr val="1F4E79"/>
                </a:solidFill>
                <a:latin typeface="Calibri"/>
              </a:defRPr>
            </a:pPr>
            <a:r>
              <a:t>Model quality &amp; reasoning</a:t>
            </a:r>
          </a:p>
        </p:txBody>
      </p:sp>
      <p:sp>
        <p:nvSpPr>
          <p:cNvPr id="18" name="TextBox 17"/>
          <p:cNvSpPr txBox="1"/>
          <p:nvPr/>
        </p:nvSpPr>
        <p:spPr>
          <a:xfrm>
            <a:off x="3383280" y="4754880"/>
            <a:ext cx="8046720" cy="457200"/>
          </a:xfrm>
          <a:prstGeom prst="rect">
            <a:avLst/>
          </a:prstGeom>
          <a:noFill/>
        </p:spPr>
        <p:txBody>
          <a:bodyPr wrap="square" anchor="ctr">
            <a:spAutoFit/>
          </a:bodyPr>
          <a:lstStyle/>
          <a:p>
            <a:pPr algn="l">
              <a:defRPr sz="1300" b="0" i="0">
                <a:solidFill>
                  <a:srgbClr val="333333"/>
                </a:solidFill>
                <a:latin typeface="Calibri"/>
              </a:defRPr>
            </a:pPr>
            <a:r>
              <a:t>Reasoning capability is what separates tools that actually accelerate development from tools that produce unreliable output and create rework</a:t>
            </a:r>
          </a:p>
        </p:txBody>
      </p:sp>
      <p:sp>
        <p:nvSpPr>
          <p:cNvPr id="19" name="Rectangle 18"/>
          <p:cNvSpPr/>
          <p:nvPr/>
        </p:nvSpPr>
        <p:spPr>
          <a:xfrm>
            <a:off x="548640" y="5349240"/>
            <a:ext cx="11064240" cy="5669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5394959"/>
            <a:ext cx="2651760" cy="457200"/>
          </a:xfrm>
          <a:prstGeom prst="rect">
            <a:avLst/>
          </a:prstGeom>
          <a:noFill/>
        </p:spPr>
        <p:txBody>
          <a:bodyPr wrap="square" anchor="ctr">
            <a:spAutoFit/>
          </a:bodyPr>
          <a:lstStyle/>
          <a:p>
            <a:pPr algn="l">
              <a:defRPr sz="1400" b="1" i="0">
                <a:solidFill>
                  <a:srgbClr val="1F4E79"/>
                </a:solidFill>
                <a:latin typeface="Calibri"/>
              </a:defRPr>
            </a:pPr>
            <a:r>
              <a:t>Cost structure</a:t>
            </a:r>
          </a:p>
        </p:txBody>
      </p:sp>
      <p:sp>
        <p:nvSpPr>
          <p:cNvPr id="21" name="TextBox 20"/>
          <p:cNvSpPr txBox="1"/>
          <p:nvPr/>
        </p:nvSpPr>
        <p:spPr>
          <a:xfrm>
            <a:off x="3383280" y="5394959"/>
            <a:ext cx="8046720" cy="457200"/>
          </a:xfrm>
          <a:prstGeom prst="rect">
            <a:avLst/>
          </a:prstGeom>
          <a:noFill/>
        </p:spPr>
        <p:txBody>
          <a:bodyPr wrap="square" anchor="ctr">
            <a:spAutoFit/>
          </a:bodyPr>
          <a:lstStyle/>
          <a:p>
            <a:pPr algn="l">
              <a:defRPr sz="1300" b="0" i="0">
                <a:solidFill>
                  <a:srgbClr val="333333"/>
                </a:solidFill>
                <a:latin typeface="Calibri"/>
              </a:defRPr>
            </a:pPr>
            <a:r>
              <a:t>Per-seat vs. per-token; frontier model access is significantly cheaper through provider-native tools than through third-party platforms</a:t>
            </a:r>
          </a:p>
        </p:txBody>
      </p:sp>
      <p:sp>
        <p:nvSpPr>
          <p:cNvPr id="22" name="TextBox 21"/>
          <p:cNvSpPr txBox="1"/>
          <p:nvPr/>
        </p:nvSpPr>
        <p:spPr>
          <a:xfrm>
            <a:off x="548640" y="6035040"/>
            <a:ext cx="10972800" cy="307777"/>
          </a:xfrm>
          <a:prstGeom prst="rect">
            <a:avLst/>
          </a:prstGeom>
          <a:noFill/>
        </p:spPr>
        <p:txBody>
          <a:bodyPr wrap="square" anchor="t">
            <a:spAutoFit/>
          </a:bodyPr>
          <a:lstStyle/>
          <a:p>
            <a:pPr algn="l">
              <a:defRPr sz="1400" b="1" i="0">
                <a:solidFill>
                  <a:srgbClr val="1F4E79"/>
                </a:solidFill>
                <a:latin typeface="Calibri"/>
              </a:defRPr>
            </a:pPr>
            <a:r>
              <a:rPr dirty="0"/>
              <a:t>One size does not fit all — teams </a:t>
            </a:r>
            <a:r>
              <a:rPr lang="en-US" dirty="0"/>
              <a:t>should </a:t>
            </a:r>
            <a:r>
              <a:rPr dirty="0"/>
              <a:t>select from the approved set based on their specific needs.</a:t>
            </a:r>
          </a:p>
        </p:txBody>
      </p:sp>
      <p:pic>
        <p:nvPicPr>
          <p:cNvPr id="23" name="Picture 22">
            <a:extLst>
              <a:ext uri="{FF2B5EF4-FFF2-40B4-BE49-F238E27FC236}">
                <a16:creationId xmlns:a16="http://schemas.microsoft.com/office/drawing/2014/main" id="{B628877B-75CB-71DA-B255-601D0ED64EB1}"/>
              </a:ext>
            </a:extLst>
          </p:cNvPr>
          <p:cNvPicPr>
            <a:picLocks noChangeAspect="1"/>
          </p:cNvPicPr>
          <p:nvPr/>
        </p:nvPicPr>
        <p:blipFill>
          <a:blip r:embed="rId2"/>
          <a:stretch>
            <a:fillRect/>
          </a:stretch>
        </p:blipFill>
        <p:spPr>
          <a:xfrm>
            <a:off x="182880" y="6396349"/>
            <a:ext cx="11112262" cy="4284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Considerations for AI Chat Clients</a:t>
            </a:r>
          </a:p>
        </p:txBody>
      </p:sp>
      <p:sp>
        <p:nvSpPr>
          <p:cNvPr id="3" name="Rectangle 2"/>
          <p:cNvSpPr/>
          <p:nvPr/>
        </p:nvSpPr>
        <p:spPr>
          <a:xfrm>
            <a:off x="548640" y="1097280"/>
            <a:ext cx="110642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97280"/>
            <a:ext cx="109728" cy="1005840"/>
          </a:xfrm>
          <a:prstGeom prst="rect">
            <a:avLst/>
          </a:prstGeom>
          <a:solidFill>
            <a:srgbClr val="B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170432"/>
            <a:ext cx="10515600" cy="365760"/>
          </a:xfrm>
          <a:prstGeom prst="rect">
            <a:avLst/>
          </a:prstGeom>
          <a:noFill/>
        </p:spPr>
        <p:txBody>
          <a:bodyPr wrap="square" anchor="t">
            <a:spAutoFit/>
          </a:bodyPr>
          <a:lstStyle/>
          <a:p>
            <a:pPr algn="l">
              <a:defRPr sz="1600" b="1" i="0">
                <a:solidFill>
                  <a:srgbClr val="1F4E79"/>
                </a:solidFill>
                <a:latin typeface="Calibri"/>
              </a:defRPr>
            </a:pPr>
            <a:r>
              <a:t>MS365 Copilot is already approved but inappropriate for SDLC reasoning tasks</a:t>
            </a:r>
          </a:p>
        </p:txBody>
      </p:sp>
      <p:sp>
        <p:nvSpPr>
          <p:cNvPr id="6" name="TextBox 5"/>
          <p:cNvSpPr txBox="1"/>
          <p:nvPr/>
        </p:nvSpPr>
        <p:spPr>
          <a:xfrm>
            <a:off x="914400" y="1572768"/>
            <a:ext cx="10515600" cy="457200"/>
          </a:xfrm>
          <a:prstGeom prst="rect">
            <a:avLst/>
          </a:prstGeom>
          <a:noFill/>
        </p:spPr>
        <p:txBody>
          <a:bodyPr wrap="square" anchor="t">
            <a:spAutoFit/>
          </a:bodyPr>
          <a:lstStyle/>
          <a:p>
            <a:pPr algn="l">
              <a:defRPr sz="1400" b="0" i="0">
                <a:solidFill>
                  <a:srgbClr val="333333"/>
                </a:solidFill>
                <a:latin typeface="Calibri"/>
              </a:defRPr>
            </a:pPr>
            <a:r>
              <a:t>Story review, architecture analysis, and code-aware documentation require deeper reasoning than it can provide.</a:t>
            </a:r>
          </a:p>
        </p:txBody>
      </p:sp>
      <p:sp>
        <p:nvSpPr>
          <p:cNvPr id="7" name="Rectangle 6"/>
          <p:cNvSpPr/>
          <p:nvPr/>
        </p:nvSpPr>
        <p:spPr>
          <a:xfrm>
            <a:off x="548640" y="2240280"/>
            <a:ext cx="110642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2240280"/>
            <a:ext cx="109728"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313432"/>
            <a:ext cx="10515600" cy="365760"/>
          </a:xfrm>
          <a:prstGeom prst="rect">
            <a:avLst/>
          </a:prstGeom>
          <a:noFill/>
        </p:spPr>
        <p:txBody>
          <a:bodyPr wrap="square" anchor="t">
            <a:spAutoFit/>
          </a:bodyPr>
          <a:lstStyle/>
          <a:p>
            <a:pPr algn="l">
              <a:defRPr sz="1600" b="1" i="0">
                <a:solidFill>
                  <a:srgbClr val="1F4E79"/>
                </a:solidFill>
                <a:latin typeface="Calibri"/>
              </a:defRPr>
            </a:pPr>
            <a:r>
              <a:t>Reasoning quality is the primary differentiator</a:t>
            </a:r>
          </a:p>
        </p:txBody>
      </p:sp>
      <p:sp>
        <p:nvSpPr>
          <p:cNvPr id="10" name="TextBox 9"/>
          <p:cNvSpPr txBox="1"/>
          <p:nvPr/>
        </p:nvSpPr>
        <p:spPr>
          <a:xfrm>
            <a:off x="914400" y="2715768"/>
            <a:ext cx="10515600" cy="457200"/>
          </a:xfrm>
          <a:prstGeom prst="rect">
            <a:avLst/>
          </a:prstGeom>
          <a:noFill/>
        </p:spPr>
        <p:txBody>
          <a:bodyPr wrap="square" anchor="t">
            <a:spAutoFit/>
          </a:bodyPr>
          <a:lstStyle/>
          <a:p>
            <a:pPr algn="l">
              <a:defRPr sz="1400" b="0" i="0">
                <a:solidFill>
                  <a:srgbClr val="333333"/>
                </a:solidFill>
                <a:latin typeface="Calibri"/>
              </a:defRPr>
            </a:pPr>
            <a:r>
              <a:t>The gap between frontier models and general-purpose assistants is significant for SDLC work.</a:t>
            </a:r>
          </a:p>
        </p:txBody>
      </p:sp>
      <p:sp>
        <p:nvSpPr>
          <p:cNvPr id="11" name="Rectangle 10"/>
          <p:cNvSpPr/>
          <p:nvPr/>
        </p:nvSpPr>
        <p:spPr>
          <a:xfrm>
            <a:off x="548640" y="3383280"/>
            <a:ext cx="110642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3383280"/>
            <a:ext cx="109728" cy="100584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456432"/>
            <a:ext cx="10515600" cy="365760"/>
          </a:xfrm>
          <a:prstGeom prst="rect">
            <a:avLst/>
          </a:prstGeom>
          <a:noFill/>
        </p:spPr>
        <p:txBody>
          <a:bodyPr wrap="square" anchor="t">
            <a:spAutoFit/>
          </a:bodyPr>
          <a:lstStyle/>
          <a:p>
            <a:pPr algn="l">
              <a:defRPr sz="1600" b="1" i="0">
                <a:solidFill>
                  <a:srgbClr val="1F4E79"/>
                </a:solidFill>
                <a:latin typeface="Calibri"/>
              </a:defRPr>
            </a:pPr>
            <a:r>
              <a:t>Context window matters</a:t>
            </a:r>
          </a:p>
        </p:txBody>
      </p:sp>
      <p:sp>
        <p:nvSpPr>
          <p:cNvPr id="14" name="TextBox 13"/>
          <p:cNvSpPr txBox="1"/>
          <p:nvPr/>
        </p:nvSpPr>
        <p:spPr>
          <a:xfrm>
            <a:off x="914400" y="3858768"/>
            <a:ext cx="10515600" cy="457200"/>
          </a:xfrm>
          <a:prstGeom prst="rect">
            <a:avLst/>
          </a:prstGeom>
          <a:noFill/>
        </p:spPr>
        <p:txBody>
          <a:bodyPr wrap="square" anchor="t">
            <a:spAutoFit/>
          </a:bodyPr>
          <a:lstStyle/>
          <a:p>
            <a:pPr algn="l">
              <a:defRPr sz="1400" b="0" i="0">
                <a:solidFill>
                  <a:srgbClr val="333333"/>
                </a:solidFill>
                <a:latin typeface="Calibri"/>
              </a:defRPr>
            </a:pPr>
            <a:r>
              <a:t>Discovery documents, Confluence standards, and architecture specs need to fit in a single session.</a:t>
            </a:r>
          </a:p>
        </p:txBody>
      </p:sp>
      <p:sp>
        <p:nvSpPr>
          <p:cNvPr id="15" name="Rectangle 14"/>
          <p:cNvSpPr/>
          <p:nvPr/>
        </p:nvSpPr>
        <p:spPr>
          <a:xfrm>
            <a:off x="548640" y="4526280"/>
            <a:ext cx="110642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4526280"/>
            <a:ext cx="109728"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599432"/>
            <a:ext cx="10515600" cy="365760"/>
          </a:xfrm>
          <a:prstGeom prst="rect">
            <a:avLst/>
          </a:prstGeom>
          <a:noFill/>
        </p:spPr>
        <p:txBody>
          <a:bodyPr wrap="square" anchor="t">
            <a:spAutoFit/>
          </a:bodyPr>
          <a:lstStyle/>
          <a:p>
            <a:pPr algn="l">
              <a:defRPr sz="1600" b="1" i="0">
                <a:solidFill>
                  <a:srgbClr val="1F4E79"/>
                </a:solidFill>
                <a:latin typeface="Calibri"/>
              </a:defRPr>
            </a:pPr>
            <a:r>
              <a:t>Enterprise compliance options exist across major providers</a:t>
            </a:r>
          </a:p>
        </p:txBody>
      </p:sp>
      <p:sp>
        <p:nvSpPr>
          <p:cNvPr id="18" name="TextBox 17"/>
          <p:cNvSpPr txBox="1"/>
          <p:nvPr/>
        </p:nvSpPr>
        <p:spPr>
          <a:xfrm>
            <a:off x="914400" y="5001768"/>
            <a:ext cx="10515600" cy="457200"/>
          </a:xfrm>
          <a:prstGeom prst="rect">
            <a:avLst/>
          </a:prstGeom>
          <a:noFill/>
        </p:spPr>
        <p:txBody>
          <a:bodyPr wrap="square" anchor="t">
            <a:spAutoFit/>
          </a:bodyPr>
          <a:lstStyle/>
          <a:p>
            <a:pPr algn="l">
              <a:defRPr sz="1400" b="0" i="0">
                <a:solidFill>
                  <a:srgbClr val="333333"/>
                </a:solidFill>
                <a:latin typeface="Calibri"/>
              </a:defRPr>
            </a:pPr>
            <a:r>
              <a:t>Zero-retention, SOC 2, and data handling agreements are available.</a:t>
            </a:r>
          </a:p>
        </p:txBody>
      </p:sp>
      <p:sp>
        <p:nvSpPr>
          <p:cNvPr id="19" name="TextBox 18"/>
          <p:cNvSpPr txBox="1"/>
          <p:nvPr/>
        </p:nvSpPr>
        <p:spPr>
          <a:xfrm>
            <a:off x="548640" y="5852160"/>
            <a:ext cx="10972800" cy="365760"/>
          </a:xfrm>
          <a:prstGeom prst="rect">
            <a:avLst/>
          </a:prstGeom>
          <a:noFill/>
        </p:spPr>
        <p:txBody>
          <a:bodyPr wrap="square" anchor="t">
            <a:spAutoFit/>
          </a:bodyPr>
          <a:lstStyle/>
          <a:p>
            <a:pPr algn="l">
              <a:defRPr sz="1300" b="0" i="1">
                <a:solidFill>
                  <a:srgbClr val="666666"/>
                </a:solidFill>
                <a:latin typeface="Calibri"/>
              </a:defRPr>
            </a:pPr>
            <a:r>
              <a:t>See Appendix: Tooling for the full comparison</a:t>
            </a:r>
          </a:p>
        </p:txBody>
      </p:sp>
      <p:pic>
        <p:nvPicPr>
          <p:cNvPr id="20" name="Picture 19">
            <a:extLst>
              <a:ext uri="{FF2B5EF4-FFF2-40B4-BE49-F238E27FC236}">
                <a16:creationId xmlns:a16="http://schemas.microsoft.com/office/drawing/2014/main" id="{8325B409-03D7-191B-A33F-06C21603FF53}"/>
              </a:ext>
            </a:extLst>
          </p:cNvPr>
          <p:cNvPicPr>
            <a:picLocks noChangeAspect="1"/>
          </p:cNvPicPr>
          <p:nvPr/>
        </p:nvPicPr>
        <p:blipFill>
          <a:blip r:embed="rId2"/>
          <a:stretch>
            <a:fillRect/>
          </a:stretch>
        </p:blipFill>
        <p:spPr>
          <a:xfrm>
            <a:off x="182880" y="6396349"/>
            <a:ext cx="11112262" cy="4284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Considerations for AI Coding Tools</a:t>
            </a:r>
          </a:p>
        </p:txBody>
      </p:sp>
      <p:sp>
        <p:nvSpPr>
          <p:cNvPr id="3" name="Rectangle 2"/>
          <p:cNvSpPr/>
          <p:nvPr/>
        </p:nvSpPr>
        <p:spPr>
          <a:xfrm>
            <a:off x="548640" y="1097280"/>
            <a:ext cx="110642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97280"/>
            <a:ext cx="109728"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170432"/>
            <a:ext cx="10515600" cy="365760"/>
          </a:xfrm>
          <a:prstGeom prst="rect">
            <a:avLst/>
          </a:prstGeom>
          <a:noFill/>
        </p:spPr>
        <p:txBody>
          <a:bodyPr wrap="square" anchor="t">
            <a:spAutoFit/>
          </a:bodyPr>
          <a:lstStyle/>
          <a:p>
            <a:pPr algn="l">
              <a:defRPr sz="1600" b="1" i="0">
                <a:solidFill>
                  <a:srgbClr val="1F4E79"/>
                </a:solidFill>
                <a:latin typeface="Calibri"/>
              </a:defRPr>
            </a:pPr>
            <a:r>
              <a:t>Tooling capability makes all the difference</a:t>
            </a:r>
          </a:p>
        </p:txBody>
      </p:sp>
      <p:sp>
        <p:nvSpPr>
          <p:cNvPr id="6" name="TextBox 5"/>
          <p:cNvSpPr txBox="1"/>
          <p:nvPr/>
        </p:nvSpPr>
        <p:spPr>
          <a:xfrm>
            <a:off x="914400" y="1572768"/>
            <a:ext cx="10515600" cy="457200"/>
          </a:xfrm>
          <a:prstGeom prst="rect">
            <a:avLst/>
          </a:prstGeom>
          <a:noFill/>
        </p:spPr>
        <p:txBody>
          <a:bodyPr wrap="square" anchor="t">
            <a:spAutoFit/>
          </a:bodyPr>
          <a:lstStyle/>
          <a:p>
            <a:pPr algn="l">
              <a:defRPr sz="1300" b="0" i="0">
                <a:solidFill>
                  <a:srgbClr val="333333"/>
                </a:solidFill>
                <a:latin typeface="Calibri"/>
              </a:defRPr>
            </a:pPr>
            <a:r>
              <a:t>Using an agentic coding tool like Claude Code for complex tasks is a fundamentally different experience from GitHub Copilot — the gap in acceleration is dramatic, particularly for feature-level architecture, multi-file refactoring, and migration code generation.</a:t>
            </a:r>
          </a:p>
        </p:txBody>
      </p:sp>
      <p:sp>
        <p:nvSpPr>
          <p:cNvPr id="7" name="Rectangle 6"/>
          <p:cNvSpPr/>
          <p:nvPr/>
        </p:nvSpPr>
        <p:spPr>
          <a:xfrm>
            <a:off x="548640" y="2240280"/>
            <a:ext cx="110642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2240280"/>
            <a:ext cx="109728" cy="100584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313432"/>
            <a:ext cx="10515600" cy="365760"/>
          </a:xfrm>
          <a:prstGeom prst="rect">
            <a:avLst/>
          </a:prstGeom>
          <a:noFill/>
        </p:spPr>
        <p:txBody>
          <a:bodyPr wrap="square" anchor="t">
            <a:spAutoFit/>
          </a:bodyPr>
          <a:lstStyle/>
          <a:p>
            <a:pPr algn="l">
              <a:defRPr sz="1600" b="1" i="0">
                <a:solidFill>
                  <a:srgbClr val="1F4E79"/>
                </a:solidFill>
                <a:latin typeface="Calibri"/>
              </a:defRPr>
            </a:pPr>
            <a:r>
              <a:t>For frontier models, go direct to the provider</a:t>
            </a:r>
          </a:p>
        </p:txBody>
      </p:sp>
      <p:sp>
        <p:nvSpPr>
          <p:cNvPr id="10" name="TextBox 9"/>
          <p:cNvSpPr txBox="1"/>
          <p:nvPr/>
        </p:nvSpPr>
        <p:spPr>
          <a:xfrm>
            <a:off x="914400" y="2715768"/>
            <a:ext cx="10515600" cy="457200"/>
          </a:xfrm>
          <a:prstGeom prst="rect">
            <a:avLst/>
          </a:prstGeom>
          <a:noFill/>
        </p:spPr>
        <p:txBody>
          <a:bodyPr wrap="square" anchor="t">
            <a:spAutoFit/>
          </a:bodyPr>
          <a:lstStyle/>
          <a:p>
            <a:pPr algn="l">
              <a:defRPr sz="1300" b="0" i="0">
                <a:solidFill>
                  <a:srgbClr val="333333"/>
                </a:solidFill>
                <a:latin typeface="Calibri"/>
              </a:defRPr>
            </a:pPr>
            <a:r>
              <a:t>Running Claude Opus through Claude Code is dramatically cheaper than accessing the same model routed through a third-party IDE like Cursor. Third-party platforms add ~20% surcharge and use ~5× more tokens for the same task.</a:t>
            </a:r>
          </a:p>
        </p:txBody>
      </p:sp>
      <p:sp>
        <p:nvSpPr>
          <p:cNvPr id="11" name="Rectangle 10"/>
          <p:cNvSpPr/>
          <p:nvPr/>
        </p:nvSpPr>
        <p:spPr>
          <a:xfrm>
            <a:off x="548640" y="3383280"/>
            <a:ext cx="110642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3383280"/>
            <a:ext cx="109728" cy="1005840"/>
          </a:xfrm>
          <a:prstGeom prst="rect">
            <a:avLst/>
          </a:prstGeom>
          <a:solidFill>
            <a:srgbClr val="B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456432"/>
            <a:ext cx="10515600" cy="365760"/>
          </a:xfrm>
          <a:prstGeom prst="rect">
            <a:avLst/>
          </a:prstGeom>
          <a:noFill/>
        </p:spPr>
        <p:txBody>
          <a:bodyPr wrap="square" anchor="t">
            <a:spAutoFit/>
          </a:bodyPr>
          <a:lstStyle/>
          <a:p>
            <a:pPr algn="l">
              <a:defRPr sz="1600" b="1" i="0">
                <a:solidFill>
                  <a:srgbClr val="1F4E79"/>
                </a:solidFill>
                <a:latin typeface="Calibri"/>
              </a:defRPr>
            </a:pPr>
            <a:r>
              <a:t>IDE compatibility is a key constraint</a:t>
            </a:r>
          </a:p>
        </p:txBody>
      </p:sp>
      <p:sp>
        <p:nvSpPr>
          <p:cNvPr id="14" name="TextBox 13"/>
          <p:cNvSpPr txBox="1"/>
          <p:nvPr/>
        </p:nvSpPr>
        <p:spPr>
          <a:xfrm>
            <a:off x="914400" y="3858768"/>
            <a:ext cx="10515600" cy="457200"/>
          </a:xfrm>
          <a:prstGeom prst="rect">
            <a:avLst/>
          </a:prstGeom>
          <a:noFill/>
        </p:spPr>
        <p:txBody>
          <a:bodyPr wrap="square" anchor="t">
            <a:spAutoFit/>
          </a:bodyPr>
          <a:lstStyle/>
          <a:p>
            <a:pPr algn="l">
              <a:defRPr sz="1300" b="0" i="0">
                <a:solidFill>
                  <a:srgbClr val="333333"/>
                </a:solidFill>
                <a:latin typeface="Calibri"/>
              </a:defRPr>
            </a:pPr>
            <a:r>
              <a:t>GitHub Copilot works in VS Code and Visual Studio. Claude Code and Cursor require VS Code. This shapes what teams like Integration can adopt today.</a:t>
            </a:r>
          </a:p>
        </p:txBody>
      </p:sp>
      <p:sp>
        <p:nvSpPr>
          <p:cNvPr id="15" name="Rectangle 14"/>
          <p:cNvSpPr/>
          <p:nvPr/>
        </p:nvSpPr>
        <p:spPr>
          <a:xfrm>
            <a:off x="548640" y="4526280"/>
            <a:ext cx="110642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4526280"/>
            <a:ext cx="109728"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599432"/>
            <a:ext cx="10515600" cy="365760"/>
          </a:xfrm>
          <a:prstGeom prst="rect">
            <a:avLst/>
          </a:prstGeom>
          <a:noFill/>
        </p:spPr>
        <p:txBody>
          <a:bodyPr wrap="square" anchor="t">
            <a:spAutoFit/>
          </a:bodyPr>
          <a:lstStyle/>
          <a:p>
            <a:pPr algn="l">
              <a:defRPr sz="1600" b="1" i="0">
                <a:solidFill>
                  <a:srgbClr val="1F4E79"/>
                </a:solidFill>
                <a:latin typeface="Calibri"/>
              </a:defRPr>
            </a:pPr>
            <a:r>
              <a:t>Autocomplete and agentic work are different capability tiers</a:t>
            </a:r>
          </a:p>
        </p:txBody>
      </p:sp>
      <p:sp>
        <p:nvSpPr>
          <p:cNvPr id="18" name="TextBox 17"/>
          <p:cNvSpPr txBox="1"/>
          <p:nvPr/>
        </p:nvSpPr>
        <p:spPr>
          <a:xfrm>
            <a:off x="914400" y="5001768"/>
            <a:ext cx="10515600" cy="457200"/>
          </a:xfrm>
          <a:prstGeom prst="rect">
            <a:avLst/>
          </a:prstGeom>
          <a:noFill/>
        </p:spPr>
        <p:txBody>
          <a:bodyPr wrap="square" anchor="t">
            <a:spAutoFit/>
          </a:bodyPr>
          <a:lstStyle/>
          <a:p>
            <a:pPr algn="l">
              <a:defRPr sz="1300" b="0" i="0">
                <a:solidFill>
                  <a:srgbClr val="333333"/>
                </a:solidFill>
                <a:latin typeface="Calibri"/>
              </a:defRPr>
            </a:pPr>
            <a:r>
              <a:t>Simple autocomplete ($10/mo) vs. complex agentic generation ($100–200/mo) — different tools for different task complexity.</a:t>
            </a:r>
          </a:p>
        </p:txBody>
      </p:sp>
      <p:sp>
        <p:nvSpPr>
          <p:cNvPr id="19" name="TextBox 18"/>
          <p:cNvSpPr txBox="1"/>
          <p:nvPr/>
        </p:nvSpPr>
        <p:spPr>
          <a:xfrm>
            <a:off x="548640" y="5852160"/>
            <a:ext cx="10972800" cy="365760"/>
          </a:xfrm>
          <a:prstGeom prst="rect">
            <a:avLst/>
          </a:prstGeom>
          <a:noFill/>
        </p:spPr>
        <p:txBody>
          <a:bodyPr wrap="square" anchor="t">
            <a:spAutoFit/>
          </a:bodyPr>
          <a:lstStyle/>
          <a:p>
            <a:pPr algn="l">
              <a:defRPr sz="1300" b="0" i="1">
                <a:solidFill>
                  <a:srgbClr val="666666"/>
                </a:solidFill>
                <a:latin typeface="Calibri"/>
              </a:defRPr>
            </a:pPr>
            <a:r>
              <a:t>See Appendix: Tooling for the full comparison</a:t>
            </a:r>
          </a:p>
        </p:txBody>
      </p:sp>
      <p:pic>
        <p:nvPicPr>
          <p:cNvPr id="20" name="Picture 19">
            <a:extLst>
              <a:ext uri="{FF2B5EF4-FFF2-40B4-BE49-F238E27FC236}">
                <a16:creationId xmlns:a16="http://schemas.microsoft.com/office/drawing/2014/main" id="{0E68E4BD-7EAF-61EF-EA37-743D4E7570BE}"/>
              </a:ext>
            </a:extLst>
          </p:cNvPr>
          <p:cNvPicPr>
            <a:picLocks noChangeAspect="1"/>
          </p:cNvPicPr>
          <p:nvPr/>
        </p:nvPicPr>
        <p:blipFill>
          <a:blip r:embed="rId2"/>
          <a:stretch>
            <a:fillRect/>
          </a:stretch>
        </p:blipFill>
        <p:spPr>
          <a:xfrm>
            <a:off x="182880" y="6396349"/>
            <a:ext cx="11112262" cy="4284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Considerations for Enterprise AI API Access</a:t>
            </a:r>
          </a:p>
        </p:txBody>
      </p:sp>
      <p:sp>
        <p:nvSpPr>
          <p:cNvPr id="3" name="Rectangle 2"/>
          <p:cNvSpPr/>
          <p:nvPr/>
        </p:nvSpPr>
        <p:spPr>
          <a:xfrm>
            <a:off x="548640" y="1097280"/>
            <a:ext cx="110642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097280"/>
            <a:ext cx="109728" cy="1005840"/>
          </a:xfrm>
          <a:prstGeom prst="rect">
            <a:avLst/>
          </a:prstGeom>
          <a:solidFill>
            <a:srgbClr val="B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4860" y="1175428"/>
            <a:ext cx="10515600" cy="338554"/>
          </a:xfrm>
          <a:prstGeom prst="rect">
            <a:avLst/>
          </a:prstGeom>
          <a:noFill/>
        </p:spPr>
        <p:txBody>
          <a:bodyPr wrap="square" anchor="t">
            <a:spAutoFit/>
          </a:bodyPr>
          <a:lstStyle/>
          <a:p>
            <a:pPr>
              <a:defRPr sz="1600" b="1" i="0">
                <a:solidFill>
                  <a:srgbClr val="1F4E79"/>
                </a:solidFill>
                <a:latin typeface="Calibri"/>
              </a:defRPr>
            </a:pPr>
            <a:r>
              <a:rPr lang="en-US" sz="1600" b="1" dirty="0"/>
              <a:t>This requires procurement, legal, and architecture engagement</a:t>
            </a:r>
            <a:endParaRPr dirty="0"/>
          </a:p>
        </p:txBody>
      </p:sp>
      <p:sp>
        <p:nvSpPr>
          <p:cNvPr id="6" name="TextBox 5"/>
          <p:cNvSpPr txBox="1"/>
          <p:nvPr/>
        </p:nvSpPr>
        <p:spPr>
          <a:xfrm>
            <a:off x="784860" y="1572768"/>
            <a:ext cx="10828020" cy="523220"/>
          </a:xfrm>
          <a:prstGeom prst="rect">
            <a:avLst/>
          </a:prstGeom>
          <a:noFill/>
        </p:spPr>
        <p:txBody>
          <a:bodyPr wrap="square" anchor="t">
            <a:spAutoFit/>
          </a:bodyPr>
          <a:lstStyle/>
          <a:p>
            <a:pPr>
              <a:defRPr sz="1400" b="0" i="0">
                <a:solidFill>
                  <a:srgbClr val="333333"/>
                </a:solidFill>
                <a:latin typeface="Calibri"/>
              </a:defRPr>
            </a:pPr>
            <a:r>
              <a:rPr lang="en-US" sz="1400" dirty="0"/>
              <a:t>Data handling agreements, security review, retention policies, and financial services compliance — as well as architectural decisions about pipeline integration patterns, model selection by use case, and cost management. The governance framework's Working Group drives this evaluation</a:t>
            </a:r>
            <a:endParaRPr dirty="0"/>
          </a:p>
        </p:txBody>
      </p:sp>
      <p:sp>
        <p:nvSpPr>
          <p:cNvPr id="7" name="Rectangle 6"/>
          <p:cNvSpPr/>
          <p:nvPr/>
        </p:nvSpPr>
        <p:spPr>
          <a:xfrm>
            <a:off x="548640" y="2240280"/>
            <a:ext cx="110642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2240280"/>
            <a:ext cx="109728"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313432"/>
            <a:ext cx="10515600" cy="365760"/>
          </a:xfrm>
          <a:prstGeom prst="rect">
            <a:avLst/>
          </a:prstGeom>
          <a:noFill/>
        </p:spPr>
        <p:txBody>
          <a:bodyPr wrap="square" anchor="t">
            <a:spAutoFit/>
          </a:bodyPr>
          <a:lstStyle/>
          <a:p>
            <a:pPr algn="l">
              <a:defRPr sz="1600" b="1" i="0">
                <a:solidFill>
                  <a:srgbClr val="1F4E79"/>
                </a:solidFill>
                <a:latin typeface="Calibri"/>
              </a:defRPr>
            </a:pPr>
            <a:r>
              <a:rPr dirty="0"/>
              <a:t>Different providers for different pipeline use cases</a:t>
            </a:r>
          </a:p>
        </p:txBody>
      </p:sp>
      <p:sp>
        <p:nvSpPr>
          <p:cNvPr id="10" name="TextBox 9"/>
          <p:cNvSpPr txBox="1"/>
          <p:nvPr/>
        </p:nvSpPr>
        <p:spPr>
          <a:xfrm>
            <a:off x="822960" y="2715768"/>
            <a:ext cx="10515600" cy="457200"/>
          </a:xfrm>
          <a:prstGeom prst="rect">
            <a:avLst/>
          </a:prstGeom>
          <a:noFill/>
        </p:spPr>
        <p:txBody>
          <a:bodyPr wrap="square" anchor="t">
            <a:spAutoFit/>
          </a:bodyPr>
          <a:lstStyle/>
          <a:p>
            <a:pPr algn="l">
              <a:defRPr sz="1400" b="0" i="0">
                <a:solidFill>
                  <a:srgbClr val="333333"/>
                </a:solidFill>
                <a:latin typeface="Calibri"/>
              </a:defRPr>
            </a:pPr>
            <a:r>
              <a:rPr dirty="0"/>
              <a:t>Claude for complex reasoning tasks. OpenAI for high-volume tasks at lower per-token cost.</a:t>
            </a:r>
          </a:p>
        </p:txBody>
      </p:sp>
      <p:sp>
        <p:nvSpPr>
          <p:cNvPr id="11" name="Rectangle 10"/>
          <p:cNvSpPr/>
          <p:nvPr/>
        </p:nvSpPr>
        <p:spPr>
          <a:xfrm>
            <a:off x="548640" y="3383280"/>
            <a:ext cx="110642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3383280"/>
            <a:ext cx="109728" cy="100584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5340" y="3456432"/>
            <a:ext cx="10515600" cy="365760"/>
          </a:xfrm>
          <a:prstGeom prst="rect">
            <a:avLst/>
          </a:prstGeom>
          <a:noFill/>
        </p:spPr>
        <p:txBody>
          <a:bodyPr wrap="square" anchor="t">
            <a:spAutoFit/>
          </a:bodyPr>
          <a:lstStyle/>
          <a:p>
            <a:pPr algn="l">
              <a:defRPr sz="1600" b="1" i="0">
                <a:solidFill>
                  <a:srgbClr val="1F4E79"/>
                </a:solidFill>
                <a:latin typeface="Calibri"/>
              </a:defRPr>
            </a:pPr>
            <a:r>
              <a:rPr dirty="0"/>
              <a:t>Azure OpenAI may simplify compliance</a:t>
            </a:r>
          </a:p>
        </p:txBody>
      </p:sp>
      <p:sp>
        <p:nvSpPr>
          <p:cNvPr id="14" name="TextBox 13"/>
          <p:cNvSpPr txBox="1"/>
          <p:nvPr/>
        </p:nvSpPr>
        <p:spPr>
          <a:xfrm>
            <a:off x="830580" y="3858768"/>
            <a:ext cx="10515600" cy="457200"/>
          </a:xfrm>
          <a:prstGeom prst="rect">
            <a:avLst/>
          </a:prstGeom>
          <a:noFill/>
        </p:spPr>
        <p:txBody>
          <a:bodyPr wrap="square" anchor="t">
            <a:spAutoFit/>
          </a:bodyPr>
          <a:lstStyle/>
          <a:p>
            <a:pPr algn="l">
              <a:defRPr sz="1400" b="0" i="0">
                <a:solidFill>
                  <a:srgbClr val="333333"/>
                </a:solidFill>
                <a:latin typeface="Calibri"/>
              </a:defRPr>
            </a:pPr>
            <a:r>
              <a:t>Runs OpenAI models inside Azure infrastructure. Leverages the existing Microsoft relationship.</a:t>
            </a:r>
          </a:p>
        </p:txBody>
      </p:sp>
      <p:sp>
        <p:nvSpPr>
          <p:cNvPr id="15" name="Rectangle 14"/>
          <p:cNvSpPr/>
          <p:nvPr/>
        </p:nvSpPr>
        <p:spPr>
          <a:xfrm>
            <a:off x="548640" y="4526280"/>
            <a:ext cx="110642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4526280"/>
            <a:ext cx="109728" cy="1005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5340" y="4599432"/>
            <a:ext cx="10515600" cy="365760"/>
          </a:xfrm>
          <a:prstGeom prst="rect">
            <a:avLst/>
          </a:prstGeom>
          <a:noFill/>
        </p:spPr>
        <p:txBody>
          <a:bodyPr wrap="square" anchor="t">
            <a:spAutoFit/>
          </a:bodyPr>
          <a:lstStyle/>
          <a:p>
            <a:pPr algn="l">
              <a:defRPr sz="1600" b="1" i="0">
                <a:solidFill>
                  <a:srgbClr val="1F4E79"/>
                </a:solidFill>
                <a:latin typeface="Calibri"/>
              </a:defRPr>
            </a:pPr>
            <a:r>
              <a:t>Prompt caching and batch APIs reduce costs dramatically</a:t>
            </a:r>
          </a:p>
        </p:txBody>
      </p:sp>
      <p:sp>
        <p:nvSpPr>
          <p:cNvPr id="18" name="TextBox 17"/>
          <p:cNvSpPr txBox="1"/>
          <p:nvPr/>
        </p:nvSpPr>
        <p:spPr>
          <a:xfrm>
            <a:off x="815340" y="5001768"/>
            <a:ext cx="10515600" cy="457200"/>
          </a:xfrm>
          <a:prstGeom prst="rect">
            <a:avLst/>
          </a:prstGeom>
          <a:noFill/>
        </p:spPr>
        <p:txBody>
          <a:bodyPr wrap="square" anchor="t">
            <a:spAutoFit/>
          </a:bodyPr>
          <a:lstStyle/>
          <a:p>
            <a:pPr algn="l">
              <a:defRPr sz="1400" b="0" i="0">
                <a:solidFill>
                  <a:srgbClr val="333333"/>
                </a:solidFill>
                <a:latin typeface="Calibri"/>
              </a:defRPr>
            </a:pPr>
            <a:r>
              <a:t>50–90% cost reduction for repeated pipeline tasks through caching and batch processing.</a:t>
            </a:r>
          </a:p>
        </p:txBody>
      </p:sp>
      <p:sp>
        <p:nvSpPr>
          <p:cNvPr id="19" name="TextBox 18"/>
          <p:cNvSpPr txBox="1"/>
          <p:nvPr/>
        </p:nvSpPr>
        <p:spPr>
          <a:xfrm>
            <a:off x="548640" y="5852160"/>
            <a:ext cx="10972800" cy="365760"/>
          </a:xfrm>
          <a:prstGeom prst="rect">
            <a:avLst/>
          </a:prstGeom>
          <a:noFill/>
        </p:spPr>
        <p:txBody>
          <a:bodyPr wrap="square" anchor="t">
            <a:spAutoFit/>
          </a:bodyPr>
          <a:lstStyle/>
          <a:p>
            <a:pPr algn="l">
              <a:defRPr sz="1300" b="0" i="1">
                <a:solidFill>
                  <a:srgbClr val="666666"/>
                </a:solidFill>
                <a:latin typeface="Calibri"/>
              </a:defRPr>
            </a:pPr>
            <a:r>
              <a:t>See Appendix: Tooling for the full comparison</a:t>
            </a:r>
          </a:p>
        </p:txBody>
      </p:sp>
      <p:pic>
        <p:nvPicPr>
          <p:cNvPr id="20" name="Picture 19">
            <a:extLst>
              <a:ext uri="{FF2B5EF4-FFF2-40B4-BE49-F238E27FC236}">
                <a16:creationId xmlns:a16="http://schemas.microsoft.com/office/drawing/2014/main" id="{255A2262-58F1-1222-D06A-66DB2BB38E72}"/>
              </a:ext>
            </a:extLst>
          </p:cNvPr>
          <p:cNvPicPr>
            <a:picLocks noChangeAspect="1"/>
          </p:cNvPicPr>
          <p:nvPr/>
        </p:nvPicPr>
        <p:blipFill>
          <a:blip r:embed="rId2"/>
          <a:stretch>
            <a:fillRect/>
          </a:stretch>
        </p:blipFill>
        <p:spPr>
          <a:xfrm>
            <a:off x="182880" y="6396349"/>
            <a:ext cx="11112262" cy="4284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Landscape — February 2026</a:t>
            </a:r>
          </a:p>
        </p:txBody>
      </p:sp>
      <p:sp>
        <p:nvSpPr>
          <p:cNvPr id="3" name="TextBox 2"/>
          <p:cNvSpPr txBox="1"/>
          <p:nvPr/>
        </p:nvSpPr>
        <p:spPr>
          <a:xfrm>
            <a:off x="548640" y="1005840"/>
            <a:ext cx="10972800" cy="457200"/>
          </a:xfrm>
          <a:prstGeom prst="rect">
            <a:avLst/>
          </a:prstGeom>
          <a:noFill/>
        </p:spPr>
        <p:txBody>
          <a:bodyPr wrap="square" anchor="t">
            <a:spAutoFit/>
          </a:bodyPr>
          <a:lstStyle/>
          <a:p>
            <a:pPr algn="l">
              <a:defRPr sz="1600" b="0" i="0">
                <a:solidFill>
                  <a:srgbClr val="333333"/>
                </a:solidFill>
                <a:latin typeface="Calibri"/>
              </a:defRPr>
            </a:pPr>
            <a:r>
              <a:t>Frontier coding models are converging in raw benchmark scores but diverging significantly in reasoning depth and cost.</a:t>
            </a:r>
          </a:p>
        </p:txBody>
      </p:sp>
      <p:sp>
        <p:nvSpPr>
          <p:cNvPr id="4" name="TextBox 3"/>
          <p:cNvSpPr txBox="1"/>
          <p:nvPr/>
        </p:nvSpPr>
        <p:spPr>
          <a:xfrm>
            <a:off x="548640" y="1554480"/>
            <a:ext cx="10972800" cy="457200"/>
          </a:xfrm>
          <a:prstGeom prst="rect">
            <a:avLst/>
          </a:prstGeom>
          <a:noFill/>
        </p:spPr>
        <p:txBody>
          <a:bodyPr wrap="square" anchor="t">
            <a:spAutoFit/>
          </a:bodyPr>
          <a:lstStyle/>
          <a:p>
            <a:pPr algn="l">
              <a:defRPr sz="1200" b="0" i="0">
                <a:solidFill>
                  <a:srgbClr val="666666"/>
                </a:solidFill>
                <a:latin typeface="Calibri"/>
              </a:defRPr>
            </a:pPr>
            <a:r>
              <a:t>SWE-bench Verified gives AI models 500 real software bugs from real codebases and measures how often the model produces a working fix on the first attempt. Independent evaluation, current as of Feb 19, 2026.</a:t>
            </a:r>
          </a:p>
        </p:txBody>
      </p:sp>
      <p:sp>
        <p:nvSpPr>
          <p:cNvPr id="5" name="Rectangle 4"/>
          <p:cNvSpPr/>
          <p:nvPr/>
        </p:nvSpPr>
        <p:spPr>
          <a:xfrm>
            <a:off x="548640" y="2148840"/>
            <a:ext cx="11064240" cy="41148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167128"/>
            <a:ext cx="2926080" cy="365760"/>
          </a:xfrm>
          <a:prstGeom prst="rect">
            <a:avLst/>
          </a:prstGeom>
          <a:noFill/>
        </p:spPr>
        <p:txBody>
          <a:bodyPr wrap="square" anchor="ctr">
            <a:spAutoFit/>
          </a:bodyPr>
          <a:lstStyle/>
          <a:p>
            <a:pPr algn="l">
              <a:defRPr sz="1200" b="1" i="0">
                <a:solidFill>
                  <a:srgbClr val="FFFFFF"/>
                </a:solidFill>
                <a:latin typeface="Calibri"/>
              </a:defRPr>
            </a:pPr>
            <a:r>
              <a:t>Model</a:t>
            </a:r>
          </a:p>
        </p:txBody>
      </p:sp>
      <p:sp>
        <p:nvSpPr>
          <p:cNvPr id="7" name="TextBox 6"/>
          <p:cNvSpPr txBox="1"/>
          <p:nvPr/>
        </p:nvSpPr>
        <p:spPr>
          <a:xfrm>
            <a:off x="3657600" y="2167128"/>
            <a:ext cx="1188720" cy="365760"/>
          </a:xfrm>
          <a:prstGeom prst="rect">
            <a:avLst/>
          </a:prstGeom>
          <a:noFill/>
        </p:spPr>
        <p:txBody>
          <a:bodyPr wrap="square" anchor="ctr">
            <a:spAutoFit/>
          </a:bodyPr>
          <a:lstStyle/>
          <a:p>
            <a:pPr algn="l">
              <a:defRPr sz="1200" b="1" i="0">
                <a:solidFill>
                  <a:srgbClr val="FFFFFF"/>
                </a:solidFill>
                <a:latin typeface="Calibri"/>
              </a:defRPr>
            </a:pPr>
            <a:r>
              <a:t>Fix Rate</a:t>
            </a:r>
          </a:p>
        </p:txBody>
      </p:sp>
      <p:sp>
        <p:nvSpPr>
          <p:cNvPr id="8" name="TextBox 7"/>
          <p:cNvSpPr txBox="1"/>
          <p:nvPr/>
        </p:nvSpPr>
        <p:spPr>
          <a:xfrm>
            <a:off x="4937760" y="2167128"/>
            <a:ext cx="2103120" cy="365760"/>
          </a:xfrm>
          <a:prstGeom prst="rect">
            <a:avLst/>
          </a:prstGeom>
          <a:noFill/>
        </p:spPr>
        <p:txBody>
          <a:bodyPr wrap="square" anchor="ctr">
            <a:spAutoFit/>
          </a:bodyPr>
          <a:lstStyle/>
          <a:p>
            <a:pPr algn="l">
              <a:defRPr sz="1200" b="1" i="0">
                <a:solidFill>
                  <a:srgbClr val="FFFFFF"/>
                </a:solidFill>
                <a:latin typeface="Calibri"/>
              </a:defRPr>
            </a:pPr>
            <a:r>
              <a:t>In Plain Terms</a:t>
            </a:r>
          </a:p>
        </p:txBody>
      </p:sp>
      <p:sp>
        <p:nvSpPr>
          <p:cNvPr id="9" name="TextBox 8"/>
          <p:cNvSpPr txBox="1"/>
          <p:nvPr/>
        </p:nvSpPr>
        <p:spPr>
          <a:xfrm>
            <a:off x="7132320" y="2167128"/>
            <a:ext cx="2011680" cy="365760"/>
          </a:xfrm>
          <a:prstGeom prst="rect">
            <a:avLst/>
          </a:prstGeom>
          <a:noFill/>
        </p:spPr>
        <p:txBody>
          <a:bodyPr wrap="square" anchor="ctr">
            <a:spAutoFit/>
          </a:bodyPr>
          <a:lstStyle/>
          <a:p>
            <a:pPr algn="l">
              <a:defRPr sz="1200" b="1" i="0">
                <a:solidFill>
                  <a:srgbClr val="FFFFFF"/>
                </a:solidFill>
                <a:latin typeface="Calibri"/>
              </a:defRPr>
            </a:pPr>
            <a:r>
              <a:t>API Cost</a:t>
            </a:r>
          </a:p>
        </p:txBody>
      </p:sp>
      <p:sp>
        <p:nvSpPr>
          <p:cNvPr id="10" name="TextBox 9"/>
          <p:cNvSpPr txBox="1"/>
          <p:nvPr/>
        </p:nvSpPr>
        <p:spPr>
          <a:xfrm>
            <a:off x="9235440" y="2167128"/>
            <a:ext cx="2377440" cy="365760"/>
          </a:xfrm>
          <a:prstGeom prst="rect">
            <a:avLst/>
          </a:prstGeom>
          <a:noFill/>
        </p:spPr>
        <p:txBody>
          <a:bodyPr wrap="square" anchor="ctr">
            <a:spAutoFit/>
          </a:bodyPr>
          <a:lstStyle/>
          <a:p>
            <a:pPr algn="l">
              <a:defRPr sz="1200" b="1" i="0">
                <a:solidFill>
                  <a:srgbClr val="FFFFFF"/>
                </a:solidFill>
                <a:latin typeface="Calibri"/>
              </a:defRPr>
            </a:pPr>
            <a:r>
              <a:t>Best For</a:t>
            </a:r>
          </a:p>
        </p:txBody>
      </p:sp>
      <p:sp>
        <p:nvSpPr>
          <p:cNvPr id="11" name="Rectangle 10"/>
          <p:cNvSpPr/>
          <p:nvPr/>
        </p:nvSpPr>
        <p:spPr>
          <a:xfrm>
            <a:off x="548640" y="2606040"/>
            <a:ext cx="11064240" cy="457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624328"/>
            <a:ext cx="2926080" cy="411480"/>
          </a:xfrm>
          <a:prstGeom prst="rect">
            <a:avLst/>
          </a:prstGeom>
          <a:noFill/>
        </p:spPr>
        <p:txBody>
          <a:bodyPr wrap="square" anchor="ctr">
            <a:spAutoFit/>
          </a:bodyPr>
          <a:lstStyle/>
          <a:p>
            <a:pPr algn="l">
              <a:defRPr sz="1200" b="1" i="0">
                <a:solidFill>
                  <a:srgbClr val="1F4E79"/>
                </a:solidFill>
                <a:latin typeface="Calibri"/>
              </a:defRPr>
            </a:pPr>
            <a:r>
              <a:t>Claude Opus 4.5 / 4.6</a:t>
            </a:r>
          </a:p>
        </p:txBody>
      </p:sp>
      <p:sp>
        <p:nvSpPr>
          <p:cNvPr id="13" name="TextBox 12"/>
          <p:cNvSpPr txBox="1"/>
          <p:nvPr/>
        </p:nvSpPr>
        <p:spPr>
          <a:xfrm>
            <a:off x="3657600" y="2624328"/>
            <a:ext cx="1188720" cy="411480"/>
          </a:xfrm>
          <a:prstGeom prst="rect">
            <a:avLst/>
          </a:prstGeom>
          <a:noFill/>
        </p:spPr>
        <p:txBody>
          <a:bodyPr wrap="square" anchor="ctr">
            <a:spAutoFit/>
          </a:bodyPr>
          <a:lstStyle/>
          <a:p>
            <a:pPr algn="l">
              <a:defRPr sz="1200" b="1" i="0">
                <a:solidFill>
                  <a:srgbClr val="333333"/>
                </a:solidFill>
                <a:latin typeface="Calibri"/>
              </a:defRPr>
            </a:pPr>
            <a:r>
              <a:t>80.9%</a:t>
            </a:r>
          </a:p>
        </p:txBody>
      </p:sp>
      <p:sp>
        <p:nvSpPr>
          <p:cNvPr id="14" name="TextBox 13"/>
          <p:cNvSpPr txBox="1"/>
          <p:nvPr/>
        </p:nvSpPr>
        <p:spPr>
          <a:xfrm>
            <a:off x="4937760" y="2624328"/>
            <a:ext cx="2103120" cy="411480"/>
          </a:xfrm>
          <a:prstGeom prst="rect">
            <a:avLst/>
          </a:prstGeom>
          <a:noFill/>
        </p:spPr>
        <p:txBody>
          <a:bodyPr wrap="square" anchor="ctr">
            <a:spAutoFit/>
          </a:bodyPr>
          <a:lstStyle/>
          <a:p>
            <a:pPr algn="l">
              <a:defRPr sz="1200" b="0" i="0">
                <a:solidFill>
                  <a:srgbClr val="333333"/>
                </a:solidFill>
                <a:latin typeface="Calibri"/>
              </a:defRPr>
            </a:pPr>
            <a:r>
              <a:t>~4 out of 5</a:t>
            </a:r>
          </a:p>
        </p:txBody>
      </p:sp>
      <p:sp>
        <p:nvSpPr>
          <p:cNvPr id="15" name="TextBox 14"/>
          <p:cNvSpPr txBox="1"/>
          <p:nvPr/>
        </p:nvSpPr>
        <p:spPr>
          <a:xfrm>
            <a:off x="7132320" y="2624328"/>
            <a:ext cx="2011680" cy="411480"/>
          </a:xfrm>
          <a:prstGeom prst="rect">
            <a:avLst/>
          </a:prstGeom>
          <a:noFill/>
        </p:spPr>
        <p:txBody>
          <a:bodyPr wrap="square" anchor="ctr">
            <a:spAutoFit/>
          </a:bodyPr>
          <a:lstStyle/>
          <a:p>
            <a:pPr algn="l">
              <a:defRPr sz="1200" b="0" i="0">
                <a:solidFill>
                  <a:srgbClr val="333333"/>
                </a:solidFill>
                <a:latin typeface="Calibri"/>
              </a:defRPr>
            </a:pPr>
            <a:r>
              <a:t>$5 / $25 per MTok</a:t>
            </a:r>
          </a:p>
        </p:txBody>
      </p:sp>
      <p:sp>
        <p:nvSpPr>
          <p:cNvPr id="16" name="TextBox 15"/>
          <p:cNvSpPr txBox="1"/>
          <p:nvPr/>
        </p:nvSpPr>
        <p:spPr>
          <a:xfrm>
            <a:off x="9235440" y="2624328"/>
            <a:ext cx="2377440" cy="411480"/>
          </a:xfrm>
          <a:prstGeom prst="rect">
            <a:avLst/>
          </a:prstGeom>
          <a:noFill/>
        </p:spPr>
        <p:txBody>
          <a:bodyPr wrap="square" anchor="ctr">
            <a:spAutoFit/>
          </a:bodyPr>
          <a:lstStyle/>
          <a:p>
            <a:pPr algn="l">
              <a:defRPr sz="1200" b="0" i="0">
                <a:solidFill>
                  <a:srgbClr val="333333"/>
                </a:solidFill>
                <a:latin typeface="Calibri"/>
              </a:defRPr>
            </a:pPr>
            <a:r>
              <a:t>Complex reasoning</a:t>
            </a:r>
          </a:p>
        </p:txBody>
      </p:sp>
      <p:sp>
        <p:nvSpPr>
          <p:cNvPr id="17" name="Rectangle 16"/>
          <p:cNvSpPr/>
          <p:nvPr/>
        </p:nvSpPr>
        <p:spPr>
          <a:xfrm>
            <a:off x="548640" y="3108960"/>
            <a:ext cx="1106424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127248"/>
            <a:ext cx="2926080" cy="411480"/>
          </a:xfrm>
          <a:prstGeom prst="rect">
            <a:avLst/>
          </a:prstGeom>
          <a:noFill/>
        </p:spPr>
        <p:txBody>
          <a:bodyPr wrap="square" anchor="ctr">
            <a:spAutoFit/>
          </a:bodyPr>
          <a:lstStyle/>
          <a:p>
            <a:pPr algn="l">
              <a:defRPr sz="1200" b="1" i="0">
                <a:solidFill>
                  <a:srgbClr val="1F4E79"/>
                </a:solidFill>
                <a:latin typeface="Calibri"/>
              </a:defRPr>
            </a:pPr>
            <a:r>
              <a:t>GPT-5.2 / Codex</a:t>
            </a:r>
          </a:p>
        </p:txBody>
      </p:sp>
      <p:sp>
        <p:nvSpPr>
          <p:cNvPr id="19" name="TextBox 18"/>
          <p:cNvSpPr txBox="1"/>
          <p:nvPr/>
        </p:nvSpPr>
        <p:spPr>
          <a:xfrm>
            <a:off x="3657600" y="3127248"/>
            <a:ext cx="1188720" cy="411480"/>
          </a:xfrm>
          <a:prstGeom prst="rect">
            <a:avLst/>
          </a:prstGeom>
          <a:noFill/>
        </p:spPr>
        <p:txBody>
          <a:bodyPr wrap="square" anchor="ctr">
            <a:spAutoFit/>
          </a:bodyPr>
          <a:lstStyle/>
          <a:p>
            <a:pPr algn="l">
              <a:defRPr sz="1200" b="1" i="0">
                <a:solidFill>
                  <a:srgbClr val="333333"/>
                </a:solidFill>
                <a:latin typeface="Calibri"/>
              </a:defRPr>
            </a:pPr>
            <a:r>
              <a:t>80.0%</a:t>
            </a:r>
          </a:p>
        </p:txBody>
      </p:sp>
      <p:sp>
        <p:nvSpPr>
          <p:cNvPr id="20" name="TextBox 19"/>
          <p:cNvSpPr txBox="1"/>
          <p:nvPr/>
        </p:nvSpPr>
        <p:spPr>
          <a:xfrm>
            <a:off x="4937760" y="3127248"/>
            <a:ext cx="2103120" cy="411480"/>
          </a:xfrm>
          <a:prstGeom prst="rect">
            <a:avLst/>
          </a:prstGeom>
          <a:noFill/>
        </p:spPr>
        <p:txBody>
          <a:bodyPr wrap="square" anchor="ctr">
            <a:spAutoFit/>
          </a:bodyPr>
          <a:lstStyle/>
          <a:p>
            <a:pPr algn="l">
              <a:defRPr sz="1200" b="0" i="0">
                <a:solidFill>
                  <a:srgbClr val="333333"/>
                </a:solidFill>
                <a:latin typeface="Calibri"/>
              </a:defRPr>
            </a:pPr>
            <a:r>
              <a:t>~4 out of 5</a:t>
            </a:r>
          </a:p>
        </p:txBody>
      </p:sp>
      <p:sp>
        <p:nvSpPr>
          <p:cNvPr id="21" name="TextBox 20"/>
          <p:cNvSpPr txBox="1"/>
          <p:nvPr/>
        </p:nvSpPr>
        <p:spPr>
          <a:xfrm>
            <a:off x="7132320" y="3127248"/>
            <a:ext cx="2011680" cy="411480"/>
          </a:xfrm>
          <a:prstGeom prst="rect">
            <a:avLst/>
          </a:prstGeom>
          <a:noFill/>
        </p:spPr>
        <p:txBody>
          <a:bodyPr wrap="square" anchor="ctr">
            <a:spAutoFit/>
          </a:bodyPr>
          <a:lstStyle/>
          <a:p>
            <a:pPr algn="l">
              <a:defRPr sz="1200" b="0" i="0">
                <a:solidFill>
                  <a:srgbClr val="333333"/>
                </a:solidFill>
                <a:latin typeface="Calibri"/>
              </a:defRPr>
            </a:pPr>
            <a:r>
              <a:t>$1.75 / $14 per MTok</a:t>
            </a:r>
          </a:p>
        </p:txBody>
      </p:sp>
      <p:sp>
        <p:nvSpPr>
          <p:cNvPr id="22" name="TextBox 21"/>
          <p:cNvSpPr txBox="1"/>
          <p:nvPr/>
        </p:nvSpPr>
        <p:spPr>
          <a:xfrm>
            <a:off x="9235440" y="3127248"/>
            <a:ext cx="2377440" cy="411480"/>
          </a:xfrm>
          <a:prstGeom prst="rect">
            <a:avLst/>
          </a:prstGeom>
          <a:noFill/>
        </p:spPr>
        <p:txBody>
          <a:bodyPr wrap="square" anchor="ctr">
            <a:spAutoFit/>
          </a:bodyPr>
          <a:lstStyle/>
          <a:p>
            <a:pPr algn="l">
              <a:defRPr sz="1200" b="0" i="0">
                <a:solidFill>
                  <a:srgbClr val="333333"/>
                </a:solidFill>
                <a:latin typeface="Calibri"/>
              </a:defRPr>
            </a:pPr>
            <a:r>
              <a:t>High-volume / DevOps</a:t>
            </a:r>
          </a:p>
        </p:txBody>
      </p:sp>
      <p:sp>
        <p:nvSpPr>
          <p:cNvPr id="23" name="Rectangle 22"/>
          <p:cNvSpPr/>
          <p:nvPr/>
        </p:nvSpPr>
        <p:spPr>
          <a:xfrm>
            <a:off x="548640" y="3611880"/>
            <a:ext cx="11064240" cy="457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3630168"/>
            <a:ext cx="2926080" cy="411480"/>
          </a:xfrm>
          <a:prstGeom prst="rect">
            <a:avLst/>
          </a:prstGeom>
          <a:noFill/>
        </p:spPr>
        <p:txBody>
          <a:bodyPr wrap="square" anchor="ctr">
            <a:spAutoFit/>
          </a:bodyPr>
          <a:lstStyle/>
          <a:p>
            <a:pPr algn="l">
              <a:defRPr sz="1200" b="1" i="0">
                <a:solidFill>
                  <a:srgbClr val="1F4E79"/>
                </a:solidFill>
                <a:latin typeface="Calibri"/>
              </a:defRPr>
            </a:pPr>
            <a:r>
              <a:t>Gemini 3 Pro</a:t>
            </a:r>
          </a:p>
        </p:txBody>
      </p:sp>
      <p:sp>
        <p:nvSpPr>
          <p:cNvPr id="25" name="TextBox 24"/>
          <p:cNvSpPr txBox="1"/>
          <p:nvPr/>
        </p:nvSpPr>
        <p:spPr>
          <a:xfrm>
            <a:off x="3657600" y="3630168"/>
            <a:ext cx="1188720" cy="411480"/>
          </a:xfrm>
          <a:prstGeom prst="rect">
            <a:avLst/>
          </a:prstGeom>
          <a:noFill/>
        </p:spPr>
        <p:txBody>
          <a:bodyPr wrap="square" anchor="ctr">
            <a:spAutoFit/>
          </a:bodyPr>
          <a:lstStyle/>
          <a:p>
            <a:pPr algn="l">
              <a:defRPr sz="1200" b="1" i="0">
                <a:solidFill>
                  <a:srgbClr val="333333"/>
                </a:solidFill>
                <a:latin typeface="Calibri"/>
              </a:defRPr>
            </a:pPr>
            <a:r>
              <a:t>76.2%</a:t>
            </a:r>
          </a:p>
        </p:txBody>
      </p:sp>
      <p:sp>
        <p:nvSpPr>
          <p:cNvPr id="26" name="TextBox 25"/>
          <p:cNvSpPr txBox="1"/>
          <p:nvPr/>
        </p:nvSpPr>
        <p:spPr>
          <a:xfrm>
            <a:off x="4937760" y="3630168"/>
            <a:ext cx="2103120" cy="411480"/>
          </a:xfrm>
          <a:prstGeom prst="rect">
            <a:avLst/>
          </a:prstGeom>
          <a:noFill/>
        </p:spPr>
        <p:txBody>
          <a:bodyPr wrap="square" anchor="ctr">
            <a:spAutoFit/>
          </a:bodyPr>
          <a:lstStyle/>
          <a:p>
            <a:pPr algn="l">
              <a:defRPr sz="1200" b="0" i="0">
                <a:solidFill>
                  <a:srgbClr val="333333"/>
                </a:solidFill>
                <a:latin typeface="Calibri"/>
              </a:defRPr>
            </a:pPr>
            <a:r>
              <a:t>~3 out of 4</a:t>
            </a:r>
          </a:p>
        </p:txBody>
      </p:sp>
      <p:sp>
        <p:nvSpPr>
          <p:cNvPr id="27" name="TextBox 26"/>
          <p:cNvSpPr txBox="1"/>
          <p:nvPr/>
        </p:nvSpPr>
        <p:spPr>
          <a:xfrm>
            <a:off x="7132320" y="3630168"/>
            <a:ext cx="2011680" cy="411480"/>
          </a:xfrm>
          <a:prstGeom prst="rect">
            <a:avLst/>
          </a:prstGeom>
          <a:noFill/>
        </p:spPr>
        <p:txBody>
          <a:bodyPr wrap="square" anchor="ctr">
            <a:spAutoFit/>
          </a:bodyPr>
          <a:lstStyle/>
          <a:p>
            <a:pPr algn="l">
              <a:defRPr sz="1200" b="0" i="0">
                <a:solidFill>
                  <a:srgbClr val="333333"/>
                </a:solidFill>
                <a:latin typeface="Calibri"/>
              </a:defRPr>
            </a:pPr>
            <a:r>
              <a:t>~$1 / $4 per MTok</a:t>
            </a:r>
          </a:p>
        </p:txBody>
      </p:sp>
      <p:sp>
        <p:nvSpPr>
          <p:cNvPr id="28" name="TextBox 27"/>
          <p:cNvSpPr txBox="1"/>
          <p:nvPr/>
        </p:nvSpPr>
        <p:spPr>
          <a:xfrm>
            <a:off x="9235440" y="3630168"/>
            <a:ext cx="2377440" cy="411480"/>
          </a:xfrm>
          <a:prstGeom prst="rect">
            <a:avLst/>
          </a:prstGeom>
          <a:noFill/>
        </p:spPr>
        <p:txBody>
          <a:bodyPr wrap="square" anchor="ctr">
            <a:spAutoFit/>
          </a:bodyPr>
          <a:lstStyle/>
          <a:p>
            <a:pPr algn="l">
              <a:defRPr sz="1200" b="0" i="0">
                <a:solidFill>
                  <a:srgbClr val="333333"/>
                </a:solidFill>
                <a:latin typeface="Calibri"/>
              </a:defRPr>
            </a:pPr>
            <a:r>
              <a:t>Cost-efficient tasks</a:t>
            </a:r>
          </a:p>
        </p:txBody>
      </p:sp>
      <p:sp>
        <p:nvSpPr>
          <p:cNvPr id="29" name="Rectangle 28"/>
          <p:cNvSpPr/>
          <p:nvPr/>
        </p:nvSpPr>
        <p:spPr>
          <a:xfrm>
            <a:off x="548640" y="4114800"/>
            <a:ext cx="1106424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4133087"/>
            <a:ext cx="2926080" cy="411480"/>
          </a:xfrm>
          <a:prstGeom prst="rect">
            <a:avLst/>
          </a:prstGeom>
          <a:noFill/>
        </p:spPr>
        <p:txBody>
          <a:bodyPr wrap="square" anchor="ctr">
            <a:spAutoFit/>
          </a:bodyPr>
          <a:lstStyle/>
          <a:p>
            <a:pPr algn="l">
              <a:defRPr sz="1200" b="1" i="0">
                <a:solidFill>
                  <a:srgbClr val="1F4E79"/>
                </a:solidFill>
                <a:latin typeface="Calibri"/>
              </a:defRPr>
            </a:pPr>
            <a:r>
              <a:t>Mid-tier / general</a:t>
            </a:r>
          </a:p>
        </p:txBody>
      </p:sp>
      <p:sp>
        <p:nvSpPr>
          <p:cNvPr id="31" name="TextBox 30"/>
          <p:cNvSpPr txBox="1"/>
          <p:nvPr/>
        </p:nvSpPr>
        <p:spPr>
          <a:xfrm>
            <a:off x="3657600" y="4133087"/>
            <a:ext cx="1188720" cy="411480"/>
          </a:xfrm>
          <a:prstGeom prst="rect">
            <a:avLst/>
          </a:prstGeom>
          <a:noFill/>
        </p:spPr>
        <p:txBody>
          <a:bodyPr wrap="square" anchor="ctr">
            <a:spAutoFit/>
          </a:bodyPr>
          <a:lstStyle/>
          <a:p>
            <a:pPr algn="l">
              <a:defRPr sz="1200" b="1" i="0">
                <a:solidFill>
                  <a:srgbClr val="333333"/>
                </a:solidFill>
                <a:latin typeface="Calibri"/>
              </a:defRPr>
            </a:pPr>
            <a:r>
              <a:t>50–65%</a:t>
            </a:r>
          </a:p>
        </p:txBody>
      </p:sp>
      <p:sp>
        <p:nvSpPr>
          <p:cNvPr id="32" name="TextBox 31"/>
          <p:cNvSpPr txBox="1"/>
          <p:nvPr/>
        </p:nvSpPr>
        <p:spPr>
          <a:xfrm>
            <a:off x="4937760" y="4133087"/>
            <a:ext cx="2103120" cy="411480"/>
          </a:xfrm>
          <a:prstGeom prst="rect">
            <a:avLst/>
          </a:prstGeom>
          <a:noFill/>
        </p:spPr>
        <p:txBody>
          <a:bodyPr wrap="square" anchor="ctr">
            <a:spAutoFit/>
          </a:bodyPr>
          <a:lstStyle/>
          <a:p>
            <a:pPr algn="l">
              <a:defRPr sz="1200" b="0" i="0">
                <a:solidFill>
                  <a:srgbClr val="333333"/>
                </a:solidFill>
                <a:latin typeface="Calibri"/>
              </a:defRPr>
            </a:pPr>
            <a:r>
              <a:t>Coin flip to 2 in 3</a:t>
            </a:r>
          </a:p>
        </p:txBody>
      </p:sp>
      <p:sp>
        <p:nvSpPr>
          <p:cNvPr id="33" name="TextBox 32"/>
          <p:cNvSpPr txBox="1"/>
          <p:nvPr/>
        </p:nvSpPr>
        <p:spPr>
          <a:xfrm>
            <a:off x="7132320" y="4133087"/>
            <a:ext cx="2011680" cy="411480"/>
          </a:xfrm>
          <a:prstGeom prst="rect">
            <a:avLst/>
          </a:prstGeom>
          <a:noFill/>
        </p:spPr>
        <p:txBody>
          <a:bodyPr wrap="square" anchor="ctr">
            <a:spAutoFit/>
          </a:bodyPr>
          <a:lstStyle/>
          <a:p>
            <a:pPr algn="l">
              <a:defRPr sz="1200" b="0" i="0">
                <a:solidFill>
                  <a:srgbClr val="333333"/>
                </a:solidFill>
                <a:latin typeface="Calibri"/>
              </a:defRPr>
            </a:pPr>
            <a:r>
              <a:t>Varies</a:t>
            </a:r>
          </a:p>
        </p:txBody>
      </p:sp>
      <p:sp>
        <p:nvSpPr>
          <p:cNvPr id="34" name="TextBox 33"/>
          <p:cNvSpPr txBox="1"/>
          <p:nvPr/>
        </p:nvSpPr>
        <p:spPr>
          <a:xfrm>
            <a:off x="9235440" y="4133087"/>
            <a:ext cx="2377440" cy="411480"/>
          </a:xfrm>
          <a:prstGeom prst="rect">
            <a:avLst/>
          </a:prstGeom>
          <a:noFill/>
        </p:spPr>
        <p:txBody>
          <a:bodyPr wrap="square" anchor="ctr">
            <a:spAutoFit/>
          </a:bodyPr>
          <a:lstStyle/>
          <a:p>
            <a:pPr algn="l">
              <a:defRPr sz="1200" b="0" i="0">
                <a:solidFill>
                  <a:srgbClr val="333333"/>
                </a:solidFill>
                <a:latin typeface="Calibri"/>
              </a:defRPr>
            </a:pPr>
            <a:r>
              <a:t>Simple tasks only</a:t>
            </a:r>
          </a:p>
        </p:txBody>
      </p:sp>
      <p:sp>
        <p:nvSpPr>
          <p:cNvPr id="35" name="Rectangle 34"/>
          <p:cNvSpPr/>
          <p:nvPr/>
        </p:nvSpPr>
        <p:spPr>
          <a:xfrm>
            <a:off x="548640" y="4754880"/>
            <a:ext cx="5303520" cy="13716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48640" y="4754880"/>
            <a:ext cx="91440" cy="1371600"/>
          </a:xfrm>
          <a:prstGeom prst="rect">
            <a:avLst/>
          </a:prstGeom>
          <a:solidFill>
            <a:srgbClr val="BF8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2960" y="4800600"/>
            <a:ext cx="4846320" cy="365760"/>
          </a:xfrm>
          <a:prstGeom prst="rect">
            <a:avLst/>
          </a:prstGeom>
          <a:noFill/>
        </p:spPr>
        <p:txBody>
          <a:bodyPr wrap="square" anchor="t">
            <a:spAutoFit/>
          </a:bodyPr>
          <a:lstStyle/>
          <a:p>
            <a:pPr algn="l">
              <a:defRPr sz="1400" b="1" i="0">
                <a:solidFill>
                  <a:srgbClr val="1F4E79"/>
                </a:solidFill>
                <a:latin typeface="Calibri"/>
              </a:defRPr>
            </a:pPr>
            <a:r>
              <a:t>On harder tasks, the gap widens dramatically</a:t>
            </a:r>
          </a:p>
        </p:txBody>
      </p:sp>
      <p:sp>
        <p:nvSpPr>
          <p:cNvPr id="38" name="TextBox 37"/>
          <p:cNvSpPr txBox="1"/>
          <p:nvPr/>
        </p:nvSpPr>
        <p:spPr>
          <a:xfrm>
            <a:off x="822960" y="5212080"/>
            <a:ext cx="4846320" cy="822960"/>
          </a:xfrm>
          <a:prstGeom prst="rect">
            <a:avLst/>
          </a:prstGeom>
          <a:noFill/>
        </p:spPr>
        <p:txBody>
          <a:bodyPr wrap="square" anchor="t">
            <a:spAutoFit/>
          </a:bodyPr>
          <a:lstStyle/>
          <a:p>
            <a:pPr algn="l">
              <a:defRPr sz="1200" b="0" i="0">
                <a:solidFill>
                  <a:srgbClr val="333333"/>
                </a:solidFill>
                <a:latin typeface="Calibri"/>
              </a:defRPr>
            </a:pPr>
            <a:r>
              <a:t>SWE-bench Pro tests multi-file, multi-day complexity — the kind of work that resembles real migration and feature development. Even top models drop to roughly 1 in 4. The choice of model and tool determines whether AI accelerates your team or creates rework.</a:t>
            </a:r>
          </a:p>
        </p:txBody>
      </p:sp>
      <p:sp>
        <p:nvSpPr>
          <p:cNvPr id="39" name="Rectangle 38"/>
          <p:cNvSpPr/>
          <p:nvPr/>
        </p:nvSpPr>
        <p:spPr>
          <a:xfrm>
            <a:off x="6309360" y="4754880"/>
            <a:ext cx="5303520" cy="13716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309360" y="4754880"/>
            <a:ext cx="91440" cy="137160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83680" y="4800600"/>
            <a:ext cx="4846320" cy="365760"/>
          </a:xfrm>
          <a:prstGeom prst="rect">
            <a:avLst/>
          </a:prstGeom>
          <a:noFill/>
        </p:spPr>
        <p:txBody>
          <a:bodyPr wrap="square" anchor="t">
            <a:spAutoFit/>
          </a:bodyPr>
          <a:lstStyle/>
          <a:p>
            <a:pPr algn="l">
              <a:defRPr sz="1400" b="1" i="0">
                <a:solidFill>
                  <a:srgbClr val="1F4E79"/>
                </a:solidFill>
                <a:latin typeface="Calibri"/>
              </a:defRPr>
            </a:pPr>
            <a:r>
              <a:t>For frontier models, go direct to the provider</a:t>
            </a:r>
          </a:p>
        </p:txBody>
      </p:sp>
      <p:sp>
        <p:nvSpPr>
          <p:cNvPr id="42" name="TextBox 41"/>
          <p:cNvSpPr txBox="1"/>
          <p:nvPr/>
        </p:nvSpPr>
        <p:spPr>
          <a:xfrm>
            <a:off x="6583680" y="5212080"/>
            <a:ext cx="4846320" cy="822960"/>
          </a:xfrm>
          <a:prstGeom prst="rect">
            <a:avLst/>
          </a:prstGeom>
          <a:noFill/>
        </p:spPr>
        <p:txBody>
          <a:bodyPr wrap="square" anchor="t">
            <a:spAutoFit/>
          </a:bodyPr>
          <a:lstStyle/>
          <a:p>
            <a:pPr algn="l">
              <a:defRPr sz="1200" b="0" i="0">
                <a:solidFill>
                  <a:srgbClr val="333333"/>
                </a:solidFill>
                <a:latin typeface="Calibri"/>
              </a:defRPr>
            </a:pPr>
            <a:r>
              <a:t>Same Claude model through Claude Code uses ~5× fewer tokens than through Cursor for the same task. Separately, GPT-5 family is 75% cheaper per-token than Claude Opus for high-volume pipeline work. Match provider to task.</a:t>
            </a:r>
          </a:p>
        </p:txBody>
      </p:sp>
      <p:pic>
        <p:nvPicPr>
          <p:cNvPr id="43" name="Picture 42">
            <a:extLst>
              <a:ext uri="{FF2B5EF4-FFF2-40B4-BE49-F238E27FC236}">
                <a16:creationId xmlns:a16="http://schemas.microsoft.com/office/drawing/2014/main" id="{C89231D8-2A30-4061-8AA0-0870CD3C532C}"/>
              </a:ext>
            </a:extLst>
          </p:cNvPr>
          <p:cNvPicPr>
            <a:picLocks noChangeAspect="1"/>
          </p:cNvPicPr>
          <p:nvPr/>
        </p:nvPicPr>
        <p:blipFill>
          <a:blip r:embed="rId2"/>
          <a:stretch>
            <a:fillRect/>
          </a:stretch>
        </p:blipFill>
        <p:spPr>
          <a:xfrm>
            <a:off x="182880" y="6396349"/>
            <a:ext cx="11112262" cy="4284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Cross-Cutting Themes</a:t>
            </a:r>
          </a:p>
        </p:txBody>
      </p:sp>
      <p:sp>
        <p:nvSpPr>
          <p:cNvPr id="3" name="TextBox 2"/>
          <p:cNvSpPr txBox="1"/>
          <p:nvPr/>
        </p:nvSpPr>
        <p:spPr>
          <a:xfrm>
            <a:off x="548640" y="1097280"/>
            <a:ext cx="10972800" cy="365760"/>
          </a:xfrm>
          <a:prstGeom prst="rect">
            <a:avLst/>
          </a:prstGeom>
          <a:noFill/>
        </p:spPr>
        <p:txBody>
          <a:bodyPr wrap="square" anchor="t">
            <a:spAutoFit/>
          </a:bodyPr>
          <a:lstStyle/>
          <a:p>
            <a:pPr algn="l">
              <a:defRPr sz="1600" b="0" i="0">
                <a:solidFill>
                  <a:srgbClr val="333333"/>
                </a:solidFill>
                <a:latin typeface="Calibri"/>
              </a:defRPr>
            </a:pPr>
            <a:r>
              <a:t>Three themes emerged consistently across all interviews and all three workflows.</a:t>
            </a:r>
          </a:p>
        </p:txBody>
      </p:sp>
      <p:sp>
        <p:nvSpPr>
          <p:cNvPr id="4" name="Rectangle 3"/>
          <p:cNvSpPr/>
          <p:nvPr/>
        </p:nvSpPr>
        <p:spPr>
          <a:xfrm>
            <a:off x="548640" y="1645920"/>
            <a:ext cx="3520440" cy="4389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645920"/>
            <a:ext cx="3520440" cy="5486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645920"/>
            <a:ext cx="3520440" cy="548640"/>
          </a:xfrm>
          <a:prstGeom prst="rect">
            <a:avLst/>
          </a:prstGeom>
          <a:noFill/>
        </p:spPr>
        <p:txBody>
          <a:bodyPr wrap="square" anchor="ctr">
            <a:spAutoFit/>
          </a:bodyPr>
          <a:lstStyle/>
          <a:p>
            <a:pPr algn="ctr">
              <a:defRPr sz="1700" b="1" i="0">
                <a:solidFill>
                  <a:srgbClr val="FFFFFF"/>
                </a:solidFill>
                <a:latin typeface="Calibri"/>
              </a:defRPr>
            </a:pPr>
            <a:r>
              <a:t>Governance as Enabler</a:t>
            </a:r>
          </a:p>
        </p:txBody>
      </p:sp>
      <p:sp>
        <p:nvSpPr>
          <p:cNvPr id="7" name="TextBox 6"/>
          <p:cNvSpPr txBox="1"/>
          <p:nvPr/>
        </p:nvSpPr>
        <p:spPr>
          <a:xfrm>
            <a:off x="685800" y="2331720"/>
            <a:ext cx="3246120" cy="3566160"/>
          </a:xfrm>
          <a:prstGeom prst="rect">
            <a:avLst/>
          </a:prstGeom>
          <a:noFill/>
        </p:spPr>
        <p:txBody>
          <a:bodyPr wrap="square" anchor="t">
            <a:spAutoFit/>
          </a:bodyPr>
          <a:lstStyle/>
          <a:p>
            <a:pPr algn="l">
              <a:lnSpc>
                <a:spcPts val="1600"/>
              </a:lnSpc>
              <a:defRPr sz="1200" b="0">
                <a:solidFill>
                  <a:srgbClr val="333333"/>
                </a:solidFill>
                <a:latin typeface="Calibri"/>
              </a:defRPr>
            </a:pPr>
            <a:r>
              <a:t>The governance process is the mechanism for opening these tool categories.</a:t>
            </a:r>
          </a:p>
          <a:p>
            <a:pPr algn="l">
              <a:lnSpc>
                <a:spcPts val="1600"/>
              </a:lnSpc>
              <a:defRPr sz="600" b="0">
                <a:solidFill>
                  <a:srgbClr val="333333"/>
                </a:solidFill>
                <a:latin typeface="Calibri"/>
              </a:defRPr>
            </a:pPr>
            <a:endParaRPr/>
          </a:p>
          <a:p>
            <a:pPr algn="l">
              <a:lnSpc>
                <a:spcPts val="1600"/>
              </a:lnSpc>
              <a:defRPr sz="1200" b="0">
                <a:solidFill>
                  <a:srgbClr val="333333"/>
                </a:solidFill>
                <a:latin typeface="Calibri"/>
              </a:defRPr>
            </a:pPr>
            <a:r>
              <a:t>The AI Governance Framework defines a three-tier structure: Steering Committee for strategic direction, Working Group for tool evaluation and approval, Task Forces for specific investigations.</a:t>
            </a:r>
          </a:p>
          <a:p>
            <a:pPr algn="l">
              <a:lnSpc>
                <a:spcPts val="1600"/>
              </a:lnSpc>
              <a:defRPr sz="600" b="0">
                <a:solidFill>
                  <a:srgbClr val="333333"/>
                </a:solidFill>
                <a:latin typeface="Calibri"/>
              </a:defRPr>
            </a:pPr>
            <a:endParaRPr/>
          </a:p>
          <a:p>
            <a:pPr algn="l">
              <a:lnSpc>
                <a:spcPts val="1600"/>
              </a:lnSpc>
              <a:defRPr sz="1200" b="1">
                <a:solidFill>
                  <a:srgbClr val="333333"/>
                </a:solidFill>
                <a:latin typeface="Calibri"/>
              </a:defRPr>
            </a:pPr>
            <a:r>
              <a:t>Speed matters — every month of delay has measurable cost in developer productivity and migration timelines.</a:t>
            </a:r>
          </a:p>
        </p:txBody>
      </p:sp>
      <p:sp>
        <p:nvSpPr>
          <p:cNvPr id="8" name="Rectangle 7"/>
          <p:cNvSpPr/>
          <p:nvPr/>
        </p:nvSpPr>
        <p:spPr>
          <a:xfrm>
            <a:off x="4343400" y="1645920"/>
            <a:ext cx="3520440" cy="4389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43400" y="1645920"/>
            <a:ext cx="3520440" cy="548640"/>
          </a:xfrm>
          <a:prstGeom prst="rect">
            <a:avLst/>
          </a:prstGeom>
          <a:solidFill>
            <a:srgbClr val="548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43400" y="1645920"/>
            <a:ext cx="3520440" cy="548640"/>
          </a:xfrm>
          <a:prstGeom prst="rect">
            <a:avLst/>
          </a:prstGeom>
          <a:noFill/>
        </p:spPr>
        <p:txBody>
          <a:bodyPr wrap="square" anchor="ctr">
            <a:spAutoFit/>
          </a:bodyPr>
          <a:lstStyle/>
          <a:p>
            <a:pPr algn="ctr">
              <a:defRPr sz="1700" b="1" i="0">
                <a:solidFill>
                  <a:srgbClr val="FFFFFF"/>
                </a:solidFill>
                <a:latin typeface="Calibri"/>
              </a:defRPr>
            </a:pPr>
            <a:r>
              <a:t>Testing Maturity Gaps</a:t>
            </a:r>
          </a:p>
        </p:txBody>
      </p:sp>
      <p:sp>
        <p:nvSpPr>
          <p:cNvPr id="11" name="TextBox 10"/>
          <p:cNvSpPr txBox="1"/>
          <p:nvPr/>
        </p:nvSpPr>
        <p:spPr>
          <a:xfrm>
            <a:off x="4480560" y="2331720"/>
            <a:ext cx="3246120" cy="3566160"/>
          </a:xfrm>
          <a:prstGeom prst="rect">
            <a:avLst/>
          </a:prstGeom>
          <a:noFill/>
        </p:spPr>
        <p:txBody>
          <a:bodyPr wrap="square" anchor="t">
            <a:spAutoFit/>
          </a:bodyPr>
          <a:lstStyle/>
          <a:p>
            <a:pPr algn="l">
              <a:lnSpc>
                <a:spcPts val="1600"/>
              </a:lnSpc>
              <a:defRPr sz="1200" b="0">
                <a:solidFill>
                  <a:srgbClr val="333333"/>
                </a:solidFill>
                <a:latin typeface="Calibri"/>
              </a:defRPr>
            </a:pPr>
            <a:r>
              <a:t>All three workflows have significant gaps of different types:</a:t>
            </a:r>
          </a:p>
          <a:p>
            <a:pPr algn="l">
              <a:lnSpc>
                <a:spcPts val="1600"/>
              </a:lnSpc>
              <a:defRPr sz="600" b="0">
                <a:solidFill>
                  <a:srgbClr val="333333"/>
                </a:solidFill>
                <a:latin typeface="Calibri"/>
              </a:defRPr>
            </a:pPr>
            <a:endParaRPr/>
          </a:p>
          <a:p>
            <a:pPr algn="l">
              <a:lnSpc>
                <a:spcPts val="1600"/>
              </a:lnSpc>
              <a:defRPr sz="1200" b="0">
                <a:solidFill>
                  <a:srgbClr val="333333"/>
                </a:solidFill>
                <a:latin typeface="Calibri"/>
              </a:defRPr>
            </a:pPr>
            <a:r>
              <a:t>SF: 5-day manual regression is the dominant release constraint</a:t>
            </a:r>
          </a:p>
          <a:p>
            <a:pPr algn="l">
              <a:lnSpc>
                <a:spcPts val="1600"/>
              </a:lnSpc>
              <a:defRPr sz="400" b="0">
                <a:solidFill>
                  <a:srgbClr val="333333"/>
                </a:solidFill>
                <a:latin typeface="Calibri"/>
              </a:defRPr>
            </a:pPr>
            <a:endParaRPr/>
          </a:p>
          <a:p>
            <a:pPr algn="l">
              <a:lnSpc>
                <a:spcPts val="1600"/>
              </a:lnSpc>
              <a:defRPr sz="1200" b="0">
                <a:solidFill>
                  <a:srgbClr val="333333"/>
                </a:solidFill>
                <a:latin typeface="Calibri"/>
              </a:defRPr>
            </a:pPr>
            <a:r>
              <a:t>Data: no automated test framework — the widest SDLC maturity gap</a:t>
            </a:r>
          </a:p>
          <a:p>
            <a:pPr algn="l">
              <a:lnSpc>
                <a:spcPts val="1600"/>
              </a:lnSpc>
              <a:defRPr sz="400" b="0">
                <a:solidFill>
                  <a:srgbClr val="333333"/>
                </a:solidFill>
                <a:latin typeface="Calibri"/>
              </a:defRPr>
            </a:pPr>
            <a:endParaRPr/>
          </a:p>
          <a:p>
            <a:pPr algn="l">
              <a:lnSpc>
                <a:spcPts val="1600"/>
              </a:lnSpc>
              <a:defRPr sz="1200" b="0">
                <a:solidFill>
                  <a:srgbClr val="333333"/>
                </a:solidFill>
                <a:latin typeface="Calibri"/>
              </a:defRPr>
            </a:pPr>
            <a:r>
              <a:t>Integration: near-zero Azure-side test coverage with ~285 endpoints to migrate</a:t>
            </a:r>
          </a:p>
          <a:p>
            <a:pPr algn="l">
              <a:lnSpc>
                <a:spcPts val="1600"/>
              </a:lnSpc>
              <a:defRPr sz="600" b="0">
                <a:solidFill>
                  <a:srgbClr val="333333"/>
                </a:solidFill>
                <a:latin typeface="Calibri"/>
              </a:defRPr>
            </a:pPr>
            <a:endParaRPr/>
          </a:p>
          <a:p>
            <a:pPr algn="l">
              <a:lnSpc>
                <a:spcPts val="1600"/>
              </a:lnSpc>
              <a:defRPr sz="1200" b="1">
                <a:solidFill>
                  <a:srgbClr val="333333"/>
                </a:solidFill>
                <a:latin typeface="Calibri"/>
              </a:defRPr>
            </a:pPr>
            <a:r>
              <a:t>AI-assisted testing is among the highest-impact opportunities across all three.</a:t>
            </a:r>
          </a:p>
        </p:txBody>
      </p:sp>
      <p:sp>
        <p:nvSpPr>
          <p:cNvPr id="12" name="Rectangle 11"/>
          <p:cNvSpPr/>
          <p:nvPr/>
        </p:nvSpPr>
        <p:spPr>
          <a:xfrm>
            <a:off x="8138160" y="1645920"/>
            <a:ext cx="3520440" cy="4389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138160" y="1645920"/>
            <a:ext cx="3520440" cy="54864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38160" y="1645920"/>
            <a:ext cx="3520440" cy="548640"/>
          </a:xfrm>
          <a:prstGeom prst="rect">
            <a:avLst/>
          </a:prstGeom>
          <a:noFill/>
        </p:spPr>
        <p:txBody>
          <a:bodyPr wrap="square" anchor="ctr">
            <a:spAutoFit/>
          </a:bodyPr>
          <a:lstStyle/>
          <a:p>
            <a:pPr algn="ctr">
              <a:defRPr sz="1700" b="1" i="0">
                <a:solidFill>
                  <a:srgbClr val="FFFFFF"/>
                </a:solidFill>
                <a:latin typeface="Calibri"/>
              </a:defRPr>
            </a:pPr>
            <a:r>
              <a:t>Knowledge Concentration</a:t>
            </a:r>
          </a:p>
        </p:txBody>
      </p:sp>
      <p:sp>
        <p:nvSpPr>
          <p:cNvPr id="15" name="TextBox 14"/>
          <p:cNvSpPr txBox="1"/>
          <p:nvPr/>
        </p:nvSpPr>
        <p:spPr>
          <a:xfrm>
            <a:off x="8275320" y="2331720"/>
            <a:ext cx="3246120" cy="3566160"/>
          </a:xfrm>
          <a:prstGeom prst="rect">
            <a:avLst/>
          </a:prstGeom>
          <a:noFill/>
        </p:spPr>
        <p:txBody>
          <a:bodyPr wrap="square" anchor="t">
            <a:spAutoFit/>
          </a:bodyPr>
          <a:lstStyle/>
          <a:p>
            <a:pPr algn="l">
              <a:lnSpc>
                <a:spcPts val="1600"/>
              </a:lnSpc>
              <a:defRPr sz="1200" b="0">
                <a:solidFill>
                  <a:srgbClr val="333333"/>
                </a:solidFill>
                <a:latin typeface="Calibri"/>
              </a:defRPr>
            </a:pPr>
            <a:r>
              <a:t>Critical knowledge is concentrated in single contributors across all three workflows.</a:t>
            </a:r>
          </a:p>
          <a:p>
            <a:pPr algn="l">
              <a:lnSpc>
                <a:spcPts val="1600"/>
              </a:lnSpc>
              <a:defRPr sz="600" b="0">
                <a:solidFill>
                  <a:srgbClr val="333333"/>
                </a:solidFill>
                <a:latin typeface="Calibri"/>
              </a:defRPr>
            </a:pPr>
            <a:endParaRPr/>
          </a:p>
          <a:p>
            <a:pPr algn="l">
              <a:lnSpc>
                <a:spcPts val="1600"/>
              </a:lnSpc>
              <a:defRPr sz="1200" b="0">
                <a:solidFill>
                  <a:srgbClr val="333333"/>
                </a:solidFill>
                <a:latin typeface="Calibri"/>
              </a:defRPr>
            </a:pPr>
            <a:r>
              <a:t>Architecture decisions, CI/CD pipeline config, migration planning, and development standards are held by individuals rather than documented in accessible form.</a:t>
            </a:r>
          </a:p>
          <a:p>
            <a:pPr algn="l">
              <a:lnSpc>
                <a:spcPts val="1600"/>
              </a:lnSpc>
              <a:defRPr sz="600" b="0">
                <a:solidFill>
                  <a:srgbClr val="333333"/>
                </a:solidFill>
                <a:latin typeface="Calibri"/>
              </a:defRPr>
            </a:pPr>
            <a:endParaRPr/>
          </a:p>
          <a:p>
            <a:pPr algn="l">
              <a:lnSpc>
                <a:spcPts val="1600"/>
              </a:lnSpc>
              <a:defRPr sz="1200" b="1">
                <a:solidFill>
                  <a:srgbClr val="333333"/>
                </a:solidFill>
                <a:latin typeface="Calibri"/>
              </a:defRPr>
            </a:pPr>
            <a:r>
              <a:t>AI-assisted documentation and knowledge transfer are both a risk mitigation and a force multiplier.</a:t>
            </a:r>
          </a:p>
        </p:txBody>
      </p:sp>
      <p:pic>
        <p:nvPicPr>
          <p:cNvPr id="16" name="Picture 15">
            <a:extLst>
              <a:ext uri="{FF2B5EF4-FFF2-40B4-BE49-F238E27FC236}">
                <a16:creationId xmlns:a16="http://schemas.microsoft.com/office/drawing/2014/main" id="{86F8202D-AE54-A739-947B-0808FF6CB6B8}"/>
              </a:ext>
            </a:extLst>
          </p:cNvPr>
          <p:cNvPicPr>
            <a:picLocks noChangeAspect="1"/>
          </p:cNvPicPr>
          <p:nvPr/>
        </p:nvPicPr>
        <p:blipFill>
          <a:blip r:embed="rId2"/>
          <a:stretch>
            <a:fillRect/>
          </a:stretch>
        </p:blipFill>
        <p:spPr>
          <a:xfrm>
            <a:off x="182880" y="6396349"/>
            <a:ext cx="11112262" cy="4284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a:extLst>
            <a:ext uri="{FF2B5EF4-FFF2-40B4-BE49-F238E27FC236}">
              <a16:creationId xmlns:a16="http://schemas.microsoft.com/office/drawing/2014/main" id="{0AE46465-EB44-D206-11A2-67136FBF84B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C477D3E-B7D8-201A-023E-ADE2CD806B46}"/>
              </a:ext>
            </a:extLst>
          </p:cNvPr>
          <p:cNvSpPr/>
          <p:nvPr/>
        </p:nvSpPr>
        <p:spPr>
          <a:xfrm>
            <a:off x="0" y="0"/>
            <a:ext cx="137160" cy="68580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j-ea"/>
              <a:cs typeface="+mj-cs"/>
              <a:sym typeface="Calibri"/>
            </a:endParaRPr>
          </a:p>
        </p:txBody>
      </p:sp>
      <p:sp>
        <p:nvSpPr>
          <p:cNvPr id="3" name="Text 1">
            <a:extLst>
              <a:ext uri="{FF2B5EF4-FFF2-40B4-BE49-F238E27FC236}">
                <a16:creationId xmlns:a16="http://schemas.microsoft.com/office/drawing/2014/main" id="{1D68AAFD-E6D0-6939-3168-0425A055F2F3}"/>
              </a:ext>
            </a:extLst>
          </p:cNvPr>
          <p:cNvSpPr/>
          <p:nvPr/>
        </p:nvSpPr>
        <p:spPr>
          <a:xfrm>
            <a:off x="1371600" y="1828800"/>
            <a:ext cx="9144000" cy="1371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Calibri"/>
              </a:rPr>
              <a:t>Security and Cost Considerations</a:t>
            </a:r>
            <a:endParaRPr kumimoji="0" lang="en-US" sz="4000" b="0" i="0" u="none" strike="noStrike" kern="1200" cap="none" spc="0" normalizeH="0" baseline="0" noProof="0" dirty="0">
              <a:ln>
                <a:noFill/>
              </a:ln>
              <a:solidFill>
                <a:prstClr val="black"/>
              </a:solidFill>
              <a:effectLst/>
              <a:uLnTx/>
              <a:uFillTx/>
              <a:latin typeface="Calibri" panose="020F0502020204030204"/>
              <a:ea typeface="+mj-ea"/>
              <a:cs typeface="+mj-cs"/>
              <a:sym typeface="Calibri"/>
            </a:endParaRPr>
          </a:p>
        </p:txBody>
      </p:sp>
      <p:pic>
        <p:nvPicPr>
          <p:cNvPr id="5" name="Image 0" descr="/home/claude/eis_logo.png">
            <a:extLst>
              <a:ext uri="{FF2B5EF4-FFF2-40B4-BE49-F238E27FC236}">
                <a16:creationId xmlns:a16="http://schemas.microsoft.com/office/drawing/2014/main" id="{B9D5A6F0-8A31-438C-2CE1-3DDD4C0C9F36}"/>
              </a:ext>
            </a:extLst>
          </p:cNvPr>
          <p:cNvPicPr>
            <a:picLocks noChangeAspect="1"/>
          </p:cNvPicPr>
          <p:nvPr/>
        </p:nvPicPr>
        <p:blipFill>
          <a:blip r:embed="rId3"/>
          <a:stretch>
            <a:fillRect/>
          </a:stretch>
        </p:blipFill>
        <p:spPr>
          <a:xfrm>
            <a:off x="10360152" y="5943600"/>
            <a:ext cx="1005840" cy="301752"/>
          </a:xfrm>
          <a:prstGeom prst="rect">
            <a:avLst/>
          </a:prstGeom>
        </p:spPr>
      </p:pic>
      <p:sp>
        <p:nvSpPr>
          <p:cNvPr id="6" name="Text 3">
            <a:extLst>
              <a:ext uri="{FF2B5EF4-FFF2-40B4-BE49-F238E27FC236}">
                <a16:creationId xmlns:a16="http://schemas.microsoft.com/office/drawing/2014/main" id="{CA4A8448-A803-670B-E7C6-82A49057D4AE}"/>
              </a:ext>
            </a:extLst>
          </p:cNvPr>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sym typeface="Calibri"/>
              </a:rPr>
              <a:t>13</a:t>
            </a:r>
            <a:endParaRPr kumimoji="0" lang="en-US" sz="800" b="0" i="0" u="none" strike="noStrike" kern="1200" cap="none" spc="0" normalizeH="0" baseline="0" noProof="0" dirty="0">
              <a:ln>
                <a:noFill/>
              </a:ln>
              <a:solidFill>
                <a:prstClr val="black"/>
              </a:solidFill>
              <a:effectLst/>
              <a:uLnTx/>
              <a:uFillTx/>
              <a:latin typeface="Calibri" panose="020F0502020204030204"/>
              <a:ea typeface="+mj-ea"/>
              <a:cs typeface="+mj-cs"/>
              <a:sym typeface="Calibri"/>
            </a:endParaRPr>
          </a:p>
        </p:txBody>
      </p:sp>
    </p:spTree>
    <p:extLst>
      <p:ext uri="{BB962C8B-B14F-4D97-AF65-F5344CB8AC3E}">
        <p14:creationId xmlns:p14="http://schemas.microsoft.com/office/powerpoint/2010/main" val="4192639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316DE-5417-92A6-8449-EA2D4DEB96F7}"/>
              </a:ext>
            </a:extLst>
          </p:cNvPr>
          <p:cNvSpPr>
            <a:spLocks noGrp="1"/>
          </p:cNvSpPr>
          <p:nvPr>
            <p:ph type="title"/>
          </p:nvPr>
        </p:nvSpPr>
        <p:spPr/>
        <p:txBody>
          <a:bodyPr/>
          <a:lstStyle/>
          <a:p>
            <a:r>
              <a:rPr lang="en-US"/>
              <a:t>What Data Flows to AI Models in SDLC Workflows?</a:t>
            </a:r>
          </a:p>
        </p:txBody>
      </p:sp>
      <p:sp>
        <p:nvSpPr>
          <p:cNvPr id="4" name="Content Placeholder 3">
            <a:extLst>
              <a:ext uri="{FF2B5EF4-FFF2-40B4-BE49-F238E27FC236}">
                <a16:creationId xmlns:a16="http://schemas.microsoft.com/office/drawing/2014/main" id="{04FC5149-11A9-0E14-D906-FCCA16B747C2}"/>
              </a:ext>
            </a:extLst>
          </p:cNvPr>
          <p:cNvSpPr>
            <a:spLocks noGrp="1"/>
          </p:cNvSpPr>
          <p:nvPr>
            <p:ph idx="10"/>
          </p:nvPr>
        </p:nvSpPr>
        <p:spPr/>
        <p:txBody>
          <a:bodyPr/>
          <a:lstStyle/>
          <a:p>
            <a:r>
              <a:rPr lang="en-US" b="1"/>
              <a:t>What’s Actually at Risk</a:t>
            </a:r>
          </a:p>
          <a:p>
            <a:endParaRPr lang="en-US" sz="800"/>
          </a:p>
          <a:p>
            <a:r>
              <a:rPr lang="en-US" b="1"/>
              <a:t>Proprietary IP</a:t>
            </a:r>
          </a:p>
          <a:p>
            <a:r>
              <a:rPr lang="en-US"/>
              <a:t>Source code, business logic, architecture patterns. Competitively sensitive.</a:t>
            </a:r>
          </a:p>
          <a:p>
            <a:endParaRPr lang="en-US" sz="800"/>
          </a:p>
          <a:p>
            <a:r>
              <a:rPr lang="en-US" b="1"/>
              <a:t>Credentials and Configuration</a:t>
            </a:r>
          </a:p>
          <a:p>
            <a:r>
              <a:rPr lang="en-US"/>
              <a:t>.env files, API keys, connection strings, infrastructure configs. Immediate security risk if exposed.</a:t>
            </a:r>
          </a:p>
          <a:p>
            <a:endParaRPr lang="en-US" sz="800"/>
          </a:p>
          <a:p>
            <a:r>
              <a:rPr lang="en-US" b="1"/>
              <a:t>Customer and Regulated Data</a:t>
            </a:r>
          </a:p>
          <a:p>
            <a:r>
              <a:rPr lang="en-US"/>
              <a:t>PII in debug logs, production data in test datasets, customer scenarios in Jira tickets. Regulatory and contractual exposure.</a:t>
            </a:r>
          </a:p>
        </p:txBody>
      </p:sp>
      <p:sp>
        <p:nvSpPr>
          <p:cNvPr id="5" name="Slide Number Placeholder 4">
            <a:extLst>
              <a:ext uri="{FF2B5EF4-FFF2-40B4-BE49-F238E27FC236}">
                <a16:creationId xmlns:a16="http://schemas.microsoft.com/office/drawing/2014/main" id="{79DAEF5C-1173-50D4-F9E8-FA3578ED0635}"/>
              </a:ext>
            </a:extLst>
          </p:cNvPr>
          <p:cNvSpPr>
            <a:spLocks noGrp="1"/>
          </p:cNvSpPr>
          <p:nvPr>
            <p:ph type="sldNum" sz="quarter" idx="12"/>
          </p:nvPr>
        </p:nvSpPr>
        <p:spPr/>
        <p:txBody>
          <a:bodyPr/>
          <a:lstStyle/>
          <a:p>
            <a:pPr marL="0" marR="0" lvl="0" indent="0" algn="l" defTabSz="914400" rtl="0" eaLnBrk="1" fontAlgn="auto" latinLnBrk="0" hangingPunct="0">
              <a:lnSpc>
                <a:spcPct val="100000"/>
              </a:lnSpc>
              <a:spcBef>
                <a:spcPts val="0"/>
              </a:spcBef>
              <a:spcAft>
                <a:spcPts val="0"/>
              </a:spcAft>
              <a:buClrTx/>
              <a:buSzTx/>
              <a:buFontTx/>
              <a:buNone/>
              <a:tabLst/>
              <a:defRPr/>
            </a:pPr>
            <a:fld id="{A22638FE-01C9-41BA-BE25-085106FB5C8A}" type="slidenum">
              <a:rPr kumimoji="0" lang="en-US" sz="1199" b="0" i="0" u="none" strike="noStrike" kern="0" cap="none" spc="0" normalizeH="0" baseline="0" noProof="0" smtClean="0">
                <a:ln>
                  <a:noFill/>
                </a:ln>
                <a:solidFill>
                  <a:srgbClr val="052841"/>
                </a:solidFill>
                <a:effectLst/>
                <a:uLnTx/>
                <a:uFillTx/>
                <a:latin typeface="Calibri" panose="020F0502020204030204" pitchFamily="34" charset="0"/>
                <a:ea typeface="+mj-ea"/>
                <a:cs typeface="+mj-cs"/>
                <a:sym typeface="Calibri"/>
              </a:rPr>
              <a:pPr marL="0" marR="0" lvl="0" indent="0" algn="l" defTabSz="914400" rtl="0" eaLnBrk="1" fontAlgn="auto" latinLnBrk="0" hangingPunct="0">
                <a:lnSpc>
                  <a:spcPct val="100000"/>
                </a:lnSpc>
                <a:spcBef>
                  <a:spcPts val="0"/>
                </a:spcBef>
                <a:spcAft>
                  <a:spcPts val="0"/>
                </a:spcAft>
                <a:buClrTx/>
                <a:buSzTx/>
                <a:buFontTx/>
                <a:buNone/>
                <a:tabLst/>
                <a:defRPr/>
              </a:pPr>
              <a:t>14</a:t>
            </a:fld>
            <a:endParaRPr kumimoji="0" lang="en-US" sz="1199" b="0" i="0" u="none" strike="noStrike" kern="0" cap="none" spc="0" normalizeH="0" baseline="0" noProof="0">
              <a:ln>
                <a:noFill/>
              </a:ln>
              <a:solidFill>
                <a:srgbClr val="052841"/>
              </a:solidFill>
              <a:effectLst/>
              <a:uLnTx/>
              <a:uFillTx/>
              <a:latin typeface="Calibri" panose="020F0502020204030204" pitchFamily="34" charset="0"/>
              <a:ea typeface="+mj-ea"/>
              <a:cs typeface="+mj-cs"/>
              <a:sym typeface="Calibri"/>
            </a:endParaRPr>
          </a:p>
        </p:txBody>
      </p:sp>
      <p:sp>
        <p:nvSpPr>
          <p:cNvPr id="6" name="Content Placeholder 5">
            <a:extLst>
              <a:ext uri="{FF2B5EF4-FFF2-40B4-BE49-F238E27FC236}">
                <a16:creationId xmlns:a16="http://schemas.microsoft.com/office/drawing/2014/main" id="{1DBF60F7-4644-FAF0-FA35-75EFE97EBD93}"/>
              </a:ext>
            </a:extLst>
          </p:cNvPr>
          <p:cNvSpPr>
            <a:spLocks noGrp="1"/>
          </p:cNvSpPr>
          <p:nvPr>
            <p:ph idx="1"/>
          </p:nvPr>
        </p:nvSpPr>
        <p:spPr/>
        <p:txBody>
          <a:bodyPr/>
          <a:lstStyle/>
          <a:p>
            <a:r>
              <a:rPr lang="en-US" b="1"/>
              <a:t>What Developers Share</a:t>
            </a:r>
          </a:p>
          <a:p>
            <a:endParaRPr lang="en-US" sz="800"/>
          </a:p>
          <a:p>
            <a:r>
              <a:rPr lang="en-US" b="1"/>
              <a:t>Chat-based planning</a:t>
            </a:r>
          </a:p>
          <a:p>
            <a:r>
              <a:rPr lang="en-US"/>
              <a:t>Requirements, architecture decisions, Jira content. Exposes business logic descriptions.</a:t>
            </a:r>
          </a:p>
          <a:p>
            <a:endParaRPr lang="en-US" sz="800"/>
          </a:p>
          <a:p>
            <a:r>
              <a:rPr lang="en-US" b="1"/>
              <a:t>Coding tools</a:t>
            </a:r>
          </a:p>
          <a:p>
            <a:r>
              <a:rPr lang="en-US"/>
              <a:t>Source code, config files, test data, debug output. Broadest exposure surface.</a:t>
            </a:r>
          </a:p>
          <a:p>
            <a:endParaRPr lang="en-US" sz="800"/>
          </a:p>
          <a:p>
            <a:r>
              <a:rPr lang="en-US" b="1"/>
              <a:t>API pipelines</a:t>
            </a:r>
          </a:p>
          <a:p>
            <a:r>
              <a:rPr lang="en-US"/>
              <a:t>Automated CI/CD calls. Precisely scoped, most controllable.</a:t>
            </a:r>
          </a:p>
        </p:txBody>
      </p:sp>
      <p:pic>
        <p:nvPicPr>
          <p:cNvPr id="3" name="Picture 2">
            <a:extLst>
              <a:ext uri="{FF2B5EF4-FFF2-40B4-BE49-F238E27FC236}">
                <a16:creationId xmlns:a16="http://schemas.microsoft.com/office/drawing/2014/main" id="{F52A40E9-7CBE-4E40-1932-E76C86A211A3}"/>
              </a:ext>
            </a:extLst>
          </p:cNvPr>
          <p:cNvPicPr>
            <a:picLocks noChangeAspect="1"/>
          </p:cNvPicPr>
          <p:nvPr/>
        </p:nvPicPr>
        <p:blipFill>
          <a:blip r:embed="rId2"/>
          <a:stretch>
            <a:fillRect/>
          </a:stretch>
        </p:blipFill>
        <p:spPr>
          <a:xfrm>
            <a:off x="466333" y="6394921"/>
            <a:ext cx="901978" cy="418518"/>
          </a:xfrm>
          <a:prstGeom prst="rect">
            <a:avLst/>
          </a:prstGeom>
        </p:spPr>
      </p:pic>
    </p:spTree>
    <p:extLst>
      <p:ext uri="{BB962C8B-B14F-4D97-AF65-F5344CB8AC3E}">
        <p14:creationId xmlns:p14="http://schemas.microsoft.com/office/powerpoint/2010/main" val="726389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Subscription Tier is Critical</a:t>
            </a:r>
          </a:p>
        </p:txBody>
      </p:sp>
      <p:sp>
        <p:nvSpPr>
          <p:cNvPr id="4" name="Content Placeholder 3"/>
          <p:cNvSpPr>
            <a:spLocks noGrp="1"/>
          </p:cNvSpPr>
          <p:nvPr>
            <p:ph idx="10"/>
          </p:nvPr>
        </p:nvSpPr>
        <p:spPr/>
        <p:txBody>
          <a:bodyPr>
            <a:normAutofit lnSpcReduction="10000"/>
          </a:bodyPr>
          <a:lstStyle/>
          <a:p>
            <a:r>
              <a:rPr lang="en-US" b="1" dirty="0"/>
              <a:t>Business / Enterprise Tiers</a:t>
            </a:r>
          </a:p>
          <a:p>
            <a:endParaRPr lang="en-US" sz="800" dirty="0"/>
          </a:p>
          <a:p>
            <a:r>
              <a:rPr lang="en-US" dirty="0"/>
              <a:t>Contractually guaranteed: no training on your data</a:t>
            </a:r>
          </a:p>
          <a:p>
            <a:endParaRPr lang="en-US" sz="800" dirty="0"/>
          </a:p>
          <a:p>
            <a:r>
              <a:rPr lang="en-US" dirty="0"/>
              <a:t>Retention: short, configurable (7–30 days)</a:t>
            </a:r>
          </a:p>
          <a:p>
            <a:endParaRPr lang="en-US" sz="800" dirty="0"/>
          </a:p>
          <a:p>
            <a:r>
              <a:rPr lang="en-US" dirty="0"/>
              <a:t>Admin controls, audit logging, SSO</a:t>
            </a:r>
          </a:p>
          <a:p>
            <a:endParaRPr lang="en-US" sz="800" dirty="0"/>
          </a:p>
          <a:p>
            <a:r>
              <a:rPr lang="en-US" dirty="0"/>
              <a:t>SOC 2, DPA, data residency options</a:t>
            </a:r>
          </a:p>
          <a:p>
            <a:endParaRPr lang="en-US" sz="800" dirty="0"/>
          </a:p>
          <a:p>
            <a:r>
              <a:rPr lang="en-US" b="1" dirty="0"/>
              <a:t>Per-Seat Pricing:</a:t>
            </a:r>
          </a:p>
          <a:p>
            <a:r>
              <a:rPr lang="en-US" dirty="0"/>
              <a:t>GitHub Copilot Business: $19/user/</a:t>
            </a:r>
            <a:r>
              <a:rPr lang="en-US" dirty="0" err="1"/>
              <a:t>mo</a:t>
            </a:r>
            <a:endParaRPr lang="en-US" dirty="0"/>
          </a:p>
          <a:p>
            <a:r>
              <a:rPr lang="en-US" dirty="0"/>
              <a:t>GitHub Copilot Enterprise: $39/user/</a:t>
            </a:r>
            <a:r>
              <a:rPr lang="en-US" dirty="0" err="1"/>
              <a:t>mo</a:t>
            </a:r>
            <a:endParaRPr lang="en-US" dirty="0"/>
          </a:p>
          <a:p>
            <a:r>
              <a:rPr lang="en-US" dirty="0"/>
              <a:t>Claude Team Standard: $20–25/seat/</a:t>
            </a:r>
            <a:r>
              <a:rPr lang="en-US" dirty="0" err="1"/>
              <a:t>mo</a:t>
            </a:r>
            <a:endParaRPr lang="en-US" dirty="0"/>
          </a:p>
          <a:p>
            <a:r>
              <a:rPr lang="en-US" dirty="0"/>
              <a:t>Claude Team Premium: $100–125/seat/</a:t>
            </a:r>
            <a:r>
              <a:rPr lang="en-US" dirty="0" err="1"/>
              <a:t>mo</a:t>
            </a:r>
            <a:endParaRPr lang="en-US" dirty="0"/>
          </a:p>
          <a:p>
            <a:r>
              <a:rPr lang="en-US" dirty="0"/>
              <a:t>Cursor Teams: $40/user/</a:t>
            </a:r>
            <a:r>
              <a:rPr lang="en-US" dirty="0" err="1"/>
              <a:t>mo</a:t>
            </a:r>
            <a:endParaRPr lang="en-US" dirty="0"/>
          </a:p>
        </p:txBody>
      </p:sp>
      <p:sp>
        <p:nvSpPr>
          <p:cNvPr id="5" name="Slide Number Placeholder 4"/>
          <p:cNvSpPr>
            <a:spLocks noGrp="1"/>
          </p:cNvSpPr>
          <p:nvPr>
            <p:ph type="sldNum" sz="quarter" idx="12"/>
          </p:nvPr>
        </p:nvSpPr>
        <p:spPr/>
        <p:txBody>
          <a:bodyPr/>
          <a:lstStyle/>
          <a:p>
            <a:pPr marL="0" marR="0" lvl="0" indent="0" algn="l" defTabSz="914400" rtl="0" eaLnBrk="1" fontAlgn="auto" latinLnBrk="0" hangingPunct="0">
              <a:lnSpc>
                <a:spcPct val="100000"/>
              </a:lnSpc>
              <a:spcBef>
                <a:spcPts val="0"/>
              </a:spcBef>
              <a:spcAft>
                <a:spcPts val="0"/>
              </a:spcAft>
              <a:buClrTx/>
              <a:buSzTx/>
              <a:buFontTx/>
              <a:buNone/>
              <a:tabLst/>
              <a:defRPr/>
            </a:pPr>
            <a:fld id="{A22638FE-01C9-41BA-BE25-085106FB5C8A}" type="slidenum">
              <a:rPr kumimoji="0" lang="en-US" sz="1199" b="0" i="0" u="none" strike="noStrike" kern="0" cap="none" spc="0" normalizeH="0" baseline="0" noProof="0" smtClean="0">
                <a:ln>
                  <a:noFill/>
                </a:ln>
                <a:solidFill>
                  <a:srgbClr val="052841"/>
                </a:solidFill>
                <a:effectLst/>
                <a:uLnTx/>
                <a:uFillTx/>
                <a:latin typeface="Calibri" panose="020F0502020204030204" pitchFamily="34" charset="0"/>
                <a:ea typeface="+mj-ea"/>
                <a:cs typeface="+mj-cs"/>
                <a:sym typeface="Calibri"/>
              </a:rPr>
              <a:pPr marL="0" marR="0" lvl="0" indent="0" algn="l" defTabSz="914400" rtl="0" eaLnBrk="1" fontAlgn="auto" latinLnBrk="0" hangingPunct="0">
                <a:lnSpc>
                  <a:spcPct val="100000"/>
                </a:lnSpc>
                <a:spcBef>
                  <a:spcPts val="0"/>
                </a:spcBef>
                <a:spcAft>
                  <a:spcPts val="0"/>
                </a:spcAft>
                <a:buClrTx/>
                <a:buSzTx/>
                <a:buFontTx/>
                <a:buNone/>
                <a:tabLst/>
                <a:defRPr/>
              </a:pPr>
              <a:t>15</a:t>
            </a:fld>
            <a:endParaRPr kumimoji="0" lang="en-US" sz="1199" b="0" i="0" u="none" strike="noStrike" kern="0" cap="none" spc="0" normalizeH="0" baseline="0" noProof="0">
              <a:ln>
                <a:noFill/>
              </a:ln>
              <a:solidFill>
                <a:srgbClr val="052841"/>
              </a:solidFill>
              <a:effectLst/>
              <a:uLnTx/>
              <a:uFillTx/>
              <a:latin typeface="Calibri" panose="020F0502020204030204" pitchFamily="34" charset="0"/>
              <a:ea typeface="+mj-ea"/>
              <a:cs typeface="+mj-cs"/>
              <a:sym typeface="Calibri"/>
            </a:endParaRPr>
          </a:p>
        </p:txBody>
      </p:sp>
      <p:sp>
        <p:nvSpPr>
          <p:cNvPr id="6" name="Content Placeholder 5"/>
          <p:cNvSpPr>
            <a:spLocks noGrp="1"/>
          </p:cNvSpPr>
          <p:nvPr>
            <p:ph idx="1"/>
          </p:nvPr>
        </p:nvSpPr>
        <p:spPr/>
        <p:txBody>
          <a:bodyPr/>
          <a:lstStyle/>
          <a:p>
            <a:r>
              <a:rPr lang="en-US" b="1" dirty="0"/>
              <a:t>Consumer / Free Tiers</a:t>
            </a:r>
          </a:p>
          <a:p>
            <a:endParaRPr lang="en-US" sz="800" dirty="0"/>
          </a:p>
          <a:p>
            <a:r>
              <a:rPr lang="en-US" dirty="0"/>
              <a:t>May train on your data</a:t>
            </a:r>
          </a:p>
          <a:p>
            <a:r>
              <a:rPr lang="en-US" sz="1200" dirty="0"/>
              <a:t>(Anthropic consumer terms default to training-on since Sept 2025)</a:t>
            </a:r>
          </a:p>
          <a:p>
            <a:endParaRPr lang="en-US" sz="800" dirty="0"/>
          </a:p>
          <a:p>
            <a:r>
              <a:rPr lang="en-US" dirty="0"/>
              <a:t>Retention: indefinite or multi-year</a:t>
            </a:r>
          </a:p>
          <a:p>
            <a:endParaRPr lang="en-US" sz="800" dirty="0"/>
          </a:p>
          <a:p>
            <a:r>
              <a:rPr lang="en-US" dirty="0"/>
              <a:t>No admin controls, no audit logging</a:t>
            </a:r>
          </a:p>
          <a:p>
            <a:endParaRPr lang="en-US" sz="800" dirty="0"/>
          </a:p>
          <a:p>
            <a:r>
              <a:rPr lang="en-US" dirty="0"/>
              <a:t>No DPA, no compliance certifications</a:t>
            </a:r>
          </a:p>
          <a:p>
            <a:endParaRPr lang="en-US" sz="800" dirty="0"/>
          </a:p>
          <a:p>
            <a:r>
              <a:rPr lang="en-US" b="1" dirty="0"/>
              <a:t>Policy:</a:t>
            </a:r>
          </a:p>
          <a:p>
            <a:r>
              <a:rPr lang="en-US" sz="1200" dirty="0"/>
              <a:t>Use of consumer-tier AI for SFS-related work requires explicit approval from governance-defined management level, scoped to individual, use case, and timeframe, with mandatory restrictions including disabling model training.</a:t>
            </a:r>
          </a:p>
        </p:txBody>
      </p:sp>
      <p:pic>
        <p:nvPicPr>
          <p:cNvPr id="3" name="Picture 2">
            <a:extLst>
              <a:ext uri="{FF2B5EF4-FFF2-40B4-BE49-F238E27FC236}">
                <a16:creationId xmlns:a16="http://schemas.microsoft.com/office/drawing/2014/main" id="{E064A998-07B5-AD10-ABD7-DFB963AFE43A}"/>
              </a:ext>
            </a:extLst>
          </p:cNvPr>
          <p:cNvPicPr>
            <a:picLocks noChangeAspect="1"/>
          </p:cNvPicPr>
          <p:nvPr/>
        </p:nvPicPr>
        <p:blipFill>
          <a:blip r:embed="rId2"/>
          <a:stretch>
            <a:fillRect/>
          </a:stretch>
        </p:blipFill>
        <p:spPr>
          <a:xfrm>
            <a:off x="466333" y="6394921"/>
            <a:ext cx="901978" cy="41851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Cost Predictability and Architectural Controls</a:t>
            </a:r>
          </a:p>
        </p:txBody>
      </p:sp>
      <p:sp>
        <p:nvSpPr>
          <p:cNvPr id="4" name="Content Placeholder 3"/>
          <p:cNvSpPr>
            <a:spLocks noGrp="1"/>
          </p:cNvSpPr>
          <p:nvPr>
            <p:ph idx="10"/>
          </p:nvPr>
        </p:nvSpPr>
        <p:spPr/>
        <p:txBody>
          <a:bodyPr>
            <a:normAutofit fontScale="92500" lnSpcReduction="10000"/>
          </a:bodyPr>
          <a:lstStyle/>
          <a:p>
            <a:r>
              <a:rPr lang="en-US" b="1"/>
              <a:t>Azure APIM Gateway</a:t>
            </a:r>
          </a:p>
          <a:p>
            <a:r>
              <a:rPr lang="en-US"/>
              <a:t>Route API calls to any AI vendor through Azure API Management as a centralized gateway.</a:t>
            </a:r>
          </a:p>
          <a:p>
            <a:endParaRPr lang="en-US" sz="800"/>
          </a:p>
          <a:p>
            <a:r>
              <a:rPr lang="en-US"/>
              <a:t>Enforce per-developer, per-team, or per-project token quotas — hard stops, not alerts.</a:t>
            </a:r>
          </a:p>
          <a:p>
            <a:endParaRPr lang="en-US" sz="800"/>
          </a:p>
          <a:p>
            <a:r>
              <a:rPr lang="en-US"/>
              <a:t>Centralized audit logging: who, when, which model, how many tokens.</a:t>
            </a:r>
          </a:p>
          <a:p>
            <a:endParaRPr lang="en-US" sz="800"/>
          </a:p>
          <a:p>
            <a:r>
              <a:rPr lang="en-US"/>
              <a:t>Works with direct vendor APIs. No Azure AI Foundry required — avoids infrastructure premium.</a:t>
            </a:r>
          </a:p>
          <a:p>
            <a:endParaRPr lang="en-US" sz="800"/>
          </a:p>
          <a:p>
            <a:r>
              <a:rPr lang="en-US" b="1"/>
              <a:t>For Sensitive Workloads</a:t>
            </a:r>
          </a:p>
          <a:p>
            <a:r>
              <a:rPr lang="en-US"/>
              <a:t>Azure AI Foundry provides full architectural isolation — the vendor never sees the data. Use when workflows touch customer data or regulated information.</a:t>
            </a:r>
          </a:p>
        </p:txBody>
      </p:sp>
      <p:sp>
        <p:nvSpPr>
          <p:cNvPr id="5" name="Slide Number Placeholder 4"/>
          <p:cNvSpPr>
            <a:spLocks noGrp="1"/>
          </p:cNvSpPr>
          <p:nvPr>
            <p:ph type="sldNum" sz="quarter" idx="12"/>
          </p:nvPr>
        </p:nvSpPr>
        <p:spPr/>
        <p:txBody>
          <a:bodyPr/>
          <a:lstStyle/>
          <a:p>
            <a:pPr marL="0" marR="0" lvl="0" indent="0" algn="l" defTabSz="914400" rtl="0" eaLnBrk="1" fontAlgn="auto" latinLnBrk="0" hangingPunct="0">
              <a:lnSpc>
                <a:spcPct val="100000"/>
              </a:lnSpc>
              <a:spcBef>
                <a:spcPts val="0"/>
              </a:spcBef>
              <a:spcAft>
                <a:spcPts val="0"/>
              </a:spcAft>
              <a:buClrTx/>
              <a:buSzTx/>
              <a:buFontTx/>
              <a:buNone/>
              <a:tabLst/>
              <a:defRPr/>
            </a:pPr>
            <a:fld id="{A22638FE-01C9-41BA-BE25-085106FB5C8A}" type="slidenum">
              <a:rPr kumimoji="0" lang="en-US" sz="1199" b="0" i="0" u="none" strike="noStrike" kern="0" cap="none" spc="0" normalizeH="0" baseline="0" noProof="0" smtClean="0">
                <a:ln>
                  <a:noFill/>
                </a:ln>
                <a:solidFill>
                  <a:srgbClr val="052841"/>
                </a:solidFill>
                <a:effectLst/>
                <a:uLnTx/>
                <a:uFillTx/>
                <a:latin typeface="Calibri" panose="020F0502020204030204" pitchFamily="34" charset="0"/>
                <a:ea typeface="+mj-ea"/>
                <a:cs typeface="+mj-cs"/>
                <a:sym typeface="Calibri"/>
              </a:rPr>
              <a:pPr marL="0" marR="0" lvl="0" indent="0" algn="l" defTabSz="914400" rtl="0" eaLnBrk="1" fontAlgn="auto" latinLnBrk="0" hangingPunct="0">
                <a:lnSpc>
                  <a:spcPct val="100000"/>
                </a:lnSpc>
                <a:spcBef>
                  <a:spcPts val="0"/>
                </a:spcBef>
                <a:spcAft>
                  <a:spcPts val="0"/>
                </a:spcAft>
                <a:buClrTx/>
                <a:buSzTx/>
                <a:buFontTx/>
                <a:buNone/>
                <a:tabLst/>
                <a:defRPr/>
              </a:pPr>
              <a:t>16</a:t>
            </a:fld>
            <a:endParaRPr kumimoji="0" lang="en-US" sz="1199" b="0" i="0" u="none" strike="noStrike" kern="0" cap="none" spc="0" normalizeH="0" baseline="0" noProof="0">
              <a:ln>
                <a:noFill/>
              </a:ln>
              <a:solidFill>
                <a:srgbClr val="052841"/>
              </a:solidFill>
              <a:effectLst/>
              <a:uLnTx/>
              <a:uFillTx/>
              <a:latin typeface="Calibri" panose="020F0502020204030204" pitchFamily="34" charset="0"/>
              <a:ea typeface="+mj-ea"/>
              <a:cs typeface="+mj-cs"/>
              <a:sym typeface="Calibri"/>
            </a:endParaRPr>
          </a:p>
        </p:txBody>
      </p:sp>
      <p:sp>
        <p:nvSpPr>
          <p:cNvPr id="6" name="Content Placeholder 5"/>
          <p:cNvSpPr>
            <a:spLocks noGrp="1"/>
          </p:cNvSpPr>
          <p:nvPr>
            <p:ph idx="1"/>
          </p:nvPr>
        </p:nvSpPr>
        <p:spPr/>
        <p:txBody>
          <a:bodyPr/>
          <a:lstStyle/>
          <a:p>
            <a:r>
              <a:rPr lang="en-US" b="1" dirty="0"/>
              <a:t>Seat-Based Tools Are Predictable</a:t>
            </a:r>
          </a:p>
          <a:p>
            <a:r>
              <a:rPr lang="en-US" dirty="0"/>
              <a:t>Known monthly cost per developer. Risk is only premium request overages (Copilot: $0.04/request beyond allowance).</a:t>
            </a:r>
          </a:p>
          <a:p>
            <a:endParaRPr lang="en-US" sz="800" dirty="0"/>
          </a:p>
          <a:p>
            <a:r>
              <a:rPr lang="en-US" b="1" dirty="0"/>
              <a:t>Vendor-Side Spend Controls</a:t>
            </a:r>
          </a:p>
          <a:p>
            <a:endParaRPr lang="en-US" sz="600" dirty="0"/>
          </a:p>
          <a:p>
            <a:r>
              <a:rPr lang="en-US" sz="1200" b="1" dirty="0"/>
              <a:t>Anthropic Team/Enterprise:</a:t>
            </a:r>
          </a:p>
          <a:p>
            <a:r>
              <a:rPr lang="en-US" sz="1200" dirty="0"/>
              <a:t>Granular spend caps at org and user level. Hard caps, not just alerts.</a:t>
            </a:r>
          </a:p>
          <a:p>
            <a:endParaRPr lang="en-US" sz="600" dirty="0"/>
          </a:p>
          <a:p>
            <a:r>
              <a:rPr lang="en-US" sz="1200" b="1" dirty="0"/>
              <a:t>GitHub Copilot:</a:t>
            </a:r>
          </a:p>
          <a:p>
            <a:r>
              <a:rPr lang="en-US" sz="1200" dirty="0"/>
              <a:t>Budget alerts at 75/90/100%. Can restrict premium models to limit overage.</a:t>
            </a:r>
          </a:p>
          <a:p>
            <a:endParaRPr lang="en-US" sz="600" dirty="0"/>
          </a:p>
          <a:p>
            <a:r>
              <a:rPr lang="en-US" sz="1200" b="1" dirty="0"/>
              <a:t>Cursor Teams:</a:t>
            </a:r>
          </a:p>
          <a:p>
            <a:r>
              <a:rPr lang="en-US" sz="1200" dirty="0"/>
              <a:t>Per-user consumption dashboards. Enterprise offers pooled credits.</a:t>
            </a:r>
          </a:p>
        </p:txBody>
      </p:sp>
      <p:pic>
        <p:nvPicPr>
          <p:cNvPr id="3" name="Picture 2">
            <a:extLst>
              <a:ext uri="{FF2B5EF4-FFF2-40B4-BE49-F238E27FC236}">
                <a16:creationId xmlns:a16="http://schemas.microsoft.com/office/drawing/2014/main" id="{3FA9C3CE-B4F4-174C-FEF6-6FAA97E3F48B}"/>
              </a:ext>
            </a:extLst>
          </p:cNvPr>
          <p:cNvPicPr>
            <a:picLocks noChangeAspect="1"/>
          </p:cNvPicPr>
          <p:nvPr/>
        </p:nvPicPr>
        <p:blipFill>
          <a:blip r:embed="rId2"/>
          <a:stretch>
            <a:fillRect/>
          </a:stretch>
        </p:blipFill>
        <p:spPr>
          <a:xfrm>
            <a:off x="466333" y="6394921"/>
            <a:ext cx="901978" cy="41851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Vendor Compliance at a Glance</a:t>
            </a:r>
          </a:p>
        </p:txBody>
      </p:sp>
      <p:sp>
        <p:nvSpPr>
          <p:cNvPr id="4" name="Content Placeholder 3"/>
          <p:cNvSpPr>
            <a:spLocks noGrp="1"/>
          </p:cNvSpPr>
          <p:nvPr>
            <p:ph idx="10"/>
          </p:nvPr>
        </p:nvSpPr>
        <p:spPr/>
        <p:txBody>
          <a:bodyPr/>
          <a:lstStyle/>
          <a:p>
            <a:r>
              <a:rPr lang="en-US" b="1"/>
              <a:t>Vendor Certification Status</a:t>
            </a:r>
          </a:p>
          <a:p>
            <a:endParaRPr lang="en-US" sz="600"/>
          </a:p>
          <a:p>
            <a:r>
              <a:rPr lang="en-US" sz="1400" b="1"/>
              <a:t>GitHub Copilot Enterprise:</a:t>
            </a:r>
          </a:p>
          <a:p>
            <a:r>
              <a:rPr lang="en-US" sz="1200"/>
              <a:t>SOC 1 &amp; 2 ✓ | ISO 27001 ✓ | TISAX ✓ | DPA ✓</a:t>
            </a:r>
          </a:p>
          <a:p>
            <a:r>
              <a:rPr lang="en-US" sz="1200"/>
              <a:t>Only AI coding tool with TISAX — directly relevant for Stellantis.</a:t>
            </a:r>
          </a:p>
          <a:p>
            <a:endParaRPr lang="en-US" sz="600"/>
          </a:p>
          <a:p>
            <a:r>
              <a:rPr lang="en-US" sz="1400" b="1"/>
              <a:t>Anthropic Enterprise/API:</a:t>
            </a:r>
          </a:p>
          <a:p>
            <a:r>
              <a:rPr lang="en-US" sz="1200"/>
              <a:t>SOC 2 ✓ | ISO 27001 in process | ZDR ✓ | DPA ✓</a:t>
            </a:r>
          </a:p>
          <a:p>
            <a:endParaRPr lang="en-US" sz="600"/>
          </a:p>
          <a:p>
            <a:r>
              <a:rPr lang="en-US" sz="1400" b="1"/>
              <a:t>Cursor Business:</a:t>
            </a:r>
          </a:p>
          <a:p>
            <a:r>
              <a:rPr lang="en-US" sz="1200"/>
              <a:t>SOC 2 ✓ | Privacy Mode (ZDR) ✓ | DPA limited</a:t>
            </a:r>
          </a:p>
          <a:p>
            <a:endParaRPr lang="en-US" sz="600"/>
          </a:p>
          <a:p>
            <a:r>
              <a:rPr lang="en-US" sz="1400" b="1"/>
              <a:t>Azure AI Foundry:</a:t>
            </a:r>
          </a:p>
          <a:p>
            <a:r>
              <a:rPr lang="en-US" sz="1200"/>
              <a:t>Inherits Azure certifications: SOC 2 ✓ | ISO 27001 ✓ | DPA ✓</a:t>
            </a:r>
          </a:p>
          <a:p>
            <a:r>
              <a:rPr lang="en-US" sz="1200"/>
              <a:t>Customer-controlled data retention.</a:t>
            </a:r>
          </a:p>
        </p:txBody>
      </p:sp>
      <p:sp>
        <p:nvSpPr>
          <p:cNvPr id="5" name="Slide Number Placeholder 4"/>
          <p:cNvSpPr>
            <a:spLocks noGrp="1"/>
          </p:cNvSpPr>
          <p:nvPr>
            <p:ph type="sldNum" sz="quarter" idx="12"/>
          </p:nvPr>
        </p:nvSpPr>
        <p:spPr/>
        <p:txBody>
          <a:bodyPr/>
          <a:lstStyle/>
          <a:p>
            <a:pPr marL="0" marR="0" lvl="0" indent="0" algn="l" defTabSz="914400" rtl="0" eaLnBrk="1" fontAlgn="auto" latinLnBrk="0" hangingPunct="0">
              <a:lnSpc>
                <a:spcPct val="100000"/>
              </a:lnSpc>
              <a:spcBef>
                <a:spcPts val="0"/>
              </a:spcBef>
              <a:spcAft>
                <a:spcPts val="0"/>
              </a:spcAft>
              <a:buClrTx/>
              <a:buSzTx/>
              <a:buFontTx/>
              <a:buNone/>
              <a:tabLst/>
              <a:defRPr/>
            </a:pPr>
            <a:fld id="{A22638FE-01C9-41BA-BE25-085106FB5C8A}" type="slidenum">
              <a:rPr kumimoji="0" lang="en-US" sz="1199" b="0" i="0" u="none" strike="noStrike" kern="0" cap="none" spc="0" normalizeH="0" baseline="0" noProof="0" smtClean="0">
                <a:ln>
                  <a:noFill/>
                </a:ln>
                <a:solidFill>
                  <a:srgbClr val="052841"/>
                </a:solidFill>
                <a:effectLst/>
                <a:uLnTx/>
                <a:uFillTx/>
                <a:latin typeface="Calibri" panose="020F0502020204030204" pitchFamily="34" charset="0"/>
                <a:ea typeface="+mj-ea"/>
                <a:cs typeface="+mj-cs"/>
                <a:sym typeface="Calibri"/>
              </a:rPr>
              <a:pPr marL="0" marR="0" lvl="0" indent="0" algn="l" defTabSz="914400" rtl="0" eaLnBrk="1" fontAlgn="auto" latinLnBrk="0" hangingPunct="0">
                <a:lnSpc>
                  <a:spcPct val="100000"/>
                </a:lnSpc>
                <a:spcBef>
                  <a:spcPts val="0"/>
                </a:spcBef>
                <a:spcAft>
                  <a:spcPts val="0"/>
                </a:spcAft>
                <a:buClrTx/>
                <a:buSzTx/>
                <a:buFontTx/>
                <a:buNone/>
                <a:tabLst/>
                <a:defRPr/>
              </a:pPr>
              <a:t>17</a:t>
            </a:fld>
            <a:endParaRPr kumimoji="0" lang="en-US" sz="1199" b="0" i="0" u="none" strike="noStrike" kern="0" cap="none" spc="0" normalizeH="0" baseline="0" noProof="0">
              <a:ln>
                <a:noFill/>
              </a:ln>
              <a:solidFill>
                <a:srgbClr val="052841"/>
              </a:solidFill>
              <a:effectLst/>
              <a:uLnTx/>
              <a:uFillTx/>
              <a:latin typeface="Calibri" panose="020F0502020204030204" pitchFamily="34" charset="0"/>
              <a:ea typeface="+mj-ea"/>
              <a:cs typeface="+mj-cs"/>
              <a:sym typeface="Calibri"/>
            </a:endParaRPr>
          </a:p>
        </p:txBody>
      </p:sp>
      <p:sp>
        <p:nvSpPr>
          <p:cNvPr id="6" name="Content Placeholder 5"/>
          <p:cNvSpPr>
            <a:spLocks noGrp="1"/>
          </p:cNvSpPr>
          <p:nvPr>
            <p:ph idx="1"/>
          </p:nvPr>
        </p:nvSpPr>
        <p:spPr/>
        <p:txBody>
          <a:bodyPr>
            <a:normAutofit lnSpcReduction="10000"/>
          </a:bodyPr>
          <a:lstStyle/>
          <a:p>
            <a:r>
              <a:rPr lang="en-US" b="1" dirty="0"/>
              <a:t>What Each Certification Means</a:t>
            </a:r>
          </a:p>
          <a:p>
            <a:endParaRPr lang="en-US" sz="600" dirty="0"/>
          </a:p>
          <a:p>
            <a:r>
              <a:rPr lang="en-US" sz="1200" b="1" dirty="0"/>
              <a:t>SOC 2 Type II:</a:t>
            </a:r>
          </a:p>
          <a:p>
            <a:r>
              <a:rPr lang="en-US" sz="1200" dirty="0"/>
              <a:t>Independent auditor verified security controls work over 6–12 months. Table stakes for enterprise SaaS.</a:t>
            </a:r>
          </a:p>
          <a:p>
            <a:endParaRPr lang="en-US" sz="600" dirty="0"/>
          </a:p>
          <a:p>
            <a:r>
              <a:rPr lang="en-US" sz="1200" b="1" dirty="0"/>
              <a:t>ISO 27001:</a:t>
            </a:r>
          </a:p>
          <a:p>
            <a:r>
              <a:rPr lang="en-US" sz="1200" dirty="0"/>
              <a:t>Formal information security management system. Internationally recognized; relevant for Stellantis European operations.</a:t>
            </a:r>
          </a:p>
          <a:p>
            <a:endParaRPr lang="en-US" sz="600" dirty="0"/>
          </a:p>
          <a:p>
            <a:r>
              <a:rPr lang="en-US" sz="1200" b="1" dirty="0"/>
              <a:t>TISAX:</a:t>
            </a:r>
          </a:p>
          <a:p>
            <a:r>
              <a:rPr lang="en-US" sz="1200" dirty="0"/>
              <a:t>Automotive industry security standard (VDA). Prototype protection, supply chain data exchange.</a:t>
            </a:r>
          </a:p>
          <a:p>
            <a:endParaRPr lang="en-US" sz="600" dirty="0"/>
          </a:p>
          <a:p>
            <a:r>
              <a:rPr lang="en-US" sz="1200" b="1" dirty="0"/>
              <a:t>Zero Data Retention:</a:t>
            </a:r>
          </a:p>
          <a:p>
            <a:r>
              <a:rPr lang="en-US" sz="1200" dirty="0"/>
              <a:t>Vendor retains nothing after processing. Even in a breach, no history to exfiltrate.</a:t>
            </a:r>
          </a:p>
          <a:p>
            <a:endParaRPr lang="en-US" sz="600" dirty="0"/>
          </a:p>
          <a:p>
            <a:r>
              <a:rPr lang="en-US" sz="1200" b="1" dirty="0"/>
              <a:t>DPA:</a:t>
            </a:r>
          </a:p>
          <a:p>
            <a:r>
              <a:rPr lang="en-US" sz="1200" dirty="0"/>
              <a:t>Legally binding data processing agreement. Required for any workflow that could encounter PII.</a:t>
            </a:r>
          </a:p>
        </p:txBody>
      </p:sp>
      <p:pic>
        <p:nvPicPr>
          <p:cNvPr id="3" name="Picture 2">
            <a:extLst>
              <a:ext uri="{FF2B5EF4-FFF2-40B4-BE49-F238E27FC236}">
                <a16:creationId xmlns:a16="http://schemas.microsoft.com/office/drawing/2014/main" id="{39B76FDF-B9A3-1E24-991A-F5597B501670}"/>
              </a:ext>
            </a:extLst>
          </p:cNvPr>
          <p:cNvPicPr>
            <a:picLocks noChangeAspect="1"/>
          </p:cNvPicPr>
          <p:nvPr/>
        </p:nvPicPr>
        <p:blipFill>
          <a:blip r:embed="rId2"/>
          <a:stretch>
            <a:fillRect/>
          </a:stretch>
        </p:blipFill>
        <p:spPr>
          <a:xfrm>
            <a:off x="466333" y="6394921"/>
            <a:ext cx="901978" cy="41851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1371600" y="1828800"/>
            <a:ext cx="9144000" cy="1371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Salesforce Workflow</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371600" y="3200400"/>
            <a:ext cx="91440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12 AI Enhancement Opportunities  •  Plan through Deliver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Image 0" descr="/home/claude/eis_logo.png"/>
          <p:cNvPicPr>
            <a:picLocks noChangeAspect="1"/>
          </p:cNvPicPr>
          <p:nvPr/>
        </p:nvPicPr>
        <p:blipFill>
          <a:blip r:embed="rId3"/>
          <a:stretch>
            <a:fillRect/>
          </a:stretch>
        </p:blipFill>
        <p:spPr>
          <a:xfrm>
            <a:off x="10360152" y="5943600"/>
            <a:ext cx="1005840" cy="301752"/>
          </a:xfrm>
          <a:prstGeom prst="rect">
            <a:avLst/>
          </a:prstGeom>
        </p:spPr>
      </p:pic>
      <p:sp>
        <p:nvSpPr>
          <p:cNvPr id="6" name="Text 3"/>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13</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45720"/>
            <a:ext cx="11274552"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Salesforce — Opportunity Summary</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Table 0"/>
          <p:cNvGraphicFramePr>
            <a:graphicFrameLocks noGrp="1"/>
          </p:cNvGraphicFramePr>
          <p:nvPr>
            <p:extLst>
              <p:ext uri="{D42A27DB-BD31-4B8C-83A1-F6EECF244321}">
                <p14:modId xmlns:p14="http://schemas.microsoft.com/office/powerpoint/2010/main" val="1273813132"/>
              </p:ext>
            </p:extLst>
          </p:nvPr>
        </p:nvGraphicFramePr>
        <p:xfrm>
          <a:off x="365759" y="868680"/>
          <a:ext cx="10793157" cy="5382768"/>
        </p:xfrm>
        <a:graphic>
          <a:graphicData uri="http://schemas.openxmlformats.org/drawingml/2006/table">
            <a:tbl>
              <a:tblPr/>
              <a:tblGrid>
                <a:gridCol w="523940">
                  <a:extLst>
                    <a:ext uri="{9D8B030D-6E8A-4147-A177-3AD203B41FA5}">
                      <a16:colId xmlns:a16="http://schemas.microsoft.com/office/drawing/2014/main" val="20000"/>
                    </a:ext>
                  </a:extLst>
                </a:gridCol>
                <a:gridCol w="1362243">
                  <a:extLst>
                    <a:ext uri="{9D8B030D-6E8A-4147-A177-3AD203B41FA5}">
                      <a16:colId xmlns:a16="http://schemas.microsoft.com/office/drawing/2014/main" val="20001"/>
                    </a:ext>
                  </a:extLst>
                </a:gridCol>
                <a:gridCol w="6601640">
                  <a:extLst>
                    <a:ext uri="{9D8B030D-6E8A-4147-A177-3AD203B41FA5}">
                      <a16:colId xmlns:a16="http://schemas.microsoft.com/office/drawing/2014/main" val="20002"/>
                    </a:ext>
                  </a:extLst>
                </a:gridCol>
                <a:gridCol w="943091">
                  <a:extLst>
                    <a:ext uri="{9D8B030D-6E8A-4147-A177-3AD203B41FA5}">
                      <a16:colId xmlns:a16="http://schemas.microsoft.com/office/drawing/2014/main" val="20003"/>
                    </a:ext>
                  </a:extLst>
                </a:gridCol>
                <a:gridCol w="1362243">
                  <a:extLst>
                    <a:ext uri="{9D8B030D-6E8A-4147-A177-3AD203B41FA5}">
                      <a16:colId xmlns:a16="http://schemas.microsoft.com/office/drawing/2014/main" val="20004"/>
                    </a:ext>
                  </a:extLst>
                </a:gridCol>
              </a:tblGrid>
              <a:tr h="384048">
                <a:tc>
                  <a:txBody>
                    <a:bodyPr/>
                    <a:lstStyle/>
                    <a:p>
                      <a:pPr marL="0" indent="0" algn="ctr">
                        <a:buNone/>
                      </a:pPr>
                      <a:r>
                        <a:rPr lang="en-US" sz="1400" b="1" dirty="0">
                          <a:solidFill>
                            <a:srgbClr val="FFFFFF"/>
                          </a:solidFill>
                        </a:rPr>
                        <a:t>#</a:t>
                      </a:r>
                      <a:endParaRPr lang="en-US" sz="14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400" b="1" dirty="0">
                          <a:solidFill>
                            <a:srgbClr val="FFFFFF"/>
                          </a:solidFill>
                        </a:rPr>
                        <a:t>SDLC Stage</a:t>
                      </a:r>
                      <a:endParaRPr lang="en-US" sz="14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buNone/>
                      </a:pPr>
                      <a:r>
                        <a:rPr lang="en-US" sz="1400" b="1" dirty="0">
                          <a:solidFill>
                            <a:srgbClr val="FFFFFF"/>
                          </a:solidFill>
                        </a:rPr>
                        <a:t>Opportunity</a:t>
                      </a:r>
                      <a:endParaRPr lang="en-US" sz="14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400" b="1" dirty="0">
                          <a:solidFill>
                            <a:srgbClr val="FFFFFF"/>
                          </a:solidFill>
                        </a:rPr>
                        <a:t>Priority</a:t>
                      </a:r>
                      <a:endParaRPr lang="en-US" sz="14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400" b="1" dirty="0">
                          <a:solidFill>
                            <a:srgbClr val="FFFFFF"/>
                          </a:solidFill>
                        </a:rPr>
                        <a:t>Approval Gate</a:t>
                      </a:r>
                      <a:endParaRPr lang="en-US" sz="14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84048">
                <a:tc>
                  <a:txBody>
                    <a:bodyPr/>
                    <a:lstStyle/>
                    <a:p>
                      <a:pPr marL="0" indent="0" algn="ctr">
                        <a:buNone/>
                      </a:pPr>
                      <a:r>
                        <a:rPr lang="en-US" sz="1200" b="1" dirty="0">
                          <a:solidFill>
                            <a:srgbClr val="000000"/>
                          </a:solidFill>
                        </a:rPr>
                        <a:t>#1</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Plan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AI Story Quality Review</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548235"/>
                          </a:solidFill>
                        </a:rPr>
                        <a:t>HIGH</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Chat Client</a:t>
                      </a:r>
                      <a:endParaRPr lang="en-US" sz="1200" dirty="0"/>
                    </a:p>
                    <a:p>
                      <a:pPr marL="0" indent="0" algn="ctr">
                        <a:buNone/>
                      </a:pPr>
                      <a:r>
                        <a:rPr lang="en-US" sz="1200" dirty="0">
                          <a:solidFill>
                            <a:srgbClr val="000000"/>
                          </a:solidFill>
                        </a:rPr>
                        <a:t>(Category 1)</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200" b="1" dirty="0">
                          <a:solidFill>
                            <a:srgbClr val="000000"/>
                          </a:solidFill>
                        </a:rPr>
                        <a:t>#2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Build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AI Code Assist for Apex/LWC</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548235"/>
                          </a:solidFill>
                        </a:rPr>
                        <a:t>HIGH</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200" b="1" dirty="0">
                          <a:solidFill>
                            <a:srgbClr val="000000"/>
                          </a:solidFill>
                        </a:rPr>
                        <a:t>#3</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Test</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Production Defect Root Cause Analysis</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548235"/>
                          </a:solidFill>
                        </a:rPr>
                        <a:t>HIGH</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API Access</a:t>
                      </a:r>
                      <a:endParaRPr lang="en-US" sz="1200" dirty="0"/>
                    </a:p>
                    <a:p>
                      <a:pPr marL="0" indent="0" algn="ctr">
                        <a:buNone/>
                      </a:pPr>
                      <a:r>
                        <a:rPr lang="en-US" sz="1200">
                          <a:solidFill>
                            <a:srgbClr val="000000"/>
                          </a:solidFill>
                        </a:rPr>
                        <a:t>(Category 3)</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1200" b="1" dirty="0">
                          <a:solidFill>
                            <a:srgbClr val="000000"/>
                          </a:solidFill>
                        </a:rPr>
                        <a:t>#4</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Test</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Regression Compression (5-day → targeted)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548235"/>
                          </a:solidFill>
                        </a:rPr>
                        <a:t>HIGH</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API Access</a:t>
                      </a:r>
                      <a:endParaRPr lang="en-US" sz="1200" dirty="0"/>
                    </a:p>
                    <a:p>
                      <a:pPr marL="0" indent="0" algn="ctr">
                        <a:buNone/>
                      </a:pPr>
                      <a:r>
                        <a:rPr lang="en-US" sz="1200" dirty="0">
                          <a:solidFill>
                            <a:srgbClr val="000000"/>
                          </a:solidFill>
                        </a:rPr>
                        <a:t>(Category 3)</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ctr">
                        <a:buNone/>
                      </a:pPr>
                      <a:r>
                        <a:rPr lang="en-US" sz="1200" b="1" dirty="0">
                          <a:solidFill>
                            <a:srgbClr val="000000"/>
                          </a:solidFill>
                        </a:rPr>
                        <a:t>#5</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Build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Pre-Commit Code Review vs. SFS Standards</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548235"/>
                          </a:solidFill>
                        </a:rPr>
                        <a:t>HIGH</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dirty="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ctr">
                        <a:buNone/>
                      </a:pPr>
                      <a:r>
                        <a:rPr lang="en-US" sz="1200" b="1" dirty="0">
                          <a:solidFill>
                            <a:srgbClr val="000000"/>
                          </a:solidFill>
                        </a:rPr>
                        <a:t>#6</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Build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Documentation Drift Detection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lgn="ctr">
                        <a:buNone/>
                      </a:pPr>
                      <a:r>
                        <a:rPr lang="en-US" sz="1200" b="1" dirty="0">
                          <a:solidFill>
                            <a:srgbClr val="000000"/>
                          </a:solidFill>
                        </a:rPr>
                        <a:t>#7</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Plan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Discovery-to-Stories Conversion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Chat Client</a:t>
                      </a:r>
                      <a:endParaRPr lang="en-US" sz="1200" dirty="0"/>
                    </a:p>
                    <a:p>
                      <a:pPr marL="0" indent="0" algn="ctr">
                        <a:buNone/>
                      </a:pPr>
                      <a:r>
                        <a:rPr lang="en-US" sz="1200" dirty="0">
                          <a:solidFill>
                            <a:srgbClr val="000000"/>
                          </a:solidFill>
                        </a:rPr>
                        <a:t>(Category 1)</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lgn="ctr">
                        <a:buNone/>
                      </a:pPr>
                      <a:r>
                        <a:rPr lang="en-US" sz="1200" b="1" dirty="0">
                          <a:solidFill>
                            <a:srgbClr val="000000"/>
                          </a:solidFill>
                        </a:rPr>
                        <a:t>#8</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Test</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Gherkin Generation with Spira Integration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API Access</a:t>
                      </a:r>
                      <a:endParaRPr lang="en-US" sz="1200" dirty="0"/>
                    </a:p>
                    <a:p>
                      <a:pPr marL="0" indent="0" algn="ctr">
                        <a:buNone/>
                      </a:pPr>
                      <a:r>
                        <a:rPr lang="en-US" sz="1200">
                          <a:solidFill>
                            <a:srgbClr val="000000"/>
                          </a:solidFill>
                        </a:rPr>
                        <a:t>(Category 3)</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8"/>
                  </a:ext>
                </a:extLst>
              </a:tr>
              <a:tr h="384048">
                <a:tc>
                  <a:txBody>
                    <a:bodyPr/>
                    <a:lstStyle/>
                    <a:p>
                      <a:pPr marL="0" indent="0" algn="ctr">
                        <a:buNone/>
                      </a:pPr>
                      <a:r>
                        <a:rPr lang="en-US" sz="1200" b="1" dirty="0">
                          <a:solidFill>
                            <a:srgbClr val="000000"/>
                          </a:solidFill>
                        </a:rPr>
                        <a:t>#9</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Test</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Automation Test Scaffolding (Python/Playwright)</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9"/>
                  </a:ext>
                </a:extLst>
              </a:tr>
              <a:tr h="384048">
                <a:tc>
                  <a:txBody>
                    <a:bodyPr/>
                    <a:lstStyle/>
                    <a:p>
                      <a:pPr marL="0" indent="0" algn="ctr">
                        <a:buNone/>
                      </a:pPr>
                      <a:r>
                        <a:rPr lang="en-US" sz="1200" b="1" dirty="0">
                          <a:solidFill>
                            <a:srgbClr val="000000"/>
                          </a:solidFill>
                        </a:rPr>
                        <a:t>#10</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Test</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Locator Stability and Failure Triage</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10"/>
                  </a:ext>
                </a:extLst>
              </a:tr>
              <a:tr h="384048">
                <a:tc>
                  <a:txBody>
                    <a:bodyPr/>
                    <a:lstStyle/>
                    <a:p>
                      <a:pPr marL="0" indent="0" algn="ctr">
                        <a:buNone/>
                      </a:pPr>
                      <a:r>
                        <a:rPr lang="en-US" sz="1200" b="1" dirty="0">
                          <a:solidFill>
                            <a:srgbClr val="000000"/>
                          </a:solidFill>
                        </a:rPr>
                        <a:t>#11</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Deliver</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Release Risk Scoring for CAB</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API Access</a:t>
                      </a:r>
                      <a:endParaRPr lang="en-US" sz="1200" dirty="0"/>
                    </a:p>
                    <a:p>
                      <a:pPr marL="0" indent="0" algn="ctr">
                        <a:buNone/>
                      </a:pPr>
                      <a:r>
                        <a:rPr lang="en-US" sz="1200">
                          <a:solidFill>
                            <a:srgbClr val="000000"/>
                          </a:solidFill>
                        </a:rPr>
                        <a:t>(Category 3)</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11"/>
                  </a:ext>
                </a:extLst>
              </a:tr>
              <a:tr h="384048">
                <a:tc>
                  <a:txBody>
                    <a:bodyPr/>
                    <a:lstStyle/>
                    <a:p>
                      <a:pPr marL="0" indent="0" algn="ctr">
                        <a:buNone/>
                      </a:pPr>
                      <a:r>
                        <a:rPr lang="en-US" sz="1200" b="1" dirty="0">
                          <a:solidFill>
                            <a:srgbClr val="000000"/>
                          </a:solidFill>
                        </a:rPr>
                        <a:t>#12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Build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Architecture Diagrams via Mermaid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Chat Client</a:t>
                      </a:r>
                      <a:endParaRPr lang="en-US" sz="1200" dirty="0"/>
                    </a:p>
                    <a:p>
                      <a:pPr marL="0" indent="0" algn="ctr">
                        <a:buNone/>
                      </a:pPr>
                      <a:r>
                        <a:rPr lang="en-US" sz="1200" dirty="0">
                          <a:solidFill>
                            <a:srgbClr val="000000"/>
                          </a:solidFill>
                        </a:rPr>
                        <a:t>(Category 1)</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5" name="Shape 2"/>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7" name="Text 3"/>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4"/>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14</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Plan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reviews incoming Jira stories against SFS standards — flagging gaps in acceptance criteria and generating clarifying questions before grooming.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Product owners write stories of uneven quality. Developers and QA must catch gaps during grooming through individual knowledge — there is no systematic coverage check. Cassidy noted that story quality is the single upstream variable determining quality throughout the SF SDLC.</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Analyze incoming Jira stories against SFS Confluence standards: role/action/benefit format, AC completeness, dev notes presence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Flag gaps and generate clarifying questions for POs before grooming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Score story readiness against a defined checklist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missing acceptance criteria from story descriptions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Category 1 (Chat Client)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Requires approved AI chat client (Claude Pro/Team recommended)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MS365 Copilot can attempt this but with significantly weaker reasoning capability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Category 3 (API Access) enables automated Jira integration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Requires AI access adjacent to Jira — no approved chat tool currently exists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Prompt template should encode SFS Confluence story standards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Start with manual copy-paste workflow; automate with API later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Quality improvement compounds downstream through the entire SDLC</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Story completeness score (% of required fields present)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Rework rate per story (stories returned to PO during grooming)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Sprint velocity stability (less variation = better upstream quality)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Define prompt template using SFS Confluence story standards  →  2. Pilot with 2–3 POs for one sprint  →  3. Measure rework rate before/after  →  4. Expand to all scrum teams  →  5. Add automated Jira </a:t>
            </a:r>
            <a:r>
              <a:rPr kumimoji="0" lang="en-US" sz="12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integration (Category 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15</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Build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Approve AI coding tools for SF developers — from IDE autocomplete to agentic multi-file refactoring for Apex, LWC, and Flow code. THE GATEWAY opportunity.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No IDE-integrated AI coding assistant is approved at SFS. Developers write repetitive, standards-governed code manually. Cassidy experimented with AgentForce Vibes but found it 'wasn't ready.' 85% of developers industry-wide now use AI coding tools; SFS developers have none.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Basic — Autocomplete &amp; Code Generation: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Apex class and trigger code following SFS bulkification and governor-limit patterns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LWC component scaffolding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Full — Agentic:</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Multi-file refactoring across Apex classes, triggers, and LWC bundles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Full test suite generation from component specifications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Category 2 (Coding Tool)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Consider: GitHub Copilot ($10/mo) as entry point + Claude Code ($100/mo) for complex work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MS365 Copilot CANNOT do this — requires IDE integration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AgentForce Vibes: evaluate if included in current SF license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Microsoft relationship (Office Copilot already approved) may favor GitHub Copilot politically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Claude Code/Cursor require VS Code (SF team already uses VS Code — no gap)</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This approval unlocks SF #5, #9, #10 as well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Context files (.cursorrules, CLAUDE.md) should encode SFS coding standards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Code acceptance rate (% of AI suggestions accepted — benchmark: 25–35%)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Defect density pre/post (defects per KLOC)</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Developer velocity (stories completed per sprint)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Time to first commit (hours from story assignment)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Review Tooling tab Category 2 for prioritized comparison  →  2. Select tool(s) for pilot  →  3. Create SFS coding standards context files  →  4. Pilot with 2–3 developers for 2 sprints  →  5. Measure acceptance rate and defect density  →  6. Expand to full team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16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Test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synthesizes Salesforce incident artifacts into structured root cause analysis — identifying where in the SF SDLC the defect escaped.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Corinne Anderson explicitly requested this: 'I would like AI to do the root cause analysis... here's how this bug got into production, here are the things that could have prevented it.' Post-incident RCA is currently manual — teams review together, identify what changed, and write up findings.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Synthesize code change logs (ADO PRs), Spira test execution results, Copado deployment records, and Jira bug reports into a structured RCA narrative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Attribute failure points by SDLC phase: which automated gate should have caught this?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preventive recommendations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Category 3 (API Access)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Requires enterprise API agreement for multi-source data synthesis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Custom data assembly workflow needed (Jira + Spira + ADO + Copado APIs)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PII/financial data handling requires security review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Requires API access to multiple SFS systems — complex integration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Start with manual data assembly + chat client analysis; automate later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PII/financial data in production incidents requires careful scoping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Builds institutional learning that compounds over time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Mean time to RCA completion (hours)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Recurrence rate of same root cause category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Preventive action implementation rate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Define RCA template and data requirements  →  2. Manually assemble incident data for 2–3 past defects  →  3. Test AI analysis quality with chat client  →  4. Build API connectors for automated data </a:t>
            </a:r>
            <a:r>
              <a:rPr kumimoji="0" lang="en-US" sz="11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assembly (Category 3)  </a:t>
            </a: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5. Integrate into incident response process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17</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Test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maps Copado/ADO code changes to affected Spira test cases — enabling targeted regression instead of 5-day full-suite manual execution.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The 5-day manual regression window (Mon–Fri) after code freeze is the dominant constraint on release cadence. No system maps code changes to which test cases should run. QA leads manually build this picture through developer conversations. SFS leadership has stated a KPI of reducing this window.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Analyze Copado commit metadata and ADO PR change logs to identify which SF components changed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Map changed components to affected Spira test cases using existing traceability links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Recommend a targeted regression scope — run only what's affected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Surface test coverage gaps for changed components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Category 3 (API Access)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Requires automated Spira API + ADO API integration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Category 2 </a:t>
            </a: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(Coding Tool) for test impact analysis scripting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Spira native AI (if unblocked) could contribute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This is the highest-impact testing opportunity — directly addresses the release cadence constraint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Requires traceability links between Spira test cases and SF components to exist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Risk: incomplete traceability yields false confidence in reduced scope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Combine with #8 (Gherkin generation) for comprehensive test management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Regression window duration (days — target: &lt; 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Regression scope reduction (% of test cases skipped per release)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Escaped defect rate (defects found in production post-release)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Audit existing Spira-to-component traceability coverage  →  2. Build change-to-test mapping prototype  →  3. Run parallel: AI-recommended scope + full regression for 2 releases  →  4. Validate: did targeted scope catch everything full scope caught?  →  5. Transition to targeted-only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18</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Build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reviews Apex and LWC code against SFS standards in VS Code before commit — catching PMD violations, bulkification issues, and missing ApexDoc earlier and cheaper.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Tech leads perform code review against the SFS PR checklist after development. This is valuable but late in the cycle. Earlier AI feedback during development reduces rework cost. SFS has well-documented standards in Confluence: naming conventions, bulkification, governor limits, CRUD/FLS, ApexDoc.</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Evaluate Apex against SFS Confluence standards before commit: bulkification, null checks, governor limits, no hardcoded IDs, CRUD/FLS enforcement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initial ApexDoc comments for new or modified methods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Flag PMD violations that would be caught later by Copado quality gates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Suggest code improvements following SFS patterns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Category 2 (Coding Tool)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Same approval as #2 (Code Assist) — no separate decision needed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AgentForce Vibes (evaluate as Salesforce-native alternative)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PMD ruleset export as AI context input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This is a companion to #2, not a separate tool approval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Export current PMD ruleset for use as AI coding assistant context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Does not replace human code review — augments it with earlier, automated feedback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Context files should include SFS PR checklist standards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PR rejection rate (% of PRs requiring rework — target: decrease)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PMD violation rate at commit (violations caught pre-PR vs. at quality gate)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Code review cycle time (hours from PR creation to approval)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Export PMD ruleset and SFS Confluence coding standards  →  2. Create AI context file encoding these standards  →  3. Pilot pre-commit AI review with 2–3 developers  →  4. Compare PMD violation rates pre/post  →  5. Extend to all SF developers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19</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Build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detects when Apex changes are committed without updated ApexDoc — and drafts the missing documentation, enforced as a Copado Quality Gate.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Cassidy identified documentation drift as a persistent problem. SFS Confluence standards require ApexDoc comments on every component for every update, including Jira ticket numbers. Enforcement is manual. Documentation drifts from actual code after changes.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Pre-commit detection: flag Apex commits without corresponding ApexDoc updates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draft ApexDoc comments for new or modified methods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Detect when a Confluence page references an Apex component that has changed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Enforce via Copado Quality Gate: block promotion if ApexDoc is stale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Category 2 (Coding Tool) for full capability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Note: A git hook approach needs no new tool approval — can start as Prepare the Ground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Copado Quality Gate configuration (DevOps team)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The git hook approach (detect missing ApexDoc on commit) can start immediately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AI-generated draft ApexDoc requires coding tool for quality output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Copado quality gate integration requires DevOps team configuration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Reduces technical debt accumulation over time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ApexDoc coverage rate (% of components with current documentation)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Documentation drift incidents per release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Time spent on documentation per sprint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Create git hook to detect Apex commits without ApexDoc changes (Prepare the Ground)  →  2. Configure Copado Quality Gate for documentation completeness  →  3. Add AI-generated draft ApexDoc with coding </a:t>
            </a:r>
            <a:r>
              <a:rPr kumimoji="0" lang="en-US" sz="11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tool (Category 2)  </a:t>
            </a: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4. Monitor coverage rate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20</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Plan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converts discovery session notes and feature discussions into draft Jira stories — structured to SFS format with role/action/benefit and acceptance criteria.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Product owners and architects spend time converting discovery session notes into properly formatted Jira work items. Quality varies by individual. The feature-to-story breakdown process is relatively new at SFS. Structured Jira stories with complete AC are the foundation for all downstream quality.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Ingest discovery session notes or meeting transcripts and generate draft Jira stories in SFS format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Apply required field structure: title, description (role/action/benefit), AC, dev notes, arch approval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Mermaid flow diagrams from narrative descriptions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Break features into appropriately sized stories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Category 1 (Chat Client)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Requires approved AI chat client for quality output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MS365 Copilot can attempt this but with weaker structuring capability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Mermaid (open source, renders in Confluence)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Confirm Mermaid plugin is enabled in SFS Confluence (Prepare the Ground)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Start with manual workflow: paste notes into chat client, review generated stories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Feature-to-story breakdown is a relatively new process at SFS — AI can help standardize it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Quality of output depends heavily on prompt template design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Story creation time (hours per story — target: 50% reduction)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Story completeness at grooming (% requiring no rework)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AC coverage (% of stories with full acceptance criteria at creation)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Confirm Mermaid in Confluence (Prepare the Ground)  →  2. Create prompt template encoding SFS story format  →  3. Pilot: convert 5 discovery session notes into stories  →  4. Measure completeness and grooming rework  →  5. Extend to all POs and architects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21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Test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generates comprehensive Gherkin test cases from Jira/Spira story content and writes them back to Spira — replacing the manual Copilot-to-Excel-to-Spira workflow.</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Corinne Anderson built a custom Copilot prompt template for test case generation. The current workflow: story pasted into Copilot → Gherkin generated → copy to Excel → import to Spira. This works but is disconnected and manual. Spira native AI is blocked by policy.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Pull story content directly from Spira (which syncs with Jira) — no manual copy-paste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comprehensive test cases: positive paths, negative paths, edge cases, bulk/governor-limit scenarios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Write test cases back to Spira via REST API with full traceability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Improve on current Copilot quality with better AI reasoning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Category 3 (API Access)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Requires Spira REST API connector and automated test generation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Spira native AI (needs enterprise approval — alternative path)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Clarify Spira AI blocker with IT/security (Prepare the Ground)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Corinne's existing Copilot workflow is a proof of concept — validates the approach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Spira native AI may resolve some of this if the policy blocker is cleared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API approach gives more control over test case quality and format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Edge case and negative path generation is where AI adds most value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Test case generation time (hours per story — target: 70% reduction)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Test case coverage (negative paths, edge cases per story)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Spira data entry time eliminated (manual copy-paste hours)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Clarify Spira native AI blocker (Prepare the Ground)  →  2. Document Corinne's current Copilot prompt template  →  3. Build Spira REST API connector prototype  →  4. Pilot: generate test cases for 10 stories, compare quality to manual  →  5. Automate full workflow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22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Test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scaffolds Python/Playwright step definitions and page object classes from Gherkin input — accelerating the conversion backlog and enabling N+1 sprint automation.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The 9-person automation team manually converts Gherkin test cases into Python/Playwright step definitions and page object model classes. Coverage lags behind manual testing by multiple sprints. No IDE-integrated AI is approved, limiting what the automation team can do.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initial Python Behave step definitions from Gherkin feature file input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Scaffold page object model classes with placeholder locators for engineer review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Identify reuse opportunities across existing step definitions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Accelerate N+1 sprint automation target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Category 2 (Coding Tool)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Same approval as #2 (Code Assist) — no separate decision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Playwright/Behave framework already approved and in use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No separate procurement needed once coding tool approved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This directly addresses the automation conversion backlog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Generated code requires human review — locators need verification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Combine with #10 (Locator Stability) for comprehensive automation improvement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N+1 sprint automation target becomes realistic with AI scaffolding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Automation conversion rate (test cases converted to automated per sprint)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Automation coverage gap (sprints behind manual testing — target: N+1)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Step definition reuse rate (% of shared vs. unique step definitions)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Approve coding </a:t>
            </a:r>
            <a:r>
              <a:rPr kumimoji="0" lang="en-US" sz="11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tool (Category 2)  </a:t>
            </a: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2. Create context file with existing page object patterns  →  3. Pilot: scaffold step definitions for 20 Gherkin scenarios  →  4. Measure conversion rate improvement  →  5. Extend to full automation backlog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23</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Test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triages overnight Playwright test failures by root cause type, and self-healing locator tooling reduces the 50% of automation engineer time spent on UI maintenance.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Automation engineers spend approximately 50% of their time on test maintenance rather than new test authoring. Primary cause: Salesforce Lightning UI element locator breakage from page layout reconfiguration, managed package updates, and seasonal releases. Geetha described the daily cycle: review Jenkins failures → find broken locator → update framework.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AI-assisted failure triage: analyze Allure failure logs and screenshots to categorize by type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Suggest replacement locators when Salesforce UI elements change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Self-healing locator tooling (Healenium) to automatically adapt to minor UI changes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Reduce manual triage time from hours to minutes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Category 2 (Coding Tool) for AI-assisted triage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Healenium (open source self-healing library) — evaluate separately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Playwright/Jenkins/Allure already in place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Applitools (commercial alternative to Healenium)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Healenium evaluation is a separate technical spike (Prepare the Ground)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Self-healing works for minor locator changes, not major UI redesigns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Combine with #9 for comprehensive automation improvement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ROI is very high: reclaiming 50% of automation engineer time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Test maintenance time (% of automation engineer time — target: &lt; 25%)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Mean time to failure triage (hours per failure batch)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Self-healing success rate (% of locator failures auto-resolved)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Technical spike: test Healenium compatibility with current stack (Prepare the Ground)  →  2. Approve coding tool for AI-assisted </a:t>
            </a:r>
            <a:r>
              <a:rPr kumimoji="0" lang="en-US" sz="11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triage (Category 2)  </a:t>
            </a: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3. Pilot Healenium on subset of test suite  →  4. Measure maintenance time reduction  →  5. Extend to full suite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24</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Deliver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scores each Salesforce release candidate on change volume, coverage gaps, and historical defect patterns — giving the CAB a structured risk signal.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The SF release cycle includes a formal CAB review and go/no-go call. Release risk is currently assessed through manual review: regression results, open showstopper bugs, and conversation. There is no automated signal correlating change volume, test coverage gaps, and historical defect patterns.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Score each release candidate: change volume, Copado impact level distribution, automation coverage of changed components, open defect count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Surface patterns from historical Jira/Spira data: which types of changes have historically introduced defects?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structured risk summary for CAB review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Builds on DORA metrics infrastructure Deepak is implementing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Category 3 (API Access)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Builds on DORA metrics infrastructure (Deepak)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Integrates with Jira/Spira/ADO analytics — no new tool licensing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Enterprise approval needed for API-driven data assembly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Depends on Deepak's DORA metrics work for data foundation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Start with manual risk scoring template; automate with API access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Historical data quality determines model accuracy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Risk scoring augments human CAB judgment, does not replace it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Release defect rate (production defects per release — target: decrease)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CAB decision confidence (qualitative — structured signal vs. gut feel)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False positive rate (releases flagged as risky that deployed cleanly)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Define risk scoring model with CAB stakeholders  →  2. Pilot manual scoring for 3 releases using Deepak's DORA data  →  3. Build automated data </a:t>
            </a:r>
            <a:r>
              <a:rPr kumimoji="0" lang="en-US" sz="1100" b="0" i="0" u="none" strike="noStrike" kern="1200" cap="none" spc="0" normalizeH="0" baseline="0" noProof="0">
                <a:ln>
                  <a:noFill/>
                </a:ln>
                <a:solidFill>
                  <a:srgbClr val="333333"/>
                </a:solidFill>
                <a:effectLst/>
                <a:uLnTx/>
                <a:uFillTx/>
                <a:latin typeface="Calibri" pitchFamily="34" charset="0"/>
                <a:ea typeface="Calibri" pitchFamily="34" charset="-122"/>
                <a:cs typeface="Calibri" pitchFamily="34" charset="-120"/>
              </a:rPr>
              <a:t>assembly (Category 3)  </a:t>
            </a: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4. Validate scoring accuracy against actual outcomes  →  5. Integrate into CAB process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25</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Build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generates Mermaid sequence diagrams and architecture documentation from narrative descriptions — accelerating the architecture review process.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Cassidy described the diagramming workflow as manual with limited AI assistance in Lucid Charts. Architecture review is required for high-impact stories, and clearer upfront diagrams reduce back-and-forth. Mermaid is text-based and renders natively in Confluence.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Mermaid sequence diagrams from narrative descriptions of feature flows or integration patterns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Convert prose descriptions into structured Mermaid diagram source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Produce component interaction, data flow, and deployment diagrams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Output directly pasteable into Confluence for review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Category 1 (Chat Client)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Requires approved AI chat client for quality diagram generation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Mermaid (open source, renders in Confluence)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Confirm Mermaid plugin enabled in SFS Confluence (Prepare the Ground)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Mermaid plugin availability in Confluence must be confirmed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AI chat clients (Claude, ChatGPT) generate high-quality Mermaid diagrams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MS365 Copilot can attempt this but with less reliable diagram syntax</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Diagrams should follow SFS architecture documentation conventions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Architecture review cycle time (hours from review request to approval)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Diagram creation time (hours per diagram — target: 80% reduction)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Architecture documentation coverage (% of high-impact stories with diagrams)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Confirm Mermaid plugin in Confluence (Prepare the Ground)  →  2. Pilot: generate diagrams for 5 high-impact stories with chat client  →  3. Review quality with architecture team  →  4. Create prompt templates for common diagram types  →  5. Standardize for all high-impact stories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26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45720"/>
            <a:ext cx="11274552"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Salesforce — Approval Gates and Preparation</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333756" y="914400"/>
            <a:ext cx="2743200" cy="457200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333756" y="914400"/>
            <a:ext cx="2743200" cy="594360"/>
          </a:xfrm>
          <a:prstGeom prst="rect">
            <a:avLst/>
          </a:prstGeom>
          <a:solidFill>
            <a:srgbClr val="80808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425196" y="932688"/>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Prepare the Ground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25196" y="1234440"/>
            <a:ext cx="256032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(Start Now — No Approval)</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25196" y="1600200"/>
            <a:ext cx="2560320" cy="37947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Export PMD ruleset for AI context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Document SFS story standards as prompt template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Confirm Mermaid plugin in Confluence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Clarify Spira native AI blocker with IT/security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Formalize Corinne's Copilot prompt for Gherkin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Create git hook for ApexDoc drift detection (#6 partial)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Technical spike: Healenium compatibility (#10 prep)</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259836" y="914400"/>
            <a:ext cx="2743200" cy="457200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3259836" y="914400"/>
            <a:ext cx="2743200" cy="5943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3351276" y="932688"/>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With Chat Client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351276" y="1234440"/>
            <a:ext cx="256032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(Category 1)</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351276" y="1600200"/>
            <a:ext cx="2560320" cy="37947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#1 Story Quality Review — full capability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#7 Discovery-to-Stories — full capability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#12 Architecture Diagrams — full capability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3 opportunities at full quality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MS365 Copilot can attempt these now but with weaker reasoning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6185916" y="914400"/>
            <a:ext cx="2743200" cy="457200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6185916" y="914400"/>
            <a:ext cx="2743200" cy="59436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277356" y="932688"/>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With Coding Tool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277356" y="1234440"/>
            <a:ext cx="256032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D6E4F0"/>
                </a:solidFill>
                <a:effectLst/>
                <a:uLnTx/>
                <a:uFillTx/>
                <a:latin typeface="Calibri" pitchFamily="34" charset="0"/>
                <a:ea typeface="Calibri" pitchFamily="34" charset="-122"/>
                <a:cs typeface="Calibri" pitchFamily="34" charset="-120"/>
              </a:rPr>
              <a:t>(Category 2)</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277356" y="1600200"/>
            <a:ext cx="2560320" cy="37947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#2 Code Assist — THE GATEWAY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#5 Pre-Commit Code Review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#6 Documentation Drift (full)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#9 Automation Scaffolding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#10 Locator Stability &amp; Triage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5 opportunities unlocked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(plus enhanced #1, #7, #12)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9111996" y="914400"/>
            <a:ext cx="2743200" cy="457200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9111996" y="914400"/>
            <a:ext cx="2743200" cy="594360"/>
          </a:xfrm>
          <a:prstGeom prst="rect">
            <a:avLst/>
          </a:prstGeom>
          <a:solidFill>
            <a:srgbClr val="4472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9203436" y="932688"/>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With API Access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9203436" y="1234440"/>
            <a:ext cx="256032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D6E4F0"/>
                </a:solidFill>
                <a:effectLst/>
                <a:uLnTx/>
                <a:uFillTx/>
                <a:latin typeface="Calibri" pitchFamily="34" charset="0"/>
                <a:ea typeface="Calibri" pitchFamily="34" charset="-122"/>
                <a:cs typeface="Calibri" pitchFamily="34" charset="-120"/>
              </a:rPr>
              <a:t>(Category 3)</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9203436" y="1600200"/>
            <a:ext cx="2560320" cy="37947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#3 Production Defect RCA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#4 Regression Compression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#8 Gherkin-to-Spira Automation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#11 Release Risk Scoring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4 opportunities unlocked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Highest automation potential — fully hands-off workflows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6" name="Text 23"/>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27</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1371600" y="1828800"/>
            <a:ext cx="9144000" cy="1371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Data / EDW Workflow</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371600" y="3200400"/>
            <a:ext cx="91440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11 AI Enhancement Opportunities  •  Plan through Monitor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Image 0" descr="/home/claude/eis_logo.png"/>
          <p:cNvPicPr>
            <a:picLocks noChangeAspect="1"/>
          </p:cNvPicPr>
          <p:nvPr/>
        </p:nvPicPr>
        <p:blipFill>
          <a:blip r:embed="rId3"/>
          <a:stretch>
            <a:fillRect/>
          </a:stretch>
        </p:blipFill>
        <p:spPr>
          <a:xfrm>
            <a:off x="10360152" y="5943600"/>
            <a:ext cx="1005840" cy="301752"/>
          </a:xfrm>
          <a:prstGeom prst="rect">
            <a:avLst/>
          </a:prstGeom>
        </p:spPr>
      </p:pic>
      <p:sp>
        <p:nvSpPr>
          <p:cNvPr id="6" name="Text 3"/>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28</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45720"/>
            <a:ext cx="11274552"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Data / EDW — Opportunity Summary</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Table 0"/>
          <p:cNvGraphicFramePr>
            <a:graphicFrameLocks noGrp="1"/>
          </p:cNvGraphicFramePr>
          <p:nvPr/>
        </p:nvGraphicFramePr>
        <p:xfrm>
          <a:off x="365760" y="868680"/>
          <a:ext cx="9418320" cy="4966208"/>
        </p:xfrm>
        <a:graphic>
          <a:graphicData uri="http://schemas.openxmlformats.org/drawingml/2006/table">
            <a:tbl>
              <a:tblPr/>
              <a:tblGrid>
                <a:gridCol w="4572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84048">
                <a:tc>
                  <a:txBody>
                    <a:bodyPr/>
                    <a:lstStyle/>
                    <a:p>
                      <a:pPr marL="0" indent="0" algn="ctr">
                        <a:buNone/>
                      </a:pPr>
                      <a:r>
                        <a:rPr lang="en-US" sz="1400" b="1" dirty="0">
                          <a:solidFill>
                            <a:srgbClr val="FFFFFF"/>
                          </a:solidFill>
                        </a:rPr>
                        <a:t>#</a:t>
                      </a:r>
                      <a:endParaRPr lang="en-US" sz="14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400" b="1" dirty="0">
                          <a:solidFill>
                            <a:srgbClr val="FFFFFF"/>
                          </a:solidFill>
                        </a:rPr>
                        <a:t>SDLC Stage</a:t>
                      </a:r>
                      <a:endParaRPr lang="en-US" sz="14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buNone/>
                      </a:pPr>
                      <a:r>
                        <a:rPr lang="en-US" sz="1400" b="1" dirty="0">
                          <a:solidFill>
                            <a:srgbClr val="FFFFFF"/>
                          </a:solidFill>
                        </a:rPr>
                        <a:t>Opportunity</a:t>
                      </a:r>
                      <a:endParaRPr lang="en-US" sz="14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400" b="1" dirty="0">
                          <a:solidFill>
                            <a:srgbClr val="FFFFFF"/>
                          </a:solidFill>
                        </a:rPr>
                        <a:t>Priority</a:t>
                      </a:r>
                      <a:endParaRPr lang="en-US" sz="14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400" b="1" dirty="0">
                          <a:solidFill>
                            <a:srgbClr val="FFFFFF"/>
                          </a:solidFill>
                        </a:rPr>
                        <a:t>Approval Gate</a:t>
                      </a:r>
                      <a:endParaRPr lang="en-US" sz="14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84048">
                <a:tc>
                  <a:txBody>
                    <a:bodyPr/>
                    <a:lstStyle/>
                    <a:p>
                      <a:pPr marL="0" indent="0" algn="ctr">
                        <a:buNone/>
                      </a:pPr>
                      <a:r>
                        <a:rPr lang="en-US" sz="1200" b="1" dirty="0">
                          <a:solidFill>
                            <a:srgbClr val="000000"/>
                          </a:solidFill>
                        </a:rPr>
                        <a:t>#1</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Build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AI-Assisted Development (SQL, PySpark, Fabric)</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548235"/>
                          </a:solidFill>
                        </a:rPr>
                        <a:t>HIGH</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dirty="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200" b="1" dirty="0">
                          <a:solidFill>
                            <a:srgbClr val="000000"/>
                          </a:solidFill>
                        </a:rPr>
                        <a:t>#2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Build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CI/CD Pipeline Standardization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548235"/>
                          </a:solidFill>
                        </a:rPr>
                        <a:t>HIGH</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dirty="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200" b="1" dirty="0">
                          <a:solidFill>
                            <a:srgbClr val="000000"/>
                          </a:solidFill>
                        </a:rPr>
                        <a:t>#3</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Test</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Data Validation Framework</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548235"/>
                          </a:solidFill>
                        </a:rPr>
                        <a:t>HIGH</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dirty="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1200" b="1" dirty="0">
                          <a:solidFill>
                            <a:srgbClr val="000000"/>
                          </a:solidFill>
                        </a:rPr>
                        <a:t>#4</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Build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Dual-Commit Workflow Automation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548235"/>
                          </a:solidFill>
                        </a:rPr>
                        <a:t>HIGH</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dirty="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ctr">
                        <a:buNone/>
                      </a:pPr>
                      <a:r>
                        <a:rPr lang="en-US" sz="1200" b="1" dirty="0">
                          <a:solidFill>
                            <a:srgbClr val="000000"/>
                          </a:solidFill>
                        </a:rPr>
                        <a:t>#5</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Plan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Work Intake Quality Review</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Chat Client</a:t>
                      </a:r>
                      <a:endParaRPr lang="en-US" sz="1200" dirty="0"/>
                    </a:p>
                    <a:p>
                      <a:pPr marL="0" indent="0" algn="ctr">
                        <a:buNone/>
                      </a:pPr>
                      <a:r>
                        <a:rPr lang="en-US" sz="1200" dirty="0">
                          <a:solidFill>
                            <a:srgbClr val="000000"/>
                          </a:solidFill>
                        </a:rPr>
                        <a:t>(Category 1)</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ctr">
                        <a:buNone/>
                      </a:pPr>
                      <a:r>
                        <a:rPr lang="en-US" sz="1200" b="1" dirty="0">
                          <a:solidFill>
                            <a:srgbClr val="000000"/>
                          </a:solidFill>
                        </a:rPr>
                        <a:t>#6</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Build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Documentation &amp; Knowledge Transfer</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Chat Client</a:t>
                      </a:r>
                      <a:endParaRPr lang="en-US" sz="1200" dirty="0"/>
                    </a:p>
                    <a:p>
                      <a:pPr marL="0" indent="0" algn="ctr">
                        <a:buNone/>
                      </a:pPr>
                      <a:r>
                        <a:rPr lang="en-US" sz="1200" dirty="0">
                          <a:solidFill>
                            <a:srgbClr val="000000"/>
                          </a:solidFill>
                        </a:rPr>
                        <a:t>(Category 1)</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lgn="ctr">
                        <a:buNone/>
                      </a:pPr>
                      <a:r>
                        <a:rPr lang="en-US" sz="1200" b="1" dirty="0">
                          <a:solidFill>
                            <a:srgbClr val="000000"/>
                          </a:solidFill>
                        </a:rPr>
                        <a:t>#7</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Build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Code Review and Standards Enforcement</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dirty="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lgn="ctr">
                        <a:buNone/>
                      </a:pPr>
                      <a:r>
                        <a:rPr lang="en-US" sz="1200" b="1" dirty="0">
                          <a:solidFill>
                            <a:srgbClr val="000000"/>
                          </a:solidFill>
                        </a:rPr>
                        <a:t>#8</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Test</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SSIS-to-Fabric Parity Validation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dirty="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8"/>
                  </a:ext>
                </a:extLst>
              </a:tr>
              <a:tr h="384048">
                <a:tc>
                  <a:txBody>
                    <a:bodyPr/>
                    <a:lstStyle/>
                    <a:p>
                      <a:pPr marL="0" indent="0" algn="ctr">
                        <a:buNone/>
                      </a:pPr>
                      <a:r>
                        <a:rPr lang="en-US" sz="1200" b="1" dirty="0">
                          <a:solidFill>
                            <a:srgbClr val="000000"/>
                          </a:solidFill>
                        </a:rPr>
                        <a:t>#9</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Deliver</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Deployment Governance &amp; Release Risk Scoring</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808080"/>
                          </a:solidFill>
                        </a:rPr>
                        <a:t>LONG</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API Access</a:t>
                      </a:r>
                      <a:endParaRPr lang="en-US" sz="1200" dirty="0"/>
                    </a:p>
                    <a:p>
                      <a:pPr marL="0" indent="0" algn="ctr">
                        <a:buNone/>
                      </a:pPr>
                      <a:r>
                        <a:rPr lang="en-US" sz="1200" dirty="0">
                          <a:solidFill>
                            <a:srgbClr val="000000"/>
                          </a:solidFill>
                        </a:rPr>
                        <a:t>(Category 3)</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9"/>
                  </a:ext>
                </a:extLst>
              </a:tr>
              <a:tr h="384048">
                <a:tc>
                  <a:txBody>
                    <a:bodyPr/>
                    <a:lstStyle/>
                    <a:p>
                      <a:pPr marL="0" indent="0" algn="ctr">
                        <a:buNone/>
                      </a:pPr>
                      <a:r>
                        <a:rPr lang="en-US" sz="1200" b="1" dirty="0">
                          <a:solidFill>
                            <a:srgbClr val="000000"/>
                          </a:solidFill>
                        </a:rPr>
                        <a:t>#10</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Plan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Data Agent Maturation (YData + Fabric)</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808080"/>
                          </a:solidFill>
                        </a:rPr>
                        <a:t>LONG</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Chat Client</a:t>
                      </a:r>
                      <a:endParaRPr lang="en-US" sz="1200" dirty="0"/>
                    </a:p>
                    <a:p>
                      <a:pPr marL="0" indent="0" algn="ctr">
                        <a:buNone/>
                      </a:pPr>
                      <a:r>
                        <a:rPr lang="en-US" sz="1200" dirty="0">
                          <a:solidFill>
                            <a:srgbClr val="000000"/>
                          </a:solidFill>
                        </a:rPr>
                        <a:t>(Category 1)</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10"/>
                  </a:ext>
                </a:extLst>
              </a:tr>
              <a:tr h="384048">
                <a:tc>
                  <a:txBody>
                    <a:bodyPr/>
                    <a:lstStyle/>
                    <a:p>
                      <a:pPr marL="0" indent="0" algn="ctr">
                        <a:buNone/>
                      </a:pPr>
                      <a:r>
                        <a:rPr lang="en-US" sz="1200" b="1" dirty="0">
                          <a:solidFill>
                            <a:srgbClr val="000000"/>
                          </a:solidFill>
                        </a:rPr>
                        <a:t>#11</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Monitor</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Pipeline Monitoring &amp; Incident Response</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808080"/>
                          </a:solidFill>
                        </a:rPr>
                        <a:t>LONG</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API Access</a:t>
                      </a:r>
                      <a:endParaRPr lang="en-US" sz="1200" dirty="0"/>
                    </a:p>
                    <a:p>
                      <a:pPr marL="0" indent="0" algn="ctr">
                        <a:buNone/>
                      </a:pPr>
                      <a:r>
                        <a:rPr lang="en-US" sz="1200" dirty="0">
                          <a:solidFill>
                            <a:srgbClr val="000000"/>
                          </a:solidFill>
                        </a:rPr>
                        <a:t>(Category 3)</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5" name="Shape 2"/>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7" name="Text 3"/>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4"/>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29</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Build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Approve AI coding tools for Data team — from Fabric notebook autocomplete to agentic SQL/PySpark generation and stored procedure conversion.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The Data/EDW team is executing the 4-3-2-1 Fabric migration: consolidating four on-prem SQL Server instances into one Fabric lakehouse. This involves converting 20+ years of SSIS packages and stored procedures. One developer uses GitHub Copilot individually but it is not formally approved or team-wide. Another uses Fabric Copilot in notebooks.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Phase 1 — Autocomplete: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SQL and PySpark completion in Fabric notebooks and VS Code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Stored procedure generation following EDW naming conventions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Phase 2 — Agentic:</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SSIS package analysis and conversion to Fabric pipelines/notebooks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Multi-file refactoring across stored procedures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Schema migration with transformation logic preservation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799" y="1234440"/>
            <a:ext cx="5440017"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2 (Coding Tool)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Consider: GitHub Copilot ($10/mo) for all + Claude Code ($100/mo) for complex migration work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Fabric Copilot already available for notebook work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Existing individual Copilot usage should be formalized across the team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Existing informal Copilot usage is a proof of concept — formalize and extend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Compressed table descriptions generated via Copilot are another existence proof</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Fabric Copilot handles notebook tasks; VS Code tools handle everything else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Context files should encode EDW naming conventions and coding standards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The 4-3-2-1 migration is the dominant workload — AI accelerates the timeline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SSIS package conversion rate (packages/sprint — target: 2× improvement)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Code generation acceptance rate (% of AI suggestions accepted)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Migration timeline adherence (months ahead/behind plan)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Defect density in migrated code (defects per conversion unit)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Formalize existing Copilot usage and document lessons (Prepare the Ground)  →  2. Approve coding tool for team (Category 2)  →  3. Create EDW coding standards context files  →  4. Pilot with 2–3 developers on SSIS conversion tasks  →  5. Measure conversion rate improvement  →  6. Extend to full team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30</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Build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generates standardized CI/CD pipeline configurations across Fabric workspaces — replacing manual per-workspace setup and documenting the three-pipeline architecture.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 single developer is the sole architect of the CI/CD pipeline infrastructure. The three-pipeline architecture (workspace pipeline, item pipeline, validation pipeline) is documented in the Git Integration Guide but configured manually per workspace. Different workspaces have different structural configurations, creating inconsistency.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standardized pipeline YAML configurations from workspace specifications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Detect and flag structural inconsistencies across workspaces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Auto-generate pipeline documentation from configuration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Validate new workspace configurations against the reference architecture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Reduce the single-point-of-failure risk in pipeline configuration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2 (Coding Tool)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Same approval as #1 — no separate approval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Fabric Git Integration already in place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Workspace inventory needed as input (Prepare the Ground)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This directly addresses the CI/CD knowledge concentration risk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Workspace structural differences must be inventoried first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The three-pipeline architecture is well-documented — good AI input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Standardization across workspaces is the real value, not just code generation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Pipeline configuration time (hours per workspace — target: 80% reduction)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Cross-workspace consistency score (% of workspaces matching reference)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Pipeline failure rate (failures attributable to configuration errors)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Documentation currency (% of pipelines with current documentation)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Inventory workspace structural differences (Prepare the Ground)  →  2. Create reference configuration template  →  3. Approve coding tool (Category 2)  →  4. Generate standardized configs for 3 workspaces as pilot  →  5. Validate against reference  →  6. Extend to all workspaces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31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Test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generates data validation test suites for Fabric pipelines — addressing the widest SDLC maturity gap: no automated testing framework for data transformation logic.</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This was identified as the widest SDLC maturity gap. Build pipelines catch compilation errors but do not validate data transformation logic. ORS reports flag exceptions after the fact. With 75–80 tables and multiple vendor feeds, validation is entirely manual. An error in a stored procedure can propagate to Salesforce, Moody's, Treasury, and Risk.</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Great Expectations or dbt test suites from data pipeline specifications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Create validation rules: row counts, null checks, referential integrity, range checks, cross-table consistency</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Build comparison matrices for SSIS-to-Fabric migration validation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Detect data drift and schema changes between environments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2 (Coding Tool)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Great Expectations or dbt test frameworks (open source)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Fabric notebook integration for test execution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No separate licensing — coding tool generates test code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This is the highest-maturity-uplift opportunity in the Data workflow</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No existing test framework means starting from zero — AI accelerates bootstrapping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Great Expectations is the most common choice for Fabric/PySpark environments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Vendor feed validation (Chase, Santander, DT) is a critical use case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ORS report exceptions should inform initial validation rule design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Data pipeline test coverage (% of tables with automated validation — target: &gt; 80%)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Post-deployment data defects (defects caught by ORS vs. automated tests)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Validation suite creation time (hours per pipeline)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False positive rate (validation failures that are not actual defects)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Select test framework (Great Expectations recommended) (Prepare the Ground)  →  2. Approve coding tool (Category 2)  →  3. Document top-10 most critical tables and their validation rules  →  4. Generate validation suites for those 10 tables  →  5. Run parallel with ORS for 2 releases  →  6. Extend to full table set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32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Build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automates the dual-commit workflow that keeps Fabric Git and Azure DevOps in sync — reducing manual steps and preventing sync drift that has been eff described.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The Fabric Git Integration Guide documents a dual-commit workflow: changes must be committed to both Fabric Git (workspace-level) and Azure DevOps (source of truth). This process has manual steps and is prone to drift. There have been cases where changes exist in one system but not the other, requiring manual reconciliation.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synchronization scripts that detect drift between Fabric Git and ADO</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Automate the dual-commit sequence: commit to Fabric → detect change → mirror to ADO (or vice versa)</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Surface discrepancies before they become deployment issues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reconciliation reports showing divergence points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2 (Coding Tool)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Same approval as #1 — no separate approval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Fabric Git API + Azure DevOps API (both available)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PowerShell or Python scripting for automation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The dual-commit requirement is a fundamental architectural constraint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Full automation may require Fabric Git API maturation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Start with drift detection (simpler); move to automated sync (complex)</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This also addresses the CI/CD knowledge concentration risk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Sync drift incidents per sprint (target: zero)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Manual reconciliation time (hours per incident — target: eliminate)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Dual-commit compliance rate (% of changes properly synced)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Deployment failures from sync issues (target: zero)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Document current dual-commit process step by step (Prepare the Ground)  →  2. Approve coding tool (Category 2)  →  3. Build drift detection script as pilot  →  4. Test on 2 workspaces for 1 sprint  →  5. Add automated sync capability  →  6. Extend to all workspaces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33</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Plan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reviews incoming work requests against data team standards — ensuring completeness and routing accuracy before sprint planning.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Data team work intake comes from multiple sources: internal business requests, cross-team dependencies, and migration work items. Quality varies. The team identified the need for better intake structuring to reduce grooming rework and ensure requests include sufficient technical context for estimation.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Analyze incoming work requests against data team standard template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Flag missing technical context: source system, target table, transformation logic, acceptance criteria</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Suggest priority classification based on team workload and dependencies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initial technical approach from request description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1 (Chat Client)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Requires approved AI chat client for quality analysis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MS365 Copilot can attempt this but with weaker structuring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Category 3 (API Access) enables automated ADO integration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Similar pattern to SF #1 (Story Quality) — same approval unlocks both</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Start with manual copy-paste workflow; automate later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Data team's work intake process is less formalized than SF's Jira workflow</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Prompt template should encode data team's standard request fields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Work request completeness score (% of required fields present)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Grooming rework rate (requests returned for clarification)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Sprint planning accuracy (estimated vs. actual effort)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Document data team standard request template (Prepare the Ground)  →  2. Approve chat client (Category 1)  →  3. Create prompt template  →  4. Pilot with 10 work requests  →  5. Measure completeness improvement  →  6. Extend to all intake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34</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Build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generates and maintains EDW documentation — capturing tribal knowledge from key contributors before it walks out the door.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Critical EDW knowledge is concentrated in individual contributors: CI/CD and Git Integration, data architecture and business rules, Fabric notebooks, PySpark patterns). Documentation exists but is incomplete and drifts from actual implementation. The 4-3-2-1 migration amplifies this risk — new architecture decisions are being made faster than they can be documented.</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documentation from code: stored procedure comments, pipeline descriptions, schema documentation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Convert verbal explanations into structured technical documents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Detect documentation drift: when code changes without doc updates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Create onboarding guides from existing documentation and code comments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1 (Chat Client) for knowledge capture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Category 2 (Coding Tool) for code-to-documentation generation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Confluence for documentation storage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No additional licensing needed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This directly mitigates the key-person knowledge concentration risk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Start with chat-based knowledge capture (Category 1); add code-to-doc with Category 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The Git Integration Guide is a good reference for documentation quality standards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Prioritize documenting the most concentrated knowledge first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Documentation coverage (% of critical systems documented)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Onboarding time for new team members (weeks to productivity)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Documentation currency (% of docs updated within 30 days of related code change)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Knowledge concentration score (% of critical systems with single knowledge holder)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Create prompt templates for common data team documentation tasks (Prepare the Ground)  →  2. Approve chat client (Category 1)  →  3. Priority 1: Document CI/CD architecture  →  4. Priority 2: Document business rules and data architecture  →  5. Priority 3: Document Fabric patterns and notebook workflows  →  6. Establish ongoing maintenance process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35</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Build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reviews SQL, PySpark, and stored procedure code against EDW naming conventions and coding standards — catching issues before PR review.</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The Data/EDW team has naming conventions and coding standards but enforcement is manual during PR review. With the migration workload, code review bottlenecks slow delivery. Earlier automated feedback on standards compliance reduces review time and catches issues before they reach human reviewers.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Evaluate SQL and PySpark against EDW naming conventions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Flag performance anti-patterns in stored procedures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Check for common migration issues: hardcoded server names, environment-specific references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code review summary for human reviewer</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2 (Coding Tool)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Same approval as #1 — no separate approval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EDW naming convention document as AI context input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Integrates with PR workflow in Azure DevOps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Companion to #1 (AI-Assisted Development) — same tool, different use case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EDW naming conventions must be documented in structured format for AI context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Focus on migration-specific patterns: things that work in SSIS but fail in Fabric</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Does not replace human review — augments it with automated pre-screening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PR review cycle time (hours — target: 30% reduction)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Standards violations per PR (target: decrease over time)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Code review bottleneck incidents (PRs waiting &gt; 24 hours for review)</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Document EDW naming conventions as structured AI context (Prepare the Ground)  →  2. Approve coding tool (Category 2)  →  3. Pilot AI code review on 10 PRs  →  4. Compare violation detection with human review  →  5. Integrate into PR workflow</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36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Test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generates comparison matrices to validate that migrated Fabric pipelines produce identical outputs to original SSIS packages — accelerating the 4-3-2-1 migration.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The 4-3-2-1 migration requires proving that every SSIS package, when converted to Fabric, produces identical outputs. With 75–80 tables and complex transformation logic, manual comparison is slow and error-prone. The comparison matrix process as a significant bottleneck.</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Analyze SSIS package logic and generate expected output specifications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Create automated comparison tests: run SSIS and Fabric in parallel, compare outputs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comparison matrices: row counts, column checksums, sample data validation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Flag discrepancies with root cause analysis: which transformation step diverged?</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2 (Coding Tool)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Same approval as #1 — generates comparison test code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Great Expectations or custom PySpark validation scripts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Requires parallel access to SSIS output and Fabric output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This directly accelerates the migration timeline — the biggest Data workload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Combines with #3 (Data Validation Framework) — use same test infrastructure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Parallel execution environment must be maintained until migration complete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Start with highest-volume tables first (greatest risk of undetected errors)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Parity validation time per table (hours — target: 80% reduction)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Migration confidence score (% of tables with validated parity)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Post-migration data defects (defects found after cutover)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Tables validated per sprint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Identify top-10 highest-risk tables for parity validation (Prepare the Ground)  →  2. Approve coding tool (Category 2)  →  3. Generate comparison matrices for top-10 tables  →  4. Run parallel validation for 1 sprint  →  5. Extend to full table set  →  6. Use results to build confidence for cutover decisions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37</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80808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LONG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Deliver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scores each data release on migration risk, validation coverage, and downstream impact — providing structured deployment governance for the 4-3-2-1 migration.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The 4-3-2-1 migration involves multiple phased cutovers with downstream dependencies on Salesforce, Moody's, Treasury, and Risk systems. Each deployment decision carries risk. Currently, deployment governance relies on team knowledge and manual checklist review.</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Score each deployment: migration parity validation coverage, downstream dependency impact, rollback readiness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Correlate with historical deployment outcomes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structured deployment risk summary</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Builds on validation framework (#3) and parity testing (#8)</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3 (API Access)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Builds on #3 and #8 validation infrastructure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ADO deployment pipeline integration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Requires enterprise API agreement for automated scoring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Depends on #3 and #8 being implemented first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Deployment risk is especially high during migration cutovers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Manual risk assessment can start while API integration is established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Downstream system owners (SF, Risk) should validate risk model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Deployment defect rate (post-deployment issues per release)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Deployment confidence score (structured vs. gut-feel assessment)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Rollback rate (% of deployments requiring rollback)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Implement #3 and #8 as prerequisites  →  2. Define deployment risk scoring model  →  3. Pilot manual scoring for 3 releases  →  4. Establish API agreement (Category 3)  →  5. Automate scoring  →  6. Integrate into deployment approval workflow</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38</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80808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LONG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Plan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Mature YData profiling agent in Fabric and develop AI-driven data quality agents for vendor feed validation, anomaly detection, and proactive data governance.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The team is deploying YData for exploratory data analysis in Fabric notebooks. The need was identified for more sophisticated data profiling during the planning phase — understanding data quality before transformation design. Vendor feeds (Chase, Santander, DT) have varying quality and format consistency.</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Deploy YData profiling as standard EDA step for all new data sources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Build vendor feed quality scoring agents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Develop anomaly detection for incoming data: volume shifts, schema changes, distribution drift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data quality reports for planning phase decision-making</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1 (Chat Client) for training data and refinement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YData (deploying in Fabric — currently in progress)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Fabric notebooks for agent execution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Longer-term: Category 3 (API) for automated monitoring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YData deployment is already in progress — build on this foundation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Start with chat-based analysis of profiling results (Category 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Automated agents require API access (Category 3) — longer-term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Vendor feed quality is a persistent operational challenge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Data quality issues caught during planning (vs. discovered in production)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Vendor feed rejection rate (feeds failing quality thresholds)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Time from data receipt to quality assessment (hours — target: automated)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Anomaly detection accuracy (true positive rate)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Complete YData EDA deployment in Fabric (Prepare the Ground)  →  2. Approve chat client for analysis refinement (Category 1)  →  3. Build vendor feed quality scoring template  →  4. Pilot anomaly detection on 3 vendor feeds  →  5. Extend to all feeds  →  6. Automate with API (Category 3)</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39</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80808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LONG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Monitor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monitors Fabric pipeline health, detects failure patterns, and generates incident response recommendations — reducing MTTR for data pipeline issues.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Data pipeline failures are currently detected through ORS reports and manual monitoring. With the migration to Fabric, the pipeline architecture is changing and new failure modes are emerging. Proactive monitoring that detects patterns before they become incidents would reduce downstream impact.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Monitor Fabric pipeline execution logs for failure patterns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Correlate failures across pipelines to identify root causes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incident response recommendations based on historical patterns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Proactive alerting: detect degradation trends before failure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3 (API Access)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Fabric monitoring APIs + enterprise AI API</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Requires established pipeline monitoring infrastructure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Builds on #3 validation framework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This is a longer-term capability that builds on earlier opportunities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Fabric monitoring APIs are still maturing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Start with manual pattern analysis; automate as infrastructure matures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Combine with #9 (Deployment Governance) for comprehensive pipeline management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Mean time to detection (MTTD) for pipeline failures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Mean time to resolution (MTTR) for pipeline incidents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Proactive detection rate (issues caught before impact)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Pipeline availability (% uptime)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Establish baseline pipeline monitoring metrics (Prepare the Ground)  →  2. Document common failure patterns from ORS history  →  3. Build pattern detection prototype with API access (Category 3)  →  4. Pilot on highest-volume pipelines  →  5. Extend to full pipeline estate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40</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45720"/>
            <a:ext cx="11274552"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Data / EDW — Approval Gates and Preparation</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333756" y="914400"/>
            <a:ext cx="2743200" cy="457200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333756" y="914400"/>
            <a:ext cx="2743200" cy="594360"/>
          </a:xfrm>
          <a:prstGeom prst="rect">
            <a:avLst/>
          </a:prstGeom>
          <a:solidFill>
            <a:srgbClr val="80808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425196" y="932688"/>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Prepare the Ground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25196" y="1234440"/>
            <a:ext cx="256032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(Start Now — No Approval)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25196" y="1600200"/>
            <a:ext cx="2560320" cy="37947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Formalize existing Copilot usage — document what works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Create MS365 Copilot prompt templates for common tasks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Document EDW naming conventions as structured AI context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Complete YData EDA deployment in Fabric</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Inventory workspace structural differences for CI/CD (#2)</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Document dual-commit workflow step by step (#4)</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Select test framework: Great Expectations recommended (#3)</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259836" y="914400"/>
            <a:ext cx="2743200" cy="457200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3259836" y="914400"/>
            <a:ext cx="2743200" cy="5943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3351276" y="932688"/>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With Chat Client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351276" y="1234440"/>
            <a:ext cx="256032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(Category 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351276" y="1600200"/>
            <a:ext cx="2560320" cy="37947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#5 Work Intake Quality Review — full capability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#6 Documentation &amp; Knowledge Transfer — chat-driven capture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#10 Data Agent Maturation — training data and refinement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3 opportunities at full quality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Knowledge capture from key contributors is the urgent use case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6185916" y="914400"/>
            <a:ext cx="2743200" cy="457200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6185916" y="914400"/>
            <a:ext cx="2743200" cy="59436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277356" y="932688"/>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With Coding Tool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277356" y="1234440"/>
            <a:ext cx="256032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(Category 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277356" y="1600200"/>
            <a:ext cx="2560320" cy="37947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#1 AI-Assisted Dev — THE BIG UNLOCK</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#2 CI/CD Pipeline Standardization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#3 Data Validation Framework</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#4 Dual-Commit Automation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#7 Code Review &amp; Standards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#8 SSIS-to-Fabric Parity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6 opportunities unlocked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Directly accelerates 4-3-2-1 migration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9111996" y="914400"/>
            <a:ext cx="2743200" cy="457200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9111996" y="914400"/>
            <a:ext cx="2743200" cy="594360"/>
          </a:xfrm>
          <a:prstGeom prst="rect">
            <a:avLst/>
          </a:prstGeom>
          <a:solidFill>
            <a:srgbClr val="4472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9203436" y="932688"/>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With API Access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9203436" y="1234440"/>
            <a:ext cx="256032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(Category 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9203436" y="1600200"/>
            <a:ext cx="2560320" cy="37947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#9 Deployment Governance &amp; Release Risk</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#11 Pipeline Monitoring &amp; Incident Response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2 opportunities unlocked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Builds on validation framework (#3) and parity testing (#8)</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Longer-term automation layer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6" name="Text 23"/>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41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1371600" y="1828800"/>
            <a:ext cx="9144000" cy="1371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Integration Workflow</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1371600" y="3200400"/>
            <a:ext cx="91440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11 AI Enhancement Opportunities  •  Plan through Deliver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Image 0" descr="/home/claude/eis_logo.png"/>
          <p:cNvPicPr>
            <a:picLocks noChangeAspect="1"/>
          </p:cNvPicPr>
          <p:nvPr/>
        </p:nvPicPr>
        <p:blipFill>
          <a:blip r:embed="rId3"/>
          <a:stretch>
            <a:fillRect/>
          </a:stretch>
        </p:blipFill>
        <p:spPr>
          <a:xfrm>
            <a:off x="10360152" y="5943600"/>
            <a:ext cx="1005840" cy="301752"/>
          </a:xfrm>
          <a:prstGeom prst="rect">
            <a:avLst/>
          </a:prstGeom>
        </p:spPr>
      </p:pic>
      <p:sp>
        <p:nvSpPr>
          <p:cNvPr id="6" name="Text 3"/>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43</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45720"/>
            <a:ext cx="11274552"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Integration — Opportunity Summary</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Table 0"/>
          <p:cNvGraphicFramePr>
            <a:graphicFrameLocks noGrp="1"/>
          </p:cNvGraphicFramePr>
          <p:nvPr/>
        </p:nvGraphicFramePr>
        <p:xfrm>
          <a:off x="365760" y="868679"/>
          <a:ext cx="10264140" cy="5067747"/>
        </p:xfrm>
        <a:graphic>
          <a:graphicData uri="http://schemas.openxmlformats.org/drawingml/2006/table">
            <a:tbl>
              <a:tblPr/>
              <a:tblGrid>
                <a:gridCol w="498259">
                  <a:extLst>
                    <a:ext uri="{9D8B030D-6E8A-4147-A177-3AD203B41FA5}">
                      <a16:colId xmlns:a16="http://schemas.microsoft.com/office/drawing/2014/main" val="20000"/>
                    </a:ext>
                  </a:extLst>
                </a:gridCol>
                <a:gridCol w="1295474">
                  <a:extLst>
                    <a:ext uri="{9D8B030D-6E8A-4147-A177-3AD203B41FA5}">
                      <a16:colId xmlns:a16="http://schemas.microsoft.com/office/drawing/2014/main" val="20001"/>
                    </a:ext>
                  </a:extLst>
                </a:gridCol>
                <a:gridCol w="6278066">
                  <a:extLst>
                    <a:ext uri="{9D8B030D-6E8A-4147-A177-3AD203B41FA5}">
                      <a16:colId xmlns:a16="http://schemas.microsoft.com/office/drawing/2014/main" val="20002"/>
                    </a:ext>
                  </a:extLst>
                </a:gridCol>
                <a:gridCol w="896867">
                  <a:extLst>
                    <a:ext uri="{9D8B030D-6E8A-4147-A177-3AD203B41FA5}">
                      <a16:colId xmlns:a16="http://schemas.microsoft.com/office/drawing/2014/main" val="20003"/>
                    </a:ext>
                  </a:extLst>
                </a:gridCol>
                <a:gridCol w="1295474">
                  <a:extLst>
                    <a:ext uri="{9D8B030D-6E8A-4147-A177-3AD203B41FA5}">
                      <a16:colId xmlns:a16="http://schemas.microsoft.com/office/drawing/2014/main" val="20004"/>
                    </a:ext>
                  </a:extLst>
                </a:gridCol>
              </a:tblGrid>
              <a:tr h="391900">
                <a:tc>
                  <a:txBody>
                    <a:bodyPr/>
                    <a:lstStyle/>
                    <a:p>
                      <a:pPr marL="0" indent="0" algn="ctr">
                        <a:buNone/>
                      </a:pPr>
                      <a:r>
                        <a:rPr lang="en-US" sz="1400" b="1" dirty="0">
                          <a:solidFill>
                            <a:srgbClr val="FFFFFF"/>
                          </a:solidFill>
                        </a:rPr>
                        <a:t>#</a:t>
                      </a:r>
                      <a:endParaRPr lang="en-US" sz="14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400" b="1" dirty="0">
                          <a:solidFill>
                            <a:srgbClr val="FFFFFF"/>
                          </a:solidFill>
                        </a:rPr>
                        <a:t>SDLC Stage</a:t>
                      </a:r>
                      <a:endParaRPr lang="en-US" sz="14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buNone/>
                      </a:pPr>
                      <a:r>
                        <a:rPr lang="en-US" sz="1400" b="1" dirty="0">
                          <a:solidFill>
                            <a:srgbClr val="FFFFFF"/>
                          </a:solidFill>
                        </a:rPr>
                        <a:t>Opportunity</a:t>
                      </a:r>
                      <a:endParaRPr lang="en-US" sz="14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400" b="1" dirty="0">
                          <a:solidFill>
                            <a:srgbClr val="FFFFFF"/>
                          </a:solidFill>
                        </a:rPr>
                        <a:t>Priority</a:t>
                      </a:r>
                      <a:endParaRPr lang="en-US" sz="14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400" b="1" dirty="0">
                          <a:solidFill>
                            <a:srgbClr val="FFFFFF"/>
                          </a:solidFill>
                        </a:rPr>
                        <a:t>Approval Gate</a:t>
                      </a:r>
                      <a:endParaRPr lang="en-US" sz="14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25077">
                <a:tc>
                  <a:txBody>
                    <a:bodyPr/>
                    <a:lstStyle/>
                    <a:p>
                      <a:pPr marL="0" indent="0" algn="ctr">
                        <a:buNone/>
                      </a:pPr>
                      <a:r>
                        <a:rPr lang="en-US" sz="1200" b="1" dirty="0">
                          <a:solidFill>
                            <a:srgbClr val="000000"/>
                          </a:solidFill>
                        </a:rPr>
                        <a:t>#1</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Build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MuleSoft-to-Azure Migration Code Generation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548235"/>
                          </a:solidFill>
                        </a:rPr>
                        <a:t>HIGH</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dirty="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425077">
                <a:tc>
                  <a:txBody>
                    <a:bodyPr/>
                    <a:lstStyle/>
                    <a:p>
                      <a:pPr marL="0" indent="0" algn="ctr">
                        <a:buNone/>
                      </a:pPr>
                      <a:r>
                        <a:rPr lang="en-US" sz="1200" b="1" dirty="0">
                          <a:solidFill>
                            <a:srgbClr val="000000"/>
                          </a:solidFill>
                        </a:rPr>
                        <a:t>#2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Build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APIM Policy and Configuration Generation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548235"/>
                          </a:solidFill>
                        </a:rPr>
                        <a:t>HIGH</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dirty="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425077">
                <a:tc>
                  <a:txBody>
                    <a:bodyPr/>
                    <a:lstStyle/>
                    <a:p>
                      <a:pPr marL="0" indent="0" algn="ctr">
                        <a:buNone/>
                      </a:pPr>
                      <a:r>
                        <a:rPr lang="en-US" sz="1200" b="1" dirty="0">
                          <a:solidFill>
                            <a:srgbClr val="000000"/>
                          </a:solidFill>
                        </a:rPr>
                        <a:t>#3</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Build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New Azure API Development Acceleration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548235"/>
                          </a:solidFill>
                        </a:rPr>
                        <a:t>HIGH</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dirty="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425077">
                <a:tc>
                  <a:txBody>
                    <a:bodyPr/>
                    <a:lstStyle/>
                    <a:p>
                      <a:pPr marL="0" indent="0" algn="ctr">
                        <a:buNone/>
                      </a:pPr>
                      <a:r>
                        <a:rPr lang="en-US" sz="1200" b="1" dirty="0">
                          <a:solidFill>
                            <a:srgbClr val="000000"/>
                          </a:solidFill>
                        </a:rPr>
                        <a:t>#4</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Build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Terraform and IaC Generation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548235"/>
                          </a:solidFill>
                        </a:rPr>
                        <a:t>HIGH</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dirty="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425077">
                <a:tc>
                  <a:txBody>
                    <a:bodyPr/>
                    <a:lstStyle/>
                    <a:p>
                      <a:pPr marL="0" indent="0" algn="ctr">
                        <a:buNone/>
                      </a:pPr>
                      <a:r>
                        <a:rPr lang="en-US" sz="1200" b="1" dirty="0">
                          <a:solidFill>
                            <a:srgbClr val="000000"/>
                          </a:solidFill>
                        </a:rPr>
                        <a:t>#5</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Test</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API Parity Validation (MuleSoft vs. Azure)</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548235"/>
                          </a:solidFill>
                        </a:rPr>
                        <a:t>HIGH</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dirty="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r h="425077">
                <a:tc>
                  <a:txBody>
                    <a:bodyPr/>
                    <a:lstStyle/>
                    <a:p>
                      <a:pPr marL="0" indent="0" algn="ctr">
                        <a:buNone/>
                      </a:pPr>
                      <a:r>
                        <a:rPr lang="en-US" sz="1200" b="1" dirty="0">
                          <a:solidFill>
                            <a:srgbClr val="000000"/>
                          </a:solidFill>
                        </a:rPr>
                        <a:t>#6</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Plan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Discovery and Current-State Documentation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Chat Client</a:t>
                      </a:r>
                      <a:endParaRPr lang="en-US" sz="1200" dirty="0"/>
                    </a:p>
                    <a:p>
                      <a:pPr marL="0" indent="0" algn="ctr">
                        <a:buNone/>
                      </a:pPr>
                      <a:r>
                        <a:rPr lang="en-US" sz="1200" dirty="0">
                          <a:solidFill>
                            <a:srgbClr val="000000"/>
                          </a:solidFill>
                        </a:rPr>
                        <a:t>(Category 1)</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6"/>
                  </a:ext>
                </a:extLst>
              </a:tr>
              <a:tr h="425077">
                <a:tc>
                  <a:txBody>
                    <a:bodyPr/>
                    <a:lstStyle/>
                    <a:p>
                      <a:pPr marL="0" indent="0" algn="ctr">
                        <a:buNone/>
                      </a:pPr>
                      <a:r>
                        <a:rPr lang="en-US" sz="1200" b="1" dirty="0">
                          <a:solidFill>
                            <a:srgbClr val="000000"/>
                          </a:solidFill>
                        </a:rPr>
                        <a:t>#7</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Build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Code Review and Quality Gates</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dirty="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7"/>
                  </a:ext>
                </a:extLst>
              </a:tr>
              <a:tr h="425077">
                <a:tc>
                  <a:txBody>
                    <a:bodyPr/>
                    <a:lstStyle/>
                    <a:p>
                      <a:pPr marL="0" indent="0" algn="ctr">
                        <a:buNone/>
                      </a:pPr>
                      <a:r>
                        <a:rPr lang="en-US" sz="1200" b="1" dirty="0">
                          <a:solidFill>
                            <a:srgbClr val="000000"/>
                          </a:solidFill>
                        </a:rPr>
                        <a:t>#8</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Deliver</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CI/CD Pipeline YAML Generation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dirty="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8"/>
                  </a:ext>
                </a:extLst>
              </a:tr>
              <a:tr h="425077">
                <a:tc>
                  <a:txBody>
                    <a:bodyPr/>
                    <a:lstStyle/>
                    <a:p>
                      <a:pPr marL="0" indent="0" algn="ctr">
                        <a:buNone/>
                      </a:pPr>
                      <a:r>
                        <a:rPr lang="en-US" sz="1200" b="1" dirty="0">
                          <a:solidFill>
                            <a:srgbClr val="000000"/>
                          </a:solidFill>
                        </a:rPr>
                        <a:t>#9</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Plan</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Story Quality and Backlog Structuring</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Chat Client</a:t>
                      </a:r>
                      <a:endParaRPr lang="en-US" sz="1200" dirty="0"/>
                    </a:p>
                    <a:p>
                      <a:pPr marL="0" indent="0" algn="ctr">
                        <a:buNone/>
                      </a:pPr>
                      <a:r>
                        <a:rPr lang="en-US" sz="1200" dirty="0">
                          <a:solidFill>
                            <a:srgbClr val="000000"/>
                          </a:solidFill>
                        </a:rPr>
                        <a:t>(Category 1)</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9"/>
                  </a:ext>
                </a:extLst>
              </a:tr>
              <a:tr h="425077">
                <a:tc>
                  <a:txBody>
                    <a:bodyPr/>
                    <a:lstStyle/>
                    <a:p>
                      <a:pPr marL="0" indent="0" algn="ctr">
                        <a:buNone/>
                      </a:pPr>
                      <a:r>
                        <a:rPr lang="en-US" sz="1200" b="1" dirty="0">
                          <a:solidFill>
                            <a:srgbClr val="000000"/>
                          </a:solidFill>
                        </a:rPr>
                        <a:t>#10</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Test</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Unit Test Generation for .NET APIs</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ED7D31"/>
                          </a:solidFill>
                        </a:rPr>
                        <a:t>MED</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Coding Tool</a:t>
                      </a:r>
                      <a:endParaRPr lang="en-US" sz="1200" dirty="0"/>
                    </a:p>
                    <a:p>
                      <a:pPr marL="0" indent="0" algn="ctr">
                        <a:buNone/>
                      </a:pPr>
                      <a:r>
                        <a:rPr lang="en-US" sz="1200" dirty="0">
                          <a:solidFill>
                            <a:srgbClr val="000000"/>
                          </a:solidFill>
                        </a:rPr>
                        <a:t>(Category 2)</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10"/>
                  </a:ext>
                </a:extLst>
              </a:tr>
              <a:tr h="425077">
                <a:tc>
                  <a:txBody>
                    <a:bodyPr/>
                    <a:lstStyle/>
                    <a:p>
                      <a:pPr marL="0" indent="0" algn="ctr">
                        <a:buNone/>
                      </a:pPr>
                      <a:r>
                        <a:rPr lang="en-US" sz="1200" b="1" dirty="0">
                          <a:solidFill>
                            <a:srgbClr val="000000"/>
                          </a:solidFill>
                        </a:rPr>
                        <a:t>#11</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Deliver</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buNone/>
                      </a:pPr>
                      <a:r>
                        <a:rPr lang="en-US" sz="1200" dirty="0">
                          <a:solidFill>
                            <a:srgbClr val="000000"/>
                          </a:solidFill>
                        </a:rPr>
                        <a:t>Cost Attribution Framework</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b="1" dirty="0">
                          <a:solidFill>
                            <a:srgbClr val="808080"/>
                          </a:solidFill>
                        </a:rPr>
                        <a:t>LONG</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marL="0" indent="0" algn="ctr">
                        <a:buNone/>
                      </a:pPr>
                      <a:r>
                        <a:rPr lang="en-US" sz="1200" dirty="0">
                          <a:solidFill>
                            <a:srgbClr val="000000"/>
                          </a:solidFill>
                        </a:rPr>
                        <a:t>API Access</a:t>
                      </a:r>
                      <a:endParaRPr lang="en-US" sz="1200" dirty="0"/>
                    </a:p>
                    <a:p>
                      <a:pPr marL="0" indent="0" algn="ctr">
                        <a:buNone/>
                      </a:pPr>
                      <a:r>
                        <a:rPr lang="en-US" sz="1200" dirty="0">
                          <a:solidFill>
                            <a:srgbClr val="000000"/>
                          </a:solidFill>
                        </a:rPr>
                        <a:t>(Category 3)</a:t>
                      </a:r>
                      <a:endParaRPr lang="en-US" sz="1200" dirty="0"/>
                    </a:p>
                  </a:txBody>
                  <a:tcPr marL="50800" marR="508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5" name="Shape 2"/>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7" name="Text 3"/>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4"/>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44</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Build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generates initial Azure .NET API code from MuleSoft RAML/DataWeave specifications — accelerating the ~285 endpoint migration.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SFS must migrate ~285 MuleSoft endpoints to Azure .NET by end of 2026 (MuleSoft license expiry). This is the team's dominant workload. Each migration requires analyzing MuleSoft RAML specs, understanding DataWeave transformations, and re-implementing in C#/.NET with Azure Service Bus, APIM, and Cosmos DB patterns.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Ingest MuleSoft RAML specifications and DataWeave transformation logic</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initial C#/.NET Azure Function or API controller code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Map MuleSoft patterns to Azure equivalents: Anypoint → APIM, MQ → Service Bus, Object Store → Cosmos DB</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accompanying APIM policy stubs and Terraform resource definitions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2 (Coding Tool)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Recommend: Claude Code CLI for complex multi-file generation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GitHub Copilot for inline autocomplete during refinement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Note: Visual Studio compatibility required (team uses both Visual Studio and VS Code)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Visual Studio is the primary IDE — GitHub Copilot works in VS; Claude Code/Cursor require VS Code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Team may need to adopt VS Code for Claude Code (evaluate willingness — Prepare the Ground)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Generated code requires architect review — AI handles 60–70% of boilerplate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DASH project patterns (Service Bus, Functions) serve as reference architecture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Endpoints migrated per sprint (target: 2–3× current rate)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Migration code rework rate (% of AI-generated code requiring significant changes)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Time per endpoint migration (hours — target: 50% reduction)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Document DASH project patterns as AI reference architecture (Prepare the Ground)  →  2. Approve coding tool (Category 2)  →  3. Pilot: migrate 3 endpoints with AI assistance  →  4. Measure time and rework vs. manual baseline  →  5. Scale to full migration backlog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45</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Build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generates Azure APIM policies, rate limiting configs, and subscription key management from MuleSoft API specifications.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Every migrated API needs APIM configuration: policies, rate limiting, caching, authentication, subscription keys. The current process is manual XML policy authoring. With ~285 endpoints plus new greenfield APIs, APIM configuration is a significant time sink.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APIM policy XML from MuleSoft API specifications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Configure rate limiting, caching, and authentication policies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subscription key management configurations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Produce Terraform definitions for APIM resources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2 (Coding Tool)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Same approval as #1 — no separate decision needed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APIM policy templates can be created as AI context files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Terraform generation overlaps with #4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APIM policy patterns are highly repetitive — ideal for AI generation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Security policies require careful review (authentication, key management)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Combine with #4 (Terraform) for full infrastructure-as-code generation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Existing APIM configurations serve as training examples for AI context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APIM configuration time per API (hours — target: 70% reduction)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Policy error rate (misconfigurations caught in review)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Configuration consistency score (% following standard patterns)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Document current APIM config process for one pilot API (Prepare the Ground)  →  2. Create APIM policy template library as AI context  →  3. Pilot: generate configs for 5 APIs  →  4. Review with architects  →  5. Scale to all migrations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46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Build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accelerates greenfield Azure API development — generating .NET controllers, Azure Function scaffolds, and Service Bus integration patterns.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Beyond MuleSoft migration, the Integration team builds new greenfield APIs on Azure. The DASH project established patterns: Azure Functions, Service Bus, Cosmos DB, APIM. New APIs should follow these patterns, but manual implementation is slow. The team is actively requesting AI tooling.</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.NET API controller scaffolds from OpenAPI specifications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Create Azure Function implementations following DASH patterns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Service Bus message handler boilerplate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Scaffold Cosmos DB data access layers with proper partitioning</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2 (Coding Tool)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Same approval as #1 — no separate decision needed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DASH project patterns as AI context/reference architecture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OpenAPI specifications as input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DASH project is the pattern reference — document its architecture as AI context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Generated code should follow SFS coding standards (.editorconfig, SonarQube rules)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New APIs may have unique requirements beyond standard patterns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Combine with #10 (Unit Tests) for complete API development acceleration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New API development time (hours from spec to working prototype)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Code standards compliance rate (SonarQube pass rate on first commit)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Developer satisfaction (qualitative — reduction in boilerplate effort)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Document DASH architecture patterns as AI context (Prepare the Ground)  →  2. Approve coding tool (Category 2)  →  3. Pilot: build one new API with AI assistance  →  4. Compare development time to manual baseline  →  5. Standardize AI-assisted workflow</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47</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Build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generates Terraform IaC definitions for Azure resources — Functions, APIM, Service Bus, Cosmos DB — replacing manual infrastructure provisioning.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Terraform adoption is underway but inconsistent. Some infrastructure is provisioned manually through the Azure portal; some has Terraform definitions. The target is full IaC coverage for all Integration team resources. Manual provisioning creates configuration drift and audit gaps.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Terraform resource definitions from existing Azure portal configurations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Create Terraform modules for standard Integration patterns (Function App + APIM + Service Bus)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Terraform variable files and environment-specific configurations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Detect configuration drift between Terraform state and actual Azure resources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2 (Coding Tool)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Same approval as #1 — no separate decision needed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Terraform already in use (partial adoption)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Azure CLI access for state comparison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Inventory existing Terraform scripts and identify gaps (Prepare the Ground)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AI-generated Terraform requires careful review — infrastructure misconfig has blast radius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Start with non-production environments for validation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Combine with #8 (CI/CD YAML) for full DevOps automation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IaC coverage (% of Azure resources with Terraform definitions — target: 100%)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Infrastructure provisioning time (hours per environment)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Configuration drift incidents per quarter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Inventory existing Terraform scripts and gaps (Prepare the Ground)  →  2. Approve coding tool (Category 2)  →  3. Pilot: generate Terraform for 5 resources currently provisioned manually  →  4. Validate in non-prod  →  5. Extend to full IaC coverage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48</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Test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generates and executes parity test suites comparing MuleSoft and Azure API responses — validating behavioral equivalence for each migrated endpoint.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Every migrated endpoint must produce identical behavior to its MuleSoft predecessor. Currently, parity validation is manual: testers send the same requests to both endpoints and compare responses. With ~285 endpoints, manual parity testing is not feasible at the required migration pace.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parity test suites from MuleSoft API documentation and example payloads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Automatically compare response bodies, headers, status codes, and error handling</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Flag behavioral differences: data format changes, missing fields, different error codes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regression test suites for ongoing monitoring post-migration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2 (Coding Tool)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Same approval as #1 — no separate decision needed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Postman/Newman or custom .NET test harness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MuleSoft API documentation as input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Parity testing is the critical quality gate for migration — errors here affect downstream consumers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Some behavioral differences may be intentional (Azure improvements) — need architect sign-off</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Automated parity tests become regression tests post-migration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SonarQube (recently licensed) can track coverage metrics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Parity validation coverage (% of endpoints with automated comparison)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Behavioral difference detection rate (differences found by AI vs. manual)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Time per endpoint parity validation (hours — target: 80% reduction)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Collect MuleSoft API documentation and example payloads  →  2. Approve coding tool (Category 2)  →  3. Pilot: generate parity tests for 10 endpoints  →  4. Run parallel validation  →  5. Scale to all migrations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49</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Plan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generates structured current-state documentation from MuleSoft API specs, architecture diagrams, and team knowledge — preserving context before migration.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Before migrating a MuleSoft API, the team needs to understand its current behavior, consumers, data flows, and edge cases. Much of this knowledge exists with the Integration lead or in scattered documentation. As the single architect with deepest knowledge, the Integration lead is a bottleneck for migration planning.</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Analyze MuleSoft RAML specifications and generate structured documentation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Create consumer dependency maps from API analytics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migration planning documents: current state, target state, gap analysis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Produce Mermaid diagrams of API interaction patterns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1 (Chat Client)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Requires approved AI chat client for quality documentation generation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MuleSoft API specifications as input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MS365 Copilot can attempt but with weaker analysis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This directly addresses the Integration knowledge concentration risk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Documentation created here feeds into #1 (Migration Code Gen) as AI context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Start with highest-priority migration candidates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Mermaid diagrams render natively in Confluence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Documentation coverage (% of APIs with structured current-state docs)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Migration planning time (hours per API — target: 40% reduction)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Knowledge transfer effectiveness (can a developer migrate without the Integration lead?)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Collect Jira story samples for review templating (Prepare the Ground)  →  2. Approve chat client (Category 1)  →  3. Pilot: document 5 high-priority APIs  →  4. Validate with Integration lead  →  5. Scale to full migration backlog</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50</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Build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reviews .NET code against SFS standards and Azure best practices — catching issues before PR submission and reducing architect review burden.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The Integration team has a 4-architect, 3-developer structure. Code review is architect-heavy. With the migration pace required, architects reviewing every PR is a bottleneck. SonarQube was just licensed but not yet fully integrated. SFS coding standards exist but enforcement is manual.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Review .NET code against SFS coding standards before commit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Check Azure best practices: proper error handling, retry patterns, connection management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Flag SonarQube rule violations before the quality gate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Suggest improvements following DASH project patterns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2 (Coding Tool)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Same approval as #1 — no separate decision needed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SonarQube (recently licensed) for quality gate integration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SFS .editorconfig as AI context input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Does not replace architect review — reduces review burden on routine issues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SonarQube integration is in progress — AI review is complementary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Context files should encode SFS .NET coding standards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Particularly valuable given the 4:3 architect-to-developer ratio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PR review cycle time (hours from submission to approval)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SonarQube first-pass rate (% of commits passing quality gate on first try)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Code review rework rate (% of PRs requiring changes)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Document SFS .NET standards as AI context file (Prepare the Ground)  →  2. Approve coding tool (Category 2)  →  3. Pilot: AI pre-review on 10 PRs  →  4. Compare with architect review findings  →  5. Scale to standard workflow</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51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Deliver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generates Azure DevOps CI/CD pipeline YAML from existing patterns — standardizing build, test, and deployment workflows across all Integration APIs.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CI/CD pipeline configuration is manual YAML authoring. Each new API or migrated endpoint needs build, test, and deployment pipeline definitions. Patterns exist from DASH project but are copied and modified manually. Inconsistency across pipelines creates maintenance burden.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Azure DevOps pipeline YAML from standard Integration patterns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Create multi-stage pipelines: build → test → deploy to dev → staging → prod</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Configure environment-specific variables and approval gates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Detect pipeline configuration drift across APIs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2 (Coding Tool)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Same approval as #1 — no separate decision needed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Azure DevOps (already in use)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DASH project pipeline templates as AI context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Pipeline YAML is highly repetitive — ideal for AI generation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Environment-specific configurations require careful review</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Combine with #4 (Terraform) for full infrastructure + deployment automation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Standardized pipelines reduce deployment failures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Pipeline creation time (hours per API — target: 80% reduction)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Pipeline consistency score (% following standard patterns)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Deployment failure rate (failed deployments per release)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Document DASH pipeline patterns as AI context (Prepare the Ground)  →  2. Approve coding tool (Category 2)  →  3. Pilot: generate pipelines for 5 APIs  →  4. Validate in non-prod  →  5. Standardize for all APIs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52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Plan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reviews Jira stories against SFS standards and structures the migration backlog — ensuring consistent story quality across the ~285 endpoint migration.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With ~285 endpoints to migrate plus greenfield work, the Jira backlog is substantial. Story quality varies by author. The Integration lead manages task assignments and backlog structuring largely from individual knowledge. Consistent story quality is especially important given the architect-heavy team structure.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Review incoming Jira stories against SFS standards: acceptance criteria, dev notes, architecture approval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Flag incomplete or ambiguous stories before sprint planning</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Suggest story breakdown for complex migration tasks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migration-specific AC from MuleSoft API documentation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1 (Chat Client)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Requires approved AI chat client for quality review</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Same approach as SF #1 (Story Quality) — shared prompt templates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MS365 Copilot can attempt but with weaker reasoning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Shared approach with SF #1 — prompt templates can be adapted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Migration stories have unique requirements (parity validation AC, consumer notification)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Reduces the lead's burden as backlog structurer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Quality improvement compounds through the migration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Story completeness at sprint planning (% requiring no rework)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Sprint velocity stability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Migration story rework rate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Collect Jira story samples from the team (Prepare the Ground)  →  2. Approve chat client (Category 1)  →  3. Create migration-specific prompt template  →  4. Pilot for one sprint  →  5. Extend to all sprints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53</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Test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generates xUnit/.NET test suites for Azure APIs — addressing near-zero test coverage on the Azure side and rebuilding the 85%+ coverage MuleSoft had.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MuleSoft APIs had 85%+ unit test coverage. Azure-side coverage metrics don't exist yet — SonarQube was just licensed. With ~285 endpoints to migrate plus new greenfield projects, manually writing comprehensive test suites is not feasible at the required pace.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xUnit test classes from .NET API controller code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Create test cases for happy path, error handling, edge cases, and authentication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mock configurations for Service Bus, Cosmos DB, and external dependencies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Produce integration test scaffolds for end-to-end API validation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2 (Coding Tool)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Same approval as #1 — no separate decision needed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xUnit/.NET (standard framework)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SonarQube for coverage tracking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Test generation is one of the strongest AI coding capabilities — high ROI</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Generated tests require review but significantly reduce the blank-page problem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Combine with #5 (Parity Validation) for comprehensive testing strategy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SonarQube coverage tracking validates improvement over time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Unit test coverage (% — target: rebuild to 80%+)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Test creation time per API (hours — target: 70% reduction)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Defect detection rate (bugs found by unit tests before integration testing)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Approve coding tool (Category 2)  →  2. Pilot: generate tests for 5 migrated APIs  →  3. Measure coverage improvement  →  4. Configure SonarQube coverage gates  →  5. Scale to all APIs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54</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320040" y="109728"/>
            <a:ext cx="731520" cy="457200"/>
          </a:xfrm>
          <a:prstGeom prst="rect">
            <a:avLst/>
          </a:prstGeom>
          <a:solidFill>
            <a:srgbClr val="80808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320040" y="109728"/>
            <a:ext cx="7315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LONG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1188720" y="109728"/>
            <a:ext cx="1645920" cy="4572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1188720" y="109728"/>
            <a:ext cx="1645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Deliver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017520" y="45720"/>
            <a:ext cx="8686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analyzes Azure consumption data to attribute API hosting costs to business units and applications — enabling data-driven capacity planning.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5720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The Need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57200" y="1188720"/>
            <a:ext cx="5577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As the Integration team moves from MuleSoft (fixed license) to Azure (consumption-based), cost attribution becomes critical. No current mechanism maps Azure resource consumption to specific APIs, business units, or applications. Without this, budget planning is guesswork.</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265176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How AI Helps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457200" y="2926080"/>
            <a:ext cx="5577840" cy="2011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Analyze Azure Cost Management data and map to individual APIs and resource groups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Generate cost attribution reports by business unit, application, and API</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Identify cost anomalies and optimization opportunities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Forecast capacity needs based on consumption trends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09360" y="91440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Tooling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309360" y="1188720"/>
            <a:ext cx="5577840" cy="100584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0" y="1234440"/>
            <a:ext cx="539496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Approval Gate: Category 3 (API Access)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Requires Azure Cost Management API access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Custom reporting pipeline — no off-the-shelf tool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Azure resource tagging strategy prerequisite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309360" y="233172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Considerations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309360" y="2606040"/>
            <a:ext cx="5577840" cy="12801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Requires consistent Azure resource tagging (prerequisite)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Consumption-based pricing makes cost attribution more complex than fixed licensing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Start with manual analysis; automate with API access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Long-term value: data-driven capacity planning and budget forecasting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309360" y="397764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Key Metrics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309360" y="4251960"/>
            <a:ext cx="557784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Cost attribution coverage (% of Azure spend mapped to business units)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Cost anomaly detection rate (unexpected spikes identified proactively)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Budget forecast accuracy (predicted vs. actual spend)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57200" y="5029200"/>
            <a:ext cx="11274552" cy="27432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5029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Implementation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57200" y="5349240"/>
            <a:ext cx="11274552" cy="777240"/>
          </a:xfrm>
          <a:prstGeom prst="rect">
            <a:avLst/>
          </a:prstGeom>
          <a:noFill/>
          <a:ln/>
        </p:spPr>
        <p:txBody>
          <a:bodyPr wrap="square" lIns="25400" tIns="50800" rIns="50800" bIns="254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Implement Azure resource tagging strategy  →  2. Manual cost analysis for 2–3 quarters  →  3. Build automated cost attribution pipeline (Category 3)  →  4. Generate recurring reports  →  5. Integrate into budget planning process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4" name="Text 21"/>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55</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45720"/>
            <a:ext cx="11274552"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Integration — Approval Gates and Preparation</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333756" y="914400"/>
            <a:ext cx="2743200" cy="457200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333756" y="914400"/>
            <a:ext cx="2743200" cy="594360"/>
          </a:xfrm>
          <a:prstGeom prst="rect">
            <a:avLst/>
          </a:prstGeom>
          <a:solidFill>
            <a:srgbClr val="80808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425196" y="932688"/>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Prepare the Ground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25196" y="1234440"/>
            <a:ext cx="256032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(Start Now — No Approval)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425196" y="1600200"/>
            <a:ext cx="2560320" cy="37947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Collect Jira story samples from the team for AI review templating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Document APIM config process for one pilot API</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Inventory existing Terraform scripts and gaps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Document DASH project Service Bus patterns as reference architecture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Confirm VS Code adoption willingness with architects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Document SFS .NET coding standards as AI context file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Document DASH pipeline patterns as AI context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259836" y="914400"/>
            <a:ext cx="2743200" cy="457200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3259836" y="914400"/>
            <a:ext cx="2743200" cy="5943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3351276" y="932688"/>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With Chat Client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351276" y="1234440"/>
            <a:ext cx="256032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(Category 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351276" y="1600200"/>
            <a:ext cx="2560320" cy="37947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#6 Discovery &amp; Current-State Docs — full capability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#9 Story Quality &amp; Backlog — full capability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2 opportunities at full quality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Directly addresses Integration knowledge concentration risk</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MS365 Copilot can attempt but with weaker analysis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6185916" y="914400"/>
            <a:ext cx="2743200" cy="457200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6185916" y="914400"/>
            <a:ext cx="2743200" cy="59436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277356" y="932688"/>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With Coding Tool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277356" y="1234440"/>
            <a:ext cx="256032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(Category 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277356" y="1600200"/>
            <a:ext cx="2560320" cy="37947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#1 Migration Code Gen — THE BIG ONE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#2 APIM Policy Generation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#3 New Azure API Development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#4 Terraform / IaC Generation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#5 API Parity Validation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#7 Code Review &amp; Quality Gates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#8 CI/CD Pipeline YAML</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#10 Unit Test Generation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8 opportunities unlocked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Critical for ~285 endpoint migration deadline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9111996" y="914400"/>
            <a:ext cx="2743200" cy="457200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9111996" y="914400"/>
            <a:ext cx="2743200" cy="594360"/>
          </a:xfrm>
          <a:prstGeom prst="rect">
            <a:avLst/>
          </a:prstGeom>
          <a:solidFill>
            <a:srgbClr val="4472C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9203436" y="932688"/>
            <a:ext cx="25603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With API Access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9203436" y="1234440"/>
            <a:ext cx="256032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rPr>
              <a:t>(Category 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9203436" y="1600200"/>
            <a:ext cx="2560320" cy="37947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 #11 Cost Attribution Framework</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1 opportunity (longer-term)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Enables consumption-based cost tracking as team moves from MuleSoft fixed license to Azure pay-per-use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457200" y="6355080"/>
            <a:ext cx="11274552" cy="0"/>
          </a:xfrm>
          <a:prstGeom prst="line">
            <a:avLst/>
          </a:prstGeom>
          <a:noFill/>
          <a:ln w="6350">
            <a:solidFill>
              <a:srgbClr val="BFBFB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0" descr="/home/claude/eis_logo.png"/>
          <p:cNvPicPr>
            <a:picLocks noChangeAspect="1"/>
          </p:cNvPicPr>
          <p:nvPr/>
        </p:nvPicPr>
        <p:blipFill>
          <a:blip r:embed="rId3"/>
          <a:stretch>
            <a:fillRect/>
          </a:stretch>
        </p:blipFill>
        <p:spPr>
          <a:xfrm>
            <a:off x="457200" y="6446520"/>
            <a:ext cx="1005840" cy="301752"/>
          </a:xfrm>
          <a:prstGeom prst="rect">
            <a:avLst/>
          </a:prstGeom>
        </p:spPr>
      </p:pic>
      <p:sp>
        <p:nvSpPr>
          <p:cNvPr id="26" name="Text 23"/>
          <p:cNvSpPr/>
          <p:nvPr/>
        </p:nvSpPr>
        <p:spPr>
          <a:xfrm>
            <a:off x="5180076" y="6419088"/>
            <a:ext cx="18288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56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a:extLst>
            <a:ext uri="{FF2B5EF4-FFF2-40B4-BE49-F238E27FC236}">
              <a16:creationId xmlns:a16="http://schemas.microsoft.com/office/drawing/2014/main" id="{58C9C6E6-75E4-A478-4C9A-71E49A6C160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34DB8CF-D336-E333-1898-82EE0A99C4D6}"/>
              </a:ext>
            </a:extLst>
          </p:cNvPr>
          <p:cNvSpPr/>
          <p:nvPr/>
        </p:nvSpPr>
        <p:spPr>
          <a:xfrm>
            <a:off x="0" y="0"/>
            <a:ext cx="137160" cy="685800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j-ea"/>
              <a:cs typeface="+mj-cs"/>
              <a:sym typeface="Calibri"/>
            </a:endParaRPr>
          </a:p>
        </p:txBody>
      </p:sp>
      <p:sp>
        <p:nvSpPr>
          <p:cNvPr id="3" name="Text 1">
            <a:extLst>
              <a:ext uri="{FF2B5EF4-FFF2-40B4-BE49-F238E27FC236}">
                <a16:creationId xmlns:a16="http://schemas.microsoft.com/office/drawing/2014/main" id="{E07035F7-339D-29D6-9559-E498366E61BE}"/>
              </a:ext>
            </a:extLst>
          </p:cNvPr>
          <p:cNvSpPr/>
          <p:nvPr/>
        </p:nvSpPr>
        <p:spPr>
          <a:xfrm>
            <a:off x="1371600" y="1828800"/>
            <a:ext cx="9144000" cy="1371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sym typeface="Calibri"/>
              </a:rPr>
              <a:t>Appendix</a:t>
            </a:r>
            <a:endParaRPr kumimoji="0" lang="en-US" sz="4000" b="0" i="0" u="none" strike="noStrike" kern="1200" cap="none" spc="0" normalizeH="0" baseline="0" noProof="0" dirty="0">
              <a:ln>
                <a:noFill/>
              </a:ln>
              <a:solidFill>
                <a:prstClr val="black"/>
              </a:solidFill>
              <a:effectLst/>
              <a:uLnTx/>
              <a:uFillTx/>
              <a:latin typeface="Calibri" panose="020F0502020204030204"/>
              <a:ea typeface="+mj-ea"/>
              <a:cs typeface="+mj-cs"/>
              <a:sym typeface="Calibri"/>
            </a:endParaRPr>
          </a:p>
        </p:txBody>
      </p:sp>
      <p:sp>
        <p:nvSpPr>
          <p:cNvPr id="4" name="Text 2">
            <a:extLst>
              <a:ext uri="{FF2B5EF4-FFF2-40B4-BE49-F238E27FC236}">
                <a16:creationId xmlns:a16="http://schemas.microsoft.com/office/drawing/2014/main" id="{CBC40931-12BD-3924-4A66-14E475526B86}"/>
              </a:ext>
            </a:extLst>
          </p:cNvPr>
          <p:cNvSpPr/>
          <p:nvPr/>
        </p:nvSpPr>
        <p:spPr>
          <a:xfrm>
            <a:off x="1371600" y="3200400"/>
            <a:ext cx="91440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sym typeface="Calibri"/>
              </a:rPr>
              <a:t>Tooling</a:t>
            </a:r>
            <a:endParaRPr kumimoji="0" lang="en-US" sz="1800" b="0" i="0" u="none" strike="noStrike" kern="1200" cap="none" spc="0" normalizeH="0" baseline="0" noProof="0" dirty="0">
              <a:ln>
                <a:noFill/>
              </a:ln>
              <a:solidFill>
                <a:prstClr val="black"/>
              </a:solidFill>
              <a:effectLst/>
              <a:uLnTx/>
              <a:uFillTx/>
              <a:latin typeface="Calibri" panose="020F0502020204030204"/>
              <a:ea typeface="+mj-ea"/>
              <a:cs typeface="+mj-cs"/>
              <a:sym typeface="Calibri"/>
            </a:endParaRPr>
          </a:p>
        </p:txBody>
      </p:sp>
      <p:pic>
        <p:nvPicPr>
          <p:cNvPr id="5" name="Image 0" descr="/home/claude/eis_logo.png">
            <a:extLst>
              <a:ext uri="{FF2B5EF4-FFF2-40B4-BE49-F238E27FC236}">
                <a16:creationId xmlns:a16="http://schemas.microsoft.com/office/drawing/2014/main" id="{A4E11B22-CE11-8CEF-2FA4-636CFA83FAE3}"/>
              </a:ext>
            </a:extLst>
          </p:cNvPr>
          <p:cNvPicPr>
            <a:picLocks noChangeAspect="1"/>
          </p:cNvPicPr>
          <p:nvPr/>
        </p:nvPicPr>
        <p:blipFill>
          <a:blip r:embed="rId3"/>
          <a:stretch>
            <a:fillRect/>
          </a:stretch>
        </p:blipFill>
        <p:spPr>
          <a:xfrm>
            <a:off x="10360152" y="5943600"/>
            <a:ext cx="1005840" cy="301752"/>
          </a:xfrm>
          <a:prstGeom prst="rect">
            <a:avLst/>
          </a:prstGeom>
        </p:spPr>
      </p:pic>
      <p:sp>
        <p:nvSpPr>
          <p:cNvPr id="6" name="Text 3">
            <a:extLst>
              <a:ext uri="{FF2B5EF4-FFF2-40B4-BE49-F238E27FC236}">
                <a16:creationId xmlns:a16="http://schemas.microsoft.com/office/drawing/2014/main" id="{945611F6-1ECB-24CE-1F32-6BB1D73BBD00}"/>
              </a:ext>
            </a:extLst>
          </p:cNvPr>
          <p:cNvSpPr/>
          <p:nvPr/>
        </p:nvSpPr>
        <p:spPr>
          <a:xfrm>
            <a:off x="11274552" y="6419088"/>
            <a:ext cx="45720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6E4F0"/>
                </a:solidFill>
                <a:effectLst/>
                <a:uLnTx/>
                <a:uFillTx/>
                <a:latin typeface="Calibri" pitchFamily="34" charset="0"/>
                <a:ea typeface="Calibri" pitchFamily="34" charset="-122"/>
                <a:cs typeface="Calibri" pitchFamily="34" charset="-120"/>
                <a:sym typeface="Calibri"/>
              </a:rPr>
              <a:t>43</a:t>
            </a:r>
            <a:endParaRPr kumimoji="0" lang="en-US" sz="800" b="0" i="0" u="none" strike="noStrike" kern="1200" cap="none" spc="0" normalizeH="0" baseline="0" noProof="0" dirty="0">
              <a:ln>
                <a:noFill/>
              </a:ln>
              <a:solidFill>
                <a:prstClr val="black"/>
              </a:solidFill>
              <a:effectLst/>
              <a:uLnTx/>
              <a:uFillTx/>
              <a:latin typeface="Calibri" panose="020F0502020204030204"/>
              <a:ea typeface="+mj-ea"/>
              <a:cs typeface="+mj-cs"/>
              <a:sym typeface="Calibri"/>
            </a:endParaRPr>
          </a:p>
        </p:txBody>
      </p:sp>
    </p:spTree>
    <p:extLst>
      <p:ext uri="{BB962C8B-B14F-4D97-AF65-F5344CB8AC3E}">
        <p14:creationId xmlns:p14="http://schemas.microsoft.com/office/powerpoint/2010/main" val="19888973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0"/>
            <a:ext cx="100584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Tooling Landscape — Framework Overview</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6400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247120" y="6400800"/>
            <a:ext cx="4572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A-1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10883854" y="6400800"/>
            <a:ext cx="1076498" cy="320040"/>
          </a:xfrm>
          <a:prstGeom prst="rect">
            <a:avLst/>
          </a:prstGeom>
        </p:spPr>
      </p:pic>
      <p:sp>
        <p:nvSpPr>
          <p:cNvPr id="7" name="Shape 4"/>
          <p:cNvSpPr/>
          <p:nvPr/>
        </p:nvSpPr>
        <p:spPr>
          <a:xfrm>
            <a:off x="457200" y="914400"/>
            <a:ext cx="11274552" cy="1920240"/>
          </a:xfrm>
          <a:prstGeom prst="rect">
            <a:avLst/>
          </a:prstGeom>
          <a:solidFill>
            <a:srgbClr val="FFF8E1"/>
          </a:solidFill>
          <a:ln w="19050">
            <a:solidFill>
              <a:srgbClr val="BF8F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p:nvPr/>
        </p:nvSpPr>
        <p:spPr>
          <a:xfrm>
            <a:off x="685800" y="1005840"/>
            <a:ext cx="10817352" cy="1737360"/>
          </a:xfrm>
          <a:prstGeom prst="rect">
            <a:avLst/>
          </a:prstGeom>
          <a:noFill/>
          <a:ln/>
        </p:spPr>
        <p:txBody>
          <a:bodyPr wrap="square" lIns="63500" tIns="127000" rIns="127000" bIns="635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4E79"/>
                </a:solidFill>
                <a:effectLst/>
                <a:uLnTx/>
                <a:uFillTx/>
                <a:latin typeface="Calibri" panose="020F0502020204030204"/>
                <a:ea typeface="+mn-ea"/>
                <a:cs typeface="+mn-cs"/>
              </a:rPr>
              <a:t>⚠ NOTE: Provider-Native Tooling Cost Advantage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srgbClr val="000000"/>
                </a:solidFill>
                <a:effectLst/>
                <a:uLnTx/>
                <a:uFillTx/>
                <a:latin typeface="Calibri" panose="020F0502020204030204"/>
                <a:ea typeface="+mn-ea"/>
                <a:cs typeface="+mn-cs"/>
              </a:rPr>
              <a:t> </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Running frontier models through the provider’s own tooling delivers 3–5× more usage per dollar than third-party IDEs. Three reinforcing reasons: (1) Usage Allocation — Max plan provides rolling 5-hour resets vs. monthly pools that heavy users exhaust in &lt;10 days. (2) Token Efficiency — Claude Code uses 5.5× fewer tokens than Cursor for identical tasks. (3) No Middleman — Third-party tools carry surcharges (e.g., 20% for Opus in Cursor MAX mode).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solidFill>
                  <a:srgbClr val="000000"/>
                </a:solidFill>
                <a:effectLst/>
                <a:uLnTx/>
                <a:uFillTx/>
                <a:latin typeface="Calibri" panose="020F0502020204030204"/>
                <a:ea typeface="+mn-ea"/>
                <a:cs typeface="+mn-cs"/>
              </a:rPr>
              <a:t> </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4E79"/>
                </a:solidFill>
                <a:effectLst/>
                <a:uLnTx/>
                <a:uFillTx/>
                <a:latin typeface="Calibri" panose="020F0502020204030204"/>
                <a:ea typeface="+mn-ea"/>
                <a:cs typeface="+mn-cs"/>
              </a:rPr>
              <a:t>Recommended Hybrid: </a:t>
            </a: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Cursor Pro ($20/mo) for IDE tab completions + Claude Code Max ($100–200/mo) for heavy agentic work = $120–220/mo total. Never hits limits.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57200" y="3108960"/>
            <a:ext cx="3520440" cy="320040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457200" y="3108960"/>
            <a:ext cx="3520440" cy="54864"/>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594360" y="3291840"/>
            <a:ext cx="365760" cy="32004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594360" y="3291840"/>
            <a:ext cx="36576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1097280" y="329184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Desktop Chat Clients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594360" y="3703320"/>
            <a:ext cx="324612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Planning, Research, PRD Generation, Business Document Creation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594360" y="4069080"/>
            <a:ext cx="3246120" cy="21031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anose="020F0502020204030204"/>
                <a:ea typeface="+mn-ea"/>
                <a:cs typeface="+mn-cs"/>
              </a:rPr>
              <a:t>1. </a:t>
            </a:r>
            <a:r>
              <a:rPr kumimoji="0" lang="en-US" sz="1100" b="1" i="0" u="none" strike="noStrike" kern="1200" cap="none" spc="0" normalizeH="0" baseline="0" noProof="0" dirty="0">
                <a:ln>
                  <a:noFill/>
                </a:ln>
                <a:solidFill>
                  <a:srgbClr val="333333"/>
                </a:solidFill>
                <a:effectLst/>
                <a:uLnTx/>
                <a:uFillTx/>
                <a:latin typeface="Calibri" panose="020F0502020204030204"/>
                <a:ea typeface="+mn-ea"/>
                <a:cs typeface="+mn-cs"/>
              </a:rPr>
              <a:t>Claude Desktop</a:t>
            </a:r>
            <a:r>
              <a:rPr kumimoji="0" lang="en-US" sz="900" b="1" i="0" u="none" strike="noStrike" kern="1200" cap="none" spc="0" normalizeH="0" baseline="0" noProof="0" dirty="0">
                <a:ln>
                  <a:noFill/>
                </a:ln>
                <a:solidFill>
                  <a:srgbClr val="548235"/>
                </a:solidFill>
                <a:effectLst/>
                <a:uLnTx/>
                <a:uFillTx/>
                <a:latin typeface="Calibri" panose="020F0502020204030204"/>
                <a:ea typeface="+mn-ea"/>
                <a:cs typeface="+mn-cs"/>
              </a:rPr>
              <a:t>  RECOMMENDED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anose="020F0502020204030204"/>
                <a:ea typeface="+mn-ea"/>
                <a:cs typeface="+mn-cs"/>
              </a:rPr>
              <a:t>2. </a:t>
            </a:r>
            <a:r>
              <a:rPr kumimoji="0" lang="en-US" sz="1100" b="1" i="0" u="none" strike="noStrike" kern="1200" cap="none" spc="0" normalizeH="0" baseline="0" noProof="0" dirty="0">
                <a:ln>
                  <a:noFill/>
                </a:ln>
                <a:solidFill>
                  <a:srgbClr val="333333"/>
                </a:solidFill>
                <a:effectLst/>
                <a:uLnTx/>
                <a:uFillTx/>
                <a:latin typeface="Calibri" panose="020F0502020204030204"/>
                <a:ea typeface="+mn-ea"/>
                <a:cs typeface="+mn-cs"/>
              </a:rPr>
              <a:t>ChatGPT Desktop</a:t>
            </a:r>
            <a:r>
              <a:rPr kumimoji="0" lang="en-US" sz="900" b="1" i="0" u="none" strike="noStrike" kern="1200" cap="none" spc="0" normalizeH="0" baseline="0" noProof="0" dirty="0">
                <a:ln>
                  <a:noFill/>
                </a:ln>
                <a:solidFill>
                  <a:srgbClr val="2E75B6"/>
                </a:solidFill>
                <a:effectLst/>
                <a:uLnTx/>
                <a:uFillTx/>
                <a:latin typeface="Calibri" panose="020F0502020204030204"/>
                <a:ea typeface="+mn-ea"/>
                <a:cs typeface="+mn-cs"/>
              </a:rPr>
              <a:t>  AVAILABLE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anose="020F0502020204030204"/>
                <a:ea typeface="+mn-ea"/>
                <a:cs typeface="+mn-cs"/>
              </a:rPr>
              <a:t>3. </a:t>
            </a:r>
            <a:r>
              <a:rPr kumimoji="0" lang="en-US" sz="1100" b="1" i="0" u="none" strike="noStrike" kern="1200" cap="none" spc="0" normalizeH="0" baseline="0" noProof="0" dirty="0">
                <a:ln>
                  <a:noFill/>
                </a:ln>
                <a:solidFill>
                  <a:srgbClr val="333333"/>
                </a:solidFill>
                <a:effectLst/>
                <a:uLnTx/>
                <a:uFillTx/>
                <a:latin typeface="Calibri" panose="020F0502020204030204"/>
                <a:ea typeface="+mn-ea"/>
                <a:cs typeface="+mn-cs"/>
              </a:rPr>
              <a:t>Google Gemini</a:t>
            </a:r>
            <a:r>
              <a:rPr kumimoji="0" lang="en-US" sz="900" b="1" i="0" u="none" strike="noStrike" kern="1200" cap="none" spc="0" normalizeH="0" baseline="0" noProof="0" dirty="0">
                <a:ln>
                  <a:noFill/>
                </a:ln>
                <a:solidFill>
                  <a:srgbClr val="808080"/>
                </a:solidFill>
                <a:effectLst/>
                <a:uLnTx/>
                <a:uFillTx/>
                <a:latin typeface="Calibri" panose="020F0502020204030204"/>
                <a:ea typeface="+mn-ea"/>
                <a:cs typeface="+mn-cs"/>
              </a:rPr>
              <a:t>  MONITOR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3"/>
          <p:cNvSpPr/>
          <p:nvPr/>
        </p:nvSpPr>
        <p:spPr>
          <a:xfrm>
            <a:off x="4334256" y="3108960"/>
            <a:ext cx="3520440" cy="320040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4"/>
          <p:cNvSpPr/>
          <p:nvPr/>
        </p:nvSpPr>
        <p:spPr>
          <a:xfrm>
            <a:off x="4334256" y="3108960"/>
            <a:ext cx="3520440" cy="54864"/>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5"/>
          <p:cNvSpPr/>
          <p:nvPr/>
        </p:nvSpPr>
        <p:spPr>
          <a:xfrm>
            <a:off x="4471416" y="3291840"/>
            <a:ext cx="365760" cy="32004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p:nvPr/>
        </p:nvSpPr>
        <p:spPr>
          <a:xfrm>
            <a:off x="4471416" y="3291840"/>
            <a:ext cx="36576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4974336" y="329184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Coding Tools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4471416" y="3703320"/>
            <a:ext cx="324612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IDE-Integrated Agents, CLI Agents, Autocomplete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9"/>
          <p:cNvSpPr/>
          <p:nvPr/>
        </p:nvSpPr>
        <p:spPr>
          <a:xfrm>
            <a:off x="4471416" y="4069080"/>
            <a:ext cx="3246120" cy="21031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anose="020F0502020204030204"/>
                <a:ea typeface="+mn-ea"/>
                <a:cs typeface="+mn-cs"/>
              </a:rPr>
              <a:t>1. </a:t>
            </a:r>
            <a:r>
              <a:rPr kumimoji="0" lang="en-US" sz="1100" b="1" i="0" u="none" strike="noStrike" kern="1200" cap="none" spc="0" normalizeH="0" baseline="0" noProof="0" dirty="0">
                <a:ln>
                  <a:noFill/>
                </a:ln>
                <a:solidFill>
                  <a:srgbClr val="333333"/>
                </a:solidFill>
                <a:effectLst/>
                <a:uLnTx/>
                <a:uFillTx/>
                <a:latin typeface="Calibri" panose="020F0502020204030204"/>
                <a:ea typeface="+mn-ea"/>
                <a:cs typeface="+mn-cs"/>
              </a:rPr>
              <a:t>Claude Code CLI</a:t>
            </a:r>
            <a:r>
              <a:rPr kumimoji="0" lang="en-US" sz="900" b="1" i="0" u="none" strike="noStrike" kern="1200" cap="none" spc="0" normalizeH="0" baseline="0" noProof="0" dirty="0">
                <a:ln>
                  <a:noFill/>
                </a:ln>
                <a:solidFill>
                  <a:srgbClr val="548235"/>
                </a:solidFill>
                <a:effectLst/>
                <a:uLnTx/>
                <a:uFillTx/>
                <a:latin typeface="Calibri" panose="020F0502020204030204"/>
                <a:ea typeface="+mn-ea"/>
                <a:cs typeface="+mn-cs"/>
              </a:rPr>
              <a:t>  HIGHEST PRIORITY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anose="020F0502020204030204"/>
                <a:ea typeface="+mn-ea"/>
                <a:cs typeface="+mn-cs"/>
              </a:rPr>
              <a:t>2. </a:t>
            </a:r>
            <a:r>
              <a:rPr kumimoji="0" lang="en-US" sz="1100" b="1" i="0" u="none" strike="noStrike" kern="1200" cap="none" spc="0" normalizeH="0" baseline="0" noProof="0" dirty="0">
                <a:ln>
                  <a:noFill/>
                </a:ln>
                <a:solidFill>
                  <a:srgbClr val="333333"/>
                </a:solidFill>
                <a:effectLst/>
                <a:uLnTx/>
                <a:uFillTx/>
                <a:latin typeface="Calibri" panose="020F0502020204030204"/>
                <a:ea typeface="+mn-ea"/>
                <a:cs typeface="+mn-cs"/>
              </a:rPr>
              <a:t>OpenAI Codex CLI</a:t>
            </a:r>
            <a:r>
              <a:rPr kumimoji="0" lang="en-US" sz="900" b="1" i="0" u="none" strike="noStrike" kern="1200" cap="none" spc="0" normalizeH="0" baseline="0" noProof="0" dirty="0">
                <a:ln>
                  <a:noFill/>
                </a:ln>
                <a:solidFill>
                  <a:srgbClr val="BF8F00"/>
                </a:solidFill>
                <a:effectLst/>
                <a:uLnTx/>
                <a:uFillTx/>
                <a:latin typeface="Calibri" panose="020F0502020204030204"/>
                <a:ea typeface="+mn-ea"/>
                <a:cs typeface="+mn-cs"/>
              </a:rPr>
              <a:t>  EVALUATE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anose="020F0502020204030204"/>
                <a:ea typeface="+mn-ea"/>
                <a:cs typeface="+mn-cs"/>
              </a:rPr>
              <a:t>3. </a:t>
            </a:r>
            <a:r>
              <a:rPr kumimoji="0" lang="en-US" sz="1100" b="1" i="0" u="none" strike="noStrike" kern="1200" cap="none" spc="0" normalizeH="0" baseline="0" noProof="0" dirty="0">
                <a:ln>
                  <a:noFill/>
                </a:ln>
                <a:solidFill>
                  <a:srgbClr val="333333"/>
                </a:solidFill>
                <a:effectLst/>
                <a:uLnTx/>
                <a:uFillTx/>
                <a:latin typeface="Calibri" panose="020F0502020204030204"/>
                <a:ea typeface="+mn-ea"/>
                <a:cs typeface="+mn-cs"/>
              </a:rPr>
              <a:t>Cursor IDE</a:t>
            </a:r>
            <a:r>
              <a:rPr kumimoji="0" lang="en-US" sz="900" b="1" i="0" u="none" strike="noStrike" kern="1200" cap="none" spc="0" normalizeH="0" baseline="0" noProof="0" dirty="0">
                <a:ln>
                  <a:noFill/>
                </a:ln>
                <a:solidFill>
                  <a:srgbClr val="ED7D31"/>
                </a:solidFill>
                <a:effectLst/>
                <a:uLnTx/>
                <a:uFillTx/>
                <a:latin typeface="Calibri" panose="020F0502020204030204"/>
                <a:ea typeface="+mn-ea"/>
                <a:cs typeface="+mn-cs"/>
              </a:rPr>
              <a:t>  OPTIONAL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anose="020F0502020204030204"/>
                <a:ea typeface="+mn-ea"/>
                <a:cs typeface="+mn-cs"/>
              </a:rPr>
              <a:t>4. </a:t>
            </a:r>
            <a:r>
              <a:rPr kumimoji="0" lang="en-US" sz="1100" b="1" i="0" u="none" strike="noStrike" kern="1200" cap="none" spc="0" normalizeH="0" baseline="0" noProof="0" dirty="0">
                <a:ln>
                  <a:noFill/>
                </a:ln>
                <a:solidFill>
                  <a:srgbClr val="333333"/>
                </a:solidFill>
                <a:effectLst/>
                <a:uLnTx/>
                <a:uFillTx/>
                <a:latin typeface="Calibri" panose="020F0502020204030204"/>
                <a:ea typeface="+mn-ea"/>
                <a:cs typeface="+mn-cs"/>
              </a:rPr>
              <a:t>GitHub Copilot</a:t>
            </a:r>
            <a:r>
              <a:rPr kumimoji="0" lang="en-US" sz="900" b="1" i="0" u="none" strike="noStrike" kern="1200" cap="none" spc="0" normalizeH="0" baseline="0" noProof="0" dirty="0">
                <a:ln>
                  <a:noFill/>
                </a:ln>
                <a:solidFill>
                  <a:srgbClr val="548235"/>
                </a:solidFill>
                <a:effectLst/>
                <a:uLnTx/>
                <a:uFillTx/>
                <a:latin typeface="Calibri" panose="020F0502020204030204"/>
                <a:ea typeface="+mn-ea"/>
                <a:cs typeface="+mn-cs"/>
              </a:rPr>
              <a:t>  RECOMMENDED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anose="020F0502020204030204"/>
                <a:ea typeface="+mn-ea"/>
                <a:cs typeface="+mn-cs"/>
              </a:rPr>
              <a:t>5. </a:t>
            </a:r>
            <a:r>
              <a:rPr kumimoji="0" lang="en-US" sz="1100" b="1" i="0" u="none" strike="noStrike" kern="1200" cap="none" spc="0" normalizeH="0" baseline="0" noProof="0" dirty="0">
                <a:ln>
                  <a:noFill/>
                </a:ln>
                <a:solidFill>
                  <a:srgbClr val="333333"/>
                </a:solidFill>
                <a:effectLst/>
                <a:uLnTx/>
                <a:uFillTx/>
                <a:latin typeface="Calibri" panose="020F0502020204030204"/>
                <a:ea typeface="+mn-ea"/>
                <a:cs typeface="+mn-cs"/>
              </a:rPr>
              <a:t>Google Gemini Code Assist</a:t>
            </a:r>
            <a:r>
              <a:rPr kumimoji="0" lang="en-US" sz="900" b="1" i="0" u="none" strike="noStrike" kern="1200" cap="none" spc="0" normalizeH="0" baseline="0" noProof="0" dirty="0">
                <a:ln>
                  <a:noFill/>
                </a:ln>
                <a:solidFill>
                  <a:srgbClr val="BF8F00"/>
                </a:solidFill>
                <a:effectLst/>
                <a:uLnTx/>
                <a:uFillTx/>
                <a:latin typeface="Calibri" panose="020F0502020204030204"/>
                <a:ea typeface="+mn-ea"/>
                <a:cs typeface="+mn-cs"/>
              </a:rPr>
              <a:t>  EVALUATE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8211312" y="3108960"/>
            <a:ext cx="3520440" cy="320040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1"/>
          <p:cNvSpPr/>
          <p:nvPr/>
        </p:nvSpPr>
        <p:spPr>
          <a:xfrm>
            <a:off x="8211312" y="3108960"/>
            <a:ext cx="3520440" cy="54864"/>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2"/>
          <p:cNvSpPr/>
          <p:nvPr/>
        </p:nvSpPr>
        <p:spPr>
          <a:xfrm>
            <a:off x="8348472" y="3291840"/>
            <a:ext cx="365760" cy="32004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p:nvPr/>
        </p:nvSpPr>
        <p:spPr>
          <a:xfrm>
            <a:off x="8348472" y="3291840"/>
            <a:ext cx="36576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03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p:nvPr/>
        </p:nvSpPr>
        <p:spPr>
          <a:xfrm>
            <a:off x="8851392" y="329184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Direct API Access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5"/>
          <p:cNvSpPr/>
          <p:nvPr/>
        </p:nvSpPr>
        <p:spPr>
          <a:xfrm>
            <a:off x="8348472" y="3703320"/>
            <a:ext cx="324612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Pipeline Integration, Automated Workflows, Custom Tooling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8348472" y="4069080"/>
            <a:ext cx="3246120" cy="21031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anose="020F0502020204030204"/>
                <a:ea typeface="+mn-ea"/>
                <a:cs typeface="+mn-cs"/>
              </a:rPr>
              <a:t>1. </a:t>
            </a:r>
            <a:r>
              <a:rPr kumimoji="0" lang="en-US" sz="1100" b="1" i="0" u="none" strike="noStrike" kern="1200" cap="none" spc="0" normalizeH="0" baseline="0" noProof="0" dirty="0">
                <a:ln>
                  <a:noFill/>
                </a:ln>
                <a:solidFill>
                  <a:srgbClr val="333333"/>
                </a:solidFill>
                <a:effectLst/>
                <a:uLnTx/>
                <a:uFillTx/>
                <a:latin typeface="Calibri" panose="020F0502020204030204"/>
                <a:ea typeface="+mn-ea"/>
                <a:cs typeface="+mn-cs"/>
              </a:rPr>
              <a:t>Anthropic Claude API</a:t>
            </a:r>
            <a:r>
              <a:rPr kumimoji="0" lang="en-US" sz="900" b="1" i="0" u="none" strike="noStrike" kern="1200" cap="none" spc="0" normalizeH="0" baseline="0" noProof="0" dirty="0">
                <a:ln>
                  <a:noFill/>
                </a:ln>
                <a:solidFill>
                  <a:srgbClr val="548235"/>
                </a:solidFill>
                <a:effectLst/>
                <a:uLnTx/>
                <a:uFillTx/>
                <a:latin typeface="Calibri" panose="020F0502020204030204"/>
                <a:ea typeface="+mn-ea"/>
                <a:cs typeface="+mn-cs"/>
              </a:rPr>
              <a:t>  REQUIRED for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anose="020F0502020204030204"/>
                <a:ea typeface="+mn-ea"/>
                <a:cs typeface="+mn-cs"/>
              </a:rPr>
              <a:t>2. </a:t>
            </a:r>
            <a:r>
              <a:rPr kumimoji="0" lang="en-US" sz="1100" b="1" i="0" u="none" strike="noStrike" kern="1200" cap="none" spc="0" normalizeH="0" baseline="0" noProof="0" dirty="0">
                <a:ln>
                  <a:noFill/>
                </a:ln>
                <a:solidFill>
                  <a:srgbClr val="333333"/>
                </a:solidFill>
                <a:effectLst/>
                <a:uLnTx/>
                <a:uFillTx/>
                <a:latin typeface="Calibri" panose="020F0502020204030204"/>
                <a:ea typeface="+mn-ea"/>
                <a:cs typeface="+mn-cs"/>
              </a:rPr>
              <a:t>OpenAI API</a:t>
            </a:r>
            <a:r>
              <a:rPr kumimoji="0" lang="en-US" sz="900" b="1" i="0" u="none" strike="noStrike" kern="1200" cap="none" spc="0" normalizeH="0" baseline="0" noProof="0" dirty="0">
                <a:ln>
                  <a:noFill/>
                </a:ln>
                <a:solidFill>
                  <a:srgbClr val="BF8F00"/>
                </a:solidFill>
                <a:effectLst/>
                <a:uLnTx/>
                <a:uFillTx/>
                <a:latin typeface="Calibri" panose="020F0502020204030204"/>
                <a:ea typeface="+mn-ea"/>
                <a:cs typeface="+mn-cs"/>
              </a:rPr>
              <a:t>  EVALUATE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anose="020F0502020204030204"/>
                <a:ea typeface="+mn-ea"/>
                <a:cs typeface="+mn-cs"/>
              </a:rPr>
              <a:t>3. </a:t>
            </a:r>
            <a:r>
              <a:rPr kumimoji="0" lang="en-US" sz="1100" b="1" i="0" u="none" strike="noStrike" kern="1200" cap="none" spc="0" normalizeH="0" baseline="0" noProof="0" dirty="0">
                <a:ln>
                  <a:noFill/>
                </a:ln>
                <a:solidFill>
                  <a:srgbClr val="333333"/>
                </a:solidFill>
                <a:effectLst/>
                <a:uLnTx/>
                <a:uFillTx/>
                <a:latin typeface="Calibri" panose="020F0502020204030204"/>
                <a:ea typeface="+mn-ea"/>
                <a:cs typeface="+mn-cs"/>
              </a:rPr>
              <a:t>Azure OpenAI Service</a:t>
            </a:r>
            <a:r>
              <a:rPr kumimoji="0" lang="en-US" sz="900" b="1" i="0" u="none" strike="noStrike" kern="1200" cap="none" spc="0" normalizeH="0" baseline="0" noProof="0" dirty="0">
                <a:ln>
                  <a:noFill/>
                </a:ln>
                <a:solidFill>
                  <a:srgbClr val="BF8F00"/>
                </a:solidFill>
                <a:effectLst/>
                <a:uLnTx/>
                <a:uFillTx/>
                <a:latin typeface="Calibri" panose="020F0502020204030204"/>
                <a:ea typeface="+mn-ea"/>
                <a:cs typeface="+mn-cs"/>
              </a:rPr>
              <a:t>  EVALUATE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anose="020F0502020204030204"/>
                <a:ea typeface="+mn-ea"/>
                <a:cs typeface="+mn-cs"/>
              </a:rPr>
              <a:t>4. </a:t>
            </a:r>
            <a:r>
              <a:rPr kumimoji="0" lang="en-US" sz="1100" b="1" i="0" u="none" strike="noStrike" kern="1200" cap="none" spc="0" normalizeH="0" baseline="0" noProof="0" dirty="0">
                <a:ln>
                  <a:noFill/>
                </a:ln>
                <a:solidFill>
                  <a:srgbClr val="333333"/>
                </a:solidFill>
                <a:effectLst/>
                <a:uLnTx/>
                <a:uFillTx/>
                <a:latin typeface="Calibri" panose="020F0502020204030204"/>
                <a:ea typeface="+mn-ea"/>
                <a:cs typeface="+mn-cs"/>
              </a:rPr>
              <a:t>Google Vertex AI</a:t>
            </a:r>
            <a:r>
              <a:rPr kumimoji="0" lang="en-US" sz="900" b="1" i="0" u="none" strike="noStrike" kern="1200" cap="none" spc="0" normalizeH="0" baseline="0" noProof="0" dirty="0">
                <a:ln>
                  <a:noFill/>
                </a:ln>
                <a:solidFill>
                  <a:srgbClr val="808080"/>
                </a:solidFill>
                <a:effectLst/>
                <a:uLnTx/>
                <a:uFillTx/>
                <a:latin typeface="Calibri" panose="020F0502020204030204"/>
                <a:ea typeface="+mn-ea"/>
                <a:cs typeface="+mn-cs"/>
              </a:rPr>
              <a:t>  MONITOR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0"/>
            <a:ext cx="100584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Tooling Landscape — Desktop Chat Clients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6400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247120" y="6400800"/>
            <a:ext cx="4572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A-2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10883854" y="6400800"/>
            <a:ext cx="1076498" cy="320040"/>
          </a:xfrm>
          <a:prstGeom prst="rect">
            <a:avLst/>
          </a:prstGeom>
        </p:spPr>
      </p:pic>
      <p:sp>
        <p:nvSpPr>
          <p:cNvPr id="7" name="Text 4"/>
          <p:cNvSpPr/>
          <p:nvPr/>
        </p:nvSpPr>
        <p:spPr>
          <a:xfrm>
            <a:off x="457200" y="77724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4E79"/>
                </a:solidFill>
                <a:effectLst/>
                <a:uLnTx/>
                <a:uFillTx/>
                <a:latin typeface="Calibri" panose="020F0502020204030204"/>
                <a:ea typeface="+mn-ea"/>
                <a:cs typeface="+mn-cs"/>
              </a:rPr>
              <a:t>Claude Desktop</a:t>
            </a:r>
            <a:r>
              <a:rPr kumimoji="0" lang="en-US" sz="1300" b="0" i="0" u="none" strike="noStrike" kern="1200" cap="none" spc="0" normalizeH="0" baseline="0" noProof="0" dirty="0">
                <a:ln>
                  <a:noFill/>
                </a:ln>
                <a:solidFill>
                  <a:srgbClr val="555555"/>
                </a:solidFill>
                <a:effectLst/>
                <a:uLnTx/>
                <a:uFillTx/>
                <a:latin typeface="Calibri" panose="020F0502020204030204"/>
                <a:ea typeface="+mn-ea"/>
                <a:cs typeface="+mn-cs"/>
              </a:rPr>
              <a:t>  (claude.ai)</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8412480" y="804672"/>
            <a:ext cx="411480" cy="3657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8412480" y="804672"/>
            <a:ext cx="411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8961120" y="804672"/>
            <a:ext cx="2743200" cy="36576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8961120" y="804672"/>
            <a:ext cx="274320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RECOMMENDED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457200" y="123444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Desktop Chat Client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5029200" y="1234440"/>
            <a:ext cx="66751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48235"/>
                </a:solidFill>
                <a:effectLst/>
                <a:uLnTx/>
                <a:uFillTx/>
                <a:latin typeface="Calibri" pitchFamily="34" charset="0"/>
                <a:ea typeface="Calibri" pitchFamily="34" charset="-122"/>
                <a:cs typeface="Calibri" pitchFamily="34" charset="-120"/>
              </a:rPr>
              <a:t>Primary planning tool. Already partially approved. Pro plan for planning, Max for combined planning + coding.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5720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45720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54864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Subscription Tiers &amp; Pricing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4864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Free: Sonnet 4.6 (limited)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Pro: $20/mo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Max 5×: $100/mo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Max 20×: $200/mo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Team: $25–$125/seat/mo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Enterprise: ~$60/seat (negotiated)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45720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45720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4864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Models Available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54864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Opus 4.6 (Feb 2026)</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Sonnet 4.6 (Feb 2026)</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Opus 4.5 (Nov 2025)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Sonnet 4.5 (Sep 2025)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Haiku 4.5 (Oct 2025)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621792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621792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630936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SDLC Workflow Fit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630936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PRIMARY for planning stage: Deep Research → PRD generation → handoff to Claude Code. Extended thinking for architecture decisions. Memory across conversations. File creation (Word, PPT, Excel). MCP integrations for Slack, M365, etc.</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21792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621792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630936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Cost-Efficiency Notes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630936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Pro ($20) is sufficient for planning/research. Max plans share usage between claude.ai + Claude Code CLI — single subscription covers both planning and coding. Best value when used as the hub for both phases.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457200" y="6309360"/>
            <a:ext cx="11274552" cy="320040"/>
          </a:xfrm>
          <a:prstGeom prst="rect">
            <a:avLst/>
          </a:prstGeom>
          <a:solidFill>
            <a:srgbClr val="D6E4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p:nvPr/>
        </p:nvSpPr>
        <p:spPr>
          <a:xfrm>
            <a:off x="548640" y="6309360"/>
            <a:ext cx="1109167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4E79"/>
                </a:solidFill>
                <a:effectLst/>
                <a:uLnTx/>
                <a:uFillTx/>
                <a:latin typeface="Calibri" panose="020F0502020204030204"/>
                <a:ea typeface="+mn-ea"/>
                <a:cs typeface="+mn-cs"/>
              </a:rPr>
              <a:t>Procurement Status:  </a:t>
            </a: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claude.ai accessible; API enterprise approval TBD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0"/>
            <a:ext cx="100584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Tooling Landscape — Desktop Chat Clients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6400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247120" y="6400800"/>
            <a:ext cx="4572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A-3</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10883854" y="6400800"/>
            <a:ext cx="1076498" cy="320040"/>
          </a:xfrm>
          <a:prstGeom prst="rect">
            <a:avLst/>
          </a:prstGeom>
        </p:spPr>
      </p:pic>
      <p:sp>
        <p:nvSpPr>
          <p:cNvPr id="7" name="Text 4"/>
          <p:cNvSpPr/>
          <p:nvPr/>
        </p:nvSpPr>
        <p:spPr>
          <a:xfrm>
            <a:off x="457200" y="77724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4E79"/>
                </a:solidFill>
                <a:effectLst/>
                <a:uLnTx/>
                <a:uFillTx/>
                <a:latin typeface="Calibri" panose="020F0502020204030204"/>
                <a:ea typeface="+mn-ea"/>
                <a:cs typeface="+mn-cs"/>
              </a:rPr>
              <a:t>ChatGPT Desktop</a:t>
            </a:r>
            <a:r>
              <a:rPr kumimoji="0" lang="en-US" sz="1300" b="0" i="0" u="none" strike="noStrike" kern="1200" cap="none" spc="0" normalizeH="0" baseline="0" noProof="0" dirty="0">
                <a:ln>
                  <a:noFill/>
                </a:ln>
                <a:solidFill>
                  <a:srgbClr val="555555"/>
                </a:solidFill>
                <a:effectLst/>
                <a:uLnTx/>
                <a:uFillTx/>
                <a:latin typeface="Calibri" panose="020F0502020204030204"/>
                <a:ea typeface="+mn-ea"/>
                <a:cs typeface="+mn-cs"/>
              </a:rPr>
              <a:t>  (chatgpt.com)</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8412480" y="804672"/>
            <a:ext cx="411480" cy="3657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8412480" y="804672"/>
            <a:ext cx="411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8961120" y="804672"/>
            <a:ext cx="2743200" cy="3657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8961120" y="804672"/>
            <a:ext cx="274320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AVAILABLE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457200" y="123444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Desktop Chat Client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5029200" y="1234440"/>
            <a:ext cx="66751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2E75B6"/>
                </a:solidFill>
                <a:effectLst/>
                <a:uLnTx/>
                <a:uFillTx/>
                <a:latin typeface="Calibri" pitchFamily="34" charset="0"/>
                <a:ea typeface="Calibri" pitchFamily="34" charset="-122"/>
                <a:cs typeface="Calibri" pitchFamily="34" charset="-120"/>
              </a:rPr>
              <a:t>Secondary option. Consider if team needs model diversity or GPT-specific features.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5720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45720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54864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Subscription Tiers &amp; Pricing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4864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Free: GPT-5.2 Instant (10 msgs/5hr)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Go: $8/mo (unlimited Instant)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Plus: $20/mo (3,000 msgs/wk)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Pro: $200/mo (unlimited + GPT-5.2 Pro)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Business: $25–30/seat/mo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Enterprise: custom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45720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45720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4864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Models Available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54864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GPT-5.2 family only (Feb 2026 consolidation retired GPT-4o, o1, o4-mini)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Pro-exclusive: GPT-5.2 Pro, GPT-5.3-Codex-Spark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621792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621792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630936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SDLC Workflow Fit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630936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Alternative for planning/research. Canvas for document editing. Codex web interface for cloud-based coding. Deep Research. NOTE: OpenAI began testing ads on Free/Go tiers in Feb 2026.</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21792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621792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630936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Cost-Efficiency Notes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630936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Plus ($20) is comparable to Claude Pro. Pro ($200) gives unlimited access + exclusive models. Business tier comparable to Claude Team.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457200" y="6309360"/>
            <a:ext cx="11274552" cy="320040"/>
          </a:xfrm>
          <a:prstGeom prst="rect">
            <a:avLst/>
          </a:prstGeom>
          <a:solidFill>
            <a:srgbClr val="D6E4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p:nvPr/>
        </p:nvSpPr>
        <p:spPr>
          <a:xfrm>
            <a:off x="548640" y="6309360"/>
            <a:ext cx="1109167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4E79"/>
                </a:solidFill>
                <a:effectLst/>
                <a:uLnTx/>
                <a:uFillTx/>
                <a:latin typeface="Calibri" panose="020F0502020204030204"/>
                <a:ea typeface="+mn-ea"/>
                <a:cs typeface="+mn-cs"/>
              </a:rPr>
              <a:t>Procurement Status:  </a:t>
            </a: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Not specifically evaluated for SFS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0"/>
            <a:ext cx="100584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Tooling Landscape — Desktop Chat Clients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6400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247120" y="6400800"/>
            <a:ext cx="4572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A-4</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10883854" y="6400800"/>
            <a:ext cx="1076498" cy="320040"/>
          </a:xfrm>
          <a:prstGeom prst="rect">
            <a:avLst/>
          </a:prstGeom>
        </p:spPr>
      </p:pic>
      <p:sp>
        <p:nvSpPr>
          <p:cNvPr id="7" name="Text 4"/>
          <p:cNvSpPr/>
          <p:nvPr/>
        </p:nvSpPr>
        <p:spPr>
          <a:xfrm>
            <a:off x="457200" y="77724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4E79"/>
                </a:solidFill>
                <a:effectLst/>
                <a:uLnTx/>
                <a:uFillTx/>
                <a:latin typeface="Calibri" panose="020F0502020204030204"/>
                <a:ea typeface="+mn-ea"/>
                <a:cs typeface="+mn-cs"/>
              </a:rPr>
              <a:t>Google Gemini</a:t>
            </a:r>
            <a:r>
              <a:rPr kumimoji="0" lang="en-US" sz="1300" b="0" i="0" u="none" strike="noStrike" kern="1200" cap="none" spc="0" normalizeH="0" baseline="0" noProof="0" dirty="0">
                <a:ln>
                  <a:noFill/>
                </a:ln>
                <a:solidFill>
                  <a:srgbClr val="555555"/>
                </a:solidFill>
                <a:effectLst/>
                <a:uLnTx/>
                <a:uFillTx/>
                <a:latin typeface="Calibri" panose="020F0502020204030204"/>
                <a:ea typeface="+mn-ea"/>
                <a:cs typeface="+mn-cs"/>
              </a:rPr>
              <a:t>  (gemini.google.com)</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8412480" y="804672"/>
            <a:ext cx="411480" cy="3657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8412480" y="804672"/>
            <a:ext cx="411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8961120" y="804672"/>
            <a:ext cx="2743200" cy="365760"/>
          </a:xfrm>
          <a:prstGeom prst="rect">
            <a:avLst/>
          </a:prstGeom>
          <a:solidFill>
            <a:srgbClr val="80808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8961120" y="804672"/>
            <a:ext cx="274320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MONITOR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457200" y="123444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Desktop Chat Client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5029200" y="1234440"/>
            <a:ext cx="66751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Useful for large-document analysis. Not recommended as primary planning tool.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5720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45720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54864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Subscription Tiers &amp; Pricing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4864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AI Plus: $5/mo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AI Pro: $19.99/mo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AI Ultra: $249.99/mo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Enterprise: $30/user/mo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45720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45720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4864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Models Available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54864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Gemini 3.1 Pro Preview</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Gemini 3 Pro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Gemini 3 Flash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Gemini 2.5 Pro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Gemini 2.5 Flash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621792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621792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630936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SDLC Workflow Fit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630936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Strong for very large document analysis (1M+ token context). Deep Research. Google Workspace integration. Less established for PRD/planning workflows than Claude or ChatGPT.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21792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621792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630936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Cost-Efficiency Notes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630936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AI Pro ($20) offers 1M context at competitive price. Flash models are extremely cost-efficient for high-volume tasks.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457200" y="6309360"/>
            <a:ext cx="11274552" cy="320040"/>
          </a:xfrm>
          <a:prstGeom prst="rect">
            <a:avLst/>
          </a:prstGeom>
          <a:solidFill>
            <a:srgbClr val="D6E4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p:nvPr/>
        </p:nvSpPr>
        <p:spPr>
          <a:xfrm>
            <a:off x="548640" y="6309360"/>
            <a:ext cx="1109167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4E79"/>
                </a:solidFill>
                <a:effectLst/>
                <a:uLnTx/>
                <a:uFillTx/>
                <a:latin typeface="Calibri" panose="020F0502020204030204"/>
                <a:ea typeface="+mn-ea"/>
                <a:cs typeface="+mn-cs"/>
              </a:rPr>
              <a:t>Procurement Status:  </a:t>
            </a: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Not evaluated for SFS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0"/>
            <a:ext cx="100584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Tooling Landscape — Coding Tools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6400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247120" y="6400800"/>
            <a:ext cx="4572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A-5</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10883854" y="6400800"/>
            <a:ext cx="1076498" cy="320040"/>
          </a:xfrm>
          <a:prstGeom prst="rect">
            <a:avLst/>
          </a:prstGeom>
        </p:spPr>
      </p:pic>
      <p:sp>
        <p:nvSpPr>
          <p:cNvPr id="7" name="Text 4"/>
          <p:cNvSpPr/>
          <p:nvPr/>
        </p:nvSpPr>
        <p:spPr>
          <a:xfrm>
            <a:off x="457200" y="77724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4E79"/>
                </a:solidFill>
                <a:effectLst/>
                <a:uLnTx/>
                <a:uFillTx/>
                <a:latin typeface="Calibri" panose="020F0502020204030204"/>
                <a:ea typeface="+mn-ea"/>
                <a:cs typeface="+mn-cs"/>
              </a:rPr>
              <a:t>Claude Code CLI</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8412480" y="804672"/>
            <a:ext cx="411480" cy="3657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8412480" y="804672"/>
            <a:ext cx="411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8961120" y="804672"/>
            <a:ext cx="2743200" cy="36576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8961120" y="804672"/>
            <a:ext cx="274320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HIGHEST PRIORITY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457200" y="123444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Coding Tool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5029200" y="1234440"/>
            <a:ext cx="66751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48235"/>
                </a:solidFill>
                <a:effectLst/>
                <a:uLnTx/>
                <a:uFillTx/>
                <a:latin typeface="Calibri" pitchFamily="34" charset="0"/>
                <a:ea typeface="Calibri" pitchFamily="34" charset="-122"/>
                <a:cs typeface="Calibri" pitchFamily="34" charset="-120"/>
              </a:rPr>
              <a:t>Best cost-efficiency for frontier model access. Recommend Max 5× ($100/mo) per developer.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5720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45720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54864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Subscription Tiers &amp; Pricing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4864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Via Max subscription: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Max 5×: $100/mo (~225 msgs/5hr)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Max 20×: $200/mo (~900 msgs/5hr)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Via API key: standard per-token rates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Opus: $5/$25 per MTok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Sonnet: $3/$15 per MTok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45720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45720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4864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Models Available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54864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Opus 4.6 (default for complex tasks)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Sonnet 4.6 (switchable mid-session)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Haiku 4.5 (fast operations)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621792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621792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630936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SDLC Workflow Fit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630936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PRIMARY agentic coding tool. Handles multi-file Apex/LWC refactors, full test suite generation, complex migration tasks. Terminal-native, integrates with VS Code. Sub-agent spawning for parallel work.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21792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621792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630936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Cost-Efficiency Notes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630936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CRITICAL ADVANTAGE: Max plan shares budget with claude.ai — one $100-200 subscription covers BOTH planning and coding.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Real-world case: 10B tokens over 8 months cost $800 on Max vs. ~$15,000 equivalent API cost (93% savings).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Uses 5.5× fewer tokens than Cursor for identical tasks.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Rolling 5-hour resets vs. Cursor's monthly pool.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457200" y="6309360"/>
            <a:ext cx="11274552" cy="320040"/>
          </a:xfrm>
          <a:prstGeom prst="rect">
            <a:avLst/>
          </a:prstGeom>
          <a:solidFill>
            <a:srgbClr val="D6E4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p:nvPr/>
        </p:nvSpPr>
        <p:spPr>
          <a:xfrm>
            <a:off x="548640" y="6309360"/>
            <a:ext cx="1109167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4E79"/>
                </a:solidFill>
                <a:effectLst/>
                <a:uLnTx/>
                <a:uFillTx/>
                <a:latin typeface="Calibri" panose="020F0502020204030204"/>
                <a:ea typeface="+mn-ea"/>
                <a:cs typeface="+mn-cs"/>
              </a:rPr>
              <a:t>Procurement Status:  </a:t>
            </a: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Recommended for approval — NOT currently approved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0"/>
            <a:ext cx="100584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Tooling Landscape — Coding Tools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6400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247120" y="6400800"/>
            <a:ext cx="4572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A-6</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10883854" y="6400800"/>
            <a:ext cx="1076498" cy="320040"/>
          </a:xfrm>
          <a:prstGeom prst="rect">
            <a:avLst/>
          </a:prstGeom>
        </p:spPr>
      </p:pic>
      <p:sp>
        <p:nvSpPr>
          <p:cNvPr id="7" name="Text 4"/>
          <p:cNvSpPr/>
          <p:nvPr/>
        </p:nvSpPr>
        <p:spPr>
          <a:xfrm>
            <a:off x="457200" y="77724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4E79"/>
                </a:solidFill>
                <a:effectLst/>
                <a:uLnTx/>
                <a:uFillTx/>
                <a:latin typeface="Calibri" panose="020F0502020204030204"/>
                <a:ea typeface="+mn-ea"/>
                <a:cs typeface="+mn-cs"/>
              </a:rPr>
              <a:t>OpenAI Codex CLI</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8412480" y="804672"/>
            <a:ext cx="411480" cy="3657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8412480" y="804672"/>
            <a:ext cx="411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8961120" y="804672"/>
            <a:ext cx="2743200" cy="365760"/>
          </a:xfrm>
          <a:prstGeom prst="rect">
            <a:avLst/>
          </a:prstGeom>
          <a:solidFill>
            <a:srgbClr val="BF8F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8961120" y="804672"/>
            <a:ext cx="274320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EVALUATE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457200" y="123444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Coding Tool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5029200" y="1234440"/>
            <a:ext cx="66751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BF8F00"/>
                </a:solidFill>
                <a:effectLst/>
                <a:uLnTx/>
                <a:uFillTx/>
                <a:latin typeface="Calibri" pitchFamily="34" charset="0"/>
                <a:ea typeface="Calibri" pitchFamily="34" charset="-122"/>
                <a:cs typeface="Calibri" pitchFamily="34" charset="-120"/>
              </a:rPr>
              <a:t>Strong alternative for DevOps/terminal tasks. Consider as complement to Claude Code.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5720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45720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54864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Subscription Tiers &amp; Pricing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4864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Bundled with ChatGPT subscription: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Plus ($20/mo): 30–150 msgs/5hr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Pro ($200/mo): 300–1,500 msgs/5hr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Via API key: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GPT-5.2-Codex: $1.75/$14 per MTok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GPT-5.1-Codex: $1.25/$10 per MTok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GPT-5.1-Codex-Mini: $0.25/$2 per MTok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45720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45720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4864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Models Available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54864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GPT-5.3-Codex (newest)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GPT-5.2-Codex</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GPT-5.1-Codex</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GPT-5.1-Codex-Mini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621792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621792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630936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SDLC Workflow Fit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630936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Strong for terminal/DevOps tasks, code review, and GitHub integration. Sandboxed execution. Open-source (Apache-2.0, Rust). Leads Terminal-Bench 2.0 (77.3%).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21792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621792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630936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Cost-Efficiency Notes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630936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 family is ~50% cheaper per token than Claude Opus. Codex-Mini at $0.25/$2 is exceptional for simple tasks.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Pro ($200) provides generous 300-1,500 msgs/5hr window.</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Best for: terminal automation, CI/CD scripting, code review.</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457200" y="6309360"/>
            <a:ext cx="11274552" cy="320040"/>
          </a:xfrm>
          <a:prstGeom prst="rect">
            <a:avLst/>
          </a:prstGeom>
          <a:solidFill>
            <a:srgbClr val="D6E4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p:nvPr/>
        </p:nvSpPr>
        <p:spPr>
          <a:xfrm>
            <a:off x="548640" y="6309360"/>
            <a:ext cx="1109167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4E79"/>
                </a:solidFill>
                <a:effectLst/>
                <a:uLnTx/>
                <a:uFillTx/>
                <a:latin typeface="Calibri" panose="020F0502020204030204"/>
                <a:ea typeface="+mn-ea"/>
                <a:cs typeface="+mn-cs"/>
              </a:rPr>
              <a:t>Procurement Status:  </a:t>
            </a: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Not evaluated for SFS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0"/>
            <a:ext cx="100584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Tooling Landscape — Coding Tools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6400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247120" y="6400800"/>
            <a:ext cx="4572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A-7</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10883854" y="6400800"/>
            <a:ext cx="1076498" cy="320040"/>
          </a:xfrm>
          <a:prstGeom prst="rect">
            <a:avLst/>
          </a:prstGeom>
        </p:spPr>
      </p:pic>
      <p:sp>
        <p:nvSpPr>
          <p:cNvPr id="7" name="Text 4"/>
          <p:cNvSpPr/>
          <p:nvPr/>
        </p:nvSpPr>
        <p:spPr>
          <a:xfrm>
            <a:off x="457200" y="77724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4E79"/>
                </a:solidFill>
                <a:effectLst/>
                <a:uLnTx/>
                <a:uFillTx/>
                <a:latin typeface="Calibri" panose="020F0502020204030204"/>
                <a:ea typeface="+mn-ea"/>
                <a:cs typeface="+mn-cs"/>
              </a:rPr>
              <a:t>Cursor IDE</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8412480" y="804672"/>
            <a:ext cx="411480" cy="3657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8412480" y="804672"/>
            <a:ext cx="411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8961120" y="804672"/>
            <a:ext cx="2743200" cy="365760"/>
          </a:xfrm>
          <a:prstGeom prst="rect">
            <a:avLst/>
          </a:prstGeom>
          <a:solidFill>
            <a:srgbClr val="ED7D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8961120" y="804672"/>
            <a:ext cx="274320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OPTIONAL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457200" y="123444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Coding Tool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5029200" y="1234440"/>
            <a:ext cx="66751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ED7D31"/>
                </a:solidFill>
                <a:effectLst/>
                <a:uLnTx/>
                <a:uFillTx/>
                <a:latin typeface="Calibri" pitchFamily="34" charset="0"/>
                <a:ea typeface="Calibri" pitchFamily="34" charset="-122"/>
                <a:cs typeface="Calibri" pitchFamily="34" charset="-120"/>
              </a:rPr>
              <a:t>Best as IDE layer ($20 Pro) paired with Claude Code Max for heavy lifting. Not recommended standalone at Ultra tier.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5720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45720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54864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Subscription Tiers &amp; Pricing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4864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Free: limited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Pro: $20/mo ($20 API credit pool)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Pro+: $60/mo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Ultra: $200/mo (~$400 API capacity)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Teams: $40/seat/mo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Enterprise: custom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45720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45720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4864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Models Available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54864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All frontier models: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Claude Sonnet/Opus 4.x</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GPT-5/5.2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Gemini 3 Pro/Flash</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(Opus in MAX mode with 20% surcharge)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621792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621792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630936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SDLC Workflow Fit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630936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VS Code fork with native AI integration. Tab completions, inline edits, Composer for multi-file changes. Good for developers who want visual IDE + AI. NOTE: Integrates with VS Code, NOT Visual Studio.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21792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621792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630936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Cost-Efficiency Notes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630936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COST WARNING: Claude Opus drains credit pool extremely fast with 20% surcharge. Heavy users report exhausting $200 Ultra pool in &lt;10 days.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Optimal hybrid: Cursor Pro ($20) for IDE features + Claude Code Max ($100-200) for heavy work = $120-220/mo total. Multiple forum users confirm this never hits limits.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Credit pool: ~225 Sonnet requests, ~500 GPT-5 requests per $20.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457200" y="6309360"/>
            <a:ext cx="11274552" cy="320040"/>
          </a:xfrm>
          <a:prstGeom prst="rect">
            <a:avLst/>
          </a:prstGeom>
          <a:solidFill>
            <a:srgbClr val="D6E4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p:nvPr/>
        </p:nvSpPr>
        <p:spPr>
          <a:xfrm>
            <a:off x="548640" y="6309360"/>
            <a:ext cx="1109167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4E79"/>
                </a:solidFill>
                <a:effectLst/>
                <a:uLnTx/>
                <a:uFillTx/>
                <a:latin typeface="Calibri" panose="020F0502020204030204"/>
                <a:ea typeface="+mn-ea"/>
                <a:cs typeface="+mn-cs"/>
              </a:rPr>
              <a:t>Procurement Status:  </a:t>
            </a: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Not evaluated for SFS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0"/>
            <a:ext cx="100584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Tooling Landscape — Coding Tools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6400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247120" y="6400800"/>
            <a:ext cx="4572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A-8</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10883854" y="6400800"/>
            <a:ext cx="1076498" cy="320040"/>
          </a:xfrm>
          <a:prstGeom prst="rect">
            <a:avLst/>
          </a:prstGeom>
        </p:spPr>
      </p:pic>
      <p:sp>
        <p:nvSpPr>
          <p:cNvPr id="7" name="Text 4"/>
          <p:cNvSpPr/>
          <p:nvPr/>
        </p:nvSpPr>
        <p:spPr>
          <a:xfrm>
            <a:off x="457200" y="77724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4E79"/>
                </a:solidFill>
                <a:effectLst/>
                <a:uLnTx/>
                <a:uFillTx/>
                <a:latin typeface="Calibri" panose="020F0502020204030204"/>
                <a:ea typeface="+mn-ea"/>
                <a:cs typeface="+mn-cs"/>
              </a:rPr>
              <a:t>GitHub Copilot</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8412480" y="804672"/>
            <a:ext cx="411480" cy="3657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8412480" y="804672"/>
            <a:ext cx="411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8961120" y="804672"/>
            <a:ext cx="2743200" cy="36576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8961120" y="804672"/>
            <a:ext cx="274320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RECOMMENDED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457200" y="123444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Coding Tool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5029200" y="1234440"/>
            <a:ext cx="66751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48235"/>
                </a:solidFill>
                <a:effectLst/>
                <a:uLnTx/>
                <a:uFillTx/>
                <a:latin typeface="Calibri" pitchFamily="34" charset="0"/>
                <a:ea typeface="Calibri" pitchFamily="34" charset="-122"/>
                <a:cs typeface="Calibri" pitchFamily="34" charset="-120"/>
              </a:rPr>
              <a:t>Phase 1 entry point for all teams. Lowest risk, covers Visual Studio gap. Upgrade to Claude Code for complex work in Phase 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5720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45720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54864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Subscription Tiers &amp; Pricing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4864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Free: limited (2K completions/mo)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Pro: $10/mo (unlimited completions + 300 premium requests)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Pro+: $39/mo (all models, 1,500 premium)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Business: $19/seat/mo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Enterprise: $39/seat/mo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45720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45720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4864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Models Available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54864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Base: GPT-4o/Copilot-tuned model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Pro+/Enterprise: Claude Opus 4, o3, Gemini 2.0 Flash</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All tiers: Copilot-specific fine-tuned model for completions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621792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621792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630936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SDLC Workflow Fit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630936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Lowest-friction entry point. Inline completions in VS Code AND Visual Studio. Copilot Workspace for PR-based workflows. GitHub-integrated code review. Supports the FULL Microsoft IDE ecosystem (critical for integration/data teams using Visual Studio).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21792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621792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630936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Cost-Efficiency Notes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630936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Best value for simple autocomplete at $10-19/mo. Not competitive with Claude Code or Codex for complex agentic tasks.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Premium request costs add up: top-tier model queries consume 50 requests at once ($0.04 each extra).</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Key advantage: Works in Visual Studio (Claude Code and Cursor do not).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457200" y="6309360"/>
            <a:ext cx="11274552" cy="320040"/>
          </a:xfrm>
          <a:prstGeom prst="rect">
            <a:avLst/>
          </a:prstGeom>
          <a:solidFill>
            <a:srgbClr val="D6E4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p:nvPr/>
        </p:nvSpPr>
        <p:spPr>
          <a:xfrm>
            <a:off x="548640" y="6309360"/>
            <a:ext cx="1109167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4E79"/>
                </a:solidFill>
                <a:effectLst/>
                <a:uLnTx/>
                <a:uFillTx/>
                <a:latin typeface="Calibri" panose="020F0502020204030204"/>
                <a:ea typeface="+mn-ea"/>
                <a:cs typeface="+mn-cs"/>
              </a:rPr>
              <a:t>Procurement Status:  </a:t>
            </a: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Recommended for approval — informally tested by multiple team members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0"/>
            <a:ext cx="100584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Tooling Landscape — Coding Tools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6400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247120" y="6400800"/>
            <a:ext cx="4572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A-9</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10883854" y="6400800"/>
            <a:ext cx="1076498" cy="320040"/>
          </a:xfrm>
          <a:prstGeom prst="rect">
            <a:avLst/>
          </a:prstGeom>
        </p:spPr>
      </p:pic>
      <p:sp>
        <p:nvSpPr>
          <p:cNvPr id="7" name="Text 4"/>
          <p:cNvSpPr/>
          <p:nvPr/>
        </p:nvSpPr>
        <p:spPr>
          <a:xfrm>
            <a:off x="457200" y="77724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4E79"/>
                </a:solidFill>
                <a:effectLst/>
                <a:uLnTx/>
                <a:uFillTx/>
                <a:latin typeface="Calibri" panose="020F0502020204030204"/>
                <a:ea typeface="+mn-ea"/>
                <a:cs typeface="+mn-cs"/>
              </a:rPr>
              <a:t>Google Gemini Code Assist</a:t>
            </a:r>
            <a:r>
              <a:rPr kumimoji="0" lang="en-US" sz="1300" b="0" i="0" u="none" strike="noStrike" kern="1200" cap="none" spc="0" normalizeH="0" baseline="0" noProof="0" dirty="0">
                <a:ln>
                  <a:noFill/>
                </a:ln>
                <a:solidFill>
                  <a:srgbClr val="555555"/>
                </a:solidFill>
                <a:effectLst/>
                <a:uLnTx/>
                <a:uFillTx/>
                <a:latin typeface="Calibri" panose="020F0502020204030204"/>
                <a:ea typeface="+mn-ea"/>
                <a:cs typeface="+mn-cs"/>
              </a:rPr>
              <a:t>  + Gemini CLI + Jules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8412480" y="804672"/>
            <a:ext cx="411480" cy="3657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8412480" y="804672"/>
            <a:ext cx="411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8961120" y="804672"/>
            <a:ext cx="2743200" cy="365760"/>
          </a:xfrm>
          <a:prstGeom prst="rect">
            <a:avLst/>
          </a:prstGeom>
          <a:solidFill>
            <a:srgbClr val="BF8F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8961120" y="804672"/>
            <a:ext cx="274320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EVALUATE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457200" y="123444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Coding Tool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5029200" y="1234440"/>
            <a:ext cx="66751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BF8F00"/>
                </a:solidFill>
                <a:effectLst/>
                <a:uLnTx/>
                <a:uFillTx/>
                <a:latin typeface="Calibri" pitchFamily="34" charset="0"/>
                <a:ea typeface="Calibri" pitchFamily="34" charset="-122"/>
                <a:cs typeface="Calibri" pitchFamily="34" charset="-120"/>
              </a:rPr>
              <a:t>Generous free tier makes it zero-risk to pilot. Strongest case: teams wanting JetBrains IDE support (IntelliJ/Rider) or free high-volume completions. Jules async model is unique. Weaker on coding benchmarks than Claude/GPT-5 (Gemini 2.5 Pro: 76.2% SWE-bench vs. Opus 80.9%). Consider as supplementary tool alongside Claude Code.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5720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45720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54864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Subscription Tiers &amp; Pricing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4864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Gemini Code Assist (IDE):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Free: 6,000 code requests/day + 240 chat/day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Standard: $19–22/user/mo (teams)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Enterprise: $45–54/user/mo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Gemini CLI (Terminal):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Free: included with Code Assist quotas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Higher limits via AI Pro ($19.99/mo)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Highest via AI Ultra ($249.99/mo)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Jules (Async Agent):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Free: 15 tasks/day, 3 concurrent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AI Pro: ~5× limits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AI Ultra: ~20× limits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45720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45720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4864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Models Available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54864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Gemini 2.5 Pro (all tools)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Gemini 3 Pro (via AI Pro/Ultra)</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1M token context window</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621792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621792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630936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SDLC Workflow Fit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630936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Three-tool stack covering different workflows: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Code Assist: IDE extensions for VS Code, JetBrains (IntelliJ, PyCharm, Rider), Android Studio. Inline completions, chat, unit test generation, debugging. Source citations on generated code.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Gemini CLI: Open-source terminal agent (like Claude Code). ReAct loop with MCP server support. Available in Cloud Shell without setup.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Jules: Async background agent. Reads codebase, decomposes tasks, creates PRs independently. Runs in cloud sandbox — no local compute. Jules Tools CLI for terminal access + public API for CI/CD integration.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21792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621792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630936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Cost-Efficiency Notes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630936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FREE TIER IS EXCEPTIONALLY GENEROUS: 6,000 code requests/day at zero cost — no other provider matches this.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Key trade-off: Free tier has no enterprise features (audit, policy controls, private codebase indexing). Standard/Enterprise tiers add these but cost more.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Jules is the only truly async agent — delegates work and returns completed PRs. Useful for batch tasks, but early feedback shows mixed quality requiring review.</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Gemini CLI is open-source — can be self-hosted for compliance-sensitive environments. Financial institutions may prefer this for data control.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3333"/>
                </a:solidFill>
                <a:effectLst/>
                <a:uLnTx/>
                <a:uFillTx/>
                <a:latin typeface="Calibri" panose="020F0502020204030204"/>
                <a:ea typeface="+mn-ea"/>
                <a:cs typeface="+mn-cs"/>
              </a:rPr>
              <a:t>AI Pro ($19.99/mo) covers ALL three tools with higher limits — good value if the Gemini model quality meets team needs.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457200" y="6309360"/>
            <a:ext cx="11274552" cy="320040"/>
          </a:xfrm>
          <a:prstGeom prst="rect">
            <a:avLst/>
          </a:prstGeom>
          <a:solidFill>
            <a:srgbClr val="D6E4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p:nvPr/>
        </p:nvSpPr>
        <p:spPr>
          <a:xfrm>
            <a:off x="548640" y="6309360"/>
            <a:ext cx="1109167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4E79"/>
                </a:solidFill>
                <a:effectLst/>
                <a:uLnTx/>
                <a:uFillTx/>
                <a:latin typeface="Calibri" panose="020F0502020204030204"/>
                <a:ea typeface="+mn-ea"/>
                <a:cs typeface="+mn-cs"/>
              </a:rPr>
              <a:t>Procurement Status:  </a:t>
            </a: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Not evaluated for SFS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0"/>
            <a:ext cx="100584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Tooling Landscape — Direct API Access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6400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247120" y="6400800"/>
            <a:ext cx="4572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A-10</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10883854" y="6400800"/>
            <a:ext cx="1076498" cy="320040"/>
          </a:xfrm>
          <a:prstGeom prst="rect">
            <a:avLst/>
          </a:prstGeom>
        </p:spPr>
      </p:pic>
      <p:sp>
        <p:nvSpPr>
          <p:cNvPr id="7" name="Text 4"/>
          <p:cNvSpPr/>
          <p:nvPr/>
        </p:nvSpPr>
        <p:spPr>
          <a:xfrm>
            <a:off x="457200" y="77724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4E79"/>
                </a:solidFill>
                <a:effectLst/>
                <a:uLnTx/>
                <a:uFillTx/>
                <a:latin typeface="Calibri" panose="020F0502020204030204"/>
                <a:ea typeface="+mn-ea"/>
                <a:cs typeface="+mn-cs"/>
              </a:rPr>
              <a:t>Anthropic Claude API</a:t>
            </a:r>
            <a:r>
              <a:rPr kumimoji="0" lang="en-US" sz="1300" b="0" i="0" u="none" strike="noStrike" kern="1200" cap="none" spc="0" normalizeH="0" baseline="0" noProof="0" dirty="0">
                <a:ln>
                  <a:noFill/>
                </a:ln>
                <a:solidFill>
                  <a:srgbClr val="555555"/>
                </a:solidFill>
                <a:effectLst/>
                <a:uLnTx/>
                <a:uFillTx/>
                <a:latin typeface="Calibri" panose="020F0502020204030204"/>
                <a:ea typeface="+mn-ea"/>
                <a:cs typeface="+mn-cs"/>
              </a:rPr>
              <a:t>  (+ Claude Code SDK)</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8412480" y="804672"/>
            <a:ext cx="411480" cy="3657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8412480" y="804672"/>
            <a:ext cx="411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8961120" y="804672"/>
            <a:ext cx="2743200" cy="365760"/>
          </a:xfrm>
          <a:prstGeom prst="rect">
            <a:avLst/>
          </a:prstGeom>
          <a:solidFill>
            <a:srgbClr val="54823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8961120" y="804672"/>
            <a:ext cx="274320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REQUIRED for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457200" y="123444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Direct API Access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5029200" y="1234440"/>
            <a:ext cx="66751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48235"/>
                </a:solidFill>
                <a:effectLst/>
                <a:uLnTx/>
                <a:uFillTx/>
                <a:latin typeface="Calibri" pitchFamily="34" charset="0"/>
                <a:ea typeface="Calibri" pitchFamily="34" charset="-122"/>
                <a:cs typeface="Calibri" pitchFamily="34" charset="-120"/>
              </a:rPr>
              <a:t>REQUIRED for Phase 2+ automation. Start with Max subscription for manual work; add API for pipeline integration.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5720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45720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54864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Subscription Tiers &amp; Pricing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4864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Opus 4.6/4.5: $5/$25 per MTok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Sonnet 4.6/4.5: $3/$15 per MTok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Haiku 4.5: $1/$5 per MTok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Batch API: 50% discount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Prompt caching: 90% on cache hits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($0.50/MTok for Opus cache reads)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45720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45720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4864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Models Available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54864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Opus 4.6 (200K ctx, 1M beta)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Sonnet 4.6</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Opus 4.5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Sonnet 4.5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Haiku 4.5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621792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621792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630936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SDLC Workflow Fit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630936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Required for automated AI integration into CI/CD pipelines, Spira REST API connectors, quality gates, and scheduled workflows. Claude Code SDK enables programmatic agent orchestration.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21792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621792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630936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Cost-Efficiency Notes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630936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Opus dropped 67% in per-token cost from 4.1 ($15/$75) to 4.5 ($5/$25).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Prompt caching is transformative: 90% of tokens in coding sessions are cache reads at $0.50/MTok vs. $5.00 uncached.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Batch API halves cost for non-real-time workloads (test generation, documentation).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457200" y="6309360"/>
            <a:ext cx="11274552" cy="320040"/>
          </a:xfrm>
          <a:prstGeom prst="rect">
            <a:avLst/>
          </a:prstGeom>
          <a:solidFill>
            <a:srgbClr val="D6E4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p:nvPr/>
        </p:nvSpPr>
        <p:spPr>
          <a:xfrm>
            <a:off x="548640" y="6309360"/>
            <a:ext cx="1109167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4E79"/>
                </a:solidFill>
                <a:effectLst/>
                <a:uLnTx/>
                <a:uFillTx/>
                <a:latin typeface="Calibri" panose="020F0502020204030204"/>
                <a:ea typeface="+mn-ea"/>
                <a:cs typeface="+mn-cs"/>
              </a:rPr>
              <a:t>Procurement Status:  </a:t>
            </a: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Enterprise approval TBD — data handling agreement needed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0"/>
            <a:ext cx="100584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Tooling Landscape — Direct API Access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6400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247120" y="6400800"/>
            <a:ext cx="4572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A-11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10883854" y="6400800"/>
            <a:ext cx="1076498" cy="320040"/>
          </a:xfrm>
          <a:prstGeom prst="rect">
            <a:avLst/>
          </a:prstGeom>
        </p:spPr>
      </p:pic>
      <p:sp>
        <p:nvSpPr>
          <p:cNvPr id="7" name="Text 4"/>
          <p:cNvSpPr/>
          <p:nvPr/>
        </p:nvSpPr>
        <p:spPr>
          <a:xfrm>
            <a:off x="457200" y="77724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4E79"/>
                </a:solidFill>
                <a:effectLst/>
                <a:uLnTx/>
                <a:uFillTx/>
                <a:latin typeface="Calibri" panose="020F0502020204030204"/>
                <a:ea typeface="+mn-ea"/>
                <a:cs typeface="+mn-cs"/>
              </a:rPr>
              <a:t>OpenAI API</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8412480" y="804672"/>
            <a:ext cx="411480" cy="3657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8412480" y="804672"/>
            <a:ext cx="411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8961120" y="804672"/>
            <a:ext cx="2743200" cy="365760"/>
          </a:xfrm>
          <a:prstGeom prst="rect">
            <a:avLst/>
          </a:prstGeom>
          <a:solidFill>
            <a:srgbClr val="BF8F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8961120" y="804672"/>
            <a:ext cx="274320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EVALUATE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457200" y="123444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Direct API Access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5029200" y="1234440"/>
            <a:ext cx="66751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BF8F00"/>
                </a:solidFill>
                <a:effectLst/>
                <a:uLnTx/>
                <a:uFillTx/>
                <a:latin typeface="Calibri" pitchFamily="34" charset="0"/>
                <a:ea typeface="Calibri" pitchFamily="34" charset="-122"/>
                <a:cs typeface="Calibri" pitchFamily="34" charset="-120"/>
              </a:rPr>
              <a:t>Consider for specific use cases where GPT-5 excels (code review, terminal automation).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5720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45720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54864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Subscription Tiers &amp; Pricing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4864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GPT-5.2: $1.75/$14 per MTok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GPT-5.1: $1.25/$10 per MTok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GPT-5.1-Mini: $0.25/$2 per MTok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o3: $2/$8 per MTok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o4-mini: $1.10/$4.40 per MTok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Batch API: 50% discount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Cached input: 90% discount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45720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45720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4864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Models Available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54864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GPT-5.2/5.1 family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GPT-5.x-Codex family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o3, o4-mini (reasoning)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GPT-4.1 (legacy)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621792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621792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630936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SDLC Workflow Fit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630936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Alternative API for pipeline integration. Stronger for code review automation and terminal tasks. Lower per-token input costs than Claude Opus.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21792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621792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630936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Cost-Efficiency Notes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630936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GPT-5.1 input at $1.25/MTok is 75% cheaper than Claude Opus input ($5.00).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Codex-Mini at $0.25/$2 is the cheapest frontier API option for simple tasks.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90% cached-input discount matches Anthropic.</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457200" y="6309360"/>
            <a:ext cx="11274552" cy="320040"/>
          </a:xfrm>
          <a:prstGeom prst="rect">
            <a:avLst/>
          </a:prstGeom>
          <a:solidFill>
            <a:srgbClr val="D6E4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p:nvPr/>
        </p:nvSpPr>
        <p:spPr>
          <a:xfrm>
            <a:off x="548640" y="6309360"/>
            <a:ext cx="1109167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4E79"/>
                </a:solidFill>
                <a:effectLst/>
                <a:uLnTx/>
                <a:uFillTx/>
                <a:latin typeface="Calibri" panose="020F0502020204030204"/>
                <a:ea typeface="+mn-ea"/>
                <a:cs typeface="+mn-cs"/>
              </a:rPr>
              <a:t>Procurement Status:  </a:t>
            </a: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Not evaluated for SFS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0"/>
            <a:ext cx="100584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Tooling Landscape — Direct API Access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6400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247120" y="6400800"/>
            <a:ext cx="4572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A-12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10883854" y="6400800"/>
            <a:ext cx="1076498" cy="320040"/>
          </a:xfrm>
          <a:prstGeom prst="rect">
            <a:avLst/>
          </a:prstGeom>
        </p:spPr>
      </p:pic>
      <p:sp>
        <p:nvSpPr>
          <p:cNvPr id="7" name="Text 4"/>
          <p:cNvSpPr/>
          <p:nvPr/>
        </p:nvSpPr>
        <p:spPr>
          <a:xfrm>
            <a:off x="457200" y="77724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4E79"/>
                </a:solidFill>
                <a:effectLst/>
                <a:uLnTx/>
                <a:uFillTx/>
                <a:latin typeface="Calibri" panose="020F0502020204030204"/>
                <a:ea typeface="+mn-ea"/>
                <a:cs typeface="+mn-cs"/>
              </a:rPr>
              <a:t>Azure OpenAI Service</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8412480" y="804672"/>
            <a:ext cx="411480" cy="3657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8412480" y="804672"/>
            <a:ext cx="411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8961120" y="804672"/>
            <a:ext cx="2743200" cy="365760"/>
          </a:xfrm>
          <a:prstGeom prst="rect">
            <a:avLst/>
          </a:prstGeom>
          <a:solidFill>
            <a:srgbClr val="BF8F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8961120" y="804672"/>
            <a:ext cx="274320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EVALUATE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457200" y="123444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Direct API Access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5029200" y="1234440"/>
            <a:ext cx="66751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BF8F00"/>
                </a:solidFill>
                <a:effectLst/>
                <a:uLnTx/>
                <a:uFillTx/>
                <a:latin typeface="Calibri" pitchFamily="34" charset="0"/>
                <a:ea typeface="Calibri" pitchFamily="34" charset="-122"/>
                <a:cs typeface="Calibri" pitchFamily="34" charset="-120"/>
              </a:rPr>
              <a:t>May be required path for production AI if SFS mandates Azure-hosted models. Higher cost offset by compliance.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5720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45720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54864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Subscription Tiers &amp; Pricing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4864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Same per-token rates as OpenAI direct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Additional: Azure infrastructure overhead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Total TCO: 15–40% higher than direct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Provisioned throughput available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Data processing charges apply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45720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45720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4864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Models Available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54864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GPT-5.2, GPT-5.1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o3, o4-mini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GPT-4.1, GPT-4o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(Model availability lags direct OpenAI by weeks)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621792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621792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630936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SDLC Workflow Fit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630936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Enterprise-grade deployment with Azure compliance, data residency, private networking. Required if SFS policy mandates Azure-hosted AI for production pipelines. Already within Stellantis Azure ecosystem.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21792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621792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630936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Cost-Efficiency Notes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630936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Higher TCO but includes: data residency compliance, VNet integration, managed identity auth, Azure Monitor integration.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May be required by SFS security policy for production AI workloads.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Model availability typically lags direct OpenAI by 2-4 weeks.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457200" y="6309360"/>
            <a:ext cx="11274552" cy="320040"/>
          </a:xfrm>
          <a:prstGeom prst="rect">
            <a:avLst/>
          </a:prstGeom>
          <a:solidFill>
            <a:srgbClr val="D6E4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p:nvPr/>
        </p:nvSpPr>
        <p:spPr>
          <a:xfrm>
            <a:off x="548640" y="6309360"/>
            <a:ext cx="1109167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4E79"/>
                </a:solidFill>
                <a:effectLst/>
                <a:uLnTx/>
                <a:uFillTx/>
                <a:latin typeface="Calibri" panose="020F0502020204030204"/>
                <a:ea typeface="+mn-ea"/>
                <a:cs typeface="+mn-cs"/>
              </a:rPr>
              <a:t>Procurement Status:  </a:t>
            </a: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Azure ecosystem already approved — model-specific approval needed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
          </a:xfrm>
          <a:prstGeom prst="rect">
            <a:avLst/>
          </a:prstGeom>
          <a:solidFill>
            <a:srgbClr val="1F4E79"/>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457200" y="0"/>
            <a:ext cx="100584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Tooling Landscape — Direct API Access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457200" y="6400800"/>
            <a:ext cx="1828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247120" y="6400800"/>
            <a:ext cx="4572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A-13</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home/claude/eis_logo.png"/>
          <p:cNvPicPr>
            <a:picLocks noChangeAspect="1"/>
          </p:cNvPicPr>
          <p:nvPr/>
        </p:nvPicPr>
        <p:blipFill>
          <a:blip r:embed="rId3"/>
          <a:stretch>
            <a:fillRect/>
          </a:stretch>
        </p:blipFill>
        <p:spPr>
          <a:xfrm>
            <a:off x="10883854" y="6400800"/>
            <a:ext cx="1076498" cy="320040"/>
          </a:xfrm>
          <a:prstGeom prst="rect">
            <a:avLst/>
          </a:prstGeom>
        </p:spPr>
      </p:pic>
      <p:sp>
        <p:nvSpPr>
          <p:cNvPr id="7" name="Text 4"/>
          <p:cNvSpPr/>
          <p:nvPr/>
        </p:nvSpPr>
        <p:spPr>
          <a:xfrm>
            <a:off x="457200" y="777240"/>
            <a:ext cx="73152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F4E79"/>
                </a:solidFill>
                <a:effectLst/>
                <a:uLnTx/>
                <a:uFillTx/>
                <a:latin typeface="Calibri" panose="020F0502020204030204"/>
                <a:ea typeface="+mn-ea"/>
                <a:cs typeface="+mn-cs"/>
              </a:rPr>
              <a:t>Google Vertex AI</a:t>
            </a:r>
            <a:r>
              <a:rPr kumimoji="0" lang="en-US" sz="1300" b="0" i="0" u="none" strike="noStrike" kern="1200" cap="none" spc="0" normalizeH="0" baseline="0" noProof="0" dirty="0">
                <a:ln>
                  <a:noFill/>
                </a:ln>
                <a:solidFill>
                  <a:srgbClr val="555555"/>
                </a:solidFill>
                <a:effectLst/>
                <a:uLnTx/>
                <a:uFillTx/>
                <a:latin typeface="Calibri" panose="020F0502020204030204"/>
                <a:ea typeface="+mn-ea"/>
                <a:cs typeface="+mn-cs"/>
              </a:rPr>
              <a:t>  (Gemini API)</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8412480" y="804672"/>
            <a:ext cx="411480" cy="36576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8412480" y="804672"/>
            <a:ext cx="411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8961120" y="804672"/>
            <a:ext cx="2743200" cy="365760"/>
          </a:xfrm>
          <a:prstGeom prst="rect">
            <a:avLst/>
          </a:prstGeom>
          <a:solidFill>
            <a:srgbClr val="80808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8961120" y="804672"/>
            <a:ext cx="274320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MONITOR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457200" y="123444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Direct API Access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5029200" y="1234440"/>
            <a:ext cx="66751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808080"/>
                </a:solidFill>
                <a:effectLst/>
                <a:uLnTx/>
                <a:uFillTx/>
                <a:latin typeface="Calibri" pitchFamily="34" charset="0"/>
                <a:ea typeface="Calibri" pitchFamily="34" charset="-122"/>
                <a:cs typeface="Calibri" pitchFamily="34" charset="-120"/>
              </a:rPr>
              <a:t>Consider for bulk processing tasks where cost-efficiency matters more than peak performance.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5720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45720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54864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Subscription Tiers &amp; Pricing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4864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Gemini 2.5 Pro: $1.25/$10 per MTok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Gemini 2.5 Flash: $0.15/$0.60 per MTok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Gemini 3 Pro: $2/$12 per MTok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Gemini 3 Flash: ~$0.50/$3 per MTok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Batch: 50% discount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Free tier available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45720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45720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54864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Models Available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54864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Gemini 3 Pro, 3 Flash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Gemini 2.5 Pro, 2.5 Flash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1M+ token context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6217920" y="164592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6217920" y="164592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6309360" y="171907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SDLC Workflow Fit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6309360" y="202996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Best for processing very large codebases or documentation sets (1M+ context). Flash models are extremely cost-efficient for high-volume, lower-complexity tasks.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217920" y="3977640"/>
            <a:ext cx="5577840" cy="2194560"/>
          </a:xfrm>
          <a:prstGeom prst="rect">
            <a:avLst/>
          </a:prstGeom>
          <a:solidFill>
            <a:srgbClr val="F2F2F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6217920" y="3977640"/>
            <a:ext cx="5577840" cy="45720"/>
          </a:xfrm>
          <a:prstGeom prst="rect">
            <a:avLst/>
          </a:prstGeom>
          <a:solidFill>
            <a:srgbClr val="2E75B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6309360" y="4050792"/>
            <a:ext cx="5394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F4E79"/>
                </a:solidFill>
                <a:effectLst/>
                <a:uLnTx/>
                <a:uFillTx/>
                <a:latin typeface="Calibri" pitchFamily="34" charset="0"/>
                <a:ea typeface="Calibri" pitchFamily="34" charset="-122"/>
                <a:cs typeface="Calibri" pitchFamily="34" charset="-120"/>
              </a:rPr>
              <a:t>Cost-Efficiency Notes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6309360" y="4361688"/>
            <a:ext cx="5394960" cy="1691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Gemini 2.5 Flash at $0.15/$0.60 is 33× cheaper than Claude Opus — exceptional for bulk processing.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Free tier available for evaluation.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1M+ context handles entire repository analysis without chunking.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457200" y="6309360"/>
            <a:ext cx="11274552" cy="320040"/>
          </a:xfrm>
          <a:prstGeom prst="rect">
            <a:avLst/>
          </a:prstGeom>
          <a:solidFill>
            <a:srgbClr val="D6E4F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p:nvPr/>
        </p:nvSpPr>
        <p:spPr>
          <a:xfrm>
            <a:off x="548640" y="6309360"/>
            <a:ext cx="1109167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F4E79"/>
                </a:solidFill>
                <a:effectLst/>
                <a:uLnTx/>
                <a:uFillTx/>
                <a:latin typeface="Calibri" panose="020F0502020204030204"/>
                <a:ea typeface="+mn-ea"/>
                <a:cs typeface="+mn-cs"/>
              </a:rPr>
              <a:t>Procurement Status:  </a:t>
            </a:r>
            <a:r>
              <a:rPr kumimoji="0" lang="en-US" sz="1000" b="0" i="0" u="none" strike="noStrike" kern="1200" cap="none" spc="0" normalizeH="0" baseline="0" noProof="0" dirty="0">
                <a:ln>
                  <a:noFill/>
                </a:ln>
                <a:solidFill>
                  <a:srgbClr val="333333"/>
                </a:solidFill>
                <a:effectLst/>
                <a:uLnTx/>
                <a:uFillTx/>
                <a:latin typeface="Calibri" panose="020F0502020204030204"/>
                <a:ea typeface="+mn-ea"/>
                <a:cs typeface="+mn-cs"/>
              </a:rPr>
              <a:t>Not evaluated for SFS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EIS_Delivery">
  <a:themeElements>
    <a:clrScheme name="EIS Auth 2019">
      <a:dk1>
        <a:srgbClr val="052841"/>
      </a:dk1>
      <a:lt1>
        <a:srgbClr val="FFFFFF"/>
      </a:lt1>
      <a:dk2>
        <a:srgbClr val="1877BC"/>
      </a:dk2>
      <a:lt2>
        <a:srgbClr val="DBE3EF"/>
      </a:lt2>
      <a:accent1>
        <a:srgbClr val="094978"/>
      </a:accent1>
      <a:accent2>
        <a:srgbClr val="C7D3E0"/>
      </a:accent2>
      <a:accent3>
        <a:srgbClr val="20CC8C"/>
      </a:accent3>
      <a:accent4>
        <a:srgbClr val="209D6E"/>
      </a:accent4>
      <a:accent5>
        <a:srgbClr val="B34BC7"/>
      </a:accent5>
      <a:accent6>
        <a:srgbClr val="7F3B8B"/>
      </a:accent6>
      <a:hlink>
        <a:srgbClr val="32A3FB"/>
      </a:hlink>
      <a:folHlink>
        <a:srgbClr val="839EBA"/>
      </a:folHlink>
    </a:clrScheme>
    <a:fontScheme name="Custom 2">
      <a:majorFont>
        <a:latin typeface="Calibri"/>
        <a:ea typeface=""/>
        <a:cs typeface=""/>
      </a:majorFont>
      <a:minorFont>
        <a:latin typeface="Calibri"/>
        <a:ea typeface=""/>
        <a:cs typefac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5400" cap="flat">
          <a:noFill/>
          <a:prstDash val="solid"/>
          <a:round/>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dirty="0">
            <a:ln>
              <a:noFill/>
            </a:ln>
            <a:solidFill>
              <a:srgbClr val="072941"/>
            </a:solidFill>
            <a:effectLst/>
            <a:uFillTx/>
            <a:latin typeface="+mj-lt"/>
            <a:ea typeface="+mj-ea"/>
            <a:cs typeface="+mj-cs"/>
            <a:sym typeface="Calibri"/>
          </a:defRPr>
        </a:def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dirty="0" err="1" smtClean="0">
            <a:ln>
              <a:noFill/>
            </a:ln>
            <a:solidFill>
              <a:srgbClr val="072941"/>
            </a:solidFill>
            <a:effectLst/>
            <a:uFillTx/>
            <a:latin typeface="+mj-lt"/>
            <a:ea typeface="+mj-ea"/>
            <a:cs typeface="+mj-cs"/>
            <a:sym typeface="Calibri"/>
          </a:defRPr>
        </a:def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5D393D5A-6040-4319-A2E2-81A49F979150}" vid="{F28966A7-FDF5-47A0-9CE1-0A484E5DE957}"/>
    </a:ext>
  </a:extLst>
</a:theme>
</file>

<file path=ppt/theme/theme2.xml><?xml version="1.0" encoding="utf-8"?>
<a:theme xmlns:a="http://schemas.openxmlformats.org/drawingml/2006/main" name="1_EIS-2022">
  <a:themeElements>
    <a:clrScheme name="Custom 2">
      <a:dk1>
        <a:srgbClr val="05163E"/>
      </a:dk1>
      <a:lt1>
        <a:srgbClr val="FFFFFF"/>
      </a:lt1>
      <a:dk2>
        <a:srgbClr val="05163E"/>
      </a:dk2>
      <a:lt2>
        <a:srgbClr val="E7EFF7"/>
      </a:lt2>
      <a:accent1>
        <a:srgbClr val="093171"/>
      </a:accent1>
      <a:accent2>
        <a:srgbClr val="1877BC"/>
      </a:accent2>
      <a:accent3>
        <a:srgbClr val="1AA3FF"/>
      </a:accent3>
      <a:accent4>
        <a:srgbClr val="AACDE5"/>
      </a:accent4>
      <a:accent5>
        <a:srgbClr val="21CC8C"/>
      </a:accent5>
      <a:accent6>
        <a:srgbClr val="FF6108"/>
      </a:accent6>
      <a:hlink>
        <a:srgbClr val="E80087"/>
      </a:hlink>
      <a:folHlink>
        <a:srgbClr val="839EBA"/>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56082"/>
        </a:solidFill>
        <a:ln w="9525">
          <a:solidFill>
            <a:srgbClr val="70707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rgbClr val="05163E"/>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solidFill>
              <a:schemeClr val="tx2"/>
            </a:solidFill>
          </a:defRPr>
        </a:defPPr>
      </a:lstStyle>
    </a:txDef>
  </a:objectDefaults>
  <a:extraClrSchemeLst/>
  <a:extLst>
    <a:ext uri="{05A4C25C-085E-4340-85A3-A5531E510DB2}">
      <thm15:themeFamily xmlns:thm15="http://schemas.microsoft.com/office/thememl/2012/main" name="EIS-Webinar-Pre-PIM-Software-2023-01-11" id="{4A3928EC-89E0-794F-829C-2537F4CABD3A}" vid="{AE149165-CB1A-1E4F-9C35-7BFA3C825A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2687EB7-071A-4A86-8C4E-636FE5A351E7}">
  <we:reference id="WA200005566" version="3.0.0.3" store="Omex" storeType="OMEX"/>
  <we:alternateReferences>
    <we:reference id="WA200005566" version="3.0.0.3" store="WA200005566" storeType="OMEX"/>
  </we:alternateReferences>
  <we:properties>
    <we:property name="theme" value="{&quot;name&quot;:&quot;Drift&quot;,&quot;colorPalette&quot;:[&quot;0E2841&quot;,&quot;E8E8E8&quot;,&quot;00416B&quot;,&quot;006098&quot;,&quot;238DC1&quot;,&quot;939598&quot;,&quot;D7D7D7&quot;,&quot;7775FF&quot;,&quot;467886&quot;,&quot;96607D&quot;],&quot;isDefault&quot;:true,&quot;color&quot;:&quot;#ffffff&quot;,&quot;previewImages&quot;:[&quot;https://cpp.appsdowonders.com/assets/SlideTitle-drift.png&quot;,&quot;https://cpp.appsdowonders.com/assets/SlideTextbox1V1-drift.png&quot;,&quot;https://cpp.appsdowonders.com/assets/SlideTextbox3V1-drift.png&quot;,&quot;https://cpp.appsdowonders.com/assets/SlideTable-drift.png&quot;,&quot;https://cpp.appsdowonders.com/assets/SlideTimeline-drift.png&quot;,&quot;https://cpp.appsdowonders.com/assets/SlideQuestion-drift.png&quot;],&quot;previewAnimation&quot;:&quot;https://cpp.appsdowonders.com/assets/drift-preview.gif&quot;,&quot;index&quot;:0}"/>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bbba5f1-a15e-48ed-ae4b-bc36e8dd2f5c" xsi:nil="true"/>
    <lcf76f155ced4ddcb4097134ff3c332f xmlns="17246cb7-97e8-44c0-90d5-6161e615d35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B97C77CF6C980478CF1A0C7BB3DB346" ma:contentTypeVersion="11" ma:contentTypeDescription="Create a new document." ma:contentTypeScope="" ma:versionID="c1a83d7d099b5be531ea543abe836433">
  <xsd:schema xmlns:xsd="http://www.w3.org/2001/XMLSchema" xmlns:xs="http://www.w3.org/2001/XMLSchema" xmlns:p="http://schemas.microsoft.com/office/2006/metadata/properties" xmlns:ns2="17246cb7-97e8-44c0-90d5-6161e615d350" xmlns:ns3="1bbba5f1-a15e-48ed-ae4b-bc36e8dd2f5c" targetNamespace="http://schemas.microsoft.com/office/2006/metadata/properties" ma:root="true" ma:fieldsID="4c654fb0583e2735ba72a8dcae06ecab" ns2:_="" ns3:_="">
    <xsd:import namespace="17246cb7-97e8-44c0-90d5-6161e615d350"/>
    <xsd:import namespace="1bbba5f1-a15e-48ed-ae4b-bc36e8dd2f5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246cb7-97e8-44c0-90d5-6161e615d3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6eeceaf-6cb7-4eb2-b72c-1bbb44499cd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bbba5f1-a15e-48ed-ae4b-bc36e8dd2f5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5b72e8f-4642-4cb4-99b4-07cc3ba4a6e0}" ma:internalName="TaxCatchAll" ma:showField="CatchAllData" ma:web="1bbba5f1-a15e-48ed-ae4b-bc36e8dd2f5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ADF8674-582C-48CF-9D1C-72280677BFE9}">
  <ds:schemaRefs>
    <ds:schemaRef ds:uri="0eea126e-d378-4180-a2b3-4f5c76938639"/>
    <ds:schemaRef ds:uri="659dacc0-b46c-43f4-be73-52d5e269965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 ds:uri="1bbba5f1-a15e-48ed-ae4b-bc36e8dd2f5c"/>
    <ds:schemaRef ds:uri="17246cb7-97e8-44c0-90d5-6161e615d350"/>
  </ds:schemaRefs>
</ds:datastoreItem>
</file>

<file path=customXml/itemProps2.xml><?xml version="1.0" encoding="utf-8"?>
<ds:datastoreItem xmlns:ds="http://schemas.openxmlformats.org/officeDocument/2006/customXml" ds:itemID="{775D1607-B0B5-4557-A365-B6585D953D58}">
  <ds:schemaRefs>
    <ds:schemaRef ds:uri="http://schemas.microsoft.com/sharepoint/v3/contenttype/forms"/>
  </ds:schemaRefs>
</ds:datastoreItem>
</file>

<file path=customXml/itemProps3.xml><?xml version="1.0" encoding="utf-8"?>
<ds:datastoreItem xmlns:ds="http://schemas.openxmlformats.org/officeDocument/2006/customXml" ds:itemID="{5F04ED65-AED3-41F6-82DA-F0B7F0044E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246cb7-97e8-44c0-90d5-6161e615d350"/>
    <ds:schemaRef ds:uri="1bbba5f1-a15e-48ed-ae4b-bc36e8dd2f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EIS-Delivery-Template-2025</Template>
  <TotalTime>1011</TotalTime>
  <Words>17167</Words>
  <Application>Microsoft Office PowerPoint</Application>
  <PresentationFormat>Widescreen</PresentationFormat>
  <Paragraphs>2081</Paragraphs>
  <Slides>74</Slides>
  <Notes>63</Notes>
  <HiddenSlides>0</HiddenSlides>
  <MMClips>0</MMClips>
  <ScaleCrop>false</ScaleCrop>
  <HeadingPairs>
    <vt:vector size="4" baseType="variant">
      <vt:variant>
        <vt:lpstr>Theme</vt:lpstr>
      </vt:variant>
      <vt:variant>
        <vt:i4>3</vt:i4>
      </vt:variant>
      <vt:variant>
        <vt:lpstr>Slide Titles</vt:lpstr>
      </vt:variant>
      <vt:variant>
        <vt:i4>74</vt:i4>
      </vt:variant>
    </vt:vector>
  </HeadingPairs>
  <TitlesOfParts>
    <vt:vector size="77" baseType="lpstr">
      <vt:lpstr>EIS_Delivery</vt:lpstr>
      <vt:lpstr>1_EIS-2022</vt:lpstr>
      <vt:lpstr>Office Theme</vt:lpstr>
      <vt:lpstr>PowerPoint Presentation</vt:lpstr>
      <vt:lpstr>PowerPoint Presentation</vt:lpstr>
      <vt:lpstr>PowerPoint Presentation</vt:lpstr>
      <vt:lpstr>PowerPoint Presentation</vt:lpstr>
      <vt:lpstr>The Foundational Opportunity</vt:lpstr>
      <vt:lpstr>Getting to the Right Toolset</vt:lpstr>
      <vt:lpstr>What to Consider When Evaluating Tools</vt:lpstr>
      <vt:lpstr>Considerations for AI Chat Clients</vt:lpstr>
      <vt:lpstr>Considerations for AI Coding Tools</vt:lpstr>
      <vt:lpstr>Considerations for Enterprise AI API Access</vt:lpstr>
      <vt:lpstr>Model Landscape — February 2026</vt:lpstr>
      <vt:lpstr>Cross-Cutting Themes</vt:lpstr>
      <vt:lpstr>PowerPoint Presentation</vt:lpstr>
      <vt:lpstr>What Data Flows to AI Models in SDLC Workflows?</vt:lpstr>
      <vt:lpstr>Subscription Tier is Critical</vt:lpstr>
      <vt:lpstr>Cost Predictability and Architectural Controls</vt:lpstr>
      <vt:lpstr>Vendor Compliance at a Glance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 of Value ROI Assessment for product data enrichment</dc:title>
  <dc:creator>Heather Eisenbraun</dc:creator>
  <cp:lastModifiedBy>Phil Ryan</cp:lastModifiedBy>
  <cp:revision>22</cp:revision>
  <cp:lastPrinted>2025-10-23T18:20:35Z</cp:lastPrinted>
  <dcterms:created xsi:type="dcterms:W3CDTF">2025-09-02T21:00:23Z</dcterms:created>
  <dcterms:modified xsi:type="dcterms:W3CDTF">2026-03-16T00:42:24Z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chnology">
    <vt:lpwstr/>
  </property>
  <property fmtid="{D5CDD505-2E9C-101B-9397-08002B2CF9AE}" pid="3" name="Competency">
    <vt:lpwstr>16;#education ＆ training|82e5fb2a-a54f-4b03-b3d9-e6bd67db0a94</vt:lpwstr>
  </property>
  <property fmtid="{D5CDD505-2E9C-101B-9397-08002B2CF9AE}" pid="4" name="TechnologyProduct">
    <vt:lpwstr/>
  </property>
  <property fmtid="{D5CDD505-2E9C-101B-9397-08002B2CF9AE}" pid="5" name="lcf76f155ced4ddcb4097134ff3c332f">
    <vt:lpwstr/>
  </property>
  <property fmtid="{D5CDD505-2E9C-101B-9397-08002B2CF9AE}" pid="6" name="MediaServiceImageTags">
    <vt:lpwstr/>
  </property>
  <property fmtid="{D5CDD505-2E9C-101B-9397-08002B2CF9AE}" pid="7" name="Industry">
    <vt:lpwstr>17;#nonprofit ＆ public sector|77bad53f-d986-4455-8155-211ebc098cac</vt:lpwstr>
  </property>
  <property fmtid="{D5CDD505-2E9C-101B-9397-08002B2CF9AE}" pid="8" name="AccountName">
    <vt:lpwstr>15;#Omnia Partners|8e8cab59-0751-4e02-9108-64e780ed2311</vt:lpwstr>
  </property>
  <property fmtid="{D5CDD505-2E9C-101B-9397-08002B2CF9AE}" pid="9" name="ContentTypeId">
    <vt:lpwstr>0x0101000B97C77CF6C980478CF1A0C7BB3DB346</vt:lpwstr>
  </property>
  <property fmtid="{D5CDD505-2E9C-101B-9397-08002B2CF9AE}" pid="10" name="Project Document Type PROPOSED">
    <vt:lpwstr>18;#framework|f4c6afd5-bc0d-4101-be0b-cfb899ffe5cf</vt:lpwstr>
  </property>
  <property fmtid="{D5CDD505-2E9C-101B-9397-08002B2CF9AE}" pid="11" name="Project_x0020_Document_x0020_Type_x0020_PROPOSED">
    <vt:lpwstr>18;#framework|f4c6afd5-bc0d-4101-be0b-cfb899ffe5cf</vt:lpwstr>
  </property>
  <property fmtid="{D5CDD505-2E9C-101B-9397-08002B2CF9AE}" pid="12" name="MSIP_Label_791df23e-ee3d-4e72-bd33-1d096ae15290_Enabled">
    <vt:lpwstr>true</vt:lpwstr>
  </property>
  <property fmtid="{D5CDD505-2E9C-101B-9397-08002B2CF9AE}" pid="13" name="MSIP_Label_791df23e-ee3d-4e72-bd33-1d096ae15290_SetDate">
    <vt:lpwstr>2026-03-15T01:27:29Z</vt:lpwstr>
  </property>
  <property fmtid="{D5CDD505-2E9C-101B-9397-08002B2CF9AE}" pid="14" name="MSIP_Label_791df23e-ee3d-4e72-bd33-1d096ae15290_Method">
    <vt:lpwstr>Standard</vt:lpwstr>
  </property>
  <property fmtid="{D5CDD505-2E9C-101B-9397-08002B2CF9AE}" pid="15" name="MSIP_Label_791df23e-ee3d-4e72-bd33-1d096ae15290_Name">
    <vt:lpwstr>General</vt:lpwstr>
  </property>
  <property fmtid="{D5CDD505-2E9C-101B-9397-08002B2CF9AE}" pid="16" name="MSIP_Label_791df23e-ee3d-4e72-bd33-1d096ae15290_SiteId">
    <vt:lpwstr>aea87219-080c-4106-b601-bed93d828f3c</vt:lpwstr>
  </property>
  <property fmtid="{D5CDD505-2E9C-101B-9397-08002B2CF9AE}" pid="17" name="MSIP_Label_791df23e-ee3d-4e72-bd33-1d096ae15290_ActionId">
    <vt:lpwstr>14c923e2-bad9-48e9-befb-cabeb1f4a3ca</vt:lpwstr>
  </property>
  <property fmtid="{D5CDD505-2E9C-101B-9397-08002B2CF9AE}" pid="18" name="MSIP_Label_791df23e-ee3d-4e72-bd33-1d096ae15290_ContentBits">
    <vt:lpwstr>0</vt:lpwstr>
  </property>
  <property fmtid="{D5CDD505-2E9C-101B-9397-08002B2CF9AE}" pid="19" name="MSIP_Label_791df23e-ee3d-4e72-bd33-1d096ae15290_Tag">
    <vt:lpwstr>10, 3, 0, 2</vt:lpwstr>
  </property>
</Properties>
</file>