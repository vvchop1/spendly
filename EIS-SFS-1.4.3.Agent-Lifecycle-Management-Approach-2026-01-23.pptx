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5"/>
    <p:sldMasterId id="2147485620" r:id="rId6"/>
  </p:sldMasterIdLst>
  <p:notesMasterIdLst>
    <p:notesMasterId r:id="rId35"/>
  </p:notesMasterIdLst>
  <p:sldIdLst>
    <p:sldId id="2147376073" r:id="rId7"/>
    <p:sldId id="2147376111" r:id="rId8"/>
    <p:sldId id="2147376078" r:id="rId9"/>
    <p:sldId id="2147376087" r:id="rId10"/>
    <p:sldId id="2147376088" r:id="rId11"/>
    <p:sldId id="2147376089" r:id="rId12"/>
    <p:sldId id="2147376090" r:id="rId13"/>
    <p:sldId id="2147376091" r:id="rId14"/>
    <p:sldId id="2147376092" r:id="rId15"/>
    <p:sldId id="2147376093" r:id="rId16"/>
    <p:sldId id="2147376094" r:id="rId17"/>
    <p:sldId id="2147376095" r:id="rId18"/>
    <p:sldId id="2147376096" r:id="rId19"/>
    <p:sldId id="2147376097" r:id="rId20"/>
    <p:sldId id="2147376098" r:id="rId21"/>
    <p:sldId id="2147376099" r:id="rId22"/>
    <p:sldId id="2147376100" r:id="rId23"/>
    <p:sldId id="2147376101" r:id="rId24"/>
    <p:sldId id="2147376102" r:id="rId25"/>
    <p:sldId id="2147376103" r:id="rId26"/>
    <p:sldId id="256" r:id="rId27"/>
    <p:sldId id="2147376104" r:id="rId28"/>
    <p:sldId id="2147376105" r:id="rId29"/>
    <p:sldId id="2147376106" r:id="rId30"/>
    <p:sldId id="2147376107" r:id="rId31"/>
    <p:sldId id="2147376108" r:id="rId32"/>
    <p:sldId id="2147376109" r:id="rId33"/>
    <p:sldId id="2147376110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44A"/>
    <a:srgbClr val="0A0A40"/>
    <a:srgbClr val="094978"/>
    <a:srgbClr val="0E1548"/>
    <a:srgbClr val="E7E9EC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307FF-062A-AF1D-9293-F7929F12B900}" v="208" dt="2026-01-22T04:52:40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0"/>
    <p:restoredTop sz="94684"/>
  </p:normalViewPr>
  <p:slideViewPr>
    <p:cSldViewPr snapToGrid="0">
      <p:cViewPr varScale="1">
        <p:scale>
          <a:sx n="150" d="100"/>
          <a:sy n="150" d="100"/>
        </p:scale>
        <p:origin x="708" y="88"/>
      </p:cViewPr>
      <p:guideLst>
        <p:guide orient="horz" pos="3696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A0DC-880F-8EC0-55CF-5D5BD068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12869-68D1-CF05-3965-0181A9101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AD5D1-D3D0-D796-E51C-5B84D45AF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45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FBADD-43F2-4F28-AC53-B30F76A30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4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FBADD-43F2-4F28-AC53-B30F76A30F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425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3568-575D-D522-8CE6-98193708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C68BD-AC87-0B09-FB11-610B1F40C8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1" y="1636296"/>
            <a:ext cx="4613642" cy="1644259"/>
          </a:xfrm>
        </p:spPr>
        <p:txBody>
          <a:bodyPr lIns="45719" tIns="45720" rIns="45719" bIns="45720" anchor="t">
            <a:normAutofit fontScale="77500" lnSpcReduction="20000"/>
          </a:bodyPr>
          <a:lstStyle/>
          <a:p>
            <a:pPr marL="0" indent="0">
              <a:buNone/>
            </a:pPr>
            <a:r>
              <a:rPr sz="3550" dirty="0">
                <a:latin typeface="Aptos" panose="020B0004020202020204" pitchFamily="34" charset="0"/>
              </a:rPr>
              <a:t>STELLANTIS Financial Services US</a:t>
            </a:r>
          </a:p>
          <a:p>
            <a:pPr marL="0" indent="0">
              <a:buNone/>
            </a:pPr>
            <a:r>
              <a:rPr sz="3550" dirty="0">
                <a:latin typeface="Aptos" panose="020B0004020202020204" pitchFamily="34" charset="0"/>
              </a:rPr>
              <a:t>Agent Lifecycle Management Approach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C6C329-B5F9-9194-32C9-2FB63579E8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3315" y="445108"/>
            <a:ext cx="3152927" cy="289006"/>
          </a:xfrm>
        </p:spPr>
        <p:txBody>
          <a:bodyPr lIns="45719" tIns="45720" rIns="45719" bIns="45720" anchor="t">
            <a:noAutofit/>
          </a:bodyPr>
          <a:lstStyle/>
          <a:p>
            <a:pPr marL="0" indent="0" algn="r">
              <a:buNone/>
            </a:pPr>
            <a:r>
              <a:rPr sz="1800" dirty="0">
                <a:latin typeface="Aptos" panose="020B0004020202020204" pitchFamily="34" charset="0"/>
              </a:rPr>
              <a:t>January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64B2D-F0F6-DDED-7DAE-ED39DD2736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5276" y="6567488"/>
            <a:ext cx="460375" cy="239712"/>
          </a:xfrm>
        </p:spPr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72941"/>
                </a:solidFill>
                <a:effectLst/>
                <a:uLnTx/>
                <a:uFillTx/>
                <a:cs typeface="Calibri" panose="020F0502020204030204" pitchFamily="34" charset="0"/>
                <a:sym typeface="Helvetica Neue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72941"/>
              </a:solidFill>
              <a:effectLst/>
              <a:uLnTx/>
              <a:uFillTx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DB317-1094-57B2-533E-9FE0A7EBEC38}"/>
              </a:ext>
            </a:extLst>
          </p:cNvPr>
          <p:cNvSpPr txBox="1"/>
          <p:nvPr/>
        </p:nvSpPr>
        <p:spPr>
          <a:xfrm>
            <a:off x="6051551" y="3811072"/>
            <a:ext cx="520729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sz="2800">
                <a:latin typeface="Calibri"/>
              </a:rPr>
              <a:t>A Platform-Agnostic Framework for AI Agent Governance</a:t>
            </a:r>
            <a:endParaRPr lang="en-US" sz="280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CAD1DE-50D9-C04A-879C-DE452EFE81C4}"/>
              </a:ext>
            </a:extLst>
          </p:cNvPr>
          <p:cNvGrpSpPr/>
          <p:nvPr/>
        </p:nvGrpSpPr>
        <p:grpSpPr>
          <a:xfrm>
            <a:off x="8778251" y="6037396"/>
            <a:ext cx="3375020" cy="820604"/>
            <a:chOff x="7072486" y="5797683"/>
            <a:chExt cx="3375020" cy="820604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5A401410-50A1-A457-14B4-1BFF18F736FF}"/>
                </a:ext>
              </a:extLst>
            </p:cNvPr>
            <p:cNvSpPr/>
            <p:nvPr/>
          </p:nvSpPr>
          <p:spPr>
            <a:xfrm rot="16200000">
              <a:off x="7109418" y="5760752"/>
              <a:ext cx="820603" cy="894467"/>
            </a:xfrm>
            <a:prstGeom prst="rtTriangl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D7399DA-3BD4-16F7-E11D-E9CB7156E558}"/>
                </a:ext>
              </a:extLst>
            </p:cNvPr>
            <p:cNvSpPr/>
            <p:nvPr/>
          </p:nvSpPr>
          <p:spPr>
            <a:xfrm>
              <a:off x="7966953" y="5797683"/>
              <a:ext cx="2480553" cy="820604"/>
            </a:xfrm>
            <a:prstGeom prst="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113A121-3A1D-6D55-415E-4B283395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104" y="6190003"/>
            <a:ext cx="1362357" cy="51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4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463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0C3B5E"/>
                </a:solidFill>
                <a:latin typeface="Aptos"/>
              </a:rPr>
              <a:t>Agenda</a:t>
            </a:r>
            <a:endParaRPr lang="en-US" sz="4267" dirty="0">
              <a:latin typeface="Apto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38656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01</a:t>
            </a:r>
            <a:endParaRPr lang="en-US" sz="1867" dirty="0"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63040" y="14020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Context &amp; Challenge</a:t>
            </a:r>
            <a:endParaRPr lang="en-US" sz="2133" dirty="0"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040" y="170688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Why agent lifecycle management matters</a:t>
            </a:r>
            <a:endParaRPr lang="en-US" sz="1600" dirty="0"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2097024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194560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02</a:t>
            </a:r>
            <a:endParaRPr lang="en-US" sz="1867" dirty="0"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2157984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Current State</a:t>
            </a:r>
            <a:endParaRPr lang="en-US" sz="2133" dirty="0"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040" y="2462784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SFS AI Governance Policy v1.0 foundation &amp; gaps</a:t>
            </a:r>
            <a:endParaRPr lang="en-US" sz="1600" dirty="0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852928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950464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03</a:t>
            </a:r>
            <a:endParaRPr lang="en-US" sz="1867" dirty="0"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913888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Recommended Framework</a:t>
            </a:r>
            <a:endParaRPr lang="en-US" sz="2133" dirty="0"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040" y="3218688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6-stage lifecycle with Agent Registry</a:t>
            </a:r>
            <a:endParaRPr lang="en-US" sz="1600" dirty="0"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608832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706368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04</a:t>
            </a:r>
            <a:endParaRPr lang="en-US" sz="1867" dirty="0">
              <a:latin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669792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Risk Tiering</a:t>
            </a:r>
            <a:endParaRPr lang="en-US" sz="2133" dirty="0"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3974592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Governance requirements by tier</a:t>
            </a:r>
            <a:endParaRPr lang="en-US" sz="1600" dirty="0"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364736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4462272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05</a:t>
            </a:r>
            <a:endParaRPr lang="en-US" sz="1867" dirty="0">
              <a:latin typeface="Apto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63040" y="442569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Platform Implementation</a:t>
            </a:r>
            <a:endParaRPr lang="en-US" sz="2133" dirty="0"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473049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Azure, Genesys, Salesforce specifics</a:t>
            </a:r>
            <a:endParaRPr lang="en-US" sz="1600" dirty="0"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5120640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600" y="5218176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06</a:t>
            </a:r>
            <a:endParaRPr lang="en-US" sz="1867" dirty="0">
              <a:latin typeface="Apto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63040" y="51816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Governance Integration</a:t>
            </a:r>
            <a:endParaRPr lang="en-US" sz="2133" dirty="0">
              <a:latin typeface="Apto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63040" y="548640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Touchpoints &amp; RACI</a:t>
            </a:r>
            <a:endParaRPr lang="en-US" sz="1600" dirty="0">
              <a:latin typeface="Apto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5876544"/>
            <a:ext cx="609600" cy="609600"/>
          </a:xfrm>
          <a:prstGeom prst="ellipse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" y="5974080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ptos"/>
              </a:rPr>
              <a:t>07</a:t>
            </a:r>
            <a:endParaRPr lang="en-US" sz="1867" dirty="0">
              <a:latin typeface="Apto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463040" y="5937504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C3B5E"/>
                </a:solidFill>
                <a:latin typeface="Aptos"/>
              </a:rPr>
              <a:t>Next Steps</a:t>
            </a:r>
            <a:endParaRPr lang="en-US" sz="2133" dirty="0">
              <a:latin typeface="Apto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463040" y="6242304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66666"/>
                </a:solidFill>
                <a:latin typeface="Aptos"/>
              </a:rPr>
              <a:t>Immediate, short-term, medium-term actions</a:t>
            </a:r>
            <a:endParaRPr lang="en-US" sz="1600" dirty="0"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Purpose</a:t>
            </a:r>
          </a:p>
          <a:p>
            <a:pPr marL="0" indent="0">
              <a:buNone/>
            </a:pPr>
            <a:r>
              <a:rPr dirty="0">
                <a:latin typeface="Aptos"/>
              </a:rPr>
              <a:t>Provide SFS with a comprehensive framework for managing AI agents from ideation through decommissioning — across Azure, </a:t>
            </a:r>
            <a:r>
              <a:rPr lang="en-US" dirty="0">
                <a:latin typeface="Aptos"/>
              </a:rPr>
              <a:t>Genesys</a:t>
            </a:r>
            <a:r>
              <a:rPr dirty="0">
                <a:latin typeface="Aptos"/>
              </a:rPr>
              <a:t>, and Salesforce platforms.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b="1" dirty="0">
                <a:latin typeface="Aptos"/>
              </a:rPr>
              <a:t>Key Recommendation</a:t>
            </a:r>
          </a:p>
          <a:p>
            <a:pPr marL="0" indent="0">
              <a:buNone/>
            </a:pPr>
            <a:r>
              <a:rPr dirty="0">
                <a:latin typeface="Aptos"/>
              </a:rPr>
              <a:t>Adopt a platform-agnostic lifecycle approach with unified governance principles, while leveraging MCP/A2A as the emerging interoperability standard.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Why Now</a:t>
            </a:r>
          </a:p>
          <a:p>
            <a:pPr marL="0" indent="0">
              <a:buNone/>
            </a:pPr>
            <a:r>
              <a:rPr>
                <a:latin typeface="Aptos"/>
              </a:rPr>
              <a:t>Industry data shows 80% of organizations have encountered risky AI agent behaviors, and 40%+ of agentic AI projects are predicted to fail by 2027.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Foundation</a:t>
            </a:r>
          </a:p>
          <a:p>
            <a:pPr marL="0" indent="0">
              <a:buNone/>
            </a:pPr>
            <a:r>
              <a:rPr>
                <a:latin typeface="Aptos"/>
              </a:rPr>
              <a:t>This framework builds on SFS's existing AI Governance Policy v1.0, addressing operational gaps while preserving established accountability structures.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3</a:t>
            </a:fld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878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Why Agent Lifecycle Management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10857471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Industry Statistics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80% of organizations have encountered risky behaviors from AI agents</a:t>
            </a:r>
            <a:r>
              <a:rPr lang="en-US" dirty="0">
                <a:latin typeface="Aptos"/>
              </a:rPr>
              <a:t>     </a:t>
            </a:r>
            <a:r>
              <a:rPr sz="1400" i="1" dirty="0">
                <a:latin typeface="Aptos"/>
              </a:rPr>
              <a:t>Source: McKinsey, Oct 2025</a:t>
            </a:r>
            <a:endParaRPr i="1" dirty="0">
              <a:latin typeface="Aptos"/>
            </a:endParaRP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40%+ of agentic AI projects will be canceled by 2027</a:t>
            </a:r>
            <a:r>
              <a:rPr lang="en-US" dirty="0">
                <a:latin typeface="Aptos"/>
              </a:rPr>
              <a:t>     </a:t>
            </a:r>
            <a:r>
              <a:rPr sz="1400" i="1" dirty="0">
                <a:latin typeface="Aptos"/>
              </a:rPr>
              <a:t>Source: Gartner, June 2025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Only 25-36% of organizations have formal AI governance frameworks</a:t>
            </a:r>
            <a:r>
              <a:rPr lang="en-US" dirty="0">
                <a:latin typeface="Aptos"/>
              </a:rPr>
              <a:t>    </a:t>
            </a:r>
            <a:r>
              <a:rPr sz="1400" i="1" dirty="0">
                <a:latin typeface="Aptos"/>
              </a:rPr>
              <a:t>Source: </a:t>
            </a:r>
            <a:r>
              <a:rPr sz="1400" i="1" dirty="0" err="1">
                <a:latin typeface="Aptos"/>
              </a:rPr>
              <a:t>AuditBoard</a:t>
            </a:r>
            <a:r>
              <a:rPr sz="1400" i="1" dirty="0">
                <a:latin typeface="Aptos"/>
              </a:rPr>
              <a:t>/Pacific AI, 2025</a:t>
            </a:r>
            <a:endParaRPr i="1" dirty="0">
              <a:latin typeface="Apto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4</a:t>
            </a:fld>
            <a:endParaRPr lang="en-US"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3625C6-1B17-3171-4EE2-903187B25A73}"/>
              </a:ext>
            </a:extLst>
          </p:cNvPr>
          <p:cNvGrpSpPr/>
          <p:nvPr/>
        </p:nvGrpSpPr>
        <p:grpSpPr>
          <a:xfrm>
            <a:off x="1437701" y="3195832"/>
            <a:ext cx="8872778" cy="2423160"/>
            <a:chOff x="457200" y="1371600"/>
            <a:chExt cx="8872778" cy="2423160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5FB2996C-15D4-2810-9FAA-9A13AED13EAE}"/>
                </a:ext>
              </a:extLst>
            </p:cNvPr>
            <p:cNvSpPr/>
            <p:nvPr/>
          </p:nvSpPr>
          <p:spPr>
            <a:xfrm>
              <a:off x="457200" y="2286000"/>
              <a:ext cx="1645920" cy="91440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E738602F-D6BB-E119-2633-99D57B66E16B}"/>
                </a:ext>
              </a:extLst>
            </p:cNvPr>
            <p:cNvSpPr/>
            <p:nvPr/>
          </p:nvSpPr>
          <p:spPr>
            <a:xfrm>
              <a:off x="457200" y="26060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/>
                </a:rPr>
                <a:t>Experimentation</a:t>
              </a:r>
              <a:endParaRPr lang="en-US" sz="1100" dirty="0">
                <a:latin typeface="Aptos"/>
              </a:endParaRPr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A2B437FB-F8F0-F399-82EC-B55F98944A07}"/>
                </a:ext>
              </a:extLst>
            </p:cNvPr>
            <p:cNvSpPr/>
            <p:nvPr/>
          </p:nvSpPr>
          <p:spPr>
            <a:xfrm>
              <a:off x="2148840" y="2606040"/>
              <a:ext cx="365760" cy="274320"/>
            </a:xfrm>
            <a:prstGeom prst="rightArrow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3BEC1D90-4848-2DF1-5152-AEFA3FE2F0F2}"/>
                </a:ext>
              </a:extLst>
            </p:cNvPr>
            <p:cNvSpPr/>
            <p:nvPr/>
          </p:nvSpPr>
          <p:spPr>
            <a:xfrm>
              <a:off x="2743200" y="2286000"/>
              <a:ext cx="1645920" cy="91440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0FF74468-BC62-849A-4E43-B96A9D494B82}"/>
                </a:ext>
              </a:extLst>
            </p:cNvPr>
            <p:cNvSpPr/>
            <p:nvPr/>
          </p:nvSpPr>
          <p:spPr>
            <a:xfrm>
              <a:off x="2743200" y="26060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/>
                </a:rPr>
                <a:t>Pilot</a:t>
              </a:r>
              <a:endParaRPr lang="en-US" sz="1100" dirty="0">
                <a:latin typeface="Aptos"/>
              </a:endParaRPr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3BC12767-BC5E-F588-C6E4-BE60FCCD0EE7}"/>
                </a:ext>
              </a:extLst>
            </p:cNvPr>
            <p:cNvSpPr/>
            <p:nvPr/>
          </p:nvSpPr>
          <p:spPr>
            <a:xfrm>
              <a:off x="4434840" y="2606040"/>
              <a:ext cx="731520" cy="274320"/>
            </a:xfrm>
            <a:prstGeom prst="rightArrow">
              <a:avLst/>
            </a:prstGeom>
            <a:solidFill>
              <a:srgbClr val="C00000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0338C528-7732-8220-34E0-A91E30C26E14}"/>
                </a:ext>
              </a:extLst>
            </p:cNvPr>
            <p:cNvSpPr/>
            <p:nvPr/>
          </p:nvSpPr>
          <p:spPr>
            <a:xfrm>
              <a:off x="4251960" y="1371600"/>
              <a:ext cx="1828800" cy="731520"/>
            </a:xfrm>
            <a:prstGeom prst="rect">
              <a:avLst/>
            </a:prstGeom>
            <a:solidFill>
              <a:srgbClr val="FFF0F0"/>
            </a:solidFill>
            <a:ln w="1270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AEB2DD80-06A7-5025-543E-987D81C7E7C1}"/>
                </a:ext>
              </a:extLst>
            </p:cNvPr>
            <p:cNvSpPr/>
            <p:nvPr/>
          </p:nvSpPr>
          <p:spPr>
            <a:xfrm>
              <a:off x="4251960" y="1417320"/>
              <a:ext cx="18288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C00000"/>
                  </a:solidFill>
                  <a:latin typeface="Aptos"/>
                </a:rPr>
                <a:t>GOVERNANCE GAP</a:t>
              </a:r>
              <a:endParaRPr lang="en-US" sz="10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C00000"/>
                  </a:solidFill>
                  <a:latin typeface="Aptos"/>
                </a:rPr>
                <a:t>Where 40%+ projects fail</a:t>
              </a:r>
              <a:endParaRPr lang="en-US" sz="1000" dirty="0">
                <a:latin typeface="Aptos"/>
              </a:endParaRPr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47D9E340-90DC-8587-3D35-A38BD5D53F4F}"/>
                </a:ext>
              </a:extLst>
            </p:cNvPr>
            <p:cNvSpPr/>
            <p:nvPr/>
          </p:nvSpPr>
          <p:spPr>
            <a:xfrm>
              <a:off x="5029200" y="2286000"/>
              <a:ext cx="1645920" cy="914400"/>
            </a:xfrm>
            <a:prstGeom prst="roundRect">
              <a:avLst/>
            </a:prstGeom>
            <a:solidFill>
              <a:srgbClr val="C00000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B6F5220F-5355-A0A9-662E-256E5C886C7B}"/>
                </a:ext>
              </a:extLst>
            </p:cNvPr>
            <p:cNvSpPr/>
            <p:nvPr/>
          </p:nvSpPr>
          <p:spPr>
            <a:xfrm>
              <a:off x="5029200" y="26060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/>
                </a:rPr>
                <a:t>Scale</a:t>
              </a:r>
              <a:endParaRPr lang="en-US" sz="1100" dirty="0">
                <a:latin typeface="Aptos"/>
              </a:endParaRPr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139FCA67-9438-9271-118F-901880F654E0}"/>
                </a:ext>
              </a:extLst>
            </p:cNvPr>
            <p:cNvSpPr/>
            <p:nvPr/>
          </p:nvSpPr>
          <p:spPr>
            <a:xfrm>
              <a:off x="6720840" y="2606040"/>
              <a:ext cx="365760" cy="274320"/>
            </a:xfrm>
            <a:prstGeom prst="rightArrow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24361331-5C68-7ABC-A62D-40997F3B8422}"/>
                </a:ext>
              </a:extLst>
            </p:cNvPr>
            <p:cNvSpPr/>
            <p:nvPr/>
          </p:nvSpPr>
          <p:spPr>
            <a:xfrm>
              <a:off x="7315200" y="2286000"/>
              <a:ext cx="1645920" cy="914400"/>
            </a:xfrm>
            <a:prstGeom prst="round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>
                <a:latin typeface="Aptos"/>
              </a:endParaRPr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555D50CE-4D06-5E25-3691-67A027A899F3}"/>
                </a:ext>
              </a:extLst>
            </p:cNvPr>
            <p:cNvSpPr/>
            <p:nvPr/>
          </p:nvSpPr>
          <p:spPr>
            <a:xfrm>
              <a:off x="7315200" y="2514600"/>
              <a:ext cx="16459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/>
                </a:rPr>
                <a:t>Enterprise</a:t>
              </a:r>
              <a:endParaRPr lang="en-US" sz="11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/>
                </a:rPr>
                <a:t>Value</a:t>
              </a:r>
              <a:endParaRPr lang="en-US" sz="1100" dirty="0">
                <a:latin typeface="Aptos"/>
              </a:endParaRP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62580695-0522-D2FA-EE5D-5398B7487105}"/>
                </a:ext>
              </a:extLst>
            </p:cNvPr>
            <p:cNvSpPr/>
            <p:nvPr/>
          </p:nvSpPr>
          <p:spPr>
            <a:xfrm>
              <a:off x="1201117" y="3520440"/>
              <a:ext cx="812886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666666"/>
                  </a:solidFill>
                  <a:latin typeface="Aptos"/>
                </a:rPr>
                <a:t>Governance is the critical enabler for scaling AI agents from pilot to enterprise value</a:t>
              </a:r>
              <a:endParaRPr lang="en-US" sz="1200" dirty="0"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What is an "Agent" at SFS?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9818165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Scope Definition</a:t>
            </a:r>
          </a:p>
          <a:p>
            <a:pPr marL="0" indent="0">
              <a:buNone/>
            </a:pPr>
            <a:r>
              <a:rPr dirty="0">
                <a:latin typeface="Aptos"/>
              </a:rPr>
              <a:t>For lifecycle purposes, an "agent" includes any AI-powered system that:</a:t>
            </a:r>
          </a:p>
          <a:p>
            <a:pPr marL="365760" indent="-182880" algn="l">
              <a:spcBef>
                <a:spcPts val="0"/>
              </a:spcBef>
              <a:buChar char="•"/>
            </a:pPr>
            <a:r>
              <a:rPr dirty="0">
                <a:latin typeface="Aptos"/>
              </a:rPr>
              <a:t>Interacts with users (customers or employees)</a:t>
            </a:r>
          </a:p>
          <a:p>
            <a:pPr marL="365760" indent="-182880" algn="l">
              <a:spcBef>
                <a:spcPts val="0"/>
              </a:spcBef>
              <a:buChar char="•"/>
            </a:pPr>
            <a:r>
              <a:rPr dirty="0">
                <a:latin typeface="Aptos"/>
              </a:rPr>
              <a:t>Makes or supports decisions</a:t>
            </a:r>
          </a:p>
          <a:p>
            <a:pPr marL="365760" indent="-182880" algn="l">
              <a:spcBef>
                <a:spcPts val="0"/>
              </a:spcBef>
              <a:buChar char="•"/>
            </a:pPr>
            <a:r>
              <a:rPr dirty="0">
                <a:latin typeface="Aptos"/>
              </a:rPr>
              <a:t>Operates with some degree of autonomy</a:t>
            </a:r>
          </a:p>
          <a:p>
            <a:pPr marL="365760" indent="-182880" algn="l">
              <a:spcBef>
                <a:spcPts val="0"/>
              </a:spcBef>
              <a:buChar char="•"/>
            </a:pPr>
            <a:r>
              <a:rPr dirty="0">
                <a:latin typeface="Aptos"/>
              </a:rPr>
              <a:t>Consumes tokens, compute, or API calls</a:t>
            </a:r>
          </a:p>
          <a:p>
            <a:pPr marL="0" indent="0">
              <a:buNone/>
            </a:pPr>
            <a:r>
              <a:rPr dirty="0">
                <a:latin typeface="Aptos"/>
              </a:rPr>
              <a:t>This includes systems built in-house AND configured within vendor platforms.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5</a:t>
            </a:fld>
            <a:endParaRPr lang="en-US">
              <a:latin typeface="Aptos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5F1E8A1-F830-97B0-C8FC-E94ED1CFFADC}"/>
              </a:ext>
            </a:extLst>
          </p:cNvPr>
          <p:cNvSpPr/>
          <p:nvPr/>
        </p:nvSpPr>
        <p:spPr>
          <a:xfrm>
            <a:off x="868196" y="3774115"/>
            <a:ext cx="3278753" cy="40778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>
              <a:latin typeface="Apto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DED09BF-9D49-6D58-A57E-5C40D0EBACA2}"/>
              </a:ext>
            </a:extLst>
          </p:cNvPr>
          <p:cNvSpPr/>
          <p:nvPr/>
        </p:nvSpPr>
        <p:spPr>
          <a:xfrm>
            <a:off x="868196" y="3876060"/>
            <a:ext cx="3278753" cy="203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</a:rPr>
              <a:t>Azure-Native</a:t>
            </a:r>
            <a:endParaRPr lang="en-US" sz="1600" dirty="0">
              <a:latin typeface="Aptos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25922A9-2BD2-C555-B303-C37C99D7A145}"/>
              </a:ext>
            </a:extLst>
          </p:cNvPr>
          <p:cNvSpPr/>
          <p:nvPr/>
        </p:nvSpPr>
        <p:spPr>
          <a:xfrm>
            <a:off x="4233232" y="3774115"/>
            <a:ext cx="3278753" cy="407782"/>
          </a:xfrm>
          <a:prstGeom prst="rect">
            <a:avLst/>
          </a:prstGeom>
          <a:solidFill>
            <a:srgbClr val="FF4F1F"/>
          </a:solidFill>
          <a:ln/>
        </p:spPr>
        <p:txBody>
          <a:bodyPr/>
          <a:lstStyle/>
          <a:p>
            <a:endParaRPr lang="en-US">
              <a:latin typeface="Aptos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0ABB97E-2250-C207-74E0-A84887DF9424}"/>
              </a:ext>
            </a:extLst>
          </p:cNvPr>
          <p:cNvSpPr/>
          <p:nvPr/>
        </p:nvSpPr>
        <p:spPr>
          <a:xfrm>
            <a:off x="4233232" y="3876060"/>
            <a:ext cx="3278753" cy="203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</a:rPr>
              <a:t>Genesys</a:t>
            </a:r>
            <a:endParaRPr lang="en-US" sz="1600" dirty="0">
              <a:latin typeface="Aptos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490B7E0-ADCF-20CE-B1F1-AA1E0BF4A202}"/>
              </a:ext>
            </a:extLst>
          </p:cNvPr>
          <p:cNvSpPr/>
          <p:nvPr/>
        </p:nvSpPr>
        <p:spPr>
          <a:xfrm>
            <a:off x="7598267" y="3774115"/>
            <a:ext cx="3278753" cy="407782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>
              <a:latin typeface="Aptos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E4F60FC-92AC-2DA6-A4B8-8155DB4F5CE7}"/>
              </a:ext>
            </a:extLst>
          </p:cNvPr>
          <p:cNvSpPr/>
          <p:nvPr/>
        </p:nvSpPr>
        <p:spPr>
          <a:xfrm>
            <a:off x="7598267" y="3876060"/>
            <a:ext cx="3278753" cy="203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</a:rPr>
              <a:t>Salesforce</a:t>
            </a:r>
            <a:endParaRPr lang="en-US" sz="1600" dirty="0">
              <a:latin typeface="Aptos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FEB998B1-8BA2-1497-9ADD-625DCC8BB561}"/>
              </a:ext>
            </a:extLst>
          </p:cNvPr>
          <p:cNvSpPr/>
          <p:nvPr/>
        </p:nvSpPr>
        <p:spPr>
          <a:xfrm>
            <a:off x="868196" y="4181897"/>
            <a:ext cx="3278753" cy="1631127"/>
          </a:xfrm>
          <a:prstGeom prst="rect">
            <a:avLst/>
          </a:prstGeom>
          <a:solidFill>
            <a:srgbClr val="F0F8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sz="3200">
              <a:latin typeface="Aptos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DB9EC09-23E0-2955-18CF-1A00515B1A8F}"/>
              </a:ext>
            </a:extLst>
          </p:cNvPr>
          <p:cNvSpPr/>
          <p:nvPr/>
        </p:nvSpPr>
        <p:spPr>
          <a:xfrm>
            <a:off x="1040762" y="4317824"/>
            <a:ext cx="2933621" cy="1359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Custom chatbots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Copilot integrations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ML models (residual value)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Azure OpenAI apps</a:t>
            </a:r>
            <a:endParaRPr lang="en-US" dirty="0">
              <a:latin typeface="Aptos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0D8C87E-61E8-6BF9-E823-24D7D0E2EFAD}"/>
              </a:ext>
            </a:extLst>
          </p:cNvPr>
          <p:cNvSpPr/>
          <p:nvPr/>
        </p:nvSpPr>
        <p:spPr>
          <a:xfrm>
            <a:off x="4233232" y="4181897"/>
            <a:ext cx="3278753" cy="1631127"/>
          </a:xfrm>
          <a:prstGeom prst="rect">
            <a:avLst/>
          </a:prstGeom>
          <a:solidFill>
            <a:srgbClr val="FFF5F0"/>
          </a:solidFill>
          <a:ln w="12700">
            <a:solidFill>
              <a:srgbClr val="FF4F1F"/>
            </a:solidFill>
            <a:prstDash val="solid"/>
          </a:ln>
        </p:spPr>
        <p:txBody>
          <a:bodyPr/>
          <a:lstStyle/>
          <a:p>
            <a:endParaRPr lang="en-US">
              <a:latin typeface="Aptos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CF49168-52BA-4E88-DD99-14EF8E14F867}"/>
              </a:ext>
            </a:extLst>
          </p:cNvPr>
          <p:cNvSpPr/>
          <p:nvPr/>
        </p:nvSpPr>
        <p:spPr>
          <a:xfrm>
            <a:off x="4405798" y="4317824"/>
            <a:ext cx="2933621" cy="1359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Virtual Agents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Agent Copilots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AI-powered IVR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Knowledge Bots</a:t>
            </a:r>
            <a:endParaRPr lang="en-US" dirty="0">
              <a:latin typeface="Aptos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3AF2D0E7-830F-8BDD-CB9F-447F632CF4CD}"/>
              </a:ext>
            </a:extLst>
          </p:cNvPr>
          <p:cNvSpPr/>
          <p:nvPr/>
        </p:nvSpPr>
        <p:spPr>
          <a:xfrm>
            <a:off x="7598267" y="4181897"/>
            <a:ext cx="3278753" cy="1631127"/>
          </a:xfrm>
          <a:prstGeom prst="rect">
            <a:avLst/>
          </a:prstGeom>
          <a:solidFill>
            <a:srgbClr val="F0FAFF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US">
              <a:latin typeface="Aptos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B95931E-1DC3-27D6-2AD8-A253B128784B}"/>
              </a:ext>
            </a:extLst>
          </p:cNvPr>
          <p:cNvSpPr/>
          <p:nvPr/>
        </p:nvSpPr>
        <p:spPr>
          <a:xfrm>
            <a:off x="7770833" y="4317824"/>
            <a:ext cx="2933621" cy="1359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Einstein Bots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Agentforce assistants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Service Cloud AI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C3B5E"/>
                </a:solidFill>
                <a:latin typeface="Aptos"/>
              </a:rPr>
              <a:t>• (Awaiting approval)</a:t>
            </a:r>
            <a:endParaRPr lang="en-US" dirty="0">
              <a:latin typeface="Aptos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27708EED-63F8-7A49-7D82-BCC383AA83A0}"/>
              </a:ext>
            </a:extLst>
          </p:cNvPr>
          <p:cNvSpPr/>
          <p:nvPr/>
        </p:nvSpPr>
        <p:spPr>
          <a:xfrm>
            <a:off x="868196" y="5948951"/>
            <a:ext cx="10008824" cy="407782"/>
          </a:xfrm>
          <a:prstGeom prst="rect">
            <a:avLst/>
          </a:prstGeom>
          <a:solidFill>
            <a:srgbClr val="0C3B5E"/>
          </a:solidFill>
          <a:ln/>
        </p:spPr>
        <p:txBody>
          <a:bodyPr/>
          <a:lstStyle/>
          <a:p>
            <a:endParaRPr lang="en-US">
              <a:latin typeface="Aptos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9A1C4ED8-E874-7C60-6A70-580F3C8F999E}"/>
              </a:ext>
            </a:extLst>
          </p:cNvPr>
          <p:cNvSpPr/>
          <p:nvPr/>
        </p:nvSpPr>
        <p:spPr>
          <a:xfrm>
            <a:off x="868196" y="6050897"/>
            <a:ext cx="10008824" cy="203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Embedded AI in SaaS (AI features within vendor platforms)</a:t>
            </a:r>
            <a:endParaRPr lang="en-US" sz="1400" dirty="0"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Why a Unified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Proliferation Risk</a:t>
            </a:r>
          </a:p>
          <a:p>
            <a:pPr marL="0" indent="0">
              <a:buNone/>
            </a:pPr>
            <a:r>
              <a:rPr dirty="0">
                <a:latin typeface="Aptos"/>
              </a:rPr>
              <a:t>Platform-native agents (</a:t>
            </a:r>
            <a:r>
              <a:rPr lang="en-US" dirty="0">
                <a:latin typeface="Aptos"/>
              </a:rPr>
              <a:t>Genesys</a:t>
            </a:r>
            <a:r>
              <a:rPr dirty="0">
                <a:latin typeface="Aptos"/>
              </a:rPr>
              <a:t> bots, Einstein assistants) are easier to deploy than custom-built systems. Without unified governance, they may bypass oversight.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b="1" dirty="0">
                <a:latin typeface="Aptos"/>
              </a:rPr>
              <a:t>Compliance Consistency</a:t>
            </a:r>
          </a:p>
          <a:p>
            <a:pPr marL="0" indent="0">
              <a:buNone/>
            </a:pPr>
            <a:r>
              <a:rPr dirty="0">
                <a:latin typeface="Aptos"/>
              </a:rPr>
              <a:t>The same customer data, the same regulatory requirements (CFPB, fair lending, privacy) apply regardless of which platform hosts the agent.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Cost Visibility</a:t>
            </a:r>
          </a:p>
          <a:p>
            <a:pPr marL="0" indent="0">
              <a:buNone/>
            </a:pPr>
            <a:r>
              <a:rPr>
                <a:latin typeface="Aptos"/>
              </a:rPr>
              <a:t>Token consumption and compute costs span multiple platforms. Without unified tracking, SFS cannot attribute costs by business unit or demonstrate ROI.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Interoperability Readiness</a:t>
            </a:r>
          </a:p>
          <a:p>
            <a:pPr marL="0" indent="0">
              <a:buNone/>
            </a:pPr>
            <a:r>
              <a:rPr>
                <a:latin typeface="Aptos"/>
              </a:rPr>
              <a:t>The industry is converging on MCP/A2A standards. A unified framework positions SFS to orchestrate agents across platforms.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6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SFS AI Governance Policy v1.0 — Current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7" y="1239008"/>
            <a:ext cx="3725838" cy="4764741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Lifecycle Stages Defined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Design &amp; Development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Testing &amp; Validation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Deployment &amp; Monitoring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Decommissioning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b="1" dirty="0">
                <a:latin typeface="Aptos"/>
              </a:rPr>
              <a:t>Accountability Structure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CDO ultimately responsible for all AI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AI Steering Committee approval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7</a:t>
            </a:fld>
            <a:endParaRPr lang="en-US"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010DD3-5DC3-A98E-3935-26B9143972D6}"/>
              </a:ext>
            </a:extLst>
          </p:cNvPr>
          <p:cNvGrpSpPr/>
          <p:nvPr/>
        </p:nvGrpSpPr>
        <p:grpSpPr>
          <a:xfrm>
            <a:off x="5185382" y="2334044"/>
            <a:ext cx="6540285" cy="2189911"/>
            <a:chOff x="457200" y="1188720"/>
            <a:chExt cx="10972800" cy="2926080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A4BCA17F-99A1-0CE8-230E-E8E92FE4F697}"/>
                </a:ext>
              </a:extLst>
            </p:cNvPr>
            <p:cNvSpPr/>
            <p:nvPr/>
          </p:nvSpPr>
          <p:spPr>
            <a:xfrm>
              <a:off x="457200" y="1188720"/>
              <a:ext cx="10972800" cy="457200"/>
            </a:xfrm>
            <a:prstGeom prst="rect">
              <a:avLst/>
            </a:prstGeom>
            <a:solidFill>
              <a:srgbClr val="7B2D8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807F5289-F27D-8BBD-3C73-7ED94BD064E7}"/>
                </a:ext>
              </a:extLst>
            </p:cNvPr>
            <p:cNvSpPr/>
            <p:nvPr/>
          </p:nvSpPr>
          <p:spPr>
            <a:xfrm>
              <a:off x="457200" y="1234440"/>
              <a:ext cx="10972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AI Steering Committee Oversight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4DDA965A-5363-F70E-12E9-02453C732064}"/>
                </a:ext>
              </a:extLst>
            </p:cNvPr>
            <p:cNvSpPr/>
            <p:nvPr/>
          </p:nvSpPr>
          <p:spPr>
            <a:xfrm>
              <a:off x="640080" y="1828800"/>
              <a:ext cx="2377440" cy="164592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93F1FF69-EE36-7576-3DE9-D5A2A5B2095D}"/>
                </a:ext>
              </a:extLst>
            </p:cNvPr>
            <p:cNvSpPr/>
            <p:nvPr/>
          </p:nvSpPr>
          <p:spPr>
            <a:xfrm>
              <a:off x="640080" y="2377440"/>
              <a:ext cx="23774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Design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Development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528AAB57-D550-060F-11AA-E2457BB599C8}"/>
                </a:ext>
              </a:extLst>
            </p:cNvPr>
            <p:cNvSpPr/>
            <p:nvPr/>
          </p:nvSpPr>
          <p:spPr>
            <a:xfrm>
              <a:off x="3063240" y="2468880"/>
              <a:ext cx="274320" cy="365760"/>
            </a:xfrm>
            <a:prstGeom prst="rightArrow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145D08F4-B9C7-1F83-A04D-20E177906ED3}"/>
                </a:ext>
              </a:extLst>
            </p:cNvPr>
            <p:cNvSpPr/>
            <p:nvPr/>
          </p:nvSpPr>
          <p:spPr>
            <a:xfrm>
              <a:off x="3383280" y="1828800"/>
              <a:ext cx="2377440" cy="1645920"/>
            </a:xfrm>
            <a:prstGeom prst="roundRect">
              <a:avLst/>
            </a:prstGeom>
            <a:solidFill>
              <a:srgbClr val="1E5A8A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BF521E3B-5C32-1492-D48E-D87A0398BA11}"/>
                </a:ext>
              </a:extLst>
            </p:cNvPr>
            <p:cNvSpPr/>
            <p:nvPr/>
          </p:nvSpPr>
          <p:spPr>
            <a:xfrm>
              <a:off x="3383280" y="2377440"/>
              <a:ext cx="23774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Testing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Validation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4CC9E782-36F1-5E8B-8E62-D3147F6F6B53}"/>
                </a:ext>
              </a:extLst>
            </p:cNvPr>
            <p:cNvSpPr/>
            <p:nvPr/>
          </p:nvSpPr>
          <p:spPr>
            <a:xfrm>
              <a:off x="5806440" y="2468880"/>
              <a:ext cx="274320" cy="365760"/>
            </a:xfrm>
            <a:prstGeom prst="rightArrow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8917C523-D63D-960A-261F-C078770C2EBB}"/>
                </a:ext>
              </a:extLst>
            </p:cNvPr>
            <p:cNvSpPr/>
            <p:nvPr/>
          </p:nvSpPr>
          <p:spPr>
            <a:xfrm>
              <a:off x="6126480" y="1828800"/>
              <a:ext cx="2377440" cy="164592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9BAC18C-4AA6-331A-C7B7-8FF680EBA360}"/>
                </a:ext>
              </a:extLst>
            </p:cNvPr>
            <p:cNvSpPr/>
            <p:nvPr/>
          </p:nvSpPr>
          <p:spPr>
            <a:xfrm>
              <a:off x="6126480" y="2377440"/>
              <a:ext cx="23774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Deployment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Monitoring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8F3243CE-E4C0-5A4A-EBBC-DBB3118B0139}"/>
                </a:ext>
              </a:extLst>
            </p:cNvPr>
            <p:cNvSpPr/>
            <p:nvPr/>
          </p:nvSpPr>
          <p:spPr>
            <a:xfrm>
              <a:off x="8549640" y="2468880"/>
              <a:ext cx="274320" cy="365760"/>
            </a:xfrm>
            <a:prstGeom prst="rightArrow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1DB74DB0-55ED-2D6F-BC2E-A27059686142}"/>
                </a:ext>
              </a:extLst>
            </p:cNvPr>
            <p:cNvSpPr/>
            <p:nvPr/>
          </p:nvSpPr>
          <p:spPr>
            <a:xfrm>
              <a:off x="8869680" y="1828800"/>
              <a:ext cx="2377440" cy="1645920"/>
            </a:xfrm>
            <a:prstGeom prst="roundRect">
              <a:avLst/>
            </a:prstGeom>
            <a:solidFill>
              <a:srgbClr val="666666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BA29358C-116C-5AFB-0EEE-BFFC658CD459}"/>
                </a:ext>
              </a:extLst>
            </p:cNvPr>
            <p:cNvSpPr/>
            <p:nvPr/>
          </p:nvSpPr>
          <p:spPr>
            <a:xfrm>
              <a:off x="8869680" y="2377440"/>
              <a:ext cx="23774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Decommissioning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385592D8-85FF-8279-D83A-C42D4E8E7BC5}"/>
                </a:ext>
              </a:extLst>
            </p:cNvPr>
            <p:cNvSpPr/>
            <p:nvPr/>
          </p:nvSpPr>
          <p:spPr>
            <a:xfrm>
              <a:off x="457200" y="3657600"/>
              <a:ext cx="10972800" cy="457200"/>
            </a:xfrm>
            <a:prstGeom prst="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1600">
                <a:latin typeface="Aptos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F1202EAB-06A9-0267-9F45-40FF32460F97}"/>
                </a:ext>
              </a:extLst>
            </p:cNvPr>
            <p:cNvSpPr/>
            <p:nvPr/>
          </p:nvSpPr>
          <p:spPr>
            <a:xfrm>
              <a:off x="457200" y="3703320"/>
              <a:ext cx="10972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CDO Accountability</a:t>
              </a:r>
              <a:endParaRPr lang="en-US" sz="1200" dirty="0"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Governance Reality — How It Works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AI Steering Committee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Meets every 6-10 weeks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Includes key executives, architects, interested parties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Ryan Miller coordinates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Maturity Level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Process "hasn't been pressure tested yet" — team expects edge cases as agent deployments scale.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Procurement Integration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Allison not formally in committee, but "nothing gets signed without her" — practical stopgap for tool acquisition governance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Existing Practices Worth Formalizing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Rene's champion-challenger validation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Mark Segarra's model governance team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ARB reviews in EPMO discovery</a:t>
            </a:r>
          </a:p>
          <a:p>
            <a:pPr marL="0" indent="0">
              <a:buNone/>
            </a:pPr>
            <a:r>
              <a:rPr i="1">
                <a:latin typeface="Aptos"/>
              </a:rPr>
              <a:t>Source: EPMO Interview, Dec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8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Gaps in Current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What's Missing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Agent/Model Registry — No visibility into what exists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Version Control &amp; Rollback — No standards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Champion-Challenger — Ad hoc (Rene's team only)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Drift Detection — No thresholds or automation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Performance SLAs — "Monitored" undefined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Additional Gaps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Cost Attribution — No token/compute tracking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Human-in-the-Loop — No risk-tiered requirements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Incident Response — No AI-specific playbook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Vendor AI Coverage — </a:t>
            </a:r>
            <a:r>
              <a:rPr lang="en-US" dirty="0">
                <a:latin typeface="Aptos"/>
              </a:rPr>
              <a:t>Genesys,</a:t>
            </a:r>
            <a:r>
              <a:rPr dirty="0">
                <a:latin typeface="Aptos"/>
              </a:rPr>
              <a:t> Einstein unclear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Interoperability — No MCP/A2A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9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Recommended Lifecycle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264763" y="1520328"/>
            <a:ext cx="4327157" cy="4325450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Key Principles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Agent Registry as system of record throughout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Risk tier determines governance requirements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Defined gates, artifacts, and accountability at each stage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AI Steering Committee touchpoints at key stages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CDO accountability spans all stages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10</a:t>
            </a:fld>
            <a:endParaRPr lang="en-US"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B91D4C4-F25E-E958-BA22-62560FCE08EB}"/>
              </a:ext>
            </a:extLst>
          </p:cNvPr>
          <p:cNvGrpSpPr/>
          <p:nvPr/>
        </p:nvGrpSpPr>
        <p:grpSpPr>
          <a:xfrm>
            <a:off x="600080" y="1167787"/>
            <a:ext cx="6131225" cy="5188945"/>
            <a:chOff x="2423160" y="274320"/>
            <a:chExt cx="6583680" cy="5120640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DF104F37-5ACE-05CC-A6E0-7FC76BB44B97}"/>
                </a:ext>
              </a:extLst>
            </p:cNvPr>
            <p:cNvSpPr/>
            <p:nvPr/>
          </p:nvSpPr>
          <p:spPr>
            <a:xfrm>
              <a:off x="4617720" y="1828800"/>
              <a:ext cx="2194560" cy="1463040"/>
            </a:xfrm>
            <a:prstGeom prst="ellipse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4CCF41F7-9B80-4FA3-CDC1-60999F6B2F3D}"/>
                </a:ext>
              </a:extLst>
            </p:cNvPr>
            <p:cNvSpPr/>
            <p:nvPr/>
          </p:nvSpPr>
          <p:spPr>
            <a:xfrm>
              <a:off x="4617720" y="2194560"/>
              <a:ext cx="21945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ptos"/>
                </a:rPr>
                <a:t>Agent</a:t>
              </a:r>
              <a:endParaRPr lang="en-US" sz="24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ptos"/>
                </a:rPr>
                <a:t>Registry</a:t>
              </a:r>
              <a:endParaRPr lang="en-US" sz="2400" dirty="0">
                <a:latin typeface="Aptos"/>
              </a:endParaRPr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8654DAE0-ECE5-1379-9F84-0785C8B1CFC5}"/>
                </a:ext>
              </a:extLst>
            </p:cNvPr>
            <p:cNvSpPr/>
            <p:nvPr/>
          </p:nvSpPr>
          <p:spPr>
            <a:xfrm>
              <a:off x="4892040" y="274320"/>
              <a:ext cx="1645920" cy="91440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8523083C-7D13-092F-43ED-313B0686E751}"/>
                </a:ext>
              </a:extLst>
            </p:cNvPr>
            <p:cNvSpPr/>
            <p:nvPr/>
          </p:nvSpPr>
          <p:spPr>
            <a:xfrm>
              <a:off x="4892040" y="45720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1. Ideation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Registration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FA9C8DF0-866D-53E0-9D4B-3B18DFE7978B}"/>
                </a:ext>
              </a:extLst>
            </p:cNvPr>
            <p:cNvSpPr/>
            <p:nvPr/>
          </p:nvSpPr>
          <p:spPr>
            <a:xfrm>
              <a:off x="7360920" y="1188720"/>
              <a:ext cx="1645920" cy="914400"/>
            </a:xfrm>
            <a:prstGeom prst="roundRect">
              <a:avLst/>
            </a:prstGeom>
            <a:solidFill>
              <a:srgbClr val="1E5A8A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4AF1CFED-37F5-3A0E-CCEC-4DB16756DA1F}"/>
                </a:ext>
              </a:extLst>
            </p:cNvPr>
            <p:cNvSpPr/>
            <p:nvPr/>
          </p:nvSpPr>
          <p:spPr>
            <a:xfrm>
              <a:off x="7360920" y="137160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2. Design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Development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83FAE9BD-F8BF-4D76-6FAF-4BCF34FA0835}"/>
                </a:ext>
              </a:extLst>
            </p:cNvPr>
            <p:cNvSpPr/>
            <p:nvPr/>
          </p:nvSpPr>
          <p:spPr>
            <a:xfrm>
              <a:off x="7360920" y="3200400"/>
              <a:ext cx="1645920" cy="91440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93226124-5ACD-01A8-536A-167B077ABD1E}"/>
                </a:ext>
              </a:extLst>
            </p:cNvPr>
            <p:cNvSpPr/>
            <p:nvPr/>
          </p:nvSpPr>
          <p:spPr>
            <a:xfrm>
              <a:off x="7360920" y="338328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3. Testing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Validation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3834AADD-240D-AA92-7D02-BB71A108E393}"/>
                </a:ext>
              </a:extLst>
            </p:cNvPr>
            <p:cNvSpPr/>
            <p:nvPr/>
          </p:nvSpPr>
          <p:spPr>
            <a:xfrm>
              <a:off x="4892040" y="4114800"/>
              <a:ext cx="1645920" cy="914400"/>
            </a:xfrm>
            <a:prstGeom prst="roundRect">
              <a:avLst/>
            </a:prstGeom>
            <a:solidFill>
              <a:srgbClr val="1E5A8A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2C4547B4-7666-F74B-6628-453455A2F488}"/>
                </a:ext>
              </a:extLst>
            </p:cNvPr>
            <p:cNvSpPr/>
            <p:nvPr/>
          </p:nvSpPr>
          <p:spPr>
            <a:xfrm>
              <a:off x="4892040" y="429768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4. Deployment &amp;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Monitoring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97EB2C80-039E-B7CC-7D03-EED300A1D3BF}"/>
                </a:ext>
              </a:extLst>
            </p:cNvPr>
            <p:cNvSpPr/>
            <p:nvPr/>
          </p:nvSpPr>
          <p:spPr>
            <a:xfrm>
              <a:off x="2423160" y="3200400"/>
              <a:ext cx="1645920" cy="914400"/>
            </a:xfrm>
            <a:prstGeom prst="round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6997C295-AA5E-7D4D-3BBA-D7BDA7AAB0B6}"/>
                </a:ext>
              </a:extLst>
            </p:cNvPr>
            <p:cNvSpPr/>
            <p:nvPr/>
          </p:nvSpPr>
          <p:spPr>
            <a:xfrm>
              <a:off x="2423160" y="338328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5. Maintenance</a:t>
              </a:r>
              <a:endParaRPr lang="en-US" sz="12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&amp; Evolution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24E2672A-414E-B010-CBC4-BFF71FDA8502}"/>
                </a:ext>
              </a:extLst>
            </p:cNvPr>
            <p:cNvSpPr/>
            <p:nvPr/>
          </p:nvSpPr>
          <p:spPr>
            <a:xfrm>
              <a:off x="2430909" y="1188720"/>
              <a:ext cx="1645920" cy="914400"/>
            </a:xfrm>
            <a:prstGeom prst="roundRect">
              <a:avLst/>
            </a:prstGeom>
            <a:solidFill>
              <a:srgbClr val="666666"/>
            </a:solidFill>
            <a:ln/>
          </p:spPr>
          <p:txBody>
            <a:bodyPr/>
            <a:lstStyle/>
            <a:p>
              <a:endParaRPr lang="en-US" sz="3200">
                <a:latin typeface="Aptos"/>
              </a:endParaRP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5DC9DD3A-29FB-2693-CF4D-AC95AD64F62D}"/>
                </a:ext>
              </a:extLst>
            </p:cNvPr>
            <p:cNvSpPr/>
            <p:nvPr/>
          </p:nvSpPr>
          <p:spPr>
            <a:xfrm>
              <a:off x="2423160" y="137160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6. Decommissioning</a:t>
              </a:r>
              <a:endParaRPr lang="en-US" sz="1200" dirty="0">
                <a:latin typeface="Aptos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07608AA4-825F-8ED0-59E0-BF231C34928B}"/>
                </a:ext>
              </a:extLst>
            </p:cNvPr>
            <p:cNvSpPr/>
            <p:nvPr/>
          </p:nvSpPr>
          <p:spPr>
            <a:xfrm>
              <a:off x="4343400" y="512064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i="1" dirty="0">
                  <a:solidFill>
                    <a:srgbClr val="666666"/>
                  </a:solidFill>
                  <a:latin typeface="Aptos"/>
                </a:rPr>
                <a:t>Continuous Lifecycle</a:t>
              </a:r>
              <a:endParaRPr lang="en-US" dirty="0"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Stage 1: Ideation &amp;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Register in Agent Catalog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Agent name and description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Business owner and technical owner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Platform (Azure, </a:t>
            </a:r>
            <a:r>
              <a:rPr lang="en-US" dirty="0">
                <a:latin typeface="Aptos"/>
              </a:rPr>
              <a:t>Genesys</a:t>
            </a:r>
            <a:r>
              <a:rPr dirty="0">
                <a:latin typeface="Aptos"/>
              </a:rPr>
              <a:t>, Salesforce)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Planned data sources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Target users (customer-facing vs. internal)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b="1" dirty="0">
                <a:latin typeface="Aptos"/>
              </a:rPr>
              <a:t>Document Business Case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Problem, expected outcomes, alternatives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Governance Touchpoints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AI Steering Committee: Notify for Tier 1-2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EPMO: Initiate intake process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Procurement: Engage if vendor tool required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Artifacts Produced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Agent registration form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Business case document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Risk tier assignment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11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Stage 2: Design &amp;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Environment Standards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Lower environments: Contributor access, no prod data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Higher environments: Restricted access, audit logging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Documentation Requirements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Purpose, scope, data inputs, decision logic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Expected behaviors and known limitations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Guardrails and constraints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Technical Standards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Version control for code, prompts, configs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Experiment tracking (Azure ML or equivalent)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Reproducibility requirements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b="1" dirty="0">
                <a:latin typeface="Aptos"/>
              </a:rPr>
              <a:t>Platform-Specific</a:t>
            </a:r>
          </a:p>
          <a:p>
            <a:pPr marL="365760" indent="-182880" algn="l">
              <a:buChar char="•"/>
            </a:pPr>
            <a:r>
              <a:rPr lang="en-US" dirty="0">
                <a:latin typeface="Aptos"/>
              </a:rPr>
              <a:t>Genesys</a:t>
            </a:r>
            <a:r>
              <a:rPr dirty="0">
                <a:latin typeface="Aptos"/>
              </a:rPr>
              <a:t>: AI Studio, AI Guides configs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Salesforce: </a:t>
            </a:r>
            <a:r>
              <a:rPr dirty="0" err="1">
                <a:latin typeface="Aptos"/>
              </a:rPr>
              <a:t>AgentBuilder</a:t>
            </a:r>
            <a:r>
              <a:rPr dirty="0">
                <a:latin typeface="Aptos"/>
              </a:rPr>
              <a:t>, MCP connections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Azure: ML workspace for versioning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12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Stage 3: Testing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Champion-Challenger Methodology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Test multiple approaches where applicable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Document selection rationale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Formalize Rene's team practice as standard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Validation Team Review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Model governance team involvement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Independent validation for Tier 1 agents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What to Test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Functional: Does it do what it should?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Performance: Response time, throughput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Fairness/Bias: Per policy requirements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Edge Cases: Unexpected inputs, adversarial prompts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Integration: Works with connected systems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Sign-offs: Business UAT, Compliance (Tier 1-2)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13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Stage 4: Deployment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Deployment Requirements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ARB review (significant agents)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AI Steering Committee sign-off (Tier 1-2)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Rollback procedures documented and tested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Human-in-the-loop defined by risk tier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Monitoring Requirements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Performance metrics &amp; SLAs defined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Drift detection: model, data, concept drift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Cost tracking: Tokens by agent/BU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Incident alerting with escalation paths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Artifacts: Deployment checklist, monitoring dashboard, rollback runbook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14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Stage 5: Maintenance &amp;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Recalibration Triggers &amp; Cadence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Monthly reviews (Tier 1)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Quarterly reviews (Tier 2)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Semi-annual reviews (Tier 3-4)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Performance degradation triggers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Business/regulatory change triggers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Change Management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All changes tracked in agent registry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Approval proportional to risk tier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Audit trail maintained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A/B Testing &amp; Retraining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Controlled rollout of updates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Automated retraining pipelines where applicable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15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Stage 6: Decommissioning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Retirement Criteria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Business need no longer exists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Replaced by newer capability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Performance no longer acceptable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Compliance or regulatory concerns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Data Handling (per policy)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Archive data per retention requirements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Delete data not subject to retention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Document disposition decisions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Knowledge Transfer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Document lessons learned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Notify users and dependent systems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Update registry with retirement 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16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Risk Tiering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Tier 1: Critical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Customer-facing decisions (credit, collections)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Full committee review, independent validation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Human-in-the-loop required, monthly reviews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Tier 2: High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Customer-facing informational, accesses PII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Committee notification, validation review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Quarterly reviews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Tier 3: Moderate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Internal productivity, limited data access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Streamlined registration, peer review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Semi-annual reviews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Tier 4: Low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Experimental/POC, sandbox only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Registration only, documented constraints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17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The Interoperability Landscape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1993" y="5466412"/>
            <a:ext cx="5061809" cy="6935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b="1" i="1" dirty="0">
                <a:latin typeface="Aptos"/>
              </a:rPr>
              <a:t>Implication: Design with interoperability in mind.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18</a:t>
            </a:fld>
            <a:endParaRPr lang="en-US">
              <a:latin typeface="Apto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9E7E9D-2269-A8D0-1734-3022D84CC7DB}"/>
              </a:ext>
            </a:extLst>
          </p:cNvPr>
          <p:cNvGrpSpPr/>
          <p:nvPr/>
        </p:nvGrpSpPr>
        <p:grpSpPr>
          <a:xfrm>
            <a:off x="600079" y="1707615"/>
            <a:ext cx="10723723" cy="3227942"/>
            <a:chOff x="457200" y="1097280"/>
            <a:chExt cx="10607040" cy="3200400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99F33EB6-3807-ECA3-3BC8-EB356BA3266F}"/>
                </a:ext>
              </a:extLst>
            </p:cNvPr>
            <p:cNvSpPr/>
            <p:nvPr/>
          </p:nvSpPr>
          <p:spPr>
            <a:xfrm>
              <a:off x="457200" y="1097280"/>
              <a:ext cx="3474720" cy="548640"/>
            </a:xfrm>
            <a:prstGeom prst="rect">
              <a:avLst/>
            </a:prstGeom>
            <a:solidFill>
              <a:srgbClr val="FF4F1F"/>
            </a:solidFill>
            <a:ln/>
          </p:spPr>
          <p:txBody>
            <a:bodyPr/>
            <a:lstStyle/>
            <a:p>
              <a:endParaRPr lang="en-US" sz="2800">
                <a:latin typeface="Aptos"/>
              </a:endParaRPr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CCF741E6-98E7-E9A4-EBCC-57D0991DD660}"/>
                </a:ext>
              </a:extLst>
            </p:cNvPr>
            <p:cNvSpPr/>
            <p:nvPr/>
          </p:nvSpPr>
          <p:spPr>
            <a:xfrm>
              <a:off x="457200" y="1234440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ptos"/>
                </a:rPr>
                <a:t>Genesys</a:t>
              </a:r>
              <a:endParaRPr lang="en-US" sz="2400" dirty="0">
                <a:latin typeface="Aptos"/>
              </a:endParaRPr>
            </a:p>
          </p:txBody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5FFD01C6-335D-A00B-E3C0-496335B8F1D3}"/>
                </a:ext>
              </a:extLst>
            </p:cNvPr>
            <p:cNvSpPr/>
            <p:nvPr/>
          </p:nvSpPr>
          <p:spPr>
            <a:xfrm>
              <a:off x="457200" y="1645920"/>
              <a:ext cx="3474720" cy="1828800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FF4F1F"/>
              </a:solidFill>
              <a:prstDash val="solid"/>
            </a:ln>
          </p:spPr>
          <p:txBody>
            <a:bodyPr/>
            <a:lstStyle/>
            <a:p>
              <a:endParaRPr lang="en-US" sz="4800">
                <a:latin typeface="Aptos"/>
              </a:endParaRPr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85135E91-75D2-B46F-2BF5-4E0BDA2590C2}"/>
                </a:ext>
              </a:extLst>
            </p:cNvPr>
            <p:cNvSpPr/>
            <p:nvPr/>
          </p:nvSpPr>
          <p:spPr>
            <a:xfrm>
              <a:off x="640080" y="1828800"/>
              <a:ext cx="31089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Native A2A and MCP</a:t>
              </a: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in Copilots &amp; Virtual Agents</a:t>
              </a: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Sept 2025 announcement</a:t>
              </a:r>
              <a:endParaRPr lang="en-US" sz="1600" dirty="0">
                <a:latin typeface="Aptos"/>
              </a:endParaRPr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DA75176A-FAC9-93AE-9B85-F8F0354B1A3F}"/>
                </a:ext>
              </a:extLst>
            </p:cNvPr>
            <p:cNvSpPr/>
            <p:nvPr/>
          </p:nvSpPr>
          <p:spPr>
            <a:xfrm>
              <a:off x="4023360" y="1097280"/>
              <a:ext cx="3474720" cy="548640"/>
            </a:xfrm>
            <a:prstGeom prst="rect">
              <a:avLst/>
            </a:prstGeom>
            <a:solidFill>
              <a:srgbClr val="00A1E0"/>
            </a:solidFill>
            <a:ln/>
          </p:spPr>
          <p:txBody>
            <a:bodyPr/>
            <a:lstStyle/>
            <a:p>
              <a:endParaRPr lang="en-US" sz="2800">
                <a:latin typeface="Aptos"/>
              </a:endParaRPr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7B71137C-3ABA-DB76-6757-EEE5100AE48E}"/>
                </a:ext>
              </a:extLst>
            </p:cNvPr>
            <p:cNvSpPr/>
            <p:nvPr/>
          </p:nvSpPr>
          <p:spPr>
            <a:xfrm>
              <a:off x="4023360" y="1234440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ptos"/>
                </a:rPr>
                <a:t>Salesforce</a:t>
              </a:r>
              <a:endParaRPr lang="en-US" sz="2400" dirty="0">
                <a:latin typeface="Aptos"/>
              </a:endParaRPr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4DB8248E-D514-24A7-92FA-F5D138D97434}"/>
                </a:ext>
              </a:extLst>
            </p:cNvPr>
            <p:cNvSpPr/>
            <p:nvPr/>
          </p:nvSpPr>
          <p:spPr>
            <a:xfrm>
              <a:off x="4023360" y="1645920"/>
              <a:ext cx="3474720" cy="1828800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00A1E0"/>
              </a:solidFill>
              <a:prstDash val="solid"/>
            </a:ln>
          </p:spPr>
          <p:txBody>
            <a:bodyPr/>
            <a:lstStyle/>
            <a:p>
              <a:endParaRPr lang="en-US" sz="4800">
                <a:latin typeface="Aptos"/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7A96E8FD-83EB-6896-424D-24068CD8C726}"/>
                </a:ext>
              </a:extLst>
            </p:cNvPr>
            <p:cNvSpPr/>
            <p:nvPr/>
          </p:nvSpPr>
          <p:spPr>
            <a:xfrm>
              <a:off x="4206240" y="1828800"/>
              <a:ext cx="31089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Native MCP client</a:t>
              </a: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in Agentforce 3.0</a:t>
              </a: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July 2025 release</a:t>
              </a:r>
              <a:endParaRPr lang="en-US" sz="1600" dirty="0">
                <a:latin typeface="Aptos"/>
              </a:endParaRPr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22EDD8BF-5E45-451B-48CE-EC6843ECCA68}"/>
                </a:ext>
              </a:extLst>
            </p:cNvPr>
            <p:cNvSpPr/>
            <p:nvPr/>
          </p:nvSpPr>
          <p:spPr>
            <a:xfrm>
              <a:off x="7589520" y="1097280"/>
              <a:ext cx="3474720" cy="548640"/>
            </a:xfrm>
            <a:prstGeom prst="rect">
              <a:avLst/>
            </a:prstGeom>
            <a:solidFill>
              <a:srgbClr val="0078D4"/>
            </a:solidFill>
            <a:ln/>
          </p:spPr>
          <p:txBody>
            <a:bodyPr/>
            <a:lstStyle/>
            <a:p>
              <a:endParaRPr lang="en-US" sz="2800">
                <a:latin typeface="Aptos"/>
              </a:endParaRPr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24859514-5B6C-626E-BA87-B80911F42036}"/>
                </a:ext>
              </a:extLst>
            </p:cNvPr>
            <p:cNvSpPr/>
            <p:nvPr/>
          </p:nvSpPr>
          <p:spPr>
            <a:xfrm>
              <a:off x="7589520" y="1234440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ptos"/>
                </a:rPr>
                <a:t>Azure</a:t>
              </a:r>
              <a:endParaRPr lang="en-US" sz="2400" dirty="0">
                <a:latin typeface="Aptos"/>
              </a:endParaRPr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C79AD79D-A254-89B7-7D86-0F185A1A432D}"/>
                </a:ext>
              </a:extLst>
            </p:cNvPr>
            <p:cNvSpPr/>
            <p:nvPr/>
          </p:nvSpPr>
          <p:spPr>
            <a:xfrm>
              <a:off x="7589520" y="1645920"/>
              <a:ext cx="3474720" cy="1828800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0078D4"/>
              </a:solidFill>
              <a:prstDash val="solid"/>
            </a:ln>
          </p:spPr>
          <p:txBody>
            <a:bodyPr/>
            <a:lstStyle/>
            <a:p>
              <a:endParaRPr lang="en-US" sz="4800">
                <a:latin typeface="Aptos"/>
              </a:endParaRP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0D2961BD-7D5C-952E-B290-63FF33CDFD72}"/>
                </a:ext>
              </a:extLst>
            </p:cNvPr>
            <p:cNvSpPr/>
            <p:nvPr/>
          </p:nvSpPr>
          <p:spPr>
            <a:xfrm>
              <a:off x="7772400" y="1828800"/>
              <a:ext cx="310896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MCP support in</a:t>
              </a: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Azure AI Foundry</a:t>
              </a: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endParaRPr lang="en-US" sz="1600" dirty="0">
                <a:latin typeface="Aptos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0C3B5E"/>
                  </a:solidFill>
                  <a:latin typeface="Aptos"/>
                </a:rPr>
                <a:t>Sept 2025 announcement</a:t>
              </a:r>
              <a:endParaRPr lang="en-US" sz="1600" dirty="0">
                <a:latin typeface="Aptos"/>
              </a:endParaRPr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D1B4160A-2F69-CAA8-97E4-9D3D54EE934E}"/>
                </a:ext>
              </a:extLst>
            </p:cNvPr>
            <p:cNvSpPr/>
            <p:nvPr/>
          </p:nvSpPr>
          <p:spPr>
            <a:xfrm>
              <a:off x="457200" y="3657600"/>
              <a:ext cx="10607040" cy="640080"/>
            </a:xfrm>
            <a:prstGeom prst="rect">
              <a:avLst/>
            </a:prstGeom>
            <a:solidFill>
              <a:srgbClr val="0C3B5E"/>
            </a:solidFill>
            <a:ln/>
          </p:spPr>
          <p:txBody>
            <a:bodyPr/>
            <a:lstStyle/>
            <a:p>
              <a:endParaRPr lang="en-US" sz="2800">
                <a:latin typeface="Aptos"/>
              </a:endParaRPr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B85794CE-798C-1A5B-280B-5513AA08B92B}"/>
                </a:ext>
              </a:extLst>
            </p:cNvPr>
            <p:cNvSpPr/>
            <p:nvPr/>
          </p:nvSpPr>
          <p:spPr>
            <a:xfrm>
              <a:off x="457200" y="3703320"/>
              <a:ext cx="10607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ptos"/>
                </a:rPr>
                <a:t>MCP / A2A Interoperability Layer</a:t>
              </a:r>
              <a:endParaRPr lang="en-US" sz="2400" dirty="0">
                <a:latin typeface="Aptos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7542352C-78AF-1154-68C2-F273AD08FD55}"/>
                </a:ext>
              </a:extLst>
            </p:cNvPr>
            <p:cNvSpPr/>
            <p:nvPr/>
          </p:nvSpPr>
          <p:spPr>
            <a:xfrm>
              <a:off x="457200" y="3977640"/>
              <a:ext cx="10607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FFFFFF"/>
                  </a:solidFill>
                  <a:latin typeface="Aptos"/>
                </a:rPr>
                <a:t>Emerging standard enabling cross-platform agent orchestration</a:t>
              </a:r>
              <a:endParaRPr lang="en-US" sz="1600" dirty="0"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Platform-Specific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Azure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Registry: Azure ML model registry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Development: ML workspace, managed identity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Monitoring: Azure Monitor, App Insights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Cost: Azure cost management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0" indent="0">
              <a:buNone/>
            </a:pPr>
            <a:r>
              <a:rPr lang="en-US" b="1" dirty="0">
                <a:latin typeface="Aptos"/>
              </a:rPr>
              <a:t>Genesys</a:t>
            </a:r>
            <a:endParaRPr b="1" dirty="0">
              <a:latin typeface="Aptos"/>
            </a:endParaRP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Registry: AI Studio catalog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Monitoring: Event Data Platform (EDP)</a:t>
            </a: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Cost: AI Experience tokens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Salesforce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Registry: AgentBuilder inventory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Development: AgentBuilder (no-code)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Monitoring: Native SF analytics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Cost: Einstein usage metrics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Cross-Platform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Unified agent registry (start with spreadsheet)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Aggregate cost reporting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Consistent governance gates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19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Governance Integration — Touchpoints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By Lifecycle Stage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Ideation: Committee notify (T1-2), EPMO intake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Design: ARB review if significant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Testing: Committee review (T1)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Deployment: Committee approve (T1-2), ARB final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Maintenance: Notify on major changes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Decommission: Notify committee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Recommendation</a:t>
            </a:r>
          </a:p>
          <a:p>
            <a:pPr marL="0" indent="0">
              <a:buNone/>
            </a:pPr>
            <a:r>
              <a:rPr>
                <a:latin typeface="Aptos"/>
              </a:rPr>
              <a:t>Consider increasing AI Steering Committee cadence from 6-10 weeks to monthly during initial agent deployment phase.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Procurement Integration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Engage at Ideation if vendor tool required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Contract review at Decommissioning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20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43840"/>
            <a:ext cx="14630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C3B5E"/>
                </a:solidFill>
                <a:latin typeface="Aptos"/>
              </a:rPr>
              <a:t>RACI for Agent Lifecycle</a:t>
            </a:r>
            <a:endParaRPr lang="en-US" sz="3200" dirty="0">
              <a:latin typeface="Aptos"/>
            </a:endParaRP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45280"/>
              </p:ext>
            </p:extLst>
          </p:nvPr>
        </p:nvGraphicFramePr>
        <p:xfrm>
          <a:off x="365760" y="914400"/>
          <a:ext cx="11103531" cy="3413760"/>
        </p:xfrm>
        <a:graphic>
          <a:graphicData uri="http://schemas.openxmlformats.org/drawingml/2006/table">
            <a:tbl>
              <a:tblPr/>
              <a:tblGrid>
                <a:gridCol w="217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62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/ Stage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Ideation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Testing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Deploy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Monitor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Decom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Chief Digital Officer (CDO)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AI Steering Committee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Agent/Project Owner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Model Governance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Platform Teams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Business Unit Owner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Compliance/Legal (T1-2)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54880"/>
            <a:ext cx="853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C3B5E"/>
                </a:solidFill>
                <a:latin typeface="Aptos"/>
              </a:rPr>
              <a:t>Legend:</a:t>
            </a:r>
            <a:endParaRPr lang="en-US" sz="1200" dirty="0">
              <a:latin typeface="Apto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341120" y="4791456"/>
            <a:ext cx="195945" cy="219456"/>
          </a:xfrm>
          <a:prstGeom prst="rect">
            <a:avLst/>
          </a:prstGeom>
          <a:solidFill>
            <a:srgbClr val="E0FFE0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87424" y="475488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C3B5E"/>
                </a:solidFill>
                <a:latin typeface="Aptos"/>
              </a:rPr>
              <a:t>R = Responsible</a:t>
            </a:r>
            <a:endParaRPr lang="en-US" sz="1067" dirty="0">
              <a:latin typeface="Apto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779520" y="4791456"/>
            <a:ext cx="195945" cy="219456"/>
          </a:xfrm>
          <a:prstGeom prst="rect">
            <a:avLst/>
          </a:prstGeom>
          <a:solidFill>
            <a:srgbClr val="FFE0E0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25824" y="475488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C3B5E"/>
                </a:solidFill>
                <a:latin typeface="Aptos"/>
              </a:rPr>
              <a:t>A = Accountable</a:t>
            </a:r>
            <a:endParaRPr lang="en-US" sz="1067" dirty="0">
              <a:latin typeface="Apto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17920" y="4791456"/>
            <a:ext cx="195945" cy="219456"/>
          </a:xfrm>
          <a:prstGeom prst="rect">
            <a:avLst/>
          </a:prstGeom>
          <a:solidFill>
            <a:srgbClr val="FFFFD0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64224" y="475488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C3B5E"/>
                </a:solidFill>
                <a:latin typeface="Aptos"/>
              </a:rPr>
              <a:t>C = Consulted</a:t>
            </a:r>
            <a:endParaRPr lang="en-US" sz="1067" dirty="0">
              <a:latin typeface="Apto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412480" y="4791456"/>
            <a:ext cx="195945" cy="219456"/>
          </a:xfrm>
          <a:prstGeom prst="rect">
            <a:avLst/>
          </a:prstGeom>
          <a:solidFill>
            <a:srgbClr val="E0E0FF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 sz="2400">
              <a:latin typeface="Apto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58784" y="475488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C3B5E"/>
                </a:solidFill>
                <a:latin typeface="Aptos"/>
              </a:rPr>
              <a:t>I = Informed</a:t>
            </a:r>
            <a:endParaRPr lang="en-US" sz="1067" dirty="0">
              <a:latin typeface="Apto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51206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i="1" dirty="0">
                <a:solidFill>
                  <a:srgbClr val="666666"/>
                </a:solidFill>
                <a:latin typeface="Aptos"/>
              </a:rPr>
              <a:t>Note: T1-2 agents require Compliance/Legal consultation. CDO accountability spans all stages per AI Governance Policy v1.0.</a:t>
            </a:r>
            <a:endParaRPr lang="en-US" sz="1067" dirty="0"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RACI for Agent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Accountable (A)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CDO: Accountable across ALL stages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AI Steering Committee: Accountable at Deploy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Responsible (R)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Agent/Project Owner: R across all stages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Model Governance: R at Testing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Platform Teams: R at Deploy, Monitor, Decom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Consulted (C)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Business Unit Owner: C at Design, Deploy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Compliance/Legal: C throughout (T1-2)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Platform Teams: C at Design, Testing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Informed (I)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AI Steering Committee: I at Design, Monitor, Decom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Business Unit Owner: I at Monitor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22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Alternatives &amp; 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Azure-Native vs. Third-Party MLOps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Options: MLflow, Weights &amp; Biases, ModelOp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Recommendation: Start Azure-native given existing investment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Revisit as requirements clarify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Build vs. Buy for Lifecycle Tooling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Current: Start lightweight (spreadsheet registry)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Future: Consider dedicated platforms as volume grows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Platform-Specific vs. Unified Approach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Recommendation: Platform-agnostic principles, platform-specific implementation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MCP/A2A emergence suggests future convergence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23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Recommended Next Steps — Immediate (0-3 Months)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1. Establish Agent Registry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Create initial inventory of existing/planned agents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Assign risk tiers to each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Start simple (spreadsheet acceptable)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2. Document Existing Practices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Formalize Rene's champion-challenger as template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Document ARB review criteria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3. Pilot Lifecycle Process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Select one upcoming agent deployment (Tier 2-3)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Apply full framework from ideation through monitoring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Document lessons learned, refine process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4. Define Incident Response Playbook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Create AI-specific runbook for agent failures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Include escalation paths, rollback triggers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24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Recommended Next Steps — Short/Medium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Short-Term (3-6 Months)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Formalize lifecycle stages with required artifacts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Implement monitoring standards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Enhance AI Steering Committee with lifecycle checkpoints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Increase committee cadence to monthly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Train project teams on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Medium-Term (6-12 Months)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Deploy Azure-native lifecycle tooling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Integrate lifecycle tracking across platforms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Establish cost attribution and chargeback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Evaluate interoperability readiness (MCP)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Assess need for dedicated AI governance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25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ptos"/>
              </a:rPr>
              <a:t>Key Takeaways</a:t>
            </a:r>
          </a:p>
          <a:p>
            <a:pPr marL="0" indent="0">
              <a:buNone/>
            </a:pPr>
            <a:endParaRPr b="1" dirty="0">
              <a:latin typeface="Aptos"/>
            </a:endParaRP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Agent lifecycle management is essential — 80% of orgs encountered risky behaviors, 40%+ projects predicted to fail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SFS has a solid foundation — AI Governance Policy v1.0 establishes principles; this framework operationalizes them</a:t>
            </a:r>
          </a:p>
          <a:p>
            <a:pPr marL="0" indent="0">
              <a:buNone/>
            </a:pPr>
            <a:endParaRPr dirty="0">
              <a:latin typeface="Aptos"/>
            </a:endParaRPr>
          </a:p>
          <a:p>
            <a:pPr marL="365760" indent="-182880" algn="l">
              <a:buChar char="•"/>
            </a:pPr>
            <a:r>
              <a:rPr dirty="0">
                <a:latin typeface="Aptos"/>
              </a:rPr>
              <a:t>Platform-agnostic principles, platform-specific implementation — unified governance across Azure, </a:t>
            </a:r>
            <a:r>
              <a:rPr lang="en-US" dirty="0">
                <a:latin typeface="Aptos"/>
              </a:rPr>
              <a:t>Genesys</a:t>
            </a:r>
            <a:r>
              <a:rPr dirty="0">
                <a:latin typeface="Aptos"/>
              </a:rPr>
              <a:t>, Salesforce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Key Takeaways (continued)</a:t>
            </a:r>
          </a:p>
          <a:p>
            <a:pPr marL="0" indent="0">
              <a:buNone/>
            </a:pPr>
            <a:endParaRPr b="1">
              <a:latin typeface="Aptos"/>
            </a:endParaRP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Risk tiering enables proportional controls — Tier 1-4 framework balances governance rigor with deployment velocity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Start simple, formalize over time — begin with spreadsheet registry and manual checklists; invest in tooling as volume increases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26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Appendix: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Industry Statistics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80% risky agent behaviors: McKinsey, Oct 2025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40%+ projects canceled: Gartner, June 2025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25-36% have governance: AllAboutAI/AuditBoard, 2025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51% negative incidents: McKinsey State of AI, Nov 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Platform Announcements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Genesys MCP/A2A: BusinessWire, Sept 2025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Salesforce Agentforce MCP: SF Dev Blog, June 2025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Azure MCP/A2A: Microsoft Azure Blog, Sept 2025</a:t>
            </a:r>
          </a:p>
          <a:p>
            <a:pPr marL="0" indent="0">
              <a:buNone/>
            </a:pPr>
            <a:endParaRPr>
              <a:latin typeface="Aptos"/>
            </a:endParaRPr>
          </a:p>
          <a:p>
            <a:pPr marL="0" indent="0">
              <a:buNone/>
            </a:pPr>
            <a:r>
              <a:rPr b="1">
                <a:latin typeface="Aptos"/>
              </a:rPr>
              <a:t>Internal Sources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EPMO Interview, December 2025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SFS AI Governance Policy v1.0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27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/>
              </a:rPr>
              <a:t>Appendix: 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Key Terms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Agent: AI system that interacts, decides, operates autonomously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MCP: Model Context Protocol — standard for agent-tool connections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A2A: Agent-to-Agent — protocol for cross-agent collaboration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MLOps: Practices for deploying/maintaining ML in production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Drift: Performance degradation over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latin typeface="Aptos"/>
              </a:rPr>
              <a:t>Additional Terms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Champion-Challenger: Testing new vs. current model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Human-in-the-Loop: Required human review at decision points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Risk Tier: Classification determining governance level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Agent Registry: Central catalog of all agents</a:t>
            </a:r>
          </a:p>
          <a:p>
            <a:pPr marL="365760" indent="-182880" algn="l">
              <a:buChar char="•"/>
            </a:pPr>
            <a:r>
              <a:rPr>
                <a:latin typeface="Aptos"/>
              </a:rPr>
              <a:t>Rollback: Reverting to previous version on failure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/>
              </a:rPr>
              <a:t>28</a:t>
            </a:fld>
            <a:endParaRPr lang="en-US"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18</Value>
      <Value>17</Value>
      <Value>16</Value>
      <Value>15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4.xml><?xml version="1.0" encoding="utf-8"?>
<?mso-contentType ?>
<SharedContentType xmlns="Microsoft.SharePoint.Taxonomy.ContentTypeSync" SourceId="80784755-79b8-48d6-9428-3b17d2b68283" ContentTypeId="0x010100344C9658AE87044DB333EA4A93A1BC8001" PreviousValue="false"/>
</file>

<file path=customXml/itemProps1.xml><?xml version="1.0" encoding="utf-8"?>
<ds:datastoreItem xmlns:ds="http://schemas.openxmlformats.org/officeDocument/2006/customXml" ds:itemID="{7AB035A7-7FD8-452E-A409-909394891A83}"/>
</file>

<file path=customXml/itemProps2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DF8674-582C-48CF-9D1C-72280677BFE9}">
  <ds:schemaRefs>
    <ds:schemaRef ds:uri="http://purl.org/dc/dcmitype/"/>
    <ds:schemaRef ds:uri="http://www.w3.org/XML/1998/namespace"/>
    <ds:schemaRef ds:uri="http://schemas.microsoft.com/sharepoint/v3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0eea126e-d378-4180-a2b3-4f5c76938639"/>
  </ds:schemaRefs>
</ds:datastoreItem>
</file>

<file path=customXml/itemProps4.xml><?xml version="1.0" encoding="utf-8"?>
<ds:datastoreItem xmlns:ds="http://schemas.openxmlformats.org/officeDocument/2006/customXml" ds:itemID="{AC63825D-4C1B-4E7C-B786-398320586920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TotalTime>4588</TotalTime>
  <Words>2280</Words>
  <Application>Microsoft Office PowerPoint</Application>
  <PresentationFormat>Widescreen</PresentationFormat>
  <Paragraphs>516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Poppins Light</vt:lpstr>
      <vt:lpstr>EIS_Delivery</vt:lpstr>
      <vt:lpstr>1_EIS-2022</vt:lpstr>
      <vt:lpstr>PowerPoint Presentation</vt:lpstr>
      <vt:lpstr>PowerPoint Presentation</vt:lpstr>
      <vt:lpstr>Executive Summary</vt:lpstr>
      <vt:lpstr>Why Agent Lifecycle Management Matters</vt:lpstr>
      <vt:lpstr>What is an "Agent" at SFS?</vt:lpstr>
      <vt:lpstr>Why a Unified Framework?</vt:lpstr>
      <vt:lpstr>SFS AI Governance Policy v1.0 — Current Foundation</vt:lpstr>
      <vt:lpstr>Governance Reality — How It Works Today</vt:lpstr>
      <vt:lpstr>Gaps in Current Policy</vt:lpstr>
      <vt:lpstr>Recommended Lifecycle Framework</vt:lpstr>
      <vt:lpstr>Stage 1: Ideation &amp; Registration</vt:lpstr>
      <vt:lpstr>Stage 2: Design &amp; Development</vt:lpstr>
      <vt:lpstr>Stage 3: Testing &amp; Validation</vt:lpstr>
      <vt:lpstr>Stage 4: Deployment &amp; Monitoring</vt:lpstr>
      <vt:lpstr>Stage 5: Maintenance &amp; Evolution</vt:lpstr>
      <vt:lpstr>Stage 6: Decommissioning</vt:lpstr>
      <vt:lpstr>Risk Tiering Framework</vt:lpstr>
      <vt:lpstr>The Interoperability Landscape</vt:lpstr>
      <vt:lpstr>Platform-Specific Implementation</vt:lpstr>
      <vt:lpstr>Governance Integration — Touchpoints</vt:lpstr>
      <vt:lpstr>PowerPoint Presentation</vt:lpstr>
      <vt:lpstr>RACI for Agent Lifecycle</vt:lpstr>
      <vt:lpstr>Alternatives &amp; Tradeoffs</vt:lpstr>
      <vt:lpstr>Recommended Next Steps — Immediate (0-3 Months)</vt:lpstr>
      <vt:lpstr>Recommended Next Steps — Short/Medium Term</vt:lpstr>
      <vt:lpstr>Summary</vt:lpstr>
      <vt:lpstr>Appendix: Sources</vt:lpstr>
      <vt:lpstr>Appendix: Glossary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lastModifiedBy>Thomas Blumer</cp:lastModifiedBy>
  <cp:revision>29</cp:revision>
  <cp:lastPrinted>2025-10-23T18:20:35Z</cp:lastPrinted>
  <dcterms:created xsi:type="dcterms:W3CDTF">2025-09-02T21:00:23Z</dcterms:created>
  <dcterms:modified xsi:type="dcterms:W3CDTF">2026-01-22T04:55:00Z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</Properties>
</file>