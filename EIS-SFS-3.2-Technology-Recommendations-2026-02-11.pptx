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7" r:id="rId4"/>
    <p:sldMasterId id="2147484776" r:id="rId5"/>
    <p:sldMasterId id="2147485483" r:id="rId6"/>
  </p:sldMasterIdLst>
  <p:notesMasterIdLst>
    <p:notesMasterId r:id="rId33"/>
  </p:notesMasterIdLst>
  <p:handoutMasterIdLst>
    <p:handoutMasterId r:id="rId34"/>
  </p:handoutMasterIdLst>
  <p:sldIdLst>
    <p:sldId id="256" r:id="rId7"/>
    <p:sldId id="257" r:id="rId8"/>
    <p:sldId id="286" r:id="rId9"/>
    <p:sldId id="2147483644" r:id="rId10"/>
    <p:sldId id="2147483645" r:id="rId11"/>
    <p:sldId id="285" r:id="rId12"/>
    <p:sldId id="2147483647" r:id="rId13"/>
    <p:sldId id="266" r:id="rId14"/>
    <p:sldId id="287" r:id="rId15"/>
    <p:sldId id="268" r:id="rId16"/>
    <p:sldId id="269" r:id="rId17"/>
    <p:sldId id="267" r:id="rId18"/>
    <p:sldId id="271" r:id="rId19"/>
    <p:sldId id="270" r:id="rId20"/>
    <p:sldId id="273" r:id="rId21"/>
    <p:sldId id="272" r:id="rId22"/>
    <p:sldId id="275" r:id="rId23"/>
    <p:sldId id="274" r:id="rId24"/>
    <p:sldId id="277" r:id="rId25"/>
    <p:sldId id="288" r:id="rId26"/>
    <p:sldId id="279" r:id="rId27"/>
    <p:sldId id="289" r:id="rId28"/>
    <p:sldId id="281" r:id="rId29"/>
    <p:sldId id="282" r:id="rId30"/>
    <p:sldId id="290" r:id="rId31"/>
    <p:sldId id="284" r:id="rId32"/>
  </p:sldIdLst>
  <p:sldSz cx="12192000" cy="6858000"/>
  <p:notesSz cx="7102475" cy="9388475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7174A7-44EE-4831-A8EE-B0A48C5D919E}">
          <p14:sldIdLst>
            <p14:sldId id="256"/>
            <p14:sldId id="257"/>
            <p14:sldId id="286"/>
            <p14:sldId id="2147483644"/>
            <p14:sldId id="2147483645"/>
            <p14:sldId id="285"/>
            <p14:sldId id="2147483647"/>
            <p14:sldId id="266"/>
            <p14:sldId id="287"/>
            <p14:sldId id="268"/>
            <p14:sldId id="269"/>
            <p14:sldId id="267"/>
            <p14:sldId id="271"/>
            <p14:sldId id="270"/>
            <p14:sldId id="273"/>
            <p14:sldId id="272"/>
            <p14:sldId id="275"/>
            <p14:sldId id="274"/>
            <p14:sldId id="277"/>
            <p14:sldId id="288"/>
            <p14:sldId id="279"/>
            <p14:sldId id="289"/>
            <p14:sldId id="281"/>
            <p14:sldId id="282"/>
            <p14:sldId id="290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orient="horz" pos="3984" userDrawn="1">
          <p15:clr>
            <a:srgbClr val="A4A3A4"/>
          </p15:clr>
        </p15:guide>
        <p15:guide id="3" pos="408" userDrawn="1">
          <p15:clr>
            <a:srgbClr val="A4A3A4"/>
          </p15:clr>
        </p15:guide>
        <p15:guide id="4" pos="729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D05A3B-55DD-4C2D-C536-36825727165D}" name="Sanjay Mehta" initials="SM" userId="S::sanjay.mehta@earley.com::dc6c09ae-4fd0-4dc9-a518-d1ab09126c4c" providerId="AD"/>
  <p188:author id="{B70B6884-82CA-26DC-657A-4C24E4D1E827}" name="Seth Earley" initials="SE" userId="S::Seth@earley.com::628be45f-8d1c-4a33-a8fa-c54e490afe68" providerId="AD"/>
  <p188:author id="{42378CB9-3D91-0558-69B3-97376F8B59CA}" name="patrick.hoeffel@phpartnersai.com" initials="pa" userId="S::urn:spo:guest#patrick.hoeffel@phpartnersai.com::" providerId="AD"/>
  <p188:author id="{FA6691BE-E185-20AF-21EC-A75E6A300ECE}" name="Heather Eisenbraun" initials="HE" userId="S::heather.eisenbraun@earley.com::af8590ba-9108-4f55-8849-6d71c7b93ad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e Skrobela" initials="DS" lastIdx="4" clrIdx="0">
    <p:extLst>
      <p:ext uri="{19B8F6BF-5375-455C-9EA6-DF929625EA0E}">
        <p15:presenceInfo xmlns:p15="http://schemas.microsoft.com/office/powerpoint/2012/main" userId="1443b150bf9a34a6" providerId="Windows Live"/>
      </p:ext>
    </p:extLst>
  </p:cmAuthor>
  <p:cmAuthor id="2" name="Sharon L. Foley" initials="SLF" lastIdx="1" clrIdx="1">
    <p:extLst>
      <p:ext uri="{19B8F6BF-5375-455C-9EA6-DF929625EA0E}">
        <p15:presenceInfo xmlns:p15="http://schemas.microsoft.com/office/powerpoint/2012/main" userId="Sharon L. Foley" providerId="None"/>
      </p:ext>
    </p:extLst>
  </p:cmAuthor>
  <p:cmAuthor id="3" name="Jeremy Grubman" initials="JG" lastIdx="15" clrIdx="2">
    <p:extLst>
      <p:ext uri="{19B8F6BF-5375-455C-9EA6-DF929625EA0E}">
        <p15:presenceInfo xmlns:p15="http://schemas.microsoft.com/office/powerpoint/2012/main" userId="S::jeremy.grubman@earley.com::13e03a4e-a889-46e1-9a1e-aea29cd9e409" providerId="AD"/>
      </p:ext>
    </p:extLst>
  </p:cmAuthor>
  <p:cmAuthor id="4" name="Seth Earley" initials="SE" lastIdx="3" clrIdx="3">
    <p:extLst>
      <p:ext uri="{19B8F6BF-5375-455C-9EA6-DF929625EA0E}">
        <p15:presenceInfo xmlns:p15="http://schemas.microsoft.com/office/powerpoint/2012/main" userId="S::Seth@earley.com::628be45f-8d1c-4a33-a8fa-c54e490afe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55F"/>
    <a:srgbClr val="404040"/>
    <a:srgbClr val="239E70"/>
    <a:srgbClr val="753686"/>
    <a:srgbClr val="262626"/>
    <a:srgbClr val="A85BBD"/>
    <a:srgbClr val="05163E"/>
    <a:srgbClr val="FFFFFF"/>
    <a:srgbClr val="156082"/>
    <a:srgbClr val="249F7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"/>
        <p:guide orient="horz" pos="3984"/>
        <p:guide pos="408"/>
        <p:guide pos="729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42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ags" Target="tags/tag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th Earley" userId="628be45f-8d1c-4a33-a8fa-c54e490afe68" providerId="ADAL" clId="{3C1227A0-ADDF-4E18-B2AA-4A085D116712}"/>
    <pc:docChg chg="undo custSel delSld modSld modMainMaster modSection">
      <pc:chgData name="Seth Earley" userId="628be45f-8d1c-4a33-a8fa-c54e490afe68" providerId="ADAL" clId="{3C1227A0-ADDF-4E18-B2AA-4A085D116712}" dt="2026-02-12T01:19:25.898" v="94" actId="1076"/>
      <pc:docMkLst>
        <pc:docMk/>
      </pc:docMkLst>
      <pc:sldChg chg="delSp modSp mod">
        <pc:chgData name="Seth Earley" userId="628be45f-8d1c-4a33-a8fa-c54e490afe68" providerId="ADAL" clId="{3C1227A0-ADDF-4E18-B2AA-4A085D116712}" dt="2026-02-12T01:17:10.359" v="61" actId="478"/>
        <pc:sldMkLst>
          <pc:docMk/>
          <pc:sldMk cId="0" sldId="256"/>
        </pc:sldMkLst>
        <pc:spChg chg="mod">
          <ac:chgData name="Seth Earley" userId="628be45f-8d1c-4a33-a8fa-c54e490afe68" providerId="ADAL" clId="{3C1227A0-ADDF-4E18-B2AA-4A085D116712}" dt="2026-02-12T01:16:57.532" v="58" actId="207"/>
          <ac:spMkLst>
            <pc:docMk/>
            <pc:sldMk cId="0" sldId="256"/>
            <ac:spMk id="8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7:04.127" v="59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6:52.995" v="57" actId="207"/>
          <ac:spMkLst>
            <pc:docMk/>
            <pc:sldMk cId="0" sldId="256"/>
            <ac:spMk id="11" creationId="{00000000-0000-0000-0000-000000000000}"/>
          </ac:spMkLst>
        </pc:spChg>
        <pc:picChg chg="mod">
          <ac:chgData name="Seth Earley" userId="628be45f-8d1c-4a33-a8fa-c54e490afe68" providerId="ADAL" clId="{3C1227A0-ADDF-4E18-B2AA-4A085D116712}" dt="2026-02-12T01:17:07.847" v="60" actId="1076"/>
          <ac:picMkLst>
            <pc:docMk/>
            <pc:sldMk cId="0" sldId="256"/>
            <ac:picMk id="12" creationId="{6A94CD8E-0D3F-2D3D-CAF6-CD935FC96AA5}"/>
          </ac:picMkLst>
        </pc:picChg>
      </pc:sldChg>
      <pc:sldChg chg="addSp modSp">
        <pc:chgData name="Seth Earley" userId="628be45f-8d1c-4a33-a8fa-c54e490afe68" providerId="ADAL" clId="{3C1227A0-ADDF-4E18-B2AA-4A085D116712}" dt="2026-02-12T01:12:22.458" v="6"/>
        <pc:sldMkLst>
          <pc:docMk/>
          <pc:sldMk cId="0" sldId="257"/>
        </pc:sldMkLst>
        <pc:spChg chg="add mod">
          <ac:chgData name="Seth Earley" userId="628be45f-8d1c-4a33-a8fa-c54e490afe68" providerId="ADAL" clId="{3C1227A0-ADDF-4E18-B2AA-4A085D116712}" dt="2026-02-12T01:12:22.458" v="6"/>
          <ac:spMkLst>
            <pc:docMk/>
            <pc:sldMk cId="0" sldId="257"/>
            <ac:spMk id="43" creationId="{B36A22BF-9344-8EB0-C9DD-24DABCCC8D26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7:24.195" v="66" actId="478"/>
        <pc:sldMkLst>
          <pc:docMk/>
          <pc:sldMk cId="0" sldId="266"/>
        </pc:sldMkLst>
        <pc:spChg chg="mod">
          <ac:chgData name="Seth Earley" userId="628be45f-8d1c-4a33-a8fa-c54e490afe68" providerId="ADAL" clId="{3C1227A0-ADDF-4E18-B2AA-4A085D116712}" dt="2026-02-12T01:14:27.862" v="28" actId="1076"/>
          <ac:spMkLst>
            <pc:docMk/>
            <pc:sldMk cId="0" sldId="266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4:23.866" v="26"/>
          <ac:spMkLst>
            <pc:docMk/>
            <pc:sldMk cId="0" sldId="266"/>
            <ac:spMk id="21" creationId="{11B2EFD3-307E-D0B9-BE31-0FBC871DD2A4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7:25.839" v="67" actId="478"/>
        <pc:sldMkLst>
          <pc:docMk/>
          <pc:sldMk cId="0" sldId="268"/>
        </pc:sldMkLst>
        <pc:spChg chg="mod">
          <ac:chgData name="Seth Earley" userId="628be45f-8d1c-4a33-a8fa-c54e490afe68" providerId="ADAL" clId="{3C1227A0-ADDF-4E18-B2AA-4A085D116712}" dt="2026-02-12T01:14:42.945" v="32" actId="1076"/>
          <ac:spMkLst>
            <pc:docMk/>
            <pc:sldMk cId="0" sldId="268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4:38.198" v="30"/>
          <ac:spMkLst>
            <pc:docMk/>
            <pc:sldMk cId="0" sldId="268"/>
            <ac:spMk id="21" creationId="{D1ACC3DE-DC91-E980-512D-3C18935591BD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7:28.066" v="68" actId="478"/>
        <pc:sldMkLst>
          <pc:docMk/>
          <pc:sldMk cId="0" sldId="269"/>
        </pc:sldMkLst>
        <pc:spChg chg="mod">
          <ac:chgData name="Seth Earley" userId="628be45f-8d1c-4a33-a8fa-c54e490afe68" providerId="ADAL" clId="{3C1227A0-ADDF-4E18-B2AA-4A085D116712}" dt="2026-02-12T01:14:54.494" v="35" actId="1076"/>
          <ac:spMkLst>
            <pc:docMk/>
            <pc:sldMk cId="0" sldId="269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4:58.448" v="37"/>
          <ac:spMkLst>
            <pc:docMk/>
            <pc:sldMk cId="0" sldId="269"/>
            <ac:spMk id="40" creationId="{ED27C85A-163C-EEF7-38A1-809424596E9D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7:35.917" v="70" actId="1076"/>
        <pc:sldMkLst>
          <pc:docMk/>
          <pc:sldMk cId="0" sldId="271"/>
        </pc:sldMkLst>
        <pc:spChg chg="mod">
          <ac:chgData name="Seth Earley" userId="628be45f-8d1c-4a33-a8fa-c54e490afe68" providerId="ADAL" clId="{3C1227A0-ADDF-4E18-B2AA-4A085D116712}" dt="2026-02-12T01:17:35.917" v="70" actId="1076"/>
          <ac:spMkLst>
            <pc:docMk/>
            <pc:sldMk cId="0" sldId="271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5:02.968" v="38"/>
          <ac:spMkLst>
            <pc:docMk/>
            <pc:sldMk cId="0" sldId="271"/>
            <ac:spMk id="22" creationId="{104156CB-B374-9722-7C99-B223F69E74BB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7:44.515" v="71" actId="6549"/>
        <pc:sldMkLst>
          <pc:docMk/>
          <pc:sldMk cId="0" sldId="273"/>
        </pc:sldMkLst>
        <pc:spChg chg="mod">
          <ac:chgData name="Seth Earley" userId="628be45f-8d1c-4a33-a8fa-c54e490afe68" providerId="ADAL" clId="{3C1227A0-ADDF-4E18-B2AA-4A085D116712}" dt="2026-02-12T01:17:44.515" v="71" actId="6549"/>
          <ac:spMkLst>
            <pc:docMk/>
            <pc:sldMk cId="0" sldId="273"/>
            <ac:spMk id="5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2:10.009" v="4" actId="1076"/>
          <ac:spMkLst>
            <pc:docMk/>
            <pc:sldMk cId="0" sldId="273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5:09.316" v="40"/>
          <ac:spMkLst>
            <pc:docMk/>
            <pc:sldMk cId="0" sldId="273"/>
            <ac:spMk id="25" creationId="{813F1DD6-7CDA-CB4E-9BBB-6746F412A9EA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7:54.308" v="74" actId="1076"/>
        <pc:sldMkLst>
          <pc:docMk/>
          <pc:sldMk cId="0" sldId="275"/>
        </pc:sldMkLst>
        <pc:spChg chg="mod">
          <ac:chgData name="Seth Earley" userId="628be45f-8d1c-4a33-a8fa-c54e490afe68" providerId="ADAL" clId="{3C1227A0-ADDF-4E18-B2AA-4A085D116712}" dt="2026-02-12T01:17:51.292" v="73" actId="6549"/>
          <ac:spMkLst>
            <pc:docMk/>
            <pc:sldMk cId="0" sldId="275"/>
            <ac:spMk id="5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7:54.308" v="74" actId="1076"/>
          <ac:spMkLst>
            <pc:docMk/>
            <pc:sldMk cId="0" sldId="275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5:14.377" v="41"/>
          <ac:spMkLst>
            <pc:docMk/>
            <pc:sldMk cId="0" sldId="275"/>
            <ac:spMk id="22" creationId="{CB34580F-01A5-19E8-3395-6C8B45A181E1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8:04.329" v="77" actId="1076"/>
        <pc:sldMkLst>
          <pc:docMk/>
          <pc:sldMk cId="0" sldId="277"/>
        </pc:sldMkLst>
        <pc:spChg chg="mod">
          <ac:chgData name="Seth Earley" userId="628be45f-8d1c-4a33-a8fa-c54e490afe68" providerId="ADAL" clId="{3C1227A0-ADDF-4E18-B2AA-4A085D116712}" dt="2026-02-12T01:18:02.333" v="76" actId="6549"/>
          <ac:spMkLst>
            <pc:docMk/>
            <pc:sldMk cId="0" sldId="277"/>
            <ac:spMk id="5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04.329" v="77" actId="1076"/>
          <ac:spMkLst>
            <pc:docMk/>
            <pc:sldMk cId="0" sldId="277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5:20.406" v="42"/>
          <ac:spMkLst>
            <pc:docMk/>
            <pc:sldMk cId="0" sldId="277"/>
            <ac:spMk id="30" creationId="{B2B78ADD-E44C-52DB-8A23-E11497D70A15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8:13.614" v="80" actId="6549"/>
        <pc:sldMkLst>
          <pc:docMk/>
          <pc:sldMk cId="0" sldId="279"/>
        </pc:sldMkLst>
        <pc:spChg chg="mod">
          <ac:chgData name="Seth Earley" userId="628be45f-8d1c-4a33-a8fa-c54e490afe68" providerId="ADAL" clId="{3C1227A0-ADDF-4E18-B2AA-4A085D116712}" dt="2026-02-12T01:18:13.614" v="80" actId="6549"/>
          <ac:spMkLst>
            <pc:docMk/>
            <pc:sldMk cId="0" sldId="279"/>
            <ac:spMk id="5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09.444" v="78" actId="1076"/>
          <ac:spMkLst>
            <pc:docMk/>
            <pc:sldMk cId="0" sldId="279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5:23.605" v="43"/>
          <ac:spMkLst>
            <pc:docMk/>
            <pc:sldMk cId="0" sldId="279"/>
            <ac:spMk id="35" creationId="{C5B38D5C-E4BA-D277-180F-DDAA5705BB88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8:49.291" v="90" actId="1076"/>
        <pc:sldMkLst>
          <pc:docMk/>
          <pc:sldMk cId="0" sldId="281"/>
        </pc:sldMkLst>
        <pc:spChg chg="mod">
          <ac:chgData name="Seth Earley" userId="628be45f-8d1c-4a33-a8fa-c54e490afe68" providerId="ADAL" clId="{3C1227A0-ADDF-4E18-B2AA-4A085D116712}" dt="2026-02-12T01:18:44.148" v="89" actId="6549"/>
          <ac:spMkLst>
            <pc:docMk/>
            <pc:sldMk cId="0" sldId="281"/>
            <ac:spMk id="5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49.291" v="90" actId="1076"/>
          <ac:spMkLst>
            <pc:docMk/>
            <pc:sldMk cId="0" sldId="281"/>
            <ac:spMk id="6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10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18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22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33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47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48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19.141" v="81" actId="1076"/>
          <ac:spMkLst>
            <pc:docMk/>
            <pc:sldMk cId="0" sldId="281"/>
            <ac:spMk id="49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53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38.561" v="87" actId="1076"/>
          <ac:spMkLst>
            <pc:docMk/>
            <pc:sldMk cId="0" sldId="281"/>
            <ac:spMk id="55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57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8:26.446" v="82" actId="1076"/>
          <ac:spMkLst>
            <pc:docMk/>
            <pc:sldMk cId="0" sldId="281"/>
            <ac:spMk id="60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5:26.371" v="44"/>
          <ac:spMkLst>
            <pc:docMk/>
            <pc:sldMk cId="0" sldId="281"/>
            <ac:spMk id="61" creationId="{94AF4E06-5501-482F-1777-61334BADE260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8:55.393" v="91" actId="6549"/>
        <pc:sldMkLst>
          <pc:docMk/>
          <pc:sldMk cId="0" sldId="282"/>
        </pc:sldMkLst>
        <pc:spChg chg="mod">
          <ac:chgData name="Seth Earley" userId="628be45f-8d1c-4a33-a8fa-c54e490afe68" providerId="ADAL" clId="{3C1227A0-ADDF-4E18-B2AA-4A085D116712}" dt="2026-02-12T01:18:55.393" v="91" actId="6549"/>
          <ac:spMkLst>
            <pc:docMk/>
            <pc:sldMk cId="0" sldId="282"/>
            <ac:spMk id="5" creationId="{00000000-0000-0000-0000-000000000000}"/>
          </ac:spMkLst>
        </pc:spChg>
        <pc:spChg chg="mod">
          <ac:chgData name="Seth Earley" userId="628be45f-8d1c-4a33-a8fa-c54e490afe68" providerId="ADAL" clId="{3C1227A0-ADDF-4E18-B2AA-4A085D116712}" dt="2026-02-12T01:16:22.634" v="50" actId="1076"/>
          <ac:spMkLst>
            <pc:docMk/>
            <pc:sldMk cId="0" sldId="282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5:28.328" v="45"/>
          <ac:spMkLst>
            <pc:docMk/>
            <pc:sldMk cId="0" sldId="282"/>
            <ac:spMk id="50" creationId="{3BD36F45-3108-E5B6-0064-0FDC194A0009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9:25.898" v="94" actId="1076"/>
        <pc:sldMkLst>
          <pc:docMk/>
          <pc:sldMk cId="0" sldId="284"/>
        </pc:sldMkLst>
        <pc:spChg chg="mod">
          <ac:chgData name="Seth Earley" userId="628be45f-8d1c-4a33-a8fa-c54e490afe68" providerId="ADAL" clId="{3C1227A0-ADDF-4E18-B2AA-4A085D116712}" dt="2026-02-12T01:19:25.898" v="94" actId="1076"/>
          <ac:spMkLst>
            <pc:docMk/>
            <pc:sldMk cId="0" sldId="284"/>
            <ac:spMk id="4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5:30.467" v="46"/>
          <ac:spMkLst>
            <pc:docMk/>
            <pc:sldMk cId="0" sldId="284"/>
            <ac:spMk id="10" creationId="{48ADA81B-295F-0705-BC75-568762067D90}"/>
          </ac:spMkLst>
        </pc:spChg>
      </pc:sldChg>
      <pc:sldChg chg="modSp">
        <pc:chgData name="Seth Earley" userId="628be45f-8d1c-4a33-a8fa-c54e490afe68" providerId="ADAL" clId="{3C1227A0-ADDF-4E18-B2AA-4A085D116712}" dt="2026-02-12T01:13:58.087" v="19"/>
        <pc:sldMkLst>
          <pc:docMk/>
          <pc:sldMk cId="1599483796" sldId="285"/>
        </pc:sldMkLst>
        <pc:spChg chg="mod">
          <ac:chgData name="Seth Earley" userId="628be45f-8d1c-4a33-a8fa-c54e490afe68" providerId="ADAL" clId="{3C1227A0-ADDF-4E18-B2AA-4A085D116712}" dt="2026-02-12T01:13:58.087" v="19"/>
          <ac:spMkLst>
            <pc:docMk/>
            <pc:sldMk cId="1599483796" sldId="285"/>
            <ac:spMk id="6" creationId="{D942ACC5-B776-92F0-72B2-85943D9AE22D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7:18.098" v="62" actId="478"/>
        <pc:sldMkLst>
          <pc:docMk/>
          <pc:sldMk cId="0" sldId="2147483644"/>
        </pc:sldMkLst>
        <pc:spChg chg="mod">
          <ac:chgData name="Seth Earley" userId="628be45f-8d1c-4a33-a8fa-c54e490afe68" providerId="ADAL" clId="{3C1227A0-ADDF-4E18-B2AA-4A085D116712}" dt="2026-02-12T01:13:03.299" v="10" actId="1076"/>
          <ac:spMkLst>
            <pc:docMk/>
            <pc:sldMk cId="0" sldId="2147483644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3:20.717" v="13" actId="207"/>
          <ac:spMkLst>
            <pc:docMk/>
            <pc:sldMk cId="0" sldId="2147483644"/>
            <ac:spMk id="29" creationId="{CC3EB420-39AF-3831-4622-E3F560AB12CF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7:19.991" v="63" actId="478"/>
        <pc:sldMkLst>
          <pc:docMk/>
          <pc:sldMk cId="0" sldId="2147483645"/>
        </pc:sldMkLst>
        <pc:spChg chg="mod">
          <ac:chgData name="Seth Earley" userId="628be45f-8d1c-4a33-a8fa-c54e490afe68" providerId="ADAL" clId="{3C1227A0-ADDF-4E18-B2AA-4A085D116712}" dt="2026-02-12T01:13:34.801" v="16" actId="1076"/>
          <ac:spMkLst>
            <pc:docMk/>
            <pc:sldMk cId="0" sldId="2147483645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3:31.557" v="15"/>
          <ac:spMkLst>
            <pc:docMk/>
            <pc:sldMk cId="0" sldId="2147483645"/>
            <ac:spMk id="58" creationId="{34F7D4CD-DD02-BEF2-C0D2-9A48D358D22A}"/>
          </ac:spMkLst>
        </pc:spChg>
      </pc:sldChg>
      <pc:sldChg chg="addSp delSp modSp mod">
        <pc:chgData name="Seth Earley" userId="628be45f-8d1c-4a33-a8fa-c54e490afe68" providerId="ADAL" clId="{3C1227A0-ADDF-4E18-B2AA-4A085D116712}" dt="2026-02-12T01:17:21.922" v="64" actId="478"/>
        <pc:sldMkLst>
          <pc:docMk/>
          <pc:sldMk cId="0" sldId="2147483647"/>
        </pc:sldMkLst>
        <pc:spChg chg="mod">
          <ac:chgData name="Seth Earley" userId="628be45f-8d1c-4a33-a8fa-c54e490afe68" providerId="ADAL" clId="{3C1227A0-ADDF-4E18-B2AA-4A085D116712}" dt="2026-02-12T01:14:15.479" v="22" actId="1076"/>
          <ac:spMkLst>
            <pc:docMk/>
            <pc:sldMk cId="0" sldId="2147483647"/>
            <ac:spMk id="6" creationId="{00000000-0000-0000-0000-000000000000}"/>
          </ac:spMkLst>
        </pc:spChg>
        <pc:spChg chg="add mod">
          <ac:chgData name="Seth Earley" userId="628be45f-8d1c-4a33-a8fa-c54e490afe68" providerId="ADAL" clId="{3C1227A0-ADDF-4E18-B2AA-4A085D116712}" dt="2026-02-12T01:14:20.559" v="25"/>
          <ac:spMkLst>
            <pc:docMk/>
            <pc:sldMk cId="0" sldId="2147483647"/>
            <ac:spMk id="37" creationId="{6C5D3993-7074-34CD-C8CB-AD4B41A88B00}"/>
          </ac:spMkLst>
        </pc:spChg>
      </pc:sldChg>
      <pc:sldMasterChg chg="modSldLayout">
        <pc:chgData name="Seth Earley" userId="628be45f-8d1c-4a33-a8fa-c54e490afe68" providerId="ADAL" clId="{3C1227A0-ADDF-4E18-B2AA-4A085D116712}" dt="2026-02-12T01:15:54.503" v="47" actId="207"/>
        <pc:sldMasterMkLst>
          <pc:docMk/>
          <pc:sldMasterMk cId="1611615947" sldId="2147484267"/>
        </pc:sldMasterMkLst>
        <pc:sldLayoutChg chg="modSp mod">
          <pc:chgData name="Seth Earley" userId="628be45f-8d1c-4a33-a8fa-c54e490afe68" providerId="ADAL" clId="{3C1227A0-ADDF-4E18-B2AA-4A085D116712}" dt="2026-02-12T01:15:54.503" v="47" actId="207"/>
          <pc:sldLayoutMkLst>
            <pc:docMk/>
            <pc:sldMasterMk cId="1611615947" sldId="2147484267"/>
            <pc:sldLayoutMk cId="1778059484" sldId="2147485603"/>
          </pc:sldLayoutMkLst>
          <pc:spChg chg="mod">
            <ac:chgData name="Seth Earley" userId="628be45f-8d1c-4a33-a8fa-c54e490afe68" providerId="ADAL" clId="{3C1227A0-ADDF-4E18-B2AA-4A085D116712}" dt="2026-02-12T01:15:54.503" v="47" actId="207"/>
            <ac:spMkLst>
              <pc:docMk/>
              <pc:sldMasterMk cId="1611615947" sldId="2147484267"/>
              <pc:sldLayoutMk cId="1778059484" sldId="2147485603"/>
              <ac:spMk id="10" creationId="{5573FDDA-2222-F089-2A12-1953DB6267E9}"/>
            </ac:spMkLst>
          </pc:spChg>
        </pc:sldLayoutChg>
      </pc:sldMasterChg>
    </pc:docChg>
  </pc:docChgLst>
  <pc:docChgLst>
    <pc:chgData name="Thomas Blumer" userId="S::thomas.blumer@earley.com::2c1d0262-690f-4609-bdfe-5ec3ce19bfeb" providerId="AD" clId="Web-{0FB2DB2D-6D5A-1116-0F84-2794B662495E}"/>
    <pc:docChg chg="sldOrd">
      <pc:chgData name="Thomas Blumer" userId="S::thomas.blumer@earley.com::2c1d0262-690f-4609-bdfe-5ec3ce19bfeb" providerId="AD" clId="Web-{0FB2DB2D-6D5A-1116-0F84-2794B662495E}" dt="2026-02-24T03:10:00.897" v="0"/>
      <pc:docMkLst>
        <pc:docMk/>
      </pc:docMkLst>
      <pc:sldChg chg="ord">
        <pc:chgData name="Thomas Blumer" userId="S::thomas.blumer@earley.com::2c1d0262-690f-4609-bdfe-5ec3ce19bfeb" providerId="AD" clId="Web-{0FB2DB2D-6D5A-1116-0F84-2794B662495E}" dt="2026-02-24T03:10:00.897" v="0"/>
        <pc:sldMkLst>
          <pc:docMk/>
          <pc:sldMk cId="0" sldId="2147483645"/>
        </pc:sldMkLst>
      </pc:sldChg>
    </pc:docChg>
  </pc:docChgLst>
  <pc:docChgLst>
    <pc:chgData name="Nader Afshar" userId="S::nader.afshar@stellantis-fs.com::ef14ed6e-8c34-42b1-8014-4f40650f3772" providerId="AD" clId="Web-{789B9183-D393-8BBA-510E-B6804968D65F}"/>
    <pc:docChg chg="mod">
      <pc:chgData name="Nader Afshar" userId="S::nader.afshar@stellantis-fs.com::ef14ed6e-8c34-42b1-8014-4f40650f3772" providerId="AD" clId="Web-{789B9183-D393-8BBA-510E-B6804968D65F}" dt="2026-03-30T15:00:44.368" v="0" actId="33475"/>
      <pc:docMkLst>
        <pc:docMk/>
      </pc:docMkLst>
    </pc:docChg>
  </pc:docChgLst>
  <pc:docChgLst>
    <pc:chgData name="Thomas Blumer" userId="S::thomas.blumer@earley.com::2c1d0262-690f-4609-bdfe-5ec3ce19bfeb" providerId="AD" clId="Web-{3D5AD100-B05A-13B2-85C4-CEFD78F93110}"/>
    <pc:docChg chg="delSld modSld modSection">
      <pc:chgData name="Thomas Blumer" userId="S::thomas.blumer@earley.com::2c1d0262-690f-4609-bdfe-5ec3ce19bfeb" providerId="AD" clId="Web-{3D5AD100-B05A-13B2-85C4-CEFD78F93110}" dt="2026-02-24T13:57:01.078" v="14" actId="20577"/>
      <pc:docMkLst>
        <pc:docMk/>
      </pc:docMkLst>
      <pc:sldChg chg="del">
        <pc:chgData name="Thomas Blumer" userId="S::thomas.blumer@earley.com::2c1d0262-690f-4609-bdfe-5ec3ce19bfeb" providerId="AD" clId="Web-{3D5AD100-B05A-13B2-85C4-CEFD78F93110}" dt="2026-02-24T13:55:43.406" v="7"/>
        <pc:sldMkLst>
          <pc:docMk/>
          <pc:sldMk cId="0" sldId="258"/>
        </pc:sldMkLst>
      </pc:sldChg>
      <pc:sldChg chg="del">
        <pc:chgData name="Thomas Blumer" userId="S::thomas.blumer@earley.com::2c1d0262-690f-4609-bdfe-5ec3ce19bfeb" providerId="AD" clId="Web-{3D5AD100-B05A-13B2-85C4-CEFD78F93110}" dt="2026-02-24T13:55:43.406" v="6"/>
        <pc:sldMkLst>
          <pc:docMk/>
          <pc:sldMk cId="0" sldId="259"/>
        </pc:sldMkLst>
      </pc:sldChg>
      <pc:sldChg chg="del">
        <pc:chgData name="Thomas Blumer" userId="S::thomas.blumer@earley.com::2c1d0262-690f-4609-bdfe-5ec3ce19bfeb" providerId="AD" clId="Web-{3D5AD100-B05A-13B2-85C4-CEFD78F93110}" dt="2026-02-24T13:55:43.406" v="5"/>
        <pc:sldMkLst>
          <pc:docMk/>
          <pc:sldMk cId="0" sldId="260"/>
        </pc:sldMkLst>
      </pc:sldChg>
      <pc:sldChg chg="del">
        <pc:chgData name="Thomas Blumer" userId="S::thomas.blumer@earley.com::2c1d0262-690f-4609-bdfe-5ec3ce19bfeb" providerId="AD" clId="Web-{3D5AD100-B05A-13B2-85C4-CEFD78F93110}" dt="2026-02-24T13:55:43.390" v="4"/>
        <pc:sldMkLst>
          <pc:docMk/>
          <pc:sldMk cId="0" sldId="261"/>
        </pc:sldMkLst>
      </pc:sldChg>
      <pc:sldChg chg="del">
        <pc:chgData name="Thomas Blumer" userId="S::thomas.blumer@earley.com::2c1d0262-690f-4609-bdfe-5ec3ce19bfeb" providerId="AD" clId="Web-{3D5AD100-B05A-13B2-85C4-CEFD78F93110}" dt="2026-02-24T13:55:43.390" v="3"/>
        <pc:sldMkLst>
          <pc:docMk/>
          <pc:sldMk cId="0" sldId="262"/>
        </pc:sldMkLst>
      </pc:sldChg>
      <pc:sldChg chg="del">
        <pc:chgData name="Thomas Blumer" userId="S::thomas.blumer@earley.com::2c1d0262-690f-4609-bdfe-5ec3ce19bfeb" providerId="AD" clId="Web-{3D5AD100-B05A-13B2-85C4-CEFD78F93110}" dt="2026-02-24T13:55:43.390" v="2"/>
        <pc:sldMkLst>
          <pc:docMk/>
          <pc:sldMk cId="0" sldId="263"/>
        </pc:sldMkLst>
      </pc:sldChg>
      <pc:sldChg chg="del">
        <pc:chgData name="Thomas Blumer" userId="S::thomas.blumer@earley.com::2c1d0262-690f-4609-bdfe-5ec3ce19bfeb" providerId="AD" clId="Web-{3D5AD100-B05A-13B2-85C4-CEFD78F93110}" dt="2026-02-24T13:55:43.390" v="1"/>
        <pc:sldMkLst>
          <pc:docMk/>
          <pc:sldMk cId="0" sldId="264"/>
        </pc:sldMkLst>
      </pc:sldChg>
      <pc:sldChg chg="del">
        <pc:chgData name="Thomas Blumer" userId="S::thomas.blumer@earley.com::2c1d0262-690f-4609-bdfe-5ec3ce19bfeb" providerId="AD" clId="Web-{3D5AD100-B05A-13B2-85C4-CEFD78F93110}" dt="2026-02-24T13:55:43.390" v="0"/>
        <pc:sldMkLst>
          <pc:docMk/>
          <pc:sldMk cId="0" sldId="265"/>
        </pc:sldMkLst>
      </pc:sldChg>
      <pc:sldChg chg="modSp">
        <pc:chgData name="Thomas Blumer" userId="S::thomas.blumer@earley.com::2c1d0262-690f-4609-bdfe-5ec3ce19bfeb" providerId="AD" clId="Web-{3D5AD100-B05A-13B2-85C4-CEFD78F93110}" dt="2026-02-24T13:57:01.078" v="14" actId="20577"/>
        <pc:sldMkLst>
          <pc:docMk/>
          <pc:sldMk cId="0" sldId="284"/>
        </pc:sldMkLst>
        <pc:spChg chg="mod">
          <ac:chgData name="Thomas Blumer" userId="S::thomas.blumer@earley.com::2c1d0262-690f-4609-bdfe-5ec3ce19bfeb" providerId="AD" clId="Web-{3D5AD100-B05A-13B2-85C4-CEFD78F93110}" dt="2026-02-24T13:57:01.078" v="14" actId="20577"/>
          <ac:spMkLst>
            <pc:docMk/>
            <pc:sldMk cId="0" sldId="284"/>
            <ac:spMk id="6" creationId="{00000000-0000-0000-0000-000000000000}"/>
          </ac:spMkLst>
        </pc:spChg>
        <pc:spChg chg="mod">
          <ac:chgData name="Thomas Blumer" userId="S::thomas.blumer@earley.com::2c1d0262-690f-4609-bdfe-5ec3ce19bfeb" providerId="AD" clId="Web-{3D5AD100-B05A-13B2-85C4-CEFD78F93110}" dt="2026-02-24T13:56:36.922" v="13" actId="20577"/>
          <ac:spMkLst>
            <pc:docMk/>
            <pc:sldMk cId="0" sldId="284"/>
            <ac:spMk id="8" creationId="{00000000-0000-0000-0000-000000000000}"/>
          </ac:spMkLst>
        </pc:spChg>
      </pc:sldChg>
      <pc:sldChg chg="del">
        <pc:chgData name="Thomas Blumer" userId="S::thomas.blumer@earley.com::2c1d0262-690f-4609-bdfe-5ec3ce19bfeb" providerId="AD" clId="Web-{3D5AD100-B05A-13B2-85C4-CEFD78F93110}" dt="2026-02-24T13:55:43.406" v="8"/>
        <pc:sldMkLst>
          <pc:docMk/>
          <pc:sldMk cId="0" sldId="21474836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E11313-CFBF-4B66-B192-B28215B371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4286B-9068-4DFD-9B0D-59C4C92D8A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BAC482AC-6346-423C-90A8-3C22E14765EB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8A465-753D-42EC-B544-806967CCAB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D425F-8259-4636-8C48-509233582F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9EB6C80-C775-42A9-87D0-9A719D73488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89317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7199EB9-8828-4E68-8D3A-AE2B9C2D4520}" type="datetimeFigureOut">
              <a:rPr lang="en-ID" smtClean="0"/>
              <a:t>30/03/2026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F64B4C95-FA3F-40D3-8CB1-BB8A8D62E4F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137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A9659-CEA7-44A7-AD7C-4616BD5D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6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5"/>
              </a:lnSpc>
              <a:defRPr lang="en-ID" sz="5025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5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6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1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4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303B7-0D68-4CCD-8FD0-F257DEAEE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C4A0775-63A1-49C8-9090-9051237C2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E1DCC-3E3F-42B0-9B38-4AC25E2ABB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8E3F9A0-B674-4D41-88FB-A6EB05A51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038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077702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1714500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85D560-2575-4B02-9616-F41EC3047A68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FB6C55E-035B-40B8-A41F-0C0B0C03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C778B5-6214-5AA8-0C70-963BDA5E3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479956" y="6368336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70734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293B93-E6CB-9ABF-70CB-2285E8EE05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281760" y="6454313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5135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7000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04516BB-D883-DA8C-B273-6FD9A2B150C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34896" y="6427787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59246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78130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D87187-6B18-6FE1-4B0E-F7E14609F5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511471" y="6454313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2210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k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3188B1-598D-4501-8738-2590601E0FD4}"/>
              </a:ext>
            </a:extLst>
          </p:cNvPr>
          <p:cNvSpPr/>
          <p:nvPr/>
        </p:nvSpPr>
        <p:spPr>
          <a:xfrm>
            <a:off x="0" y="0"/>
            <a:ext cx="12192000" cy="34418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58E796-D3D3-49D9-8DF2-2576D70B291B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CE16369-6DBF-4443-B97A-4DC346CFAB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8751" y="4300669"/>
            <a:ext cx="3890595" cy="218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b="0" smtClean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725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7217367-5936-48F6-BD04-5405C9D253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16050" y="3883770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800" b="1" i="0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3EDE36C-733D-4463-8558-8E97D3B9F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5560" y="6427788"/>
            <a:ext cx="437271" cy="365125"/>
          </a:xfrm>
          <a:prstGeom prst="rect">
            <a:avLst/>
          </a:prstGeom>
        </p:spPr>
        <p:txBody>
          <a:bodyPr anchor="ctr"/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50B3437-62A7-4BCF-A42A-7027ABAB2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8751" y="900724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800" b="1" i="0" cap="all" baseline="0" smtClean="0">
                <a:solidFill>
                  <a:schemeClr val="bg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C9C934-35AB-4BE9-97D2-1EBA3B07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1524510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1" strike="noStrike" spc="-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A9AB279-D182-4D5E-9852-1435963B9B8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E429DE-51DB-478B-BB6F-2EE4371D3DC9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879DA8F-1BA3-430F-A2F2-0B837F901367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081337"/>
            <a:ext cx="5715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1682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/ Cu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634" y="157986"/>
            <a:ext cx="599661" cy="599661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52FA05D2-4507-4086-07DB-3DBE345F1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5560" y="6427788"/>
            <a:ext cx="437271" cy="365125"/>
          </a:xfrm>
          <a:prstGeom prst="rect">
            <a:avLst/>
          </a:prstGeom>
        </p:spPr>
        <p:txBody>
          <a:bodyPr anchor="ctr"/>
          <a:lstStyle>
            <a:lvl1pPr algn="ctr">
              <a:defRPr lang="en-US" sz="10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A1B6B22-9A09-C505-9376-160E5A1E4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67432" y="6476713"/>
            <a:ext cx="4248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0344981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563632" y="1241144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C1B829-300F-4FED-A942-3444F3C9C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364" y="282846"/>
            <a:ext cx="7102555" cy="687518"/>
          </a:xfrm>
          <a:ln w="12700">
            <a:miter lim="400000"/>
          </a:ln>
        </p:spPr>
        <p:txBody>
          <a:bodyPr lIns="45719" rIns="45719">
            <a:normAutofit/>
          </a:bodyPr>
          <a:lstStyle>
            <a:lvl1pPr>
              <a:def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>
              <a:spcBef>
                <a:spcPts val="1199"/>
              </a:spcBef>
              <a:buFontTx/>
            </a:pPr>
            <a:r>
              <a:rPr lang="en-US"/>
              <a:t>Click to edit title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431CE43E-2A1E-34A5-2D06-15B920179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7171" y="6441507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5AAAFE40-1E5D-20F7-1BDD-427F6B969DC6}"/>
              </a:ext>
            </a:extLst>
          </p:cNvPr>
          <p:cNvSpPr txBox="1">
            <a:spLocks/>
          </p:cNvSpPr>
          <p:nvPr userDrawn="1"/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9305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7" name="Slide Number Placeholder 16">
            <a:extLst>
              <a:ext uri="{FF2B5EF4-FFF2-40B4-BE49-F238E27FC236}">
                <a16:creationId xmlns:a16="http://schemas.microsoft.com/office/drawing/2014/main" id="{8E11733D-8612-33BF-572C-E8E204A7F8D6}"/>
              </a:ext>
            </a:extLst>
          </p:cNvPr>
          <p:cNvSpPr txBox="1">
            <a:spLocks/>
          </p:cNvSpPr>
          <p:nvPr userDrawn="1"/>
        </p:nvSpPr>
        <p:spPr>
          <a:xfrm>
            <a:off x="2795660" y="6508801"/>
            <a:ext cx="6600680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44">
                <a:solidFill>
                  <a:srgbClr val="40404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2026 Earley Information Science, Inc.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C6C770-0FAC-FE42-19D3-69CABCEF40BC}"/>
              </a:ext>
            </a:extLst>
          </p:cNvPr>
          <p:cNvCxnSpPr>
            <a:cxnSpLocks/>
          </p:cNvCxnSpPr>
          <p:nvPr userDrawn="1"/>
        </p:nvCxnSpPr>
        <p:spPr>
          <a:xfrm>
            <a:off x="3048" y="6320126"/>
            <a:ext cx="12188952" cy="0"/>
          </a:xfrm>
          <a:prstGeom prst="line">
            <a:avLst/>
          </a:prstGeom>
          <a:noFill/>
          <a:ln w="12700" cap="flat">
            <a:solidFill>
              <a:srgbClr val="24455F">
                <a:alpha val="20000"/>
              </a:srgb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866106-8B61-D176-143A-5F4B9ED0827C}"/>
              </a:ext>
            </a:extLst>
          </p:cNvPr>
          <p:cNvCxnSpPr>
            <a:cxnSpLocks/>
          </p:cNvCxnSpPr>
          <p:nvPr userDrawn="1"/>
        </p:nvCxnSpPr>
        <p:spPr>
          <a:xfrm>
            <a:off x="3048" y="6320126"/>
            <a:ext cx="12188952" cy="0"/>
          </a:xfrm>
          <a:prstGeom prst="line">
            <a:avLst/>
          </a:prstGeom>
          <a:noFill/>
          <a:ln w="12700" cap="flat">
            <a:solidFill>
              <a:schemeClr val="bg1">
                <a:alpha val="2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05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535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1AB0CD-EDB0-4B7A-9307-1F323FB4234B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9A819A-ADEC-4587-B8D3-70356321758B}"/>
              </a:ext>
            </a:extLst>
          </p:cNvPr>
          <p:cNvSpPr>
            <a:spLocks/>
          </p:cNvSpPr>
          <p:nvPr userDrawn="1"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02240A-45D5-47FA-AE7D-6E30EA1A65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14" name="Rectangle 45">
            <a:extLst>
              <a:ext uri="{FF2B5EF4-FFF2-40B4-BE49-F238E27FC236}">
                <a16:creationId xmlns:a16="http://schemas.microsoft.com/office/drawing/2014/main" id="{1614CE4C-6AED-43A4-AF0A-E825A8F6E9D9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F7F43A-4477-44DB-A1CF-3C002A669571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D729B693-9349-41DB-BB01-89D56EC57C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2276" y="392831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0282640-11D5-431D-82A5-2D3E7D2FA4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80483" y="1223668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5EB3FD9-1880-4C3F-92C6-67497E4523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1" y="525909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6459814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1DE516-9F5C-4BCD-9CDC-C910805622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" y="0"/>
            <a:ext cx="1216980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093755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4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50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200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FA7AF3-0843-4242-B96A-9A2CA1689FC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57BC6E0-54DB-42FD-B385-42278C5C5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F20BE4-ADC3-4FC8-B23E-5C07C17857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6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1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5"/>
              </a:lnSpc>
              <a:defRPr lang="en-ID" sz="5025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5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C718F19-CEB9-4A88-BA54-56829C730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0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1322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41385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2169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678986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7000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97418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78130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5" y="221124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5"/>
              </a:lnSpc>
              <a:defRPr sz="4500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24905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195309"/>
            <a:ext cx="10515600" cy="5623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A435D41-0DD0-C7C1-4A04-224F8CAB2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6607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420E-C5AB-4C68-B8CD-22E8E4A52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FCA92-9F36-4F1B-946D-FBDB9521E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68939-378A-4D32-9711-9236DF0A35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74" y="1447803"/>
            <a:ext cx="10950792" cy="4633913"/>
          </a:xfrm>
        </p:spPr>
        <p:txBody>
          <a:bodyPr/>
          <a:lstStyle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5FCCE71-3398-3D8A-46BD-3BA65055F525}"/>
              </a:ext>
            </a:extLst>
          </p:cNvPr>
          <p:cNvSpPr txBox="1">
            <a:spLocks/>
          </p:cNvSpPr>
          <p:nvPr userDrawn="1"/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40E506-015C-44FA-8E41-5848CC402A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43295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EB8C558-13B4-2D79-1395-8D21E8AD3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9951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508000" y="838200"/>
            <a:ext cx="1076960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06401" y="152400"/>
            <a:ext cx="1137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B4C0B9D-32D1-550B-7ED8-F9B093132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4466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498602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398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22239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1" y="273960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8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213539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8262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1AB0CD-EDB0-4B7A-9307-1F323FB4234B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9A819A-ADEC-4587-B8D3-70356321758B}"/>
              </a:ext>
            </a:extLst>
          </p:cNvPr>
          <p:cNvSpPr>
            <a:spLocks/>
          </p:cNvSpPr>
          <p:nvPr userDrawn="1"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02240A-45D5-47FA-AE7D-6E30EA1A65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14" name="Rectangle 45">
            <a:extLst>
              <a:ext uri="{FF2B5EF4-FFF2-40B4-BE49-F238E27FC236}">
                <a16:creationId xmlns:a16="http://schemas.microsoft.com/office/drawing/2014/main" id="{1614CE4C-6AED-43A4-AF0A-E825A8F6E9D9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F7F43A-4477-44DB-A1CF-3C002A669571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D729B693-9349-41DB-BB01-89D56EC57C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2276" y="392831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0282640-11D5-431D-82A5-2D3E7D2FA4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80483" y="1223668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5EB3FD9-1880-4C3F-92C6-67497E4523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1" y="525909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111978170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ust a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86837768-A706-904D-39E2-8D30812F5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47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82B9A-51CA-C442-B72B-2822FC471C16}"/>
              </a:ext>
            </a:extLst>
          </p:cNvPr>
          <p:cNvSpPr/>
          <p:nvPr userDrawn="1"/>
        </p:nvSpPr>
        <p:spPr>
          <a:xfrm>
            <a:off x="-1" y="40540"/>
            <a:ext cx="4211645" cy="6405303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563632" y="1241144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C1B829-300F-4FED-A942-3444F3C9C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364" y="282846"/>
            <a:ext cx="7102555" cy="68751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3D2A3DE-8CE5-20A6-C3F9-C4B69601A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14350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79083" y="1241144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8573785" y="276814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586534" y="1239006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99C370A8-AD59-FF46-A9F7-FE91DAE0C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AC21189-BD3E-402F-AAB3-A85845D42A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337" y="365126"/>
            <a:ext cx="7032012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/>
            </a:lvl1pPr>
            <a:lvl2pPr marL="182697" indent="0">
              <a:buNone/>
              <a:defRPr/>
            </a:lvl2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90FAD90-1BD6-BAD6-4318-805C0F7B5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0379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left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516725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515450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532630" y="1241144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99C370A8-AD59-FF46-A9F7-FE91DAE0C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40DDC0-7544-47C7-B9E6-795067D543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33018" y="276225"/>
            <a:ext cx="5058281" cy="693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  <a:lvl2pPr marL="182697" indent="0">
              <a:buNone/>
              <a:defRPr/>
            </a:lvl2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9BD6BF9-2E75-E64E-65D4-1838CB98B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69540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right conten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82B9A-51CA-C442-B72B-2822FC471C16}"/>
              </a:ext>
            </a:extLst>
          </p:cNvPr>
          <p:cNvSpPr/>
          <p:nvPr userDrawn="1"/>
        </p:nvSpPr>
        <p:spPr>
          <a:xfrm>
            <a:off x="6096000" y="0"/>
            <a:ext cx="6142546" cy="68580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4"/>
            <a:ext cx="516725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6"/>
            <a:ext cx="515450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532630" y="1241144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DDE38A-319B-4667-B0DB-84B535922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33018" y="276225"/>
            <a:ext cx="5058281" cy="693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/>
            </a:lvl1pPr>
            <a:lvl2pPr marL="182697" indent="0">
              <a:buNone/>
              <a:defRPr/>
            </a:lvl2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BEF609D-A286-173E-2477-D4331FBC6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91298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 userDrawn="1"/>
        </p:nvSpPr>
        <p:spPr>
          <a:xfrm>
            <a:off x="-31033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29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8"/>
            </a:lvl1pPr>
            <a:lvl2pPr>
              <a:defRPr sz="1798"/>
            </a:lvl2pPr>
            <a:lvl3pPr>
              <a:defRPr sz="1798"/>
            </a:lvl3pPr>
            <a:lvl4pPr>
              <a:defRPr sz="1798"/>
            </a:lvl4pPr>
            <a:lvl5pPr>
              <a:defRPr sz="1798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 userDrawn="1"/>
        </p:nvSpPr>
        <p:spPr>
          <a:xfrm rot="10800000">
            <a:off x="590427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 userDrawn="1"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 userDrawn="1"/>
        </p:nvSpPr>
        <p:spPr>
          <a:xfrm>
            <a:off x="609600" y="6507766"/>
            <a:ext cx="1032767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www.earley.com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29" y="1427981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778259B-6C58-1014-72EC-248AC72B6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58691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 userDrawn="1"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33626" y="2506512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 userDrawn="1"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9" y="3751186"/>
            <a:ext cx="5177468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877425760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/>
          <a:stretch/>
        </p:blipFill>
        <p:spPr>
          <a:xfrm>
            <a:off x="-31034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 userDrawn="1"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2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519747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208289027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 userDrawn="1"/>
        </p:nvSpPr>
        <p:spPr>
          <a:xfrm rot="10800000">
            <a:off x="-31029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30" y="2992309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 userDrawn="1"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 userDrawn="1"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Duplicate Sans" pitchFamily="2" charset="77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1"/>
            <a:ext cx="5317394" cy="84772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  <a:lvl2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2" y="1162050"/>
            <a:ext cx="5317393" cy="220533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3486" rtl="0" eaLnBrk="1" fontAlgn="auto" latinLnBrk="0" hangingPunct="1">
              <a:lnSpc>
                <a:spcPct val="100000"/>
              </a:lnSpc>
              <a:spcBef>
                <a:spcPts val="1199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5197476"/>
            <a:ext cx="5323670" cy="10652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68433507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33" y="275271"/>
            <a:ext cx="11259334" cy="6935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6401" y="1086998"/>
            <a:ext cx="11480800" cy="50852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55C0C71-E13C-E6D2-94E6-A95E1DF9A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47937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394" y="195310"/>
            <a:ext cx="10515600" cy="5623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086394" y="1091954"/>
            <a:ext cx="10515600" cy="5105809"/>
          </a:xfrm>
        </p:spPr>
        <p:txBody>
          <a:bodyPr/>
          <a:lstStyle>
            <a:lvl1pPr marL="0" indent="0">
              <a:buNone/>
              <a:defRPr sz="2397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1598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398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398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398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DFA23B3-A9B5-8504-A871-7D2F176CE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0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CB500C5-FED8-485C-9349-92D63E2C71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955654"/>
            <a:ext cx="8425178" cy="603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3996"/>
              </a:lnSpc>
              <a:defRPr lang="en-ID" sz="3996" b="1" spc="-1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63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FB8E6BB7-C815-4EDD-B768-A91431264F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587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AC94736-0536-4747-BA8B-2455829176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7732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A642A97-0529-49E2-A94E-3795AAA7F2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9589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B56D1-2B97-44E0-8947-643B79DDFE97}"/>
              </a:ext>
            </a:extLst>
          </p:cNvPr>
          <p:cNvSpPr txBox="1"/>
          <p:nvPr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320580-809D-43A4-A53A-A65CD022DBF3}"/>
              </a:ext>
            </a:extLst>
          </p:cNvPr>
          <p:cNvCxnSpPr/>
          <p:nvPr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984160D-B2AE-418A-A69C-6CC9D17218CF}"/>
              </a:ext>
            </a:extLst>
          </p:cNvPr>
          <p:cNvSpPr/>
          <p:nvPr userDrawn="1"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C5CAB1-FC05-47B9-811C-C74EA10794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78FF83E-3480-4E82-A886-A7BB58A96D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31395A-9AE4-425E-9FCF-0659C58FC3D5}"/>
              </a:ext>
            </a:extLst>
          </p:cNvPr>
          <p:cNvSpPr txBox="1"/>
          <p:nvPr userDrawn="1"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891FC5-03A1-41EA-9690-DF78F78C975E}"/>
              </a:ext>
            </a:extLst>
          </p:cNvPr>
          <p:cNvCxnSpPr/>
          <p:nvPr userDrawn="1"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53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A9659-CEA7-44A7-AD7C-4616BD5D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303B7-0D68-4CCD-8FD0-F257DEAEE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C4A0775-63A1-49C8-9090-9051237C2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E1DCC-3E3F-42B0-9B38-4AC25E2ABB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8E3F9A0-B674-4D41-88FB-A6EB05A51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480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96">
                <a:solidFill>
                  <a:schemeClr val="tx1"/>
                </a:solidFill>
              </a:defRPr>
            </a:lvl1pPr>
            <a:lvl2pPr>
              <a:defRPr sz="3197">
                <a:solidFill>
                  <a:schemeClr val="tx1"/>
                </a:solidFill>
              </a:defRPr>
            </a:lvl2pPr>
            <a:lvl3pPr>
              <a:defRPr sz="2797">
                <a:solidFill>
                  <a:schemeClr val="tx1"/>
                </a:solidFill>
              </a:defRPr>
            </a:lvl3pPr>
            <a:lvl4pPr>
              <a:defRPr sz="2398">
                <a:solidFill>
                  <a:schemeClr val="tx1"/>
                </a:solidFill>
              </a:defRPr>
            </a:lvl4pPr>
            <a:lvl5pPr>
              <a:defRPr sz="2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D14FE66-2B2E-96DB-05E0-B12764CAE55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484343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190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077704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398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1714500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85D560-2575-4B02-9616-F41EC3047A68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FB6C55E-035B-40B8-A41F-0C0B0C03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C778B5-6214-5AA8-0C70-963BDA5E3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986207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35374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293B93-E6CB-9ABF-70CB-2285E8EE05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22293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1377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7001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04516BB-D883-DA8C-B273-6FD9A2B150C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741214" y="6427789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8279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78132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D87187-6B18-6FE1-4B0E-F7E14609F5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682657" y="6492875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58952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5B23803-6759-F52D-2F95-0395C5B2E136}"/>
              </a:ext>
            </a:extLst>
          </p:cNvPr>
          <p:cNvSpPr txBox="1">
            <a:spLocks/>
          </p:cNvSpPr>
          <p:nvPr userDrawn="1"/>
        </p:nvSpPr>
        <p:spPr>
          <a:xfrm>
            <a:off x="11135796" y="6330587"/>
            <a:ext cx="524434" cy="365125"/>
          </a:xfrm>
          <a:prstGeom prst="rect">
            <a:avLst/>
          </a:prstGeom>
        </p:spPr>
        <p:txBody>
          <a:bodyPr vert="horz" lIns="91345" tIns="45672" rIns="91345" bIns="45672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797EF2B-C9D2-F148-903A-0D726181440A}" type="slidenum">
              <a:rPr lang="en-US" sz="1099" smtClean="0"/>
              <a:pPr/>
              <a:t>‹#›</a:t>
            </a:fld>
            <a:endParaRPr lang="en-US" sz="1099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DB8B971-1CC3-A756-D08A-6D49213F3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14282" y="6411667"/>
            <a:ext cx="4248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9" b="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675401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 sideba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 hasCustomPrompt="1"/>
          </p:nvPr>
        </p:nvSpPr>
        <p:spPr>
          <a:xfrm>
            <a:off x="466333" y="276816"/>
            <a:ext cx="3100092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479083" y="1239008"/>
            <a:ext cx="3087342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563633" y="1241146"/>
            <a:ext cx="7030807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796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 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C1B829-300F-4FED-A942-3444F3C9C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365" y="282846"/>
            <a:ext cx="7102555" cy="687518"/>
          </a:xfrm>
          <a:ln w="12700">
            <a:miter lim="400000"/>
          </a:ln>
        </p:spPr>
        <p:txBody>
          <a:bodyPr lIns="45719" rIns="45719">
            <a:normAutofit/>
          </a:bodyPr>
          <a:lstStyle>
            <a:lvl1pPr>
              <a:defRPr lang="en-US" sz="2398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>
              <a:spcBef>
                <a:spcPts val="1198"/>
              </a:spcBef>
              <a:buFontTx/>
            </a:pPr>
            <a:r>
              <a:rPr lang="en-US"/>
              <a:t>Click to edit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464B2-8D6B-4BCE-60F3-CEDD78C60324}"/>
              </a:ext>
            </a:extLst>
          </p:cNvPr>
          <p:cNvSpPr/>
          <p:nvPr userDrawn="1"/>
        </p:nvSpPr>
        <p:spPr>
          <a:xfrm>
            <a:off x="4563633" y="6502628"/>
            <a:ext cx="364234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99" b="0">
                <a:solidFill>
                  <a:schemeClr val="tx1"/>
                </a:solidFill>
                <a:latin typeface="+mn-lt"/>
                <a:ea typeface="Arial" charset="0"/>
                <a:cs typeface="Arial" charset="0"/>
              </a:rPr>
              <a:t>Copyright © 2026 Earley Information Science, Inc.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21890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CB500C5-FED8-485C-9349-92D63E2C71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955654"/>
            <a:ext cx="8425178" cy="603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3996"/>
              </a:lnSpc>
              <a:defRPr lang="en-ID" sz="3996" b="1" spc="-15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63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FB8E6BB7-C815-4EDD-B768-A91431264F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5875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9AC94736-0536-4747-BA8B-2455829176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7732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A642A97-0529-49E2-A94E-3795AAA7F2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69589" y="3695352"/>
            <a:ext cx="1927224" cy="525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399" b="1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B56D1-2B97-44E0-8947-643B79DDFE97}"/>
              </a:ext>
            </a:extLst>
          </p:cNvPr>
          <p:cNvSpPr txBox="1"/>
          <p:nvPr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320580-809D-43A4-A53A-A65CD022DBF3}"/>
              </a:ext>
            </a:extLst>
          </p:cNvPr>
          <p:cNvCxnSpPr/>
          <p:nvPr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984160D-B2AE-418A-A69C-6CC9D17218CF}"/>
              </a:ext>
            </a:extLst>
          </p:cNvPr>
          <p:cNvSpPr/>
          <p:nvPr userDrawn="1"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C5CAB1-FC05-47B9-811C-C74EA10794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78FF83E-3480-4E82-A886-A7BB58A96D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" y="859873"/>
            <a:ext cx="971550" cy="11144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31395A-9AE4-425E-9FCF-0659C58FC3D5}"/>
              </a:ext>
            </a:extLst>
          </p:cNvPr>
          <p:cNvSpPr txBox="1"/>
          <p:nvPr userDrawn="1"/>
        </p:nvSpPr>
        <p:spPr>
          <a:xfrm>
            <a:off x="1232537" y="344969"/>
            <a:ext cx="1500732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98" b="1">
                <a:solidFill>
                  <a:schemeClr val="accent3"/>
                </a:solidFill>
                <a:latin typeface="+mj-lt"/>
              </a:rPr>
              <a:t>WEBINAR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891FC5-03A1-41EA-9690-DF78F78C975E}"/>
              </a:ext>
            </a:extLst>
          </p:cNvPr>
          <p:cNvCxnSpPr/>
          <p:nvPr userDrawn="1"/>
        </p:nvCxnSpPr>
        <p:spPr>
          <a:xfrm>
            <a:off x="1323976" y="3083353"/>
            <a:ext cx="963612" cy="0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938624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1DE516-9F5C-4BCD-9CDC-C910805622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" y="0"/>
            <a:ext cx="1216980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093757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FA7AF3-0843-4242-B96A-9A2CA1689FC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57BC6E0-54DB-42FD-B385-42278C5C5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F20BE4-ADC3-4FC8-B23E-5C07C17857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C718F19-CEB9-4A88-BA54-56829C730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95954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EFF4AA31-DA6D-45A8-A646-3204EF8D86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080000"/>
            <a:ext cx="12192000" cy="179811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CC7630E-F1DC-415D-82E0-25D6FAB1B1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7C98DE-92E7-4233-8FA0-0781E908AC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AE5C174-1402-4DCE-8CCB-A0F5500249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78CC2B-9055-4B8C-9176-3B628FA6B5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2785F1A-057A-4ED3-8529-64CA102480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77732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AA9659-CEA7-44A7-AD7C-4616BD5D5D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alphaModFix amt="35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6627B9-357C-4355-8481-5F6408BD2140}"/>
              </a:ext>
            </a:extLst>
          </p:cNvPr>
          <p:cNvSpPr/>
          <p:nvPr/>
        </p:nvSpPr>
        <p:spPr>
          <a:xfrm>
            <a:off x="0" y="5113868"/>
            <a:ext cx="12192000" cy="176424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4262CC2-B7F3-4D90-B1DD-1A939FE8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6" y="1485900"/>
            <a:ext cx="693376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5020"/>
              </a:lnSpc>
              <a:defRPr lang="en-ID" sz="5020" b="1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>
              <a:lnSpc>
                <a:spcPts val="5020"/>
              </a:lnSpc>
            </a:pPr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3908562-E4AE-4667-A933-45C911403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3977" y="4019550"/>
            <a:ext cx="5244464" cy="269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1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2098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1AC3E1D-0635-4290-828E-1D62C9D365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4543" y="5600385"/>
            <a:ext cx="132559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b="0" spc="0" smtClean="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DATE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091029E-1C97-4FA0-B26D-668189E913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13795" y="5598902"/>
            <a:ext cx="191455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049" cap="all" baseline="0" smtClean="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199"/>
              </a:lnSpc>
            </a:pPr>
            <a:r>
              <a:rPr lang="en-US"/>
              <a:t>Prepared Exclusively for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2E7DEE-03A6-43C0-929E-81E113BFBB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B6F83C-D064-4BE8-9BBB-A0792F2A5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303B7-0D68-4CCD-8FD0-F257DEAEE9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C4A0775-63A1-49C8-9090-9051237C2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9E1DCC-3E3F-42B0-9B38-4AC25E2ABB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00" y="5840711"/>
            <a:ext cx="1951712" cy="7838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8E3F9A0-B674-4D41-88FB-A6EB05A51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98602"/>
            <a:ext cx="9715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22936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66CD23F-FA4D-4295-B954-B0F4BB649A42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2A382C-3C51-4490-97C1-6F0924CA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0425" y="1146908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96">
                <a:solidFill>
                  <a:schemeClr val="tx1"/>
                </a:solidFill>
              </a:defRPr>
            </a:lvl1pPr>
            <a:lvl2pPr>
              <a:defRPr sz="3197">
                <a:solidFill>
                  <a:schemeClr val="tx1"/>
                </a:solidFill>
              </a:defRPr>
            </a:lvl2pPr>
            <a:lvl3pPr>
              <a:defRPr sz="2797">
                <a:solidFill>
                  <a:schemeClr val="tx1"/>
                </a:solidFill>
              </a:defRPr>
            </a:lvl3pPr>
            <a:lvl4pPr>
              <a:defRPr sz="2398">
                <a:solidFill>
                  <a:schemeClr val="tx1"/>
                </a:solidFill>
              </a:defRPr>
            </a:lvl4pPr>
            <a:lvl5pPr>
              <a:defRPr sz="2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D14FE66-2B2E-96DB-05E0-B12764CAE55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218682" y="6487242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0585267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,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DA48418-2AD2-44F5-A9BC-5414EBAA8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900" y="1077704"/>
            <a:ext cx="975360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398" b="1" i="0" cap="all" baseline="0" smtClean="0">
                <a:solidFill>
                  <a:schemeClr val="tx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5D09-A636-4B22-9604-C6AB9514C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0900" y="1714500"/>
            <a:ext cx="101028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185D560-2575-4B02-9616-F41EC3047A68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FB6C55E-035B-40B8-A41F-0C0B0C03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3C778B5-6214-5AA8-0C70-963BDA5E31E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98861" y="6427789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060556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pos="3840">
          <p15:clr>
            <a:srgbClr val="FBAE40"/>
          </p15:clr>
        </p15:guide>
        <p15:guide id="6" pos="89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99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F3FDB1-9A04-474E-B509-425755DAE5FE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2171"/>
            <a:ext cx="571500" cy="695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100826-9174-4C0F-98CA-D20ADD4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293B93-E6CB-9ABF-70CB-2285E8EE05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394356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8664964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 Green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67001"/>
            <a:ext cx="571500" cy="6953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091649A-A9FB-4536-BA97-6D0D6447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04516BB-D883-DA8C-B273-6FD9A2B150C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589338" y="6492875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848156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 Lt Blue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08429AF1-7800-4B5D-B7D8-38F2369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2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00AB8F-43EB-47F4-8336-6457E5F95B7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78132"/>
            <a:ext cx="571500" cy="6953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4CDEB-AAFA-464D-A135-D7968448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26" y="221126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0" strike="noStrike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DD87187-6B18-6FE1-4B0E-F7E14609F5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58329" y="6454311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834790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9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k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3188B1-598D-4501-8738-2590601E0FD4}"/>
              </a:ext>
            </a:extLst>
          </p:cNvPr>
          <p:cNvSpPr/>
          <p:nvPr/>
        </p:nvSpPr>
        <p:spPr>
          <a:xfrm>
            <a:off x="0" y="2"/>
            <a:ext cx="12192000" cy="34418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58E796-D3D3-49D9-8DF2-2576D70B291B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CE16369-6DBF-4443-B97A-4DC346CFAB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8751" y="4300669"/>
            <a:ext cx="3890595" cy="218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798" b="0" smtClean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marL="0" lvl="0">
              <a:lnSpc>
                <a:spcPts val="1723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7217367-5936-48F6-BD04-5405C9D253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16050" y="3883772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798" b="1" i="0" cap="all" baseline="0" smtClean="0">
                <a:solidFill>
                  <a:schemeClr val="tx2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3EDE36C-733D-4463-8558-8E97D3B9F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5561" y="6427790"/>
            <a:ext cx="437271" cy="365125"/>
          </a:xfrm>
          <a:prstGeom prst="rect">
            <a:avLst/>
          </a:prstGeom>
        </p:spPr>
        <p:txBody>
          <a:bodyPr anchor="ctr"/>
          <a:lstStyle>
            <a:lvl1pPr algn="ctr">
              <a:defRPr lang="en-US" sz="999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50B3437-62A7-4BCF-A42A-7027ABAB2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8751" y="900725"/>
            <a:ext cx="6096000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798" b="1" i="0" cap="all" baseline="0" smtClean="0">
                <a:solidFill>
                  <a:schemeClr val="bg1"/>
                </a:solidFill>
                <a:latin typeface="Franklin Gothic"/>
              </a:defRPr>
            </a:lvl1pPr>
            <a:lvl2pPr>
              <a:buNone/>
              <a:defRPr/>
            </a:lvl2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C9C934-35AB-4BE9-97D2-1EBA3B07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1" y="1524512"/>
            <a:ext cx="9705975" cy="641201"/>
          </a:xfrm>
          <a:prstGeom prst="rect">
            <a:avLst/>
          </a:prstGeom>
          <a:ln>
            <a:noFill/>
          </a:ln>
        </p:spPr>
        <p:txBody>
          <a:bodyPr lIns="0" tIns="0" rIns="0" bIns="0">
            <a:spAutoFit/>
          </a:bodyPr>
          <a:lstStyle>
            <a:lvl1pPr marL="0" indent="0">
              <a:lnSpc>
                <a:spcPts val="5020"/>
              </a:lnSpc>
              <a:defRPr sz="4496" b="1" strike="noStrike" spc="-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A9AB279-D182-4D5E-9852-1435963B9B80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BE429DE-51DB-478B-BB6F-2EE4371D3DC9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879DA8F-1BA3-430F-A2F2-0B837F901367}"/>
              </a:ext>
            </a:extLst>
          </p:cNvPr>
          <p:cNvPicPr>
            <a:picLocks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3081339"/>
            <a:ext cx="5715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623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0.jpeg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A593B-4253-40F8-AF57-7D72369F820F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F71C-0E8A-44B9-99FD-8E7FC46DFF8C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B685D-FBBC-4A2C-9566-045A74B65FA3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7171" y="6441507"/>
            <a:ext cx="42481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4153D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6174CD8-97A7-1979-1F46-1A0D61FB754A}"/>
              </a:ext>
            </a:extLst>
          </p:cNvPr>
          <p:cNvSpPr txBox="1">
            <a:spLocks/>
          </p:cNvSpPr>
          <p:nvPr userDrawn="1"/>
        </p:nvSpPr>
        <p:spPr>
          <a:xfrm>
            <a:off x="8382155" y="6441507"/>
            <a:ext cx="205912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100">
                <a:solidFill>
                  <a:srgbClr val="04153D"/>
                </a:solidFill>
                <a:latin typeface="Montserrat" pitchFamily="2" charset="77"/>
              </a:rPr>
              <a:t>www.earley.com</a:t>
            </a:r>
          </a:p>
        </p:txBody>
      </p:sp>
    </p:spTree>
    <p:extLst>
      <p:ext uri="{BB962C8B-B14F-4D97-AF65-F5344CB8AC3E}">
        <p14:creationId xmlns:p14="http://schemas.microsoft.com/office/powerpoint/2010/main" val="1611615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1" r:id="rId1"/>
    <p:sldLayoutId id="2147484273" r:id="rId2"/>
    <p:sldLayoutId id="2147484274" r:id="rId3"/>
    <p:sldLayoutId id="2147484275" r:id="rId4"/>
    <p:sldLayoutId id="2147484276" r:id="rId5"/>
    <p:sldLayoutId id="2147484280" r:id="rId6"/>
    <p:sldLayoutId id="2147484353" r:id="rId7"/>
    <p:sldLayoutId id="2147484775" r:id="rId8"/>
    <p:sldLayoutId id="2147485603" r:id="rId9"/>
    <p:sldLayoutId id="2147485604" r:id="rId10"/>
    <p:sldLayoutId id="214748560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A593B-4253-40F8-AF57-7D72369F820F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F71C-0E8A-44B9-99FD-8E7FC46DFF8C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B685D-FBBC-4A2C-9566-045A74B65FA3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00">
              <a:latin typeface="Gill Sans MT" panose="020B0502020104020203" pitchFamily="34" charset="0"/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59B2844-0650-B41A-2795-1969717E760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6" y="6449080"/>
            <a:ext cx="1073150" cy="319045"/>
          </a:xfrm>
          <a:prstGeom prst="rect">
            <a:avLst/>
          </a:prstGeom>
        </p:spPr>
      </p:pic>
      <p:sp>
        <p:nvSpPr>
          <p:cNvPr id="4" name="Slide Number Placeholder 16">
            <a:extLst>
              <a:ext uri="{FF2B5EF4-FFF2-40B4-BE49-F238E27FC236}">
                <a16:creationId xmlns:a16="http://schemas.microsoft.com/office/drawing/2014/main" id="{69625882-F612-E944-6079-71089F5D23D6}"/>
              </a:ext>
            </a:extLst>
          </p:cNvPr>
          <p:cNvSpPr txBox="1">
            <a:spLocks/>
          </p:cNvSpPr>
          <p:nvPr userDrawn="1"/>
        </p:nvSpPr>
        <p:spPr>
          <a:xfrm>
            <a:off x="3133808" y="6608599"/>
            <a:ext cx="3809380" cy="1595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144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rPr>
              <a:t>© 2026 Earley Information Science, Inc.</a:t>
            </a:r>
          </a:p>
        </p:txBody>
      </p:sp>
      <p:sp>
        <p:nvSpPr>
          <p:cNvPr id="12" name="Slide Number Placeholder 16">
            <a:extLst>
              <a:ext uri="{FF2B5EF4-FFF2-40B4-BE49-F238E27FC236}">
                <a16:creationId xmlns:a16="http://schemas.microsoft.com/office/drawing/2014/main" id="{0A702CBB-EB4F-AE1C-253B-26F7419CF97E}"/>
              </a:ext>
            </a:extLst>
          </p:cNvPr>
          <p:cNvSpPr txBox="1">
            <a:spLocks/>
          </p:cNvSpPr>
          <p:nvPr userDrawn="1"/>
        </p:nvSpPr>
        <p:spPr>
          <a:xfrm>
            <a:off x="7302604" y="6542945"/>
            <a:ext cx="3809380" cy="1595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144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rPr>
              <a:t>www.earley.com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0329447-A4F0-5F14-8A33-702A36045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9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8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77" r:id="rId1"/>
    <p:sldLayoutId id="2147484778" r:id="rId2"/>
    <p:sldLayoutId id="2147484779" r:id="rId3"/>
    <p:sldLayoutId id="2147484780" r:id="rId4"/>
    <p:sldLayoutId id="2147484781" r:id="rId5"/>
    <p:sldLayoutId id="2147484782" r:id="rId6"/>
    <p:sldLayoutId id="2147484783" r:id="rId7"/>
    <p:sldLayoutId id="2147484786" r:id="rId8"/>
    <p:sldLayoutId id="2147484787" r:id="rId9"/>
    <p:sldLayoutId id="2147484791" r:id="rId10"/>
    <p:sldLayoutId id="2147484798" r:id="rId11"/>
    <p:sldLayoutId id="2147484799" r:id="rId12"/>
    <p:sldLayoutId id="2147484801" r:id="rId13"/>
    <p:sldLayoutId id="2147484802" r:id="rId14"/>
    <p:sldLayoutId id="2147484803" r:id="rId15"/>
    <p:sldLayoutId id="2147484804" r:id="rId16"/>
    <p:sldLayoutId id="2147484805" r:id="rId17"/>
    <p:sldLayoutId id="2147484808" r:id="rId18"/>
    <p:sldLayoutId id="2147484811" r:id="rId19"/>
    <p:sldLayoutId id="2147484812" r:id="rId20"/>
    <p:sldLayoutId id="2147484814" r:id="rId21"/>
    <p:sldLayoutId id="2147485394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2" orient="horz" pos="296">
          <p15:clr>
            <a:srgbClr val="F26B43"/>
          </p15:clr>
        </p15:guide>
        <p15:guide id="23" orient="horz" pos="4016">
          <p15:clr>
            <a:srgbClr val="F26B43"/>
          </p15:clr>
        </p15:guide>
        <p15:guide id="24" pos="536">
          <p15:clr>
            <a:srgbClr val="F26B43"/>
          </p15:clr>
        </p15:guide>
        <p15:guide id="25" pos="7136">
          <p15:clr>
            <a:srgbClr val="F26B43"/>
          </p15:clr>
        </p15:guide>
        <p15:guide id="26" orient="horz" pos="728">
          <p15:clr>
            <a:srgbClr val="F26B43"/>
          </p15:clr>
        </p15:guide>
        <p15:guide id="27" orient="horz" pos="944">
          <p15:clr>
            <a:srgbClr val="F26B43"/>
          </p15:clr>
        </p15:guide>
        <p15:guide id="28" orient="horz" pos="38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3A593B-4253-40F8-AF57-7D72369F820F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598">
              <a:latin typeface="Gill Sans MT" panose="020B05020201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5F71C-0E8A-44B9-99FD-8E7FC46DFF8C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598">
              <a:latin typeface="Gill Sans MT" panose="020B05020201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B685D-FBBC-4A2C-9566-045A74B65FA3}"/>
              </a:ext>
            </a:extLst>
          </p:cNvPr>
          <p:cNvSpPr/>
          <p:nvPr/>
        </p:nvSpPr>
        <p:spPr>
          <a:xfrm>
            <a:off x="11715435" y="6363495"/>
            <a:ext cx="476250" cy="495300"/>
          </a:xfrm>
          <a:prstGeom prst="rect">
            <a:avLst/>
          </a:prstGeom>
          <a:solidFill>
            <a:srgbClr val="FF61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598">
              <a:latin typeface="Gill Sans MT" panose="020B0502020104020203" pitchFamily="34" charset="0"/>
            </a:endParaRPr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A5D154EE-E42A-C041-7557-535578365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202" y="6446434"/>
            <a:ext cx="282576" cy="3243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34D1D16-6E02-C7AD-813F-20F9FA8EA42A}"/>
              </a:ext>
            </a:extLst>
          </p:cNvPr>
          <p:cNvSpPr/>
          <p:nvPr userDrawn="1"/>
        </p:nvSpPr>
        <p:spPr>
          <a:xfrm>
            <a:off x="545758" y="6469070"/>
            <a:ext cx="1055096" cy="2460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99" b="0">
                <a:solidFill>
                  <a:schemeClr val="tx1"/>
                </a:solidFill>
                <a:latin typeface="+mn-lt"/>
                <a:ea typeface="Arial" charset="0"/>
                <a:cs typeface="Arial" charset="0"/>
              </a:rPr>
              <a:t>www.earley.com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66279" y="6405647"/>
            <a:ext cx="4248150" cy="365125"/>
          </a:xfrm>
          <a:prstGeom prst="rect">
            <a:avLst/>
          </a:prstGeom>
        </p:spPr>
        <p:txBody>
          <a:bodyPr/>
          <a:lstStyle/>
          <a:p>
            <a:pPr algn="r" defTabSz="913486">
              <a:defRPr/>
            </a:pPr>
            <a:r>
              <a:rPr lang="en-US" sz="1099">
                <a:solidFill>
                  <a:srgbClr val="04153D"/>
                </a:solidFill>
                <a:latin typeface="Montserrat" pitchFamily="2" charset="77"/>
              </a:rPr>
              <a:t>© 2026 Earley Information Science, Inc. 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45C7245-2463-8118-45D3-99375F1DD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94934"/>
            <a:ext cx="437271" cy="23083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lang="en-US" sz="900" kern="12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BF40E506-015C-44FA-8E41-5848CC402A1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74780-713E-161A-505C-AA2F68F9497C}"/>
              </a:ext>
            </a:extLst>
          </p:cNvPr>
          <p:cNvSpPr txBox="1">
            <a:spLocks/>
          </p:cNvSpPr>
          <p:nvPr userDrawn="1"/>
        </p:nvSpPr>
        <p:spPr>
          <a:xfrm>
            <a:off x="8382155" y="6441507"/>
            <a:ext cx="205912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100">
                <a:solidFill>
                  <a:srgbClr val="04153D"/>
                </a:solidFill>
                <a:latin typeface="Montserrat" pitchFamily="2" charset="77"/>
              </a:rPr>
              <a:t>www.earley.com</a:t>
            </a:r>
          </a:p>
        </p:txBody>
      </p:sp>
    </p:spTree>
    <p:extLst>
      <p:ext uri="{BB962C8B-B14F-4D97-AF65-F5344CB8AC3E}">
        <p14:creationId xmlns:p14="http://schemas.microsoft.com/office/powerpoint/2010/main" val="146991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84" r:id="rId1"/>
    <p:sldLayoutId id="2147485487" r:id="rId2"/>
    <p:sldLayoutId id="2147485488" r:id="rId3"/>
    <p:sldLayoutId id="2147485489" r:id="rId4"/>
    <p:sldLayoutId id="2147485490" r:id="rId5"/>
    <p:sldLayoutId id="2147485491" r:id="rId6"/>
    <p:sldLayoutId id="2147485492" r:id="rId7"/>
    <p:sldLayoutId id="2147485498" r:id="rId8"/>
    <p:sldLayoutId id="2147485499" r:id="rId9"/>
    <p:sldLayoutId id="2147485500" r:id="rId10"/>
    <p:sldLayoutId id="2147485501" r:id="rId11"/>
    <p:sldLayoutId id="2147485502" r:id="rId12"/>
    <p:sldLayoutId id="2147485503" r:id="rId13"/>
    <p:sldLayoutId id="2147485504" r:id="rId14"/>
    <p:sldLayoutId id="2147485505" r:id="rId15"/>
    <p:sldLayoutId id="2147485506" r:id="rId16"/>
    <p:sldLayoutId id="2147485507" r:id="rId17"/>
    <p:sldLayoutId id="2147485508" r:id="rId18"/>
    <p:sldLayoutId id="2147485511" r:id="rId19"/>
  </p:sldLayoutIdLst>
  <p:hf hdr="0" ftr="0" dt="0"/>
  <p:txStyles>
    <p:titleStyle>
      <a:lvl1pPr algn="l" defTabSz="913486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1" indent="-228371" algn="l" defTabSz="91348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857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600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343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085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828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571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3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86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228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714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457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20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942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2" orient="horz" pos="296">
          <p15:clr>
            <a:srgbClr val="F26B43"/>
          </p15:clr>
        </p15:guide>
        <p15:guide id="23" orient="horz" pos="4016">
          <p15:clr>
            <a:srgbClr val="F26B43"/>
          </p15:clr>
        </p15:guide>
        <p15:guide id="24" pos="536">
          <p15:clr>
            <a:srgbClr val="F26B43"/>
          </p15:clr>
        </p15:guide>
        <p15:guide id="25" pos="7136">
          <p15:clr>
            <a:srgbClr val="F26B43"/>
          </p15:clr>
        </p15:guide>
        <p15:guide id="26" orient="horz" pos="728">
          <p15:clr>
            <a:srgbClr val="F26B43"/>
          </p15:clr>
        </p15:guide>
        <p15:guide id="27" orient="horz" pos="944">
          <p15:clr>
            <a:srgbClr val="F26B43"/>
          </p15:clr>
        </p15:guide>
        <p15:guide id="28" orient="horz" pos="38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A94CD8E-0D3F-2D3D-CAF6-CD935FC96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44" y="0"/>
            <a:ext cx="12192000" cy="68580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975360" y="1463040"/>
            <a:ext cx="85344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FFFFFF"/>
                </a:solidFill>
                <a:latin typeface="Calibri"/>
              </a:rPr>
              <a:t>Technology</a:t>
            </a:r>
          </a:p>
          <a:p>
            <a:r>
              <a:rPr lang="en-US" sz="40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8" name="Text 6"/>
          <p:cNvSpPr/>
          <p:nvPr/>
        </p:nvSpPr>
        <p:spPr>
          <a:xfrm>
            <a:off x="975360" y="432816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3 | Enterprise AI Assessment &amp; Implementation Strategy</a:t>
            </a:r>
            <a:endParaRPr lang="en-US" sz="1867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7536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0" y="6217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19520EA8-351C-9EC1-B3F5-EE0AA0E650E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35" y="424891"/>
            <a:ext cx="2005263" cy="5955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0A2D3A-DDAC-76FA-50DF-63C555076CE5}"/>
              </a:ext>
            </a:extLst>
          </p:cNvPr>
          <p:cNvSpPr txBox="1"/>
          <p:nvPr/>
        </p:nvSpPr>
        <p:spPr>
          <a:xfrm>
            <a:off x="770157" y="1216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589"/>
                </a:solidFill>
                <a:latin typeface="Calibri"/>
              </a:defRPr>
            </a:pPr>
            <a:r>
              <a:t>STELLANTIS FINANCIAL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009882" y="6431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94816"/>
            <a:ext cx="10972800" cy="46329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853440" y="1219200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/>
          </a:p>
        </p:txBody>
      </p:sp>
      <p:sp>
        <p:nvSpPr>
          <p:cNvPr id="10" name="Text 8"/>
          <p:cNvSpPr/>
          <p:nvPr/>
        </p:nvSpPr>
        <p:spPr>
          <a:xfrm>
            <a:off x="1584960" y="121920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867"/>
          </a:p>
        </p:txBody>
      </p:sp>
      <p:sp>
        <p:nvSpPr>
          <p:cNvPr id="11" name="Text 9"/>
          <p:cNvSpPr/>
          <p:nvPr/>
        </p:nvSpPr>
        <p:spPr>
          <a:xfrm>
            <a:off x="10119360" y="121920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853440" y="1731264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/>
          </a:p>
        </p:txBody>
      </p:sp>
      <p:sp>
        <p:nvSpPr>
          <p:cNvPr id="13" name="Text 11"/>
          <p:cNvSpPr/>
          <p:nvPr/>
        </p:nvSpPr>
        <p:spPr>
          <a:xfrm>
            <a:off x="1584960" y="1731264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Technology Stack Overview</a:t>
            </a:r>
            <a:endParaRPr lang="en-US" sz="1867"/>
          </a:p>
        </p:txBody>
      </p:sp>
      <p:sp>
        <p:nvSpPr>
          <p:cNvPr id="14" name="Text 12"/>
          <p:cNvSpPr/>
          <p:nvPr/>
        </p:nvSpPr>
        <p:spPr>
          <a:xfrm>
            <a:off x="10119360" y="1731264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09600" y="2218944"/>
            <a:ext cx="10972800" cy="46329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53440" y="2243328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/>
          </a:p>
        </p:txBody>
      </p:sp>
      <p:sp>
        <p:nvSpPr>
          <p:cNvPr id="17" name="Text 15"/>
          <p:cNvSpPr/>
          <p:nvPr/>
        </p:nvSpPr>
        <p:spPr>
          <a:xfrm>
            <a:off x="1584960" y="2243328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 Architecture</a:t>
            </a:r>
            <a:endParaRPr lang="en-US" sz="1867"/>
          </a:p>
        </p:txBody>
      </p:sp>
      <p:sp>
        <p:nvSpPr>
          <p:cNvPr id="18" name="Text 16"/>
          <p:cNvSpPr/>
          <p:nvPr/>
        </p:nvSpPr>
        <p:spPr>
          <a:xfrm>
            <a:off x="10119360" y="2243328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853440" y="2755392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67"/>
          </a:p>
        </p:txBody>
      </p:sp>
      <p:sp>
        <p:nvSpPr>
          <p:cNvPr id="20" name="Text 18"/>
          <p:cNvSpPr/>
          <p:nvPr/>
        </p:nvSpPr>
        <p:spPr>
          <a:xfrm>
            <a:off x="1584960" y="2755392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&amp; Analytics</a:t>
            </a:r>
            <a:endParaRPr lang="en-US" sz="1867"/>
          </a:p>
        </p:txBody>
      </p:sp>
      <p:sp>
        <p:nvSpPr>
          <p:cNvPr id="21" name="Text 19"/>
          <p:cNvSpPr/>
          <p:nvPr/>
        </p:nvSpPr>
        <p:spPr>
          <a:xfrm>
            <a:off x="10119360" y="2755392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609600" y="3243072"/>
            <a:ext cx="10972800" cy="46329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853440" y="3267456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67"/>
          </a:p>
        </p:txBody>
      </p:sp>
      <p:sp>
        <p:nvSpPr>
          <p:cNvPr id="24" name="Text 22"/>
          <p:cNvSpPr/>
          <p:nvPr/>
        </p:nvSpPr>
        <p:spPr>
          <a:xfrm>
            <a:off x="1584960" y="3267456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Governance</a:t>
            </a:r>
            <a:endParaRPr lang="en-US" sz="1867"/>
          </a:p>
        </p:txBody>
      </p:sp>
      <p:sp>
        <p:nvSpPr>
          <p:cNvPr id="25" name="Text 23"/>
          <p:cNvSpPr/>
          <p:nvPr/>
        </p:nvSpPr>
        <p:spPr>
          <a:xfrm>
            <a:off x="10119360" y="3267456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13-14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853440" y="3779520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67"/>
          </a:p>
        </p:txBody>
      </p:sp>
      <p:sp>
        <p:nvSpPr>
          <p:cNvPr id="27" name="Text 25"/>
          <p:cNvSpPr/>
          <p:nvPr/>
        </p:nvSpPr>
        <p:spPr>
          <a:xfrm>
            <a:off x="1584960" y="377952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SDLC Modernization</a:t>
            </a:r>
            <a:endParaRPr lang="en-US" sz="1867"/>
          </a:p>
        </p:txBody>
      </p:sp>
      <p:sp>
        <p:nvSpPr>
          <p:cNvPr id="28" name="Text 26"/>
          <p:cNvSpPr/>
          <p:nvPr/>
        </p:nvSpPr>
        <p:spPr>
          <a:xfrm>
            <a:off x="10119360" y="3779520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15-17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609600" y="4267200"/>
            <a:ext cx="10972800" cy="46329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853440" y="4291584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67"/>
          </a:p>
        </p:txBody>
      </p:sp>
      <p:sp>
        <p:nvSpPr>
          <p:cNvPr id="31" name="Text 29"/>
          <p:cNvSpPr/>
          <p:nvPr/>
        </p:nvSpPr>
        <p:spPr>
          <a:xfrm>
            <a:off x="1584960" y="4291584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Infrastructure</a:t>
            </a:r>
            <a:endParaRPr lang="en-US" sz="1867"/>
          </a:p>
        </p:txBody>
      </p:sp>
      <p:sp>
        <p:nvSpPr>
          <p:cNvPr id="32" name="Text 30"/>
          <p:cNvSpPr/>
          <p:nvPr/>
        </p:nvSpPr>
        <p:spPr>
          <a:xfrm>
            <a:off x="10119360" y="4291584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18-19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853440" y="4803648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67"/>
          </a:p>
        </p:txBody>
      </p:sp>
      <p:sp>
        <p:nvSpPr>
          <p:cNvPr id="34" name="Text 32"/>
          <p:cNvSpPr/>
          <p:nvPr/>
        </p:nvSpPr>
        <p:spPr>
          <a:xfrm>
            <a:off x="1584960" y="4803648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Center &amp; CX Platform</a:t>
            </a:r>
            <a:endParaRPr lang="en-US" sz="1867"/>
          </a:p>
        </p:txBody>
      </p:sp>
      <p:sp>
        <p:nvSpPr>
          <p:cNvPr id="35" name="Text 33"/>
          <p:cNvSpPr/>
          <p:nvPr/>
        </p:nvSpPr>
        <p:spPr>
          <a:xfrm>
            <a:off x="10119360" y="4803648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20-21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>
          <a:xfrm>
            <a:off x="609600" y="5291328"/>
            <a:ext cx="10972800" cy="46329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853440" y="5315712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67"/>
          </a:p>
        </p:txBody>
      </p:sp>
      <p:sp>
        <p:nvSpPr>
          <p:cNvPr id="38" name="Text 36"/>
          <p:cNvSpPr/>
          <p:nvPr/>
        </p:nvSpPr>
        <p:spPr>
          <a:xfrm>
            <a:off x="1584960" y="5315712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867"/>
          </a:p>
        </p:txBody>
      </p:sp>
      <p:sp>
        <p:nvSpPr>
          <p:cNvPr id="39" name="Text 37"/>
          <p:cNvSpPr/>
          <p:nvPr/>
        </p:nvSpPr>
        <p:spPr>
          <a:xfrm>
            <a:off x="10119360" y="5315712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22-24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853440" y="5827776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67"/>
          </a:p>
        </p:txBody>
      </p:sp>
      <p:sp>
        <p:nvSpPr>
          <p:cNvPr id="41" name="Text 39"/>
          <p:cNvSpPr/>
          <p:nvPr/>
        </p:nvSpPr>
        <p:spPr>
          <a:xfrm>
            <a:off x="1584960" y="5827776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867"/>
          </a:p>
        </p:txBody>
      </p:sp>
      <p:sp>
        <p:nvSpPr>
          <p:cNvPr id="42" name="Text 40"/>
          <p:cNvSpPr/>
          <p:nvPr/>
        </p:nvSpPr>
        <p:spPr>
          <a:xfrm>
            <a:off x="10119360" y="5827776"/>
            <a:ext cx="1463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B36A22BF-9344-8EB0-C9DD-24DABCCC8D26}"/>
              </a:ext>
            </a:extLst>
          </p:cNvPr>
          <p:cNvSpPr/>
          <p:nvPr/>
        </p:nvSpPr>
        <p:spPr>
          <a:xfrm>
            <a:off x="11582400" y="6492240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67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67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72D5BCAC-175E-653B-4CDF-AF809AAA30BB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3BD1698-8F76-51BD-F9D5-8D2E83FE20A8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C942A1-3C67-5279-5FE0-E6DDFD430D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findings and strategic technology recommendations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6919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928315" y="633443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5181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2560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Context</a:t>
            </a:r>
            <a:endParaRPr lang="en-US" sz="1867"/>
          </a:p>
        </p:txBody>
      </p:sp>
      <p:sp>
        <p:nvSpPr>
          <p:cNvPr id="11" name="Text 9"/>
          <p:cNvSpPr/>
          <p:nvPr/>
        </p:nvSpPr>
        <p:spPr>
          <a:xfrm>
            <a:off x="914400" y="1767840"/>
            <a:ext cx="4632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stakeholder interviews across all technology domains</a:t>
            </a:r>
            <a:endParaRPr lang="en-US" sz="1400"/>
          </a:p>
          <a:p>
            <a:pPr marL="457189" indent="-457189">
              <a:buSzPct val="100000"/>
              <a:buChar char="•"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Score: 43/100 vs. 70/100 industry benchmark</a:t>
            </a:r>
            <a:endParaRPr lang="en-US" sz="1400"/>
          </a:p>
          <a:p>
            <a:pPr marL="457189" indent="-457189"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15-18 core findings across 6 strategic themes</a:t>
            </a:r>
            <a:endParaRPr lang="en-US" sz="1400"/>
          </a:p>
          <a:p>
            <a:pPr marL="457189" indent="-457189"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bridge foundational gaps while enabling quick wins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6400800" y="1158240"/>
            <a:ext cx="5181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400800" y="1158240"/>
            <a:ext cx="73152" cy="2560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705600" y="128016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Priorities</a:t>
            </a:r>
            <a:endParaRPr lang="en-US" sz="1867"/>
          </a:p>
        </p:txBody>
      </p:sp>
      <p:sp>
        <p:nvSpPr>
          <p:cNvPr id="15" name="Text 13"/>
          <p:cNvSpPr/>
          <p:nvPr/>
        </p:nvSpPr>
        <p:spPr>
          <a:xfrm>
            <a:off x="6705600" y="1767840"/>
            <a:ext cx="4632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→ Azure APIM migration (18-month window)</a:t>
            </a:r>
            <a:endParaRPr lang="en-US" sz="1400"/>
          </a:p>
          <a:p>
            <a:pPr marL="457189" indent="-457189"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EDW completion by Q2 2026</a:t>
            </a:r>
            <a:endParaRPr lang="en-US" sz="1400"/>
          </a:p>
          <a:p>
            <a:pPr marL="457189" indent="-457189">
              <a:buSzPct val="100000"/>
              <a:buChar char="•"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operationalization (95% data untagged)</a:t>
            </a:r>
            <a:endParaRPr lang="en-US" sz="1400"/>
          </a:p>
          <a:p>
            <a:pPr marL="457189" indent="-457189"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expansion (25% → 80% coverage target)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609600" y="4023360"/>
            <a:ext cx="262128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09600" y="4145280"/>
            <a:ext cx="262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</a:t>
            </a:r>
            <a:endParaRPr lang="en-US" sz="4267"/>
          </a:p>
        </p:txBody>
      </p:sp>
      <p:sp>
        <p:nvSpPr>
          <p:cNvPr id="18" name="Text 16"/>
          <p:cNvSpPr/>
          <p:nvPr/>
        </p:nvSpPr>
        <p:spPr>
          <a:xfrm>
            <a:off x="609600" y="493776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  <a:endParaRPr lang="en-US" sz="1267"/>
          </a:p>
          <a:p>
            <a:pPr algn="ctr"/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 FTE / 80 contractors)</a:t>
            </a:r>
            <a:endParaRPr lang="en-US" sz="1267"/>
          </a:p>
        </p:txBody>
      </p:sp>
      <p:sp>
        <p:nvSpPr>
          <p:cNvPr id="19" name="Shape 17"/>
          <p:cNvSpPr/>
          <p:nvPr/>
        </p:nvSpPr>
        <p:spPr>
          <a:xfrm>
            <a:off x="3474720" y="4023360"/>
            <a:ext cx="262128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3474720" y="4145280"/>
            <a:ext cx="262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4267"/>
          </a:p>
        </p:txBody>
      </p:sp>
      <p:sp>
        <p:nvSpPr>
          <p:cNvPr id="21" name="Text 19"/>
          <p:cNvSpPr/>
          <p:nvPr/>
        </p:nvSpPr>
        <p:spPr>
          <a:xfrm>
            <a:off x="3474720" y="493776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APIs</a:t>
            </a:r>
            <a:endParaRPr lang="en-US" sz="1267"/>
          </a:p>
          <a:p>
            <a:pPr algn="ctr"/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MuleSoft</a:t>
            </a:r>
            <a:endParaRPr lang="en-US" sz="1267"/>
          </a:p>
        </p:txBody>
      </p:sp>
      <p:sp>
        <p:nvSpPr>
          <p:cNvPr id="22" name="Shape 20"/>
          <p:cNvSpPr/>
          <p:nvPr/>
        </p:nvSpPr>
        <p:spPr>
          <a:xfrm>
            <a:off x="6339840" y="4023360"/>
            <a:ext cx="262128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339840" y="4145280"/>
            <a:ext cx="262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4267"/>
          </a:p>
        </p:txBody>
      </p:sp>
      <p:sp>
        <p:nvSpPr>
          <p:cNvPr id="24" name="Text 22"/>
          <p:cNvSpPr/>
          <p:nvPr/>
        </p:nvSpPr>
        <p:spPr>
          <a:xfrm>
            <a:off x="6339840" y="493776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67"/>
          </a:p>
          <a:p>
            <a:pPr algn="ctr"/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enterprise</a:t>
            </a:r>
            <a:endParaRPr lang="en-US" sz="1267"/>
          </a:p>
        </p:txBody>
      </p:sp>
      <p:sp>
        <p:nvSpPr>
          <p:cNvPr id="25" name="Shape 23"/>
          <p:cNvSpPr/>
          <p:nvPr/>
        </p:nvSpPr>
        <p:spPr>
          <a:xfrm>
            <a:off x="9204960" y="4023360"/>
            <a:ext cx="262128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9204960" y="4145280"/>
            <a:ext cx="2621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4267"/>
          </a:p>
        </p:txBody>
      </p:sp>
      <p:sp>
        <p:nvSpPr>
          <p:cNvPr id="27" name="Text 25"/>
          <p:cNvSpPr/>
          <p:nvPr/>
        </p:nvSpPr>
        <p:spPr>
          <a:xfrm>
            <a:off x="9204960" y="493776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267"/>
          </a:p>
          <a:p>
            <a:pPr algn="ctr"/>
            <a:r>
              <a:rPr lang="en-US" sz="12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Config</a:t>
            </a:r>
            <a:endParaRPr lang="en-US" sz="1267"/>
          </a:p>
        </p:txBody>
      </p: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CC3EB420-39AF-3831-4622-E3F560AB12CF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4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Technology Recommendations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756857" y="6349285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072896"/>
            <a:ext cx="10972800" cy="45110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072896"/>
            <a:ext cx="48768" cy="45110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792480" y="1121664"/>
            <a:ext cx="487680" cy="341376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67"/>
          </a:p>
        </p:txBody>
      </p:sp>
      <p:sp>
        <p:nvSpPr>
          <p:cNvPr id="11" name="Text 9"/>
          <p:cNvSpPr/>
          <p:nvPr/>
        </p:nvSpPr>
        <p:spPr>
          <a:xfrm>
            <a:off x="1402080" y="107289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MuleSoft → Azure APIM Migration</a:t>
            </a:r>
            <a:endParaRPr lang="en-US" sz="1333"/>
          </a:p>
        </p:txBody>
      </p:sp>
      <p:sp>
        <p:nvSpPr>
          <p:cNvPr id="12" name="Text 10"/>
          <p:cNvSpPr/>
          <p:nvPr/>
        </p:nvSpPr>
        <p:spPr>
          <a:xfrm>
            <a:off x="6949440" y="107289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patterns from pilot; 18-month window before license expiry</a:t>
            </a:r>
            <a:endParaRPr lang="en-US" sz="1133"/>
          </a:p>
        </p:txBody>
      </p:sp>
      <p:sp>
        <p:nvSpPr>
          <p:cNvPr id="13" name="Shape 11"/>
          <p:cNvSpPr/>
          <p:nvPr/>
        </p:nvSpPr>
        <p:spPr>
          <a:xfrm>
            <a:off x="609600" y="1560576"/>
            <a:ext cx="10972800" cy="4511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609600" y="1560576"/>
            <a:ext cx="48768" cy="45110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92480" y="1609344"/>
            <a:ext cx="487680" cy="341376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67"/>
          </a:p>
        </p:txBody>
      </p:sp>
      <p:sp>
        <p:nvSpPr>
          <p:cNvPr id="16" name="Text 14"/>
          <p:cNvSpPr/>
          <p:nvPr/>
        </p:nvSpPr>
        <p:spPr>
          <a:xfrm>
            <a:off x="1402080" y="156057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Classification (95% Gap)</a:t>
            </a:r>
            <a:endParaRPr lang="en-US" sz="1333"/>
          </a:p>
        </p:txBody>
      </p:sp>
      <p:sp>
        <p:nvSpPr>
          <p:cNvPr id="17" name="Text 15"/>
          <p:cNvSpPr/>
          <p:nvPr/>
        </p:nvSpPr>
        <p:spPr>
          <a:xfrm>
            <a:off x="6949440" y="156057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blocker for AI deployment; required for governance compliance</a:t>
            </a:r>
            <a:endParaRPr lang="en-US" sz="1133"/>
          </a:p>
        </p:txBody>
      </p:sp>
      <p:sp>
        <p:nvSpPr>
          <p:cNvPr id="18" name="Shape 16"/>
          <p:cNvSpPr/>
          <p:nvPr/>
        </p:nvSpPr>
        <p:spPr>
          <a:xfrm>
            <a:off x="609600" y="2048256"/>
            <a:ext cx="10972800" cy="45110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609600" y="2048256"/>
            <a:ext cx="48768" cy="45110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92480" y="2097024"/>
            <a:ext cx="487680" cy="341376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67"/>
          </a:p>
        </p:txBody>
      </p:sp>
      <p:sp>
        <p:nvSpPr>
          <p:cNvPr id="21" name="Text 19"/>
          <p:cNvSpPr/>
          <p:nvPr/>
        </p:nvSpPr>
        <p:spPr>
          <a:xfrm>
            <a:off x="1402080" y="204825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AI Governance Framework</a:t>
            </a:r>
            <a:endParaRPr lang="en-US" sz="1333"/>
          </a:p>
        </p:txBody>
      </p:sp>
      <p:sp>
        <p:nvSpPr>
          <p:cNvPr id="22" name="Text 20"/>
          <p:cNvSpPr/>
          <p:nvPr/>
        </p:nvSpPr>
        <p:spPr>
          <a:xfrm>
            <a:off x="6949440" y="204825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governance to unblock high-priority AI initiatives</a:t>
            </a:r>
            <a:endParaRPr lang="en-US" sz="1133"/>
          </a:p>
        </p:txBody>
      </p:sp>
      <p:sp>
        <p:nvSpPr>
          <p:cNvPr id="23" name="Shape 21"/>
          <p:cNvSpPr/>
          <p:nvPr/>
        </p:nvSpPr>
        <p:spPr>
          <a:xfrm>
            <a:off x="609600" y="2535936"/>
            <a:ext cx="10972800" cy="4511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609600" y="2535936"/>
            <a:ext cx="48768" cy="4511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792480" y="2584704"/>
            <a:ext cx="487680" cy="341376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67"/>
          </a:p>
        </p:txBody>
      </p:sp>
      <p:sp>
        <p:nvSpPr>
          <p:cNvPr id="26" name="Text 24"/>
          <p:cNvSpPr/>
          <p:nvPr/>
        </p:nvSpPr>
        <p:spPr>
          <a:xfrm>
            <a:off x="1402080" y="253593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Token Metering Infrastructure</a:t>
            </a:r>
            <a:endParaRPr lang="en-US" sz="1333"/>
          </a:p>
        </p:txBody>
      </p:sp>
      <p:sp>
        <p:nvSpPr>
          <p:cNvPr id="27" name="Text 25"/>
          <p:cNvSpPr/>
          <p:nvPr/>
        </p:nvSpPr>
        <p:spPr>
          <a:xfrm>
            <a:off x="6949440" y="253593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AI requests through APIM; enable chargeback by business unit</a:t>
            </a:r>
            <a:endParaRPr lang="en-US" sz="1133"/>
          </a:p>
        </p:txBody>
      </p:sp>
      <p:sp>
        <p:nvSpPr>
          <p:cNvPr id="28" name="Shape 26"/>
          <p:cNvSpPr/>
          <p:nvPr/>
        </p:nvSpPr>
        <p:spPr>
          <a:xfrm>
            <a:off x="609600" y="3023616"/>
            <a:ext cx="10972800" cy="45110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609600" y="3023616"/>
            <a:ext cx="48768" cy="4511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792480" y="3072384"/>
            <a:ext cx="487680" cy="341376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67"/>
          </a:p>
        </p:txBody>
      </p:sp>
      <p:sp>
        <p:nvSpPr>
          <p:cNvPr id="31" name="Text 29"/>
          <p:cNvSpPr/>
          <p:nvPr/>
        </p:nvSpPr>
        <p:spPr>
          <a:xfrm>
            <a:off x="1402080" y="302361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EDW Migration to Fabric (Q2 2026)</a:t>
            </a:r>
            <a:endParaRPr lang="en-US" sz="1333"/>
          </a:p>
        </p:txBody>
      </p:sp>
      <p:sp>
        <p:nvSpPr>
          <p:cNvPr id="32" name="Text 30"/>
          <p:cNvSpPr/>
          <p:nvPr/>
        </p:nvSpPr>
        <p:spPr>
          <a:xfrm>
            <a:off x="6949440" y="302361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multiple versions of truth; enable enterprise analytics</a:t>
            </a:r>
            <a:endParaRPr lang="en-US" sz="1133"/>
          </a:p>
        </p:txBody>
      </p:sp>
      <p:sp>
        <p:nvSpPr>
          <p:cNvPr id="33" name="Shape 31"/>
          <p:cNvSpPr/>
          <p:nvPr/>
        </p:nvSpPr>
        <p:spPr>
          <a:xfrm>
            <a:off x="609600" y="3511296"/>
            <a:ext cx="10972800" cy="4511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609600" y="3511296"/>
            <a:ext cx="48768" cy="4511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792480" y="3560064"/>
            <a:ext cx="487680" cy="341376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67"/>
          </a:p>
        </p:txBody>
      </p:sp>
      <p:sp>
        <p:nvSpPr>
          <p:cNvPr id="36" name="Text 34"/>
          <p:cNvSpPr/>
          <p:nvPr/>
        </p:nvSpPr>
        <p:spPr>
          <a:xfrm>
            <a:off x="1402080" y="351129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Test Automation (700+ endpoints, 6 automated)</a:t>
            </a:r>
            <a:endParaRPr lang="en-US" sz="1333"/>
          </a:p>
        </p:txBody>
      </p:sp>
      <p:sp>
        <p:nvSpPr>
          <p:cNvPr id="37" name="Text 35"/>
          <p:cNvSpPr/>
          <p:nvPr/>
        </p:nvSpPr>
        <p:spPr>
          <a:xfrm>
            <a:off x="6949440" y="351129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test impact analysis, self-healing locators, API coverage</a:t>
            </a:r>
            <a:endParaRPr lang="en-US" sz="1133"/>
          </a:p>
        </p:txBody>
      </p:sp>
      <p:sp>
        <p:nvSpPr>
          <p:cNvPr id="38" name="Shape 36"/>
          <p:cNvSpPr/>
          <p:nvPr/>
        </p:nvSpPr>
        <p:spPr>
          <a:xfrm>
            <a:off x="609600" y="3998976"/>
            <a:ext cx="10972800" cy="45110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Shape 37"/>
          <p:cNvSpPr/>
          <p:nvPr/>
        </p:nvSpPr>
        <p:spPr>
          <a:xfrm>
            <a:off x="609600" y="3998976"/>
            <a:ext cx="48768" cy="45110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792480" y="4047744"/>
            <a:ext cx="487680" cy="341376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67"/>
          </a:p>
        </p:txBody>
      </p:sp>
      <p:sp>
        <p:nvSpPr>
          <p:cNvPr id="41" name="Text 39"/>
          <p:cNvSpPr/>
          <p:nvPr/>
        </p:nvSpPr>
        <p:spPr>
          <a:xfrm>
            <a:off x="1402080" y="399897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Hybrid Orchestration (API Gateway + Event-Driven)</a:t>
            </a:r>
            <a:endParaRPr lang="en-US" sz="1333"/>
          </a:p>
        </p:txBody>
      </p:sp>
      <p:sp>
        <p:nvSpPr>
          <p:cNvPr id="42" name="Text 40"/>
          <p:cNvSpPr/>
          <p:nvPr/>
        </p:nvSpPr>
        <p:spPr>
          <a:xfrm>
            <a:off x="6949440" y="399897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for real-time; Azure Service Bus for batch/long-running</a:t>
            </a:r>
            <a:endParaRPr lang="en-US" sz="1133"/>
          </a:p>
        </p:txBody>
      </p:sp>
      <p:sp>
        <p:nvSpPr>
          <p:cNvPr id="43" name="Shape 41"/>
          <p:cNvSpPr/>
          <p:nvPr/>
        </p:nvSpPr>
        <p:spPr>
          <a:xfrm>
            <a:off x="609600" y="4486656"/>
            <a:ext cx="10972800" cy="4511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" name="Shape 42"/>
          <p:cNvSpPr/>
          <p:nvPr/>
        </p:nvSpPr>
        <p:spPr>
          <a:xfrm>
            <a:off x="609600" y="4486656"/>
            <a:ext cx="48768" cy="45110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792480" y="4535424"/>
            <a:ext cx="487680" cy="341376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67"/>
          </a:p>
        </p:txBody>
      </p:sp>
      <p:sp>
        <p:nvSpPr>
          <p:cNvPr id="46" name="Text 44"/>
          <p:cNvSpPr/>
          <p:nvPr/>
        </p:nvSpPr>
        <p:spPr>
          <a:xfrm>
            <a:off x="1402080" y="448665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MCP in Single Domain</a:t>
            </a:r>
            <a:endParaRPr lang="en-US" sz="1333"/>
          </a:p>
        </p:txBody>
      </p:sp>
      <p:sp>
        <p:nvSpPr>
          <p:cNvPr id="47" name="Text 45"/>
          <p:cNvSpPr/>
          <p:nvPr/>
        </p:nvSpPr>
        <p:spPr>
          <a:xfrm>
            <a:off x="6949440" y="448665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APIs to be MCP-ready; strategic for agentic AI consumption</a:t>
            </a:r>
            <a:endParaRPr lang="en-US" sz="1133"/>
          </a:p>
        </p:txBody>
      </p:sp>
      <p:sp>
        <p:nvSpPr>
          <p:cNvPr id="48" name="Shape 46"/>
          <p:cNvSpPr/>
          <p:nvPr/>
        </p:nvSpPr>
        <p:spPr>
          <a:xfrm>
            <a:off x="609600" y="4974336"/>
            <a:ext cx="10972800" cy="45110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9" name="Shape 47"/>
          <p:cNvSpPr/>
          <p:nvPr/>
        </p:nvSpPr>
        <p:spPr>
          <a:xfrm>
            <a:off x="609600" y="4974336"/>
            <a:ext cx="48768" cy="45110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0" name="Text 48"/>
          <p:cNvSpPr/>
          <p:nvPr/>
        </p:nvSpPr>
        <p:spPr>
          <a:xfrm>
            <a:off x="792480" y="5023104"/>
            <a:ext cx="487680" cy="341376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67"/>
          </a:p>
        </p:txBody>
      </p:sp>
      <p:sp>
        <p:nvSpPr>
          <p:cNvPr id="51" name="Text 49"/>
          <p:cNvSpPr/>
          <p:nvPr/>
        </p:nvSpPr>
        <p:spPr>
          <a:xfrm>
            <a:off x="1402080" y="497433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MLOps with ML Flow</a:t>
            </a:r>
            <a:endParaRPr lang="en-US" sz="1333"/>
          </a:p>
        </p:txBody>
      </p:sp>
      <p:sp>
        <p:nvSpPr>
          <p:cNvPr id="52" name="Text 50"/>
          <p:cNvSpPr/>
          <p:nvPr/>
        </p:nvSpPr>
        <p:spPr>
          <a:xfrm>
            <a:off x="6949440" y="497433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registry, experiment tracking, deployment pipelines</a:t>
            </a:r>
            <a:endParaRPr lang="en-US" sz="1133"/>
          </a:p>
        </p:txBody>
      </p:sp>
      <p:sp>
        <p:nvSpPr>
          <p:cNvPr id="53" name="Shape 51"/>
          <p:cNvSpPr/>
          <p:nvPr/>
        </p:nvSpPr>
        <p:spPr>
          <a:xfrm>
            <a:off x="609600" y="5462016"/>
            <a:ext cx="10972800" cy="4511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4" name="Shape 52"/>
          <p:cNvSpPr/>
          <p:nvPr/>
        </p:nvSpPr>
        <p:spPr>
          <a:xfrm>
            <a:off x="609600" y="5462016"/>
            <a:ext cx="48768" cy="45110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5" name="Text 53"/>
          <p:cNvSpPr/>
          <p:nvPr/>
        </p:nvSpPr>
        <p:spPr>
          <a:xfrm>
            <a:off x="792480" y="5510784"/>
            <a:ext cx="487680" cy="341376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67"/>
          </a:p>
        </p:txBody>
      </p:sp>
      <p:sp>
        <p:nvSpPr>
          <p:cNvPr id="56" name="Text 54"/>
          <p:cNvSpPr/>
          <p:nvPr/>
        </p:nvSpPr>
        <p:spPr>
          <a:xfrm>
            <a:off x="1402080" y="5462016"/>
            <a:ext cx="5486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 Natural Language Query Interface</a:t>
            </a:r>
            <a:endParaRPr lang="en-US" sz="1333"/>
          </a:p>
        </p:txBody>
      </p:sp>
      <p:sp>
        <p:nvSpPr>
          <p:cNvPr id="57" name="Text 55"/>
          <p:cNvSpPr/>
          <p:nvPr/>
        </p:nvSpPr>
        <p:spPr>
          <a:xfrm>
            <a:off x="6949440" y="5462016"/>
            <a:ext cx="45110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data agents for NLP queries; Treasury pilot expansion</a:t>
            </a:r>
            <a:endParaRPr lang="en-US" sz="1133"/>
          </a:p>
        </p:txBody>
      </p:sp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34F7D4CD-DD02-BEF2-C0D2-9A48D358D22A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5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96E9-1BC5-5E6A-1DC7-2E1F269A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942ACC5-B776-92F0-72B2-85943D9AE22D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Technology</a:t>
            </a:r>
            <a:endParaRPr lang="en-US" sz="4800"/>
          </a:p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Overview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428D05-56EE-2AB9-5146-7D4ABB8B3E97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65609A-09B9-4B47-793A-81DAF8CA41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 state architecture and strategic platform direction</a:t>
            </a:r>
          </a:p>
        </p:txBody>
      </p:sp>
    </p:spTree>
    <p:extLst>
      <p:ext uri="{BB962C8B-B14F-4D97-AF65-F5344CB8AC3E}">
        <p14:creationId xmlns:p14="http://schemas.microsoft.com/office/powerpoint/2010/main" val="159948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Landscape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619481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5181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402080" y="128016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Infrastructure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853440" y="1767840"/>
            <a:ext cx="46939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(primary), Management Groups, Landing Zones,</a:t>
            </a:r>
            <a:endParaRPr lang="en-US" sz="1200"/>
          </a:p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IaC, PIM, Zero Trust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400800" y="1158240"/>
            <a:ext cx="5181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400800" y="1158240"/>
            <a:ext cx="73152" cy="146304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40" y="1341120"/>
            <a:ext cx="426720" cy="426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93280" y="128016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Platforms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6644640" y="1767840"/>
            <a:ext cx="46939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(Automotive/Captive Finance/Service/Marketing/</a:t>
            </a:r>
            <a:endParaRPr lang="en-US" sz="1200"/>
          </a:p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Data/Experience Cloud), .NET/PowerApps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609600" y="2865120"/>
            <a:ext cx="5181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5"/>
          <p:cNvSpPr/>
          <p:nvPr/>
        </p:nvSpPr>
        <p:spPr>
          <a:xfrm>
            <a:off x="609600" y="2865120"/>
            <a:ext cx="73152" cy="14630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3048000"/>
            <a:ext cx="426720" cy="4267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02080" y="298704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APIs</a:t>
            </a:r>
            <a:endParaRPr lang="en-US" sz="1600"/>
          </a:p>
        </p:txBody>
      </p:sp>
      <p:sp>
        <p:nvSpPr>
          <p:cNvPr id="21" name="Text 17"/>
          <p:cNvSpPr/>
          <p:nvPr/>
        </p:nvSpPr>
        <p:spPr>
          <a:xfrm>
            <a:off x="853440" y="3474720"/>
            <a:ext cx="46939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(legacy, 65 APIs) → Azure APIM + Web Services,</a:t>
            </a:r>
            <a:endParaRPr lang="en-US" sz="1200"/>
          </a:p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Bus, 3-layer architecture</a:t>
            </a:r>
            <a:endParaRPr lang="en-US" sz="1200"/>
          </a:p>
        </p:txBody>
      </p:sp>
      <p:sp>
        <p:nvSpPr>
          <p:cNvPr id="22" name="Shape 18"/>
          <p:cNvSpPr/>
          <p:nvPr/>
        </p:nvSpPr>
        <p:spPr>
          <a:xfrm>
            <a:off x="6400800" y="2865120"/>
            <a:ext cx="5181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3" name="Shape 19"/>
          <p:cNvSpPr/>
          <p:nvPr/>
        </p:nvSpPr>
        <p:spPr>
          <a:xfrm>
            <a:off x="6400800" y="2865120"/>
            <a:ext cx="73152" cy="14630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640" y="3048000"/>
            <a:ext cx="426720" cy="4267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93280" y="298704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600"/>
          </a:p>
        </p:txBody>
      </p:sp>
      <p:sp>
        <p:nvSpPr>
          <p:cNvPr id="26" name="Text 21"/>
          <p:cNvSpPr/>
          <p:nvPr/>
        </p:nvSpPr>
        <p:spPr>
          <a:xfrm>
            <a:off x="6644640" y="3474720"/>
            <a:ext cx="46939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(One Lake), SQL Server 2016-2019,</a:t>
            </a:r>
            <a:endParaRPr lang="en-US" sz="1200"/>
          </a:p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SAS, Snowflake, Power BI, Tableau (legacy)</a:t>
            </a:r>
            <a:endParaRPr lang="en-US" sz="1200"/>
          </a:p>
        </p:txBody>
      </p:sp>
      <p:sp>
        <p:nvSpPr>
          <p:cNvPr id="27" name="Shape 22"/>
          <p:cNvSpPr/>
          <p:nvPr/>
        </p:nvSpPr>
        <p:spPr>
          <a:xfrm>
            <a:off x="609600" y="4572000"/>
            <a:ext cx="5181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8" name="Shape 23"/>
          <p:cNvSpPr/>
          <p:nvPr/>
        </p:nvSpPr>
        <p:spPr>
          <a:xfrm>
            <a:off x="609600" y="457200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" y="4754880"/>
            <a:ext cx="426720" cy="4267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02080" y="469392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Center</a:t>
            </a:r>
            <a:endParaRPr lang="en-US" sz="1600"/>
          </a:p>
        </p:txBody>
      </p:sp>
      <p:sp>
        <p:nvSpPr>
          <p:cNvPr id="31" name="Text 25"/>
          <p:cNvSpPr/>
          <p:nvPr/>
        </p:nvSpPr>
        <p:spPr>
          <a:xfrm>
            <a:off x="853440" y="5181600"/>
            <a:ext cx="46939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Cloud CX3 (voice-centric), ~80 agents,</a:t>
            </a:r>
            <a:endParaRPr lang="en-US" sz="1200"/>
          </a:p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46K-50K monthly calls, Salesforce integration</a:t>
            </a:r>
            <a:endParaRPr lang="en-US" sz="1200"/>
          </a:p>
        </p:txBody>
      </p:sp>
      <p:sp>
        <p:nvSpPr>
          <p:cNvPr id="32" name="Shape 26"/>
          <p:cNvSpPr/>
          <p:nvPr/>
        </p:nvSpPr>
        <p:spPr>
          <a:xfrm>
            <a:off x="6400800" y="4572000"/>
            <a:ext cx="5181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3" name="Shape 27"/>
          <p:cNvSpPr/>
          <p:nvPr/>
        </p:nvSpPr>
        <p:spPr>
          <a:xfrm>
            <a:off x="6400800" y="457200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640" y="4754880"/>
            <a:ext cx="426720" cy="4267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93280" y="469392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Testing</a:t>
            </a:r>
            <a:endParaRPr lang="en-US" sz="1600"/>
          </a:p>
        </p:txBody>
      </p:sp>
      <p:sp>
        <p:nvSpPr>
          <p:cNvPr id="36" name="Text 29"/>
          <p:cNvSpPr/>
          <p:nvPr/>
        </p:nvSpPr>
        <p:spPr>
          <a:xfrm>
            <a:off x="6644640" y="5181600"/>
            <a:ext cx="46939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Copado (SF), Azure DevOps, GitHub, Jenkins, Spira Test,</a:t>
            </a:r>
            <a:endParaRPr lang="en-US" sz="1200"/>
          </a:p>
          <a:p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Behave/Playwright/Pytest, Confluence, Jira</a:t>
            </a:r>
            <a:endParaRPr lang="en-US" sz="1200"/>
          </a:p>
        </p:txBody>
      </p:sp>
      <p:sp>
        <p:nvSpPr>
          <p:cNvPr id="37" name="Slide Number Placeholder 4">
            <a:extLst>
              <a:ext uri="{FF2B5EF4-FFF2-40B4-BE49-F238E27FC236}">
                <a16:creationId xmlns:a16="http://schemas.microsoft.com/office/drawing/2014/main" id="{6C5D3993-7074-34CD-C8CB-AD4B41A88B00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7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Strategic Direction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491160" y="63836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10972800" cy="1950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1950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402080" y="121920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Stack Consolidation Strategy</a:t>
            </a:r>
            <a:endParaRPr lang="en-US" sz="1733"/>
          </a:p>
        </p:txBody>
      </p:sp>
      <p:sp>
        <p:nvSpPr>
          <p:cNvPr id="11" name="Text 9"/>
          <p:cNvSpPr/>
          <p:nvPr/>
        </p:nvSpPr>
        <p:spPr>
          <a:xfrm>
            <a:off x="914400" y="1706880"/>
            <a:ext cx="10363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as primary cloud with management group/landing zone architecture following Microsoft best practices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replacing Synapse as primary data platform (100+ licensed users, Apache Spark foundation)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APIM replacing MuleSoft for integration layer (18-month migration window, 7-8 endpoints piloted)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AD/Okta unified identity management across Salesforce, Azure, and Genesys platforms</a:t>
            </a:r>
            <a:endParaRPr lang="en-US" sz="1333"/>
          </a:p>
        </p:txBody>
      </p:sp>
      <p:sp>
        <p:nvSpPr>
          <p:cNvPr id="12" name="Shape 10"/>
          <p:cNvSpPr/>
          <p:nvPr/>
        </p:nvSpPr>
        <p:spPr>
          <a:xfrm>
            <a:off x="609600" y="3352800"/>
            <a:ext cx="5181600" cy="2621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09600" y="3352800"/>
            <a:ext cx="73152" cy="262128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Selection Framework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914400" y="3901440"/>
            <a:ext cx="463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+ vehicle/account integration:</a:t>
            </a:r>
            <a:endParaRPr lang="en-US" sz="1333"/>
          </a:p>
          <a:p>
            <a:r>
              <a:rPr lang="en-US" sz="1333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Salesforce (seamless connectivity)</a:t>
            </a:r>
            <a:endParaRPr lang="en-US" sz="1333"/>
          </a:p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without vehicle/account interaction:</a:t>
            </a:r>
            <a:endParaRPr lang="en-US" sz="1333"/>
          </a:p>
          <a:p>
            <a:r>
              <a:rPr lang="en-US" sz="1333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PowerApps / .NET (Microsoft stack)</a:t>
            </a:r>
            <a:endParaRPr lang="en-US" sz="1333"/>
          </a:p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 location:</a:t>
            </a:r>
            <a:endParaRPr lang="en-US" sz="1333"/>
          </a:p>
          <a:p>
            <a:r>
              <a:rPr lang="en-US" sz="1333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Case-by-case (SF-native vs. Azure vs. hybrid)</a:t>
            </a:r>
            <a:endParaRPr lang="en-US" sz="1333"/>
          </a:p>
          <a:p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center intelligence:</a:t>
            </a:r>
            <a:endParaRPr lang="en-US" sz="1333"/>
          </a:p>
          <a:p>
            <a:r>
              <a:rPr lang="en-US" sz="1333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Genesys-native preferred (avoid swivel-chair)</a:t>
            </a:r>
            <a:endParaRPr lang="en-US" sz="1333"/>
          </a:p>
        </p:txBody>
      </p:sp>
      <p:sp>
        <p:nvSpPr>
          <p:cNvPr id="16" name="Shape 14"/>
          <p:cNvSpPr/>
          <p:nvPr/>
        </p:nvSpPr>
        <p:spPr>
          <a:xfrm>
            <a:off x="6400800" y="3352800"/>
            <a:ext cx="5181600" cy="2621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400800" y="3352800"/>
            <a:ext cx="73152" cy="2621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640" y="3474720"/>
            <a:ext cx="304800" cy="304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71360" y="3438144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Constraints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6705600" y="3901440"/>
            <a:ext cx="4632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license expires in ~2 years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awaiting corporate approval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GitHub Copilot per SFS policy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data not tagged for AI use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coverage only 30-40%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policy only 3 months old (A1 maturity)</a:t>
            </a:r>
            <a:endParaRPr lang="en-US" sz="1333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11B2EFD3-307E-D0B9-BE31-0FBC871DD2A4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8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687E2-21B3-CF5A-0D9A-F97F89095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B3895A50-4B09-C284-7921-8370BC953C64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</a:t>
            </a:r>
            <a:endParaRPr lang="en-US" sz="4800"/>
          </a:p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2B1BE2-76A8-08C7-D40B-AB442AE3AF17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6F400D-947F-27FE-8FAE-18548F7C1E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Migration strategy, orchestration patterns, and MCP readiness</a:t>
            </a:r>
          </a:p>
        </p:txBody>
      </p:sp>
    </p:spTree>
    <p:extLst>
      <p:ext uri="{BB962C8B-B14F-4D97-AF65-F5344CB8AC3E}">
        <p14:creationId xmlns:p14="http://schemas.microsoft.com/office/powerpoint/2010/main" val="4129178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Migration: MuleSoft → Azure APIM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829836" y="63615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5181600" cy="2804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2804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733"/>
          </a:p>
        </p:txBody>
      </p:sp>
      <p:sp>
        <p:nvSpPr>
          <p:cNvPr id="11" name="Text 9"/>
          <p:cNvSpPr/>
          <p:nvPr/>
        </p:nvSpPr>
        <p:spPr>
          <a:xfrm>
            <a:off x="914400" y="1706880"/>
            <a:ext cx="4632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production APIs on MuleSoft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endpoints across 3 layers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/ Process / System architecture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via Okta (external)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ID/secret (internal API-to-API)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7-8 endpoints in Azure pilot (blocked)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batch: Conduent → SFTP → SQL → MuleSoft → SF</a:t>
            </a:r>
            <a:endParaRPr lang="en-US" sz="1333"/>
          </a:p>
        </p:txBody>
      </p:sp>
      <p:sp>
        <p:nvSpPr>
          <p:cNvPr id="12" name="Shape 10"/>
          <p:cNvSpPr/>
          <p:nvPr/>
        </p:nvSpPr>
        <p:spPr>
          <a:xfrm>
            <a:off x="6400800" y="1158240"/>
            <a:ext cx="5181600" cy="2804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400800" y="1158240"/>
            <a:ext cx="73152" cy="2804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705600" y="1280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733"/>
          </a:p>
        </p:txBody>
      </p:sp>
      <p:sp>
        <p:nvSpPr>
          <p:cNvPr id="15" name="Text 13"/>
          <p:cNvSpPr/>
          <p:nvPr/>
        </p:nvSpPr>
        <p:spPr>
          <a:xfrm>
            <a:off x="6705600" y="1706880"/>
            <a:ext cx="4632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APIM for experience layer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/ Durable Functions for process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APIs as default compute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 for event-driven patterns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for service-to-service auth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60-80% integration coverage (3-year target)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requests routed through APIM</a:t>
            </a:r>
            <a:endParaRPr lang="en-US" sz="1333"/>
          </a:p>
        </p:txBody>
      </p:sp>
      <p:sp>
        <p:nvSpPr>
          <p:cNvPr id="16" name="Shape 14"/>
          <p:cNvSpPr/>
          <p:nvPr/>
        </p:nvSpPr>
        <p:spPr>
          <a:xfrm>
            <a:off x="609600" y="4267200"/>
            <a:ext cx="10972800" cy="1889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09600" y="4267200"/>
            <a:ext cx="73152" cy="1889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4389120"/>
            <a:ext cx="341376" cy="3413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41120" y="432816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Recommendations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914400" y="4754880"/>
            <a:ext cx="10363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reusable migration patterns from 7-8 pilot endpoints to accelerate remaining 57+ APIs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platform blockers (DNS, certificates, RBAC) before scaling migration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integrations built directly in Azure; existing MuleSoft receives only minor enhancements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token consumption tracking proactively — route all AI requests through APIM for visibility and governance</a:t>
            </a:r>
            <a:endParaRPr lang="en-US" sz="1333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D1ACC3DE-DC91-E980-512D-3C18935591BD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10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Strategy &amp; MCP Readiness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932867" y="638792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707136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2682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646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Orchestration Pattern</a:t>
            </a:r>
            <a:endParaRPr lang="en-US" sz="1733"/>
          </a:p>
        </p:txBody>
      </p:sp>
      <p:sp>
        <p:nvSpPr>
          <p:cNvPr id="11" name="Shape 9"/>
          <p:cNvSpPr/>
          <p:nvPr/>
        </p:nvSpPr>
        <p:spPr>
          <a:xfrm>
            <a:off x="914400" y="1767840"/>
            <a:ext cx="2194560" cy="3413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914400" y="1767840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(Real-Time)</a:t>
            </a:r>
            <a:endParaRPr lang="en-US" sz="1133"/>
          </a:p>
        </p:txBody>
      </p:sp>
      <p:sp>
        <p:nvSpPr>
          <p:cNvPr id="13" name="Text 11"/>
          <p:cNvSpPr/>
          <p:nvPr/>
        </p:nvSpPr>
        <p:spPr>
          <a:xfrm>
            <a:off x="3230880" y="1767840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enforcement, rate limiting, monitoring, request routing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914400" y="2157984"/>
            <a:ext cx="2194560" cy="341376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914400" y="2157984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(Async)</a:t>
            </a:r>
            <a:endParaRPr lang="en-US" sz="1133"/>
          </a:p>
        </p:txBody>
      </p:sp>
      <p:sp>
        <p:nvSpPr>
          <p:cNvPr id="16" name="Text 14"/>
          <p:cNvSpPr/>
          <p:nvPr/>
        </p:nvSpPr>
        <p:spPr>
          <a:xfrm>
            <a:off x="3230880" y="2157984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processing, long-running workflows, Azure Service Bus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914400" y="2548128"/>
            <a:ext cx="2194560" cy="341376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914400" y="2548128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APIs</a:t>
            </a:r>
            <a:endParaRPr lang="en-US" sz="1133"/>
          </a:p>
        </p:txBody>
      </p:sp>
      <p:sp>
        <p:nvSpPr>
          <p:cNvPr id="19" name="Text 17"/>
          <p:cNvSpPr/>
          <p:nvPr/>
        </p:nvSpPr>
        <p:spPr>
          <a:xfrm>
            <a:off x="3230880" y="2548128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compute for process layer services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914400" y="2938272"/>
            <a:ext cx="2194560" cy="3413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914400" y="2938272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133"/>
          </a:p>
        </p:txBody>
      </p:sp>
      <p:sp>
        <p:nvSpPr>
          <p:cNvPr id="22" name="Text 20"/>
          <p:cNvSpPr/>
          <p:nvPr/>
        </p:nvSpPr>
        <p:spPr>
          <a:xfrm>
            <a:off x="3230880" y="2938272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event-triggered processing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914400" y="3328416"/>
            <a:ext cx="2194560" cy="3413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914400" y="3328416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Functions</a:t>
            </a:r>
            <a:endParaRPr lang="en-US" sz="1133"/>
          </a:p>
        </p:txBody>
      </p:sp>
      <p:sp>
        <p:nvSpPr>
          <p:cNvPr id="25" name="Text 23"/>
          <p:cNvSpPr/>
          <p:nvPr/>
        </p:nvSpPr>
        <p:spPr>
          <a:xfrm>
            <a:off x="3230880" y="3328416"/>
            <a:ext cx="41452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orchestration workflows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7924800" y="1158240"/>
            <a:ext cx="365760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7924800" y="1158240"/>
            <a:ext cx="73152" cy="2682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640" y="1280160"/>
            <a:ext cx="341376" cy="34137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595360" y="124358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Strategy</a:t>
            </a:r>
            <a:endParaRPr lang="en-US" sz="1733"/>
          </a:p>
        </p:txBody>
      </p:sp>
      <p:sp>
        <p:nvSpPr>
          <p:cNvPr id="30" name="Text 27"/>
          <p:cNvSpPr/>
          <p:nvPr/>
        </p:nvSpPr>
        <p:spPr>
          <a:xfrm>
            <a:off x="8168640" y="1706880"/>
            <a:ext cx="316992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standard for AI agent interaction with APIs/data</a:t>
            </a:r>
            <a:endParaRPr lang="en-US" sz="1267"/>
          </a:p>
          <a:p>
            <a:endParaRPr lang="en-US" sz="1267"/>
          </a:p>
          <a:p>
            <a:r>
              <a:rPr lang="en-US" sz="1267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 for agentic consumption — NOT all API operations</a:t>
            </a:r>
            <a:endParaRPr lang="en-US" sz="1267"/>
          </a:p>
          <a:p>
            <a:endParaRPr lang="en-US" sz="1267"/>
          </a:p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Pilot in single domain first</a:t>
            </a:r>
            <a:endParaRPr lang="en-US" sz="1267"/>
          </a:p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APIs to be "MCP-ready"</a:t>
            </a:r>
            <a:endParaRPr lang="en-US" sz="1267"/>
          </a:p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Strategic for SFS multi-platform landscape</a:t>
            </a:r>
            <a:endParaRPr lang="en-US" sz="1267"/>
          </a:p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Security: increases audit surface, not attack surface</a:t>
            </a:r>
            <a:endParaRPr lang="en-US" sz="1267"/>
          </a:p>
        </p:txBody>
      </p:sp>
      <p:sp>
        <p:nvSpPr>
          <p:cNvPr id="31" name="Shape 28"/>
          <p:cNvSpPr/>
          <p:nvPr/>
        </p:nvSpPr>
        <p:spPr>
          <a:xfrm>
            <a:off x="609600" y="4145280"/>
            <a:ext cx="10972800" cy="1950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2" name="Shape 29"/>
          <p:cNvSpPr/>
          <p:nvPr/>
        </p:nvSpPr>
        <p:spPr>
          <a:xfrm>
            <a:off x="609600" y="4145280"/>
            <a:ext cx="73152" cy="1950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4267200"/>
            <a:ext cx="304800" cy="3048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280160" y="420624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Coverage Gap &amp; Expansion Plan</a:t>
            </a:r>
            <a:endParaRPr lang="en-US" sz="1600"/>
          </a:p>
        </p:txBody>
      </p:sp>
      <p:sp>
        <p:nvSpPr>
          <p:cNvPr id="35" name="Shape 31"/>
          <p:cNvSpPr/>
          <p:nvPr/>
        </p:nvSpPr>
        <p:spPr>
          <a:xfrm>
            <a:off x="914400" y="4693920"/>
            <a:ext cx="10363200" cy="3048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Shape 32"/>
          <p:cNvSpPr/>
          <p:nvPr/>
        </p:nvSpPr>
        <p:spPr>
          <a:xfrm>
            <a:off x="914400" y="4693920"/>
            <a:ext cx="3657600" cy="304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7" name="Text 33"/>
          <p:cNvSpPr/>
          <p:nvPr/>
        </p:nvSpPr>
        <p:spPr>
          <a:xfrm>
            <a:off x="975360" y="4693920"/>
            <a:ext cx="3413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 Current</a:t>
            </a:r>
            <a:endParaRPr lang="en-US" sz="1067"/>
          </a:p>
        </p:txBody>
      </p:sp>
      <p:sp>
        <p:nvSpPr>
          <p:cNvPr id="38" name="Text 34"/>
          <p:cNvSpPr/>
          <p:nvPr/>
        </p:nvSpPr>
        <p:spPr>
          <a:xfrm>
            <a:off x="4876800" y="469392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60-80% Target (3 years)</a:t>
            </a:r>
            <a:endParaRPr lang="en-US" sz="1067"/>
          </a:p>
        </p:txBody>
      </p:sp>
      <p:sp>
        <p:nvSpPr>
          <p:cNvPr id="39" name="Text 35"/>
          <p:cNvSpPr/>
          <p:nvPr/>
        </p:nvSpPr>
        <p:spPr>
          <a:xfrm>
            <a:off x="914400" y="512064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API catalog with governance status needed — 30-40% of enterprise integrations currently undocumented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services integration requirements (new initiative, started last month) should follow Azure-first pattern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AppExchange app consolidation into native or Azure-based solutions to reduce integration complexity</a:t>
            </a:r>
            <a:endParaRPr lang="en-US" sz="1333"/>
          </a:p>
        </p:txBody>
      </p:sp>
      <p:sp>
        <p:nvSpPr>
          <p:cNvPr id="40" name="Slide Number Placeholder 4">
            <a:extLst>
              <a:ext uri="{FF2B5EF4-FFF2-40B4-BE49-F238E27FC236}">
                <a16:creationId xmlns:a16="http://schemas.microsoft.com/office/drawing/2014/main" id="{ED27C85A-163C-EEF7-38A1-809424596E9D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11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C2EFA-04C8-CEEE-815F-96FF83BE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2C5D307B-32CC-B8C4-369E-0C705E8956BC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&amp;</a:t>
            </a:r>
            <a:endParaRPr lang="en-US" sz="4800"/>
          </a:p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260951-91AB-F0F3-CFC8-ACD68C632733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C4DD23-8C10-D966-2EA6-A508F55DC9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Fabric migration, natural language query, and data quality</a:t>
            </a:r>
          </a:p>
        </p:txBody>
      </p:sp>
    </p:spTree>
    <p:extLst>
      <p:ext uri="{BB962C8B-B14F-4D97-AF65-F5344CB8AC3E}">
        <p14:creationId xmlns:p14="http://schemas.microsoft.com/office/powerpoint/2010/main" val="3766619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&amp; EDW Modernization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816958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7071360" cy="2438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2438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646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Platform (Current State)</a:t>
            </a:r>
            <a:endParaRPr lang="en-US" sz="1733"/>
          </a:p>
        </p:txBody>
      </p:sp>
      <p:sp>
        <p:nvSpPr>
          <p:cNvPr id="11" name="Text 9"/>
          <p:cNvSpPr/>
          <p:nvPr/>
        </p:nvSpPr>
        <p:spPr>
          <a:xfrm>
            <a:off x="914400" y="1706880"/>
            <a:ext cx="646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platform (migrated from Azure Synapse)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foundation — PySpark, Spark SQL, Spark R, Pandas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Fabric capacities: IT (EDW dev) + broader consumption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patterns with shortcuts (read-only pointers, no ETL overhead)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licensed users across IT and distributed analytics teams</a:t>
            </a:r>
            <a:endParaRPr lang="en-US" sz="1333"/>
          </a:p>
        </p:txBody>
      </p:sp>
      <p:sp>
        <p:nvSpPr>
          <p:cNvPr id="12" name="Shape 10"/>
          <p:cNvSpPr/>
          <p:nvPr/>
        </p:nvSpPr>
        <p:spPr>
          <a:xfrm>
            <a:off x="7924800" y="1158240"/>
            <a:ext cx="3657600" cy="2438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7924800" y="1158240"/>
            <a:ext cx="73152" cy="2438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640" y="1280160"/>
            <a:ext cx="268224" cy="2682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534400" y="1243584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 Migration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8168640" y="1645920"/>
            <a:ext cx="316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Q2 2026</a:t>
            </a:r>
            <a:endParaRPr lang="en-US" sz="1333"/>
          </a:p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"multiple versions of truth"</a:t>
            </a:r>
            <a:endParaRPr lang="en-US" sz="1333"/>
          </a:p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stored procedures converting</a:t>
            </a:r>
            <a:endParaRPr lang="en-US" sz="1333"/>
          </a:p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Rationalized business terms</a:t>
            </a:r>
            <a:endParaRPr lang="en-US" sz="1333"/>
          </a:p>
          <a:p>
            <a:r>
              <a:rPr lang="en-US" sz="1267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relational constraints — governance gap</a:t>
            </a:r>
            <a:endParaRPr lang="en-US" sz="1333"/>
          </a:p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260+ databases, ~40TB, 20 yrs legacy</a:t>
            </a:r>
            <a:endParaRPr lang="en-US" sz="1333"/>
          </a:p>
        </p:txBody>
      </p:sp>
      <p:sp>
        <p:nvSpPr>
          <p:cNvPr id="17" name="Shape 14"/>
          <p:cNvSpPr/>
          <p:nvPr/>
        </p:nvSpPr>
        <p:spPr>
          <a:xfrm>
            <a:off x="609600" y="3901440"/>
            <a:ext cx="1097280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5"/>
          <p:cNvSpPr/>
          <p:nvPr/>
        </p:nvSpPr>
        <p:spPr>
          <a:xfrm>
            <a:off x="609600" y="3901440"/>
            <a:ext cx="73152" cy="2255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" y="4023360"/>
            <a:ext cx="304800" cy="3048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0160" y="39624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Recommendations</a:t>
            </a:r>
            <a:endParaRPr lang="en-US" sz="1600"/>
          </a:p>
        </p:txBody>
      </p:sp>
      <p:sp>
        <p:nvSpPr>
          <p:cNvPr id="21" name="Text 17"/>
          <p:cNvSpPr/>
          <p:nvPr/>
        </p:nvSpPr>
        <p:spPr>
          <a:xfrm>
            <a:off x="914400" y="4389120"/>
            <a:ext cx="103632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EDW migration by Q2 2026 with gold-standard data governance layer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 natural language query interface (Fabric data agents) — expand Treasury pilot to broader analytics users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AI-powered data quality monitoring for vendor feeds (anomaly detection vs. rule-based)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knowledge graph for relationship discovery across 260+ databases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MLOps with ML Flow — model registry, experiment tracking, deployment pipelines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Fabric limitations: 25-table restriction for NLP, ontology immaturity (revisit in 6 months)</a:t>
            </a:r>
            <a:endParaRPr lang="en-US" sz="1333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04156CB-B374-9722-7C99-B223F69E74BB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13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A209-55BA-B5C2-3753-D2F534EF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F81D49E-B5D0-2C8A-584E-EE0668F656E1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</a:t>
            </a:r>
            <a:endParaRPr lang="en-US" sz="4800"/>
          </a:p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B23463-1DDC-C21B-B0B2-0CD4F42D4578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53DF22-8DC1-33FB-BA38-0FF5672625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classification, access controls, and AI governance framework</a:t>
            </a:r>
          </a:p>
        </p:txBody>
      </p:sp>
    </p:spTree>
    <p:extLst>
      <p:ext uri="{BB962C8B-B14F-4D97-AF65-F5344CB8AC3E}">
        <p14:creationId xmlns:p14="http://schemas.microsoft.com/office/powerpoint/2010/main" val="4117044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Governance Recommendations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889760" y="6475068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Stellantis Financial Services</a:t>
            </a:r>
            <a:endParaRPr lang="en-US" sz="1067"/>
          </a:p>
        </p:txBody>
      </p:sp>
      <p:sp>
        <p:nvSpPr>
          <p:cNvPr id="6" name="Text 4"/>
          <p:cNvSpPr/>
          <p:nvPr/>
        </p:nvSpPr>
        <p:spPr>
          <a:xfrm>
            <a:off x="5434885" y="6422265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10972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280160"/>
            <a:ext cx="304800" cy="30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2192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Data Classification Gap</a:t>
            </a:r>
            <a:endParaRPr lang="en-US" sz="1733"/>
          </a:p>
        </p:txBody>
      </p:sp>
      <p:sp>
        <p:nvSpPr>
          <p:cNvPr id="12" name="Shape 9"/>
          <p:cNvSpPr/>
          <p:nvPr/>
        </p:nvSpPr>
        <p:spPr>
          <a:xfrm>
            <a:off x="914400" y="1706880"/>
            <a:ext cx="10363200" cy="26822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Shape 10"/>
          <p:cNvSpPr/>
          <p:nvPr/>
        </p:nvSpPr>
        <p:spPr>
          <a:xfrm>
            <a:off x="914400" y="1706880"/>
            <a:ext cx="512064" cy="2682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1"/>
          <p:cNvSpPr/>
          <p:nvPr/>
        </p:nvSpPr>
        <p:spPr>
          <a:xfrm>
            <a:off x="975360" y="1670304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tagged for AI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4267200" y="1670304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target for regulatory compliance</a:t>
            </a:r>
            <a:endParaRPr lang="en-US" sz="1067"/>
          </a:p>
        </p:txBody>
      </p:sp>
      <p:sp>
        <p:nvSpPr>
          <p:cNvPr id="16" name="Text 13"/>
          <p:cNvSpPr/>
          <p:nvPr/>
        </p:nvSpPr>
        <p:spPr>
          <a:xfrm>
            <a:off x="914400" y="209702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Five-tier classification: public, internal, confidential, restricted, highly restricted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unstructured data tagged, but 95% not tagged for AI use — critical blocker for AI deployment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public/internal data currently allowed in Copilot; legacy Access databases and 30 years of accumulated files remain unclassified</a:t>
            </a:r>
            <a:endParaRPr lang="en-US" sz="1333"/>
          </a:p>
        </p:txBody>
      </p:sp>
      <p:sp>
        <p:nvSpPr>
          <p:cNvPr id="17" name="Shape 14"/>
          <p:cNvSpPr/>
          <p:nvPr/>
        </p:nvSpPr>
        <p:spPr>
          <a:xfrm>
            <a:off x="609600" y="3230880"/>
            <a:ext cx="5181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5"/>
          <p:cNvSpPr/>
          <p:nvPr/>
        </p:nvSpPr>
        <p:spPr>
          <a:xfrm>
            <a:off x="609600" y="3230880"/>
            <a:ext cx="73152" cy="292608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6"/>
          <p:cNvSpPr/>
          <p:nvPr/>
        </p:nvSpPr>
        <p:spPr>
          <a:xfrm>
            <a:off x="914400" y="335280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 &amp; Identity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914400" y="3779520"/>
            <a:ext cx="463296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for elevated access (Zero Trust model)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binary PII access to domain-based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attribute-based mandated for apps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via SAML, MFA enforced everywhere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automatic masking for confidential+ data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sync across SF/Azure/Okta/Genesys needed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restrictions (Dev=open, Prod=IaC only)</a:t>
            </a:r>
            <a:endParaRPr lang="en-US" sz="1267"/>
          </a:p>
        </p:txBody>
      </p:sp>
      <p:sp>
        <p:nvSpPr>
          <p:cNvPr id="21" name="Shape 18"/>
          <p:cNvSpPr/>
          <p:nvPr/>
        </p:nvSpPr>
        <p:spPr>
          <a:xfrm>
            <a:off x="6400800" y="3230880"/>
            <a:ext cx="5181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Shape 19"/>
          <p:cNvSpPr/>
          <p:nvPr/>
        </p:nvSpPr>
        <p:spPr>
          <a:xfrm>
            <a:off x="6400800" y="3230880"/>
            <a:ext cx="73152" cy="29260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0"/>
          <p:cNvSpPr/>
          <p:nvPr/>
        </p:nvSpPr>
        <p:spPr>
          <a:xfrm>
            <a:off x="6705600" y="335280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Governance Gaps</a:t>
            </a:r>
            <a:endParaRPr lang="en-US" sz="1600"/>
          </a:p>
        </p:txBody>
      </p:sp>
      <p:sp>
        <p:nvSpPr>
          <p:cNvPr id="24" name="Text 21"/>
          <p:cNvSpPr/>
          <p:nvPr/>
        </p:nvSpPr>
        <p:spPr>
          <a:xfrm>
            <a:off x="6705600" y="3779520"/>
            <a:ext cx="463296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shortage of tools, shortage of programmatic blocking" — Mike Callaway, CISO</a:t>
            </a:r>
            <a:endParaRPr lang="en-US" sz="1267"/>
          </a:p>
          <a:p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CrowdStrike, Elastic, Defender, Zscaler, Purview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policy 3 months old, A1 maturity level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usage detection &amp; mitigation needed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regulatory frameworks + SOC 2 voluntary</a:t>
            </a:r>
            <a:endParaRPr lang="en-US" sz="1267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impact assessment function establishing</a:t>
            </a:r>
            <a:endParaRPr lang="en-US" sz="1267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813F1DD6-7CDA-CB4E-9BBB-6746F412A9EA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15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0F26E-628A-1173-3567-50E4A808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7170DFAA-E2F4-FCFC-D157-3A36349BF4E3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SDLC</a:t>
            </a:r>
            <a:endParaRPr lang="en-US" sz="4800"/>
          </a:p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31BC0D-6671-B593-1B40-0E7B6F6A9BDD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F26093D-6A8D-C07D-4307-D86B358C68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CI/CD automation, infrastructure-as-code, and AI-assisted development</a:t>
            </a:r>
          </a:p>
        </p:txBody>
      </p:sp>
    </p:spTree>
    <p:extLst>
      <p:ext uri="{BB962C8B-B14F-4D97-AF65-F5344CB8AC3E}">
        <p14:creationId xmlns:p14="http://schemas.microsoft.com/office/powerpoint/2010/main" val="2794364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SDLC Recommendations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2060619" y="6447996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Stellantis Financial Services</a:t>
            </a:r>
            <a:endParaRPr lang="en-US" sz="1067"/>
          </a:p>
        </p:txBody>
      </p:sp>
      <p:sp>
        <p:nvSpPr>
          <p:cNvPr id="6" name="Text 4"/>
          <p:cNvSpPr/>
          <p:nvPr/>
        </p:nvSpPr>
        <p:spPr>
          <a:xfrm>
            <a:off x="5426299" y="64479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5181600" cy="2072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207264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Organization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914400" y="1706880"/>
            <a:ext cx="463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people: 40 FTEs, 80 contractors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onshore/offshore (8 locations)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Salesforce, 30% other (.NET, RPA, integration)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 cadences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"Maniacal" documentation discipline (Confluence)</a:t>
            </a:r>
            <a:endParaRPr lang="en-US" sz="1333"/>
          </a:p>
        </p:txBody>
      </p:sp>
      <p:sp>
        <p:nvSpPr>
          <p:cNvPr id="12" name="Shape 10"/>
          <p:cNvSpPr/>
          <p:nvPr/>
        </p:nvSpPr>
        <p:spPr>
          <a:xfrm>
            <a:off x="6400800" y="1158240"/>
            <a:ext cx="5181600" cy="2072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400800" y="1158240"/>
            <a:ext cx="73152" cy="2072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705600" y="1280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Stack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705600" y="1706880"/>
            <a:ext cx="463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Salesforce: Copado → GitHub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Non-SF: Azure DevOps exclusively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for IaC (UAT+ environments)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SDLC: Dev → QA → UAT → Prod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unit test coverage enforced (SF)</a:t>
            </a:r>
            <a:endParaRPr lang="en-US" sz="1333"/>
          </a:p>
        </p:txBody>
      </p:sp>
      <p:sp>
        <p:nvSpPr>
          <p:cNvPr id="16" name="Shape 14"/>
          <p:cNvSpPr/>
          <p:nvPr/>
        </p:nvSpPr>
        <p:spPr>
          <a:xfrm>
            <a:off x="609600" y="3535680"/>
            <a:ext cx="10972800" cy="2621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09600" y="3535680"/>
            <a:ext cx="73152" cy="2621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3657600"/>
            <a:ext cx="304800" cy="304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359664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SDLC Recommendations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914400" y="4084320"/>
            <a:ext cx="4876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Automation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Terraform IaC to all environments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automation with approval guardrails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preview deployments per PR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hooks for documentation drift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 for targeted deployments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 for scalable dev environments</a:t>
            </a:r>
            <a:endParaRPr lang="en-US" sz="1333"/>
          </a:p>
        </p:txBody>
      </p:sp>
      <p:sp>
        <p:nvSpPr>
          <p:cNvPr id="21" name="Text 18"/>
          <p:cNvSpPr/>
          <p:nvPr/>
        </p:nvSpPr>
        <p:spPr>
          <a:xfrm>
            <a:off x="6096000" y="4084320"/>
            <a:ext cx="52425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enterprise approval for AI coding tools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APIs need refactoring by year-end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MuleSoft→Azure migration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workflow: PM→agent→auto PR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 generation (security, E2E)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paths: autonomous, hybrid, developer-led</a:t>
            </a:r>
            <a:endParaRPr lang="en-US" sz="1333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CB34580F-01A5-19E8-3395-6C8B45A181E1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17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55D4-0409-83B5-803B-8463BB8F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2FF966D3-71A1-11AC-BC6E-45F1C8105219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Infrastructure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2677B4-0C68-1B64-7E55-054BA5A8D803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97D35F-CB1E-2100-4ABC-34F0616121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AI-driven test optimization, self-healing locators, and API testing expansion</a:t>
            </a:r>
          </a:p>
        </p:txBody>
      </p:sp>
    </p:spTree>
    <p:extLst>
      <p:ext uri="{BB962C8B-B14F-4D97-AF65-F5344CB8AC3E}">
        <p14:creationId xmlns:p14="http://schemas.microsoft.com/office/powerpoint/2010/main" val="357656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Infrastructure Recommendations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790164" y="6456556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Stellantis Financial Services</a:t>
            </a:r>
            <a:endParaRPr lang="en-US" sz="1067"/>
          </a:p>
        </p:txBody>
      </p:sp>
      <p:sp>
        <p:nvSpPr>
          <p:cNvPr id="6" name="Text 4"/>
          <p:cNvSpPr/>
          <p:nvPr/>
        </p:nvSpPr>
        <p:spPr>
          <a:xfrm>
            <a:off x="5623774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5181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2926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280160"/>
            <a:ext cx="268224" cy="2682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19200" y="1243584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Testing Gaps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914400" y="1645920"/>
            <a:ext cx="4632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API endpoints, only 6 under automated testing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automation engineer time on maintenance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25-30% automation coverage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34-36 manual testers vs. &lt;10 automation engineers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effort on execution (ideal: 30%)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data-test-id attributes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GitHub Copilot access per SFS policy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becomes ultimate validation environment</a:t>
            </a:r>
            <a:endParaRPr lang="en-US" sz="1333"/>
          </a:p>
        </p:txBody>
      </p:sp>
      <p:sp>
        <p:nvSpPr>
          <p:cNvPr id="13" name="Shape 10"/>
          <p:cNvSpPr/>
          <p:nvPr/>
        </p:nvSpPr>
        <p:spPr>
          <a:xfrm>
            <a:off x="6400800" y="1158240"/>
            <a:ext cx="5181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1"/>
          <p:cNvSpPr/>
          <p:nvPr/>
        </p:nvSpPr>
        <p:spPr>
          <a:xfrm>
            <a:off x="6400800" y="1158240"/>
            <a:ext cx="73152" cy="2926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40" y="1280160"/>
            <a:ext cx="268224" cy="2682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10400" y="1243584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Testing Strategy</a:t>
            </a:r>
            <a:endParaRPr lang="en-US" sz="1600"/>
          </a:p>
        </p:txBody>
      </p:sp>
      <p:sp>
        <p:nvSpPr>
          <p:cNvPr id="17" name="Text 13"/>
          <p:cNvSpPr/>
          <p:nvPr/>
        </p:nvSpPr>
        <p:spPr>
          <a:xfrm>
            <a:off x="6705600" y="1645920"/>
            <a:ext cx="4632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Impact Analysis (highest priority)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code changes → required test execution</a:t>
            </a:r>
            <a:endParaRPr lang="en-US" sz="1333"/>
          </a:p>
          <a:p>
            <a:endParaRPr lang="en-US" sz="1333"/>
          </a:p>
          <a:p>
            <a:r>
              <a:rPr lang="en-US" sz="1333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Locators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50% maintenance overhead</a:t>
            </a:r>
            <a:endParaRPr lang="en-US" sz="1333"/>
          </a:p>
          <a:p>
            <a:endParaRPr lang="en-US" sz="1333"/>
          </a:p>
          <a:p>
            <a:r>
              <a:rPr lang="en-US" sz="1333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 Generation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OpenAPI/Swagger → comprehensive test suites</a:t>
            </a:r>
            <a:endParaRPr lang="en-US" sz="1333"/>
          </a:p>
          <a:p>
            <a:endParaRPr lang="en-US" sz="1333"/>
          </a:p>
          <a:p>
            <a:r>
              <a:rPr lang="en-US" sz="1333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Case Generation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→ Spira with traceability (replace copy-paste)</a:t>
            </a:r>
            <a:endParaRPr lang="en-US" sz="1333"/>
          </a:p>
        </p:txBody>
      </p:sp>
      <p:sp>
        <p:nvSpPr>
          <p:cNvPr id="18" name="Shape 14"/>
          <p:cNvSpPr/>
          <p:nvPr/>
        </p:nvSpPr>
        <p:spPr>
          <a:xfrm>
            <a:off x="609600" y="4389120"/>
            <a:ext cx="10972800" cy="1767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5"/>
          <p:cNvSpPr/>
          <p:nvPr/>
        </p:nvSpPr>
        <p:spPr>
          <a:xfrm>
            <a:off x="609600" y="4389120"/>
            <a:ext cx="73152" cy="1767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6"/>
          <p:cNvSpPr/>
          <p:nvPr/>
        </p:nvSpPr>
        <p:spPr>
          <a:xfrm>
            <a:off x="914400" y="451104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Modernization Timeline</a:t>
            </a:r>
            <a:endParaRPr lang="en-US" sz="1600"/>
          </a:p>
        </p:txBody>
      </p:sp>
      <p:sp>
        <p:nvSpPr>
          <p:cNvPr id="21" name="Shape 17"/>
          <p:cNvSpPr/>
          <p:nvPr/>
        </p:nvSpPr>
        <p:spPr>
          <a:xfrm>
            <a:off x="914400" y="4937760"/>
            <a:ext cx="3169920" cy="304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18"/>
          <p:cNvSpPr/>
          <p:nvPr/>
        </p:nvSpPr>
        <p:spPr>
          <a:xfrm>
            <a:off x="914400" y="493776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(0-3 mo)</a:t>
            </a:r>
            <a:endParaRPr lang="en-US" sz="1133"/>
          </a:p>
        </p:txBody>
      </p:sp>
      <p:sp>
        <p:nvSpPr>
          <p:cNvPr id="23" name="Text 19"/>
          <p:cNvSpPr/>
          <p:nvPr/>
        </p:nvSpPr>
        <p:spPr>
          <a:xfrm>
            <a:off x="914400" y="5303520"/>
            <a:ext cx="316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 impact analysis pilot, Copilot prompt enhancement, bug pattern analysis</a:t>
            </a:r>
            <a:endParaRPr lang="en-US" sz="1133"/>
          </a:p>
        </p:txBody>
      </p:sp>
      <p:sp>
        <p:nvSpPr>
          <p:cNvPr id="24" name="Shape 20"/>
          <p:cNvSpPr/>
          <p:nvPr/>
        </p:nvSpPr>
        <p:spPr>
          <a:xfrm>
            <a:off x="4328160" y="4937760"/>
            <a:ext cx="3169920" cy="304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1"/>
          <p:cNvSpPr/>
          <p:nvPr/>
        </p:nvSpPr>
        <p:spPr>
          <a:xfrm>
            <a:off x="4328160" y="493776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(3-6 mo)</a:t>
            </a:r>
            <a:endParaRPr lang="en-US" sz="1133"/>
          </a:p>
        </p:txBody>
      </p:sp>
      <p:sp>
        <p:nvSpPr>
          <p:cNvPr id="26" name="Text 22"/>
          <p:cNvSpPr/>
          <p:nvPr/>
        </p:nvSpPr>
        <p:spPr>
          <a:xfrm>
            <a:off x="4328160" y="5303520"/>
            <a:ext cx="316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Jira→AI→Spira integration, self-healing locators, synthetic test data</a:t>
            </a:r>
            <a:endParaRPr lang="en-US" sz="1133"/>
          </a:p>
        </p:txBody>
      </p:sp>
      <p:sp>
        <p:nvSpPr>
          <p:cNvPr id="27" name="Shape 23"/>
          <p:cNvSpPr/>
          <p:nvPr/>
        </p:nvSpPr>
        <p:spPr>
          <a:xfrm>
            <a:off x="7741920" y="4937760"/>
            <a:ext cx="3169920" cy="3048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4"/>
          <p:cNvSpPr/>
          <p:nvPr/>
        </p:nvSpPr>
        <p:spPr>
          <a:xfrm>
            <a:off x="7741920" y="4937760"/>
            <a:ext cx="316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(6-12 mo)</a:t>
            </a:r>
            <a:endParaRPr lang="en-US" sz="1133"/>
          </a:p>
        </p:txBody>
      </p:sp>
      <p:sp>
        <p:nvSpPr>
          <p:cNvPr id="29" name="Text 25"/>
          <p:cNvSpPr/>
          <p:nvPr/>
        </p:nvSpPr>
        <p:spPr>
          <a:xfrm>
            <a:off x="7741920" y="5303520"/>
            <a:ext cx="316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sprint automation, predictive test selection, NLP test querying</a:t>
            </a:r>
            <a:endParaRPr lang="en-US" sz="1133"/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B2B78ADD-E44C-52DB-8A23-E11497D70A15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19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C5DB-ACA1-15E6-C539-3DBBCA9B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24DB2E70-6FCA-1642-2A85-AD1A1293BC6B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Center &amp;</a:t>
            </a:r>
            <a:endParaRPr lang="en-US" sz="4800"/>
          </a:p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Platform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9039D7-2D28-1BC2-5CB4-B4D74DE1EEB1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A24D51-D193-2A0B-2CE4-564DCD6D59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Genesys Cloud optimization and AI-enabled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2160657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Cloud &amp; CX Platform Recommendations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803042" y="6461760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Stellantis Financial Services</a:t>
            </a:r>
            <a:endParaRPr lang="en-US" sz="1067"/>
          </a:p>
        </p:txBody>
      </p:sp>
      <p:sp>
        <p:nvSpPr>
          <p:cNvPr id="6" name="Text 4"/>
          <p:cNvSpPr/>
          <p:nvPr/>
        </p:nvSpPr>
        <p:spPr>
          <a:xfrm>
            <a:off x="5962919" y="6425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58240"/>
            <a:ext cx="5181600" cy="2438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09600" y="1158240"/>
            <a:ext cx="73152" cy="2438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Cloud CX3 (Current)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914400" y="1706880"/>
            <a:ext cx="4632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Voice-centric + workforce engagement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agents (onshore + offshore)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46K-50K monthly calls, 2-6% growth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year operational, "very fresh on Salesforce"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Service Cloud integration (Dec 2025)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AI consumption model</a:t>
            </a:r>
            <a:endParaRPr lang="en-US" sz="1333"/>
          </a:p>
        </p:txBody>
      </p:sp>
      <p:sp>
        <p:nvSpPr>
          <p:cNvPr id="12" name="Shape 10"/>
          <p:cNvSpPr/>
          <p:nvPr/>
        </p:nvSpPr>
        <p:spPr>
          <a:xfrm>
            <a:off x="6400800" y="1158240"/>
            <a:ext cx="5181600" cy="2438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400800" y="1158240"/>
            <a:ext cx="73152" cy="2438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705600" y="128016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(Available)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705600" y="1706880"/>
            <a:ext cx="4632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agents &amp; predictive routing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copilot &amp; speech/text analytics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intelligence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workbench &amp; optimizer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 for agentic flows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QA (call/screen recording, AI evaluation)</a:t>
            </a:r>
            <a:endParaRPr lang="en-US" sz="1333"/>
          </a:p>
        </p:txBody>
      </p:sp>
      <p:sp>
        <p:nvSpPr>
          <p:cNvPr id="16" name="Shape 14"/>
          <p:cNvSpPr/>
          <p:nvPr/>
        </p:nvSpPr>
        <p:spPr>
          <a:xfrm>
            <a:off x="609600" y="3901440"/>
            <a:ext cx="1097280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09600" y="3901440"/>
            <a:ext cx="73152" cy="225552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Maturity-Based Implementation Strategy (Antonio Martir)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1036320" y="453542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1036320" y="4535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1463040" y="4511040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33"/>
          </a:p>
        </p:txBody>
      </p:sp>
      <p:sp>
        <p:nvSpPr>
          <p:cNvPr id="22" name="Text 20"/>
          <p:cNvSpPr/>
          <p:nvPr/>
        </p:nvSpPr>
        <p:spPr>
          <a:xfrm>
            <a:off x="2987040" y="4511040"/>
            <a:ext cx="8290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Genesys-Salesforce bidirectional integration, stabilize agent workflows, eliminate swivel-chair activities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1036320" y="4925568"/>
            <a:ext cx="292608" cy="29260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1036320" y="492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1463040" y="4901184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33"/>
          </a:p>
        </p:txBody>
      </p:sp>
      <p:sp>
        <p:nvSpPr>
          <p:cNvPr id="26" name="Text 24"/>
          <p:cNvSpPr/>
          <p:nvPr/>
        </p:nvSpPr>
        <p:spPr>
          <a:xfrm>
            <a:off x="2987040" y="4901184"/>
            <a:ext cx="8290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robust Salesforce knowledge management as foundation for AI; activate unused native smart features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1036320" y="531571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1036320" y="5315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1463040" y="5291328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33"/>
          </a:p>
        </p:txBody>
      </p:sp>
      <p:sp>
        <p:nvSpPr>
          <p:cNvPr id="30" name="Text 28"/>
          <p:cNvSpPr/>
          <p:nvPr/>
        </p:nvSpPr>
        <p:spPr>
          <a:xfrm>
            <a:off x="2987040" y="5291328"/>
            <a:ext cx="8290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interaction data, implement call classification &amp; sentiment analysis, build analytics foundation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1036320" y="570585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1036320" y="5705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1463040" y="5681472"/>
            <a:ext cx="1463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AI</a:t>
            </a:r>
            <a:endParaRPr lang="en-US" sz="1333"/>
          </a:p>
        </p:txBody>
      </p:sp>
      <p:sp>
        <p:nvSpPr>
          <p:cNvPr id="34" name="Text 32"/>
          <p:cNvSpPr/>
          <p:nvPr/>
        </p:nvSpPr>
        <p:spPr>
          <a:xfrm>
            <a:off x="2987040" y="5681472"/>
            <a:ext cx="8290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AI capabilities: virtual agents, predictive routing, agent copilot, collections voice AI pilot</a:t>
            </a:r>
            <a:endParaRPr lang="en-US" sz="1200"/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C5B38D5C-E4BA-D277-180F-DDAA5705BB88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21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4933B-EE98-F946-2098-A1457C78C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781FD6DA-3E5A-486E-3817-964B4C3603E2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800"/>
          </a:p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8E042D-DDD5-CDD7-AC94-16CF12AB2F47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6439E2-25C8-BED2-AA3D-318C5B4AA2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Phased approach with stakeholder assignments and timelines</a:t>
            </a:r>
          </a:p>
        </p:txBody>
      </p:sp>
    </p:spTree>
    <p:extLst>
      <p:ext uri="{BB962C8B-B14F-4D97-AF65-F5344CB8AC3E}">
        <p14:creationId xmlns:p14="http://schemas.microsoft.com/office/powerpoint/2010/main" val="2369772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Roadmap: Phase 1 — Foundation (0-3 Months)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816864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737360" y="6473952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Stellantis Financial Services</a:t>
            </a:r>
            <a:endParaRPr lang="en-US" sz="1067"/>
          </a:p>
        </p:txBody>
      </p:sp>
      <p:sp>
        <p:nvSpPr>
          <p:cNvPr id="6" name="Text 4"/>
          <p:cNvSpPr/>
          <p:nvPr/>
        </p:nvSpPr>
        <p:spPr>
          <a:xfrm>
            <a:off x="5587360" y="6447679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024128"/>
            <a:ext cx="10972800" cy="36576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70560" y="1024128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33"/>
          </a:p>
        </p:txBody>
      </p:sp>
      <p:sp>
        <p:nvSpPr>
          <p:cNvPr id="10" name="Text 8"/>
          <p:cNvSpPr/>
          <p:nvPr/>
        </p:nvSpPr>
        <p:spPr>
          <a:xfrm>
            <a:off x="1950720" y="1024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33"/>
          </a:p>
        </p:txBody>
      </p:sp>
      <p:sp>
        <p:nvSpPr>
          <p:cNvPr id="11" name="Text 9"/>
          <p:cNvSpPr/>
          <p:nvPr/>
        </p:nvSpPr>
        <p:spPr>
          <a:xfrm>
            <a:off x="7132320" y="1024128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33"/>
          </a:p>
        </p:txBody>
      </p:sp>
      <p:sp>
        <p:nvSpPr>
          <p:cNvPr id="12" name="Text 10"/>
          <p:cNvSpPr/>
          <p:nvPr/>
        </p:nvSpPr>
        <p:spPr>
          <a:xfrm>
            <a:off x="10728960" y="1024128"/>
            <a:ext cx="85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endParaRPr lang="en-US" sz="1133"/>
          </a:p>
        </p:txBody>
      </p:sp>
      <p:sp>
        <p:nvSpPr>
          <p:cNvPr id="13" name="Shape 11"/>
          <p:cNvSpPr/>
          <p:nvPr/>
        </p:nvSpPr>
        <p:spPr>
          <a:xfrm>
            <a:off x="609600" y="1450848"/>
            <a:ext cx="10972800" cy="58521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609600" y="1450848"/>
            <a:ext cx="48768" cy="5852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92480" y="145084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33"/>
          </a:p>
        </p:txBody>
      </p:sp>
      <p:sp>
        <p:nvSpPr>
          <p:cNvPr id="16" name="Text 14"/>
          <p:cNvSpPr/>
          <p:nvPr/>
        </p:nvSpPr>
        <p:spPr>
          <a:xfrm>
            <a:off x="1950720" y="145084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AI governance framework with minimum viable requirements for high-priority initiatives</a:t>
            </a:r>
            <a:endParaRPr lang="en-US" sz="1133"/>
          </a:p>
        </p:txBody>
      </p:sp>
      <p:sp>
        <p:nvSpPr>
          <p:cNvPr id="17" name="Text 15"/>
          <p:cNvSpPr/>
          <p:nvPr/>
        </p:nvSpPr>
        <p:spPr>
          <a:xfrm>
            <a:off x="7132320" y="1450848"/>
            <a:ext cx="304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Callaway, Nader Afshar</a:t>
            </a:r>
            <a:endParaRPr lang="en-US" sz="1133"/>
          </a:p>
        </p:txBody>
      </p:sp>
      <p:sp>
        <p:nvSpPr>
          <p:cNvPr id="18" name="Text 16"/>
          <p:cNvSpPr/>
          <p:nvPr/>
        </p:nvSpPr>
        <p:spPr>
          <a:xfrm>
            <a:off x="10728960" y="1572768"/>
            <a:ext cx="670560" cy="316992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609600" y="2084832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609600" y="2084832"/>
            <a:ext cx="48768" cy="5852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792480" y="208483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33"/>
          </a:p>
        </p:txBody>
      </p:sp>
      <p:sp>
        <p:nvSpPr>
          <p:cNvPr id="22" name="Text 20"/>
          <p:cNvSpPr/>
          <p:nvPr/>
        </p:nvSpPr>
        <p:spPr>
          <a:xfrm>
            <a:off x="1950720" y="20848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data classification to reach 99% compliance; begin tagging all data for AI use</a:t>
            </a:r>
            <a:endParaRPr lang="en-US" sz="1133"/>
          </a:p>
        </p:txBody>
      </p:sp>
      <p:sp>
        <p:nvSpPr>
          <p:cNvPr id="23" name="Text 21"/>
          <p:cNvSpPr/>
          <p:nvPr/>
        </p:nvSpPr>
        <p:spPr>
          <a:xfrm>
            <a:off x="7132320" y="2084832"/>
            <a:ext cx="304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Bobby Goodwin, Mike Callaway</a:t>
            </a:r>
            <a:endParaRPr lang="en-US" sz="1133"/>
          </a:p>
        </p:txBody>
      </p:sp>
      <p:sp>
        <p:nvSpPr>
          <p:cNvPr id="24" name="Text 22"/>
          <p:cNvSpPr/>
          <p:nvPr/>
        </p:nvSpPr>
        <p:spPr>
          <a:xfrm>
            <a:off x="10728960" y="2206752"/>
            <a:ext cx="670560" cy="316992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609600" y="2718816"/>
            <a:ext cx="10972800" cy="58521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609600" y="2718816"/>
            <a:ext cx="48768" cy="5852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792480" y="271881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33"/>
          </a:p>
        </p:txBody>
      </p:sp>
      <p:sp>
        <p:nvSpPr>
          <p:cNvPr id="28" name="Text 26"/>
          <p:cNvSpPr/>
          <p:nvPr/>
        </p:nvSpPr>
        <p:spPr>
          <a:xfrm>
            <a:off x="1950720" y="271881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Azure APIM pilot blockers (DNS, certs, RBAC); extract reusable migration patterns</a:t>
            </a:r>
            <a:endParaRPr lang="en-US" sz="1133"/>
          </a:p>
        </p:txBody>
      </p:sp>
      <p:sp>
        <p:nvSpPr>
          <p:cNvPr id="29" name="Text 27"/>
          <p:cNvSpPr/>
          <p:nvPr/>
        </p:nvSpPr>
        <p:spPr>
          <a:xfrm>
            <a:off x="7132320" y="2718816"/>
            <a:ext cx="304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Burgess, Cassidy Hodge</a:t>
            </a:r>
            <a:endParaRPr lang="en-US" sz="1133"/>
          </a:p>
        </p:txBody>
      </p:sp>
      <p:sp>
        <p:nvSpPr>
          <p:cNvPr id="30" name="Text 28"/>
          <p:cNvSpPr/>
          <p:nvPr/>
        </p:nvSpPr>
        <p:spPr>
          <a:xfrm>
            <a:off x="10728960" y="2840736"/>
            <a:ext cx="670560" cy="316992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09600" y="3352800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Shape 30"/>
          <p:cNvSpPr/>
          <p:nvPr/>
        </p:nvSpPr>
        <p:spPr>
          <a:xfrm>
            <a:off x="609600" y="3352800"/>
            <a:ext cx="48768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792480" y="335280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Mgmt</a:t>
            </a:r>
            <a:endParaRPr lang="en-US" sz="1133"/>
          </a:p>
        </p:txBody>
      </p:sp>
      <p:sp>
        <p:nvSpPr>
          <p:cNvPr id="34" name="Text 32"/>
          <p:cNvSpPr/>
          <p:nvPr/>
        </p:nvSpPr>
        <p:spPr>
          <a:xfrm>
            <a:off x="1950720" y="33528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token metering infrastructure; route AI requests through APIM for visibility</a:t>
            </a:r>
            <a:endParaRPr lang="en-US" sz="1133"/>
          </a:p>
        </p:txBody>
      </p:sp>
      <p:sp>
        <p:nvSpPr>
          <p:cNvPr id="35" name="Text 33"/>
          <p:cNvSpPr/>
          <p:nvPr/>
        </p:nvSpPr>
        <p:spPr>
          <a:xfrm>
            <a:off x="7132320" y="3352800"/>
            <a:ext cx="304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Burgess, Tony Grogan</a:t>
            </a:r>
            <a:endParaRPr lang="en-US" sz="1133"/>
          </a:p>
        </p:txBody>
      </p:sp>
      <p:sp>
        <p:nvSpPr>
          <p:cNvPr id="36" name="Text 34"/>
          <p:cNvSpPr/>
          <p:nvPr/>
        </p:nvSpPr>
        <p:spPr>
          <a:xfrm>
            <a:off x="10728960" y="3474720"/>
            <a:ext cx="670560" cy="31699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609600" y="3986784"/>
            <a:ext cx="10972800" cy="58521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8" name="Shape 36"/>
          <p:cNvSpPr/>
          <p:nvPr/>
        </p:nvSpPr>
        <p:spPr>
          <a:xfrm>
            <a:off x="609600" y="3986784"/>
            <a:ext cx="48768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792480" y="398678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33"/>
          </a:p>
        </p:txBody>
      </p:sp>
      <p:sp>
        <p:nvSpPr>
          <p:cNvPr id="40" name="Text 38"/>
          <p:cNvSpPr/>
          <p:nvPr/>
        </p:nvSpPr>
        <p:spPr>
          <a:xfrm>
            <a:off x="1950720" y="398678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AI-driven test impact analysis; enhance Copilot test generation workflow</a:t>
            </a:r>
            <a:endParaRPr lang="en-US" sz="1133"/>
          </a:p>
        </p:txBody>
      </p:sp>
      <p:sp>
        <p:nvSpPr>
          <p:cNvPr id="41" name="Text 39"/>
          <p:cNvSpPr/>
          <p:nvPr/>
        </p:nvSpPr>
        <p:spPr>
          <a:xfrm>
            <a:off x="7132320" y="3986784"/>
            <a:ext cx="304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Kinnison, Swarupa Kota</a:t>
            </a:r>
            <a:endParaRPr lang="en-US" sz="1133"/>
          </a:p>
        </p:txBody>
      </p:sp>
      <p:sp>
        <p:nvSpPr>
          <p:cNvPr id="42" name="Text 40"/>
          <p:cNvSpPr/>
          <p:nvPr/>
        </p:nvSpPr>
        <p:spPr>
          <a:xfrm>
            <a:off x="10728960" y="4108704"/>
            <a:ext cx="670560" cy="31699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609600" y="4620768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" name="Shape 42"/>
          <p:cNvSpPr/>
          <p:nvPr/>
        </p:nvSpPr>
        <p:spPr>
          <a:xfrm>
            <a:off x="609600" y="4620768"/>
            <a:ext cx="48768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792480" y="462076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133"/>
          </a:p>
        </p:txBody>
      </p:sp>
      <p:sp>
        <p:nvSpPr>
          <p:cNvPr id="46" name="Text 44"/>
          <p:cNvSpPr/>
          <p:nvPr/>
        </p:nvSpPr>
        <p:spPr>
          <a:xfrm>
            <a:off x="1950720" y="462076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Genesys-Salesforce bidirectional integration; activate unused native features</a:t>
            </a:r>
            <a:endParaRPr lang="en-US" sz="1133"/>
          </a:p>
        </p:txBody>
      </p:sp>
      <p:sp>
        <p:nvSpPr>
          <p:cNvPr id="47" name="Text 45"/>
          <p:cNvSpPr/>
          <p:nvPr/>
        </p:nvSpPr>
        <p:spPr>
          <a:xfrm>
            <a:off x="7132320" y="4620768"/>
            <a:ext cx="304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Martir</a:t>
            </a:r>
            <a:endParaRPr lang="en-US" sz="1133"/>
          </a:p>
        </p:txBody>
      </p:sp>
      <p:sp>
        <p:nvSpPr>
          <p:cNvPr id="48" name="Text 46"/>
          <p:cNvSpPr/>
          <p:nvPr/>
        </p:nvSpPr>
        <p:spPr>
          <a:xfrm>
            <a:off x="10728960" y="4742688"/>
            <a:ext cx="670560" cy="31699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609600" y="5181600"/>
            <a:ext cx="10972800" cy="58521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0" name="Shape 48"/>
          <p:cNvSpPr/>
          <p:nvPr/>
        </p:nvSpPr>
        <p:spPr>
          <a:xfrm>
            <a:off x="609600" y="5254752"/>
            <a:ext cx="48768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1" name="Text 49"/>
          <p:cNvSpPr/>
          <p:nvPr/>
        </p:nvSpPr>
        <p:spPr>
          <a:xfrm>
            <a:off x="792480" y="525475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33"/>
          </a:p>
        </p:txBody>
      </p:sp>
      <p:sp>
        <p:nvSpPr>
          <p:cNvPr id="52" name="Text 50"/>
          <p:cNvSpPr/>
          <p:nvPr/>
        </p:nvSpPr>
        <p:spPr>
          <a:xfrm>
            <a:off x="1950720" y="525475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enterprise approval for AI coding tools (GitHub Copilot, Claude Code)</a:t>
            </a:r>
            <a:endParaRPr lang="en-US" sz="1133"/>
          </a:p>
        </p:txBody>
      </p:sp>
      <p:sp>
        <p:nvSpPr>
          <p:cNvPr id="53" name="Text 51"/>
          <p:cNvSpPr/>
          <p:nvPr/>
        </p:nvSpPr>
        <p:spPr>
          <a:xfrm>
            <a:off x="7132320" y="5254752"/>
            <a:ext cx="304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Herbert Williams</a:t>
            </a:r>
            <a:endParaRPr lang="en-US" sz="1133"/>
          </a:p>
        </p:txBody>
      </p:sp>
      <p:sp>
        <p:nvSpPr>
          <p:cNvPr id="54" name="Text 52"/>
          <p:cNvSpPr/>
          <p:nvPr/>
        </p:nvSpPr>
        <p:spPr>
          <a:xfrm>
            <a:off x="10728960" y="5376672"/>
            <a:ext cx="670560" cy="31699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/>
          </a:p>
        </p:txBody>
      </p:sp>
      <p:sp>
        <p:nvSpPr>
          <p:cNvPr id="55" name="Shape 53"/>
          <p:cNvSpPr/>
          <p:nvPr/>
        </p:nvSpPr>
        <p:spPr>
          <a:xfrm>
            <a:off x="609600" y="5888736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6" name="Shape 54"/>
          <p:cNvSpPr/>
          <p:nvPr/>
        </p:nvSpPr>
        <p:spPr>
          <a:xfrm>
            <a:off x="609600" y="5888736"/>
            <a:ext cx="48768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7" name="Text 55"/>
          <p:cNvSpPr/>
          <p:nvPr/>
        </p:nvSpPr>
        <p:spPr>
          <a:xfrm>
            <a:off x="792480" y="58887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133"/>
          </a:p>
        </p:txBody>
      </p:sp>
      <p:sp>
        <p:nvSpPr>
          <p:cNvPr id="58" name="Text 56"/>
          <p:cNvSpPr/>
          <p:nvPr/>
        </p:nvSpPr>
        <p:spPr>
          <a:xfrm>
            <a:off x="1950720" y="588873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EDW migration to Fabric (target Q2 2026 completion)</a:t>
            </a:r>
            <a:endParaRPr lang="en-US" sz="1133"/>
          </a:p>
        </p:txBody>
      </p:sp>
      <p:sp>
        <p:nvSpPr>
          <p:cNvPr id="59" name="Text 57"/>
          <p:cNvSpPr/>
          <p:nvPr/>
        </p:nvSpPr>
        <p:spPr>
          <a:xfrm>
            <a:off x="7132320" y="5888736"/>
            <a:ext cx="304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Bobby Goodwin, Adam Ruthford</a:t>
            </a:r>
            <a:endParaRPr lang="en-US" sz="1133"/>
          </a:p>
        </p:txBody>
      </p:sp>
      <p:sp>
        <p:nvSpPr>
          <p:cNvPr id="60" name="Text 58"/>
          <p:cNvSpPr/>
          <p:nvPr/>
        </p:nvSpPr>
        <p:spPr>
          <a:xfrm>
            <a:off x="10728960" y="6010656"/>
            <a:ext cx="670560" cy="31699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/>
          </a:p>
        </p:txBody>
      </p:sp>
      <p:sp>
        <p:nvSpPr>
          <p:cNvPr id="61" name="Slide Number Placeholder 4">
            <a:extLst>
              <a:ext uri="{FF2B5EF4-FFF2-40B4-BE49-F238E27FC236}">
                <a16:creationId xmlns:a16="http://schemas.microsoft.com/office/drawing/2014/main" id="{94AF4E06-5501-482F-1777-61334BADE260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23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09600" y="2438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Roadmap: Phase 2 — Quick Wins (3-6 Months)</a:t>
            </a:r>
            <a:endParaRPr lang="en-US" sz="2933"/>
          </a:p>
        </p:txBody>
      </p:sp>
      <p:sp>
        <p:nvSpPr>
          <p:cNvPr id="4" name="Shape 2"/>
          <p:cNvSpPr/>
          <p:nvPr/>
        </p:nvSpPr>
        <p:spPr>
          <a:xfrm>
            <a:off x="609600" y="914400"/>
            <a:ext cx="10972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2011680" y="6413970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Stellantis Financial Services</a:t>
            </a:r>
            <a:endParaRPr lang="en-US" sz="1067"/>
          </a:p>
        </p:txBody>
      </p:sp>
      <p:sp>
        <p:nvSpPr>
          <p:cNvPr id="6" name="Text 4"/>
          <p:cNvSpPr/>
          <p:nvPr/>
        </p:nvSpPr>
        <p:spPr>
          <a:xfrm>
            <a:off x="5168722" y="6362455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 | Phase 3</a:t>
            </a:r>
            <a:endParaRPr lang="en-US" sz="1067"/>
          </a:p>
        </p:txBody>
      </p:sp>
      <p:sp>
        <p:nvSpPr>
          <p:cNvPr id="8" name="Shape 6"/>
          <p:cNvSpPr/>
          <p:nvPr/>
        </p:nvSpPr>
        <p:spPr>
          <a:xfrm>
            <a:off x="609600" y="1121664"/>
            <a:ext cx="10972800" cy="36576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70560" y="1121664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33"/>
          </a:p>
        </p:txBody>
      </p:sp>
      <p:sp>
        <p:nvSpPr>
          <p:cNvPr id="10" name="Text 8"/>
          <p:cNvSpPr/>
          <p:nvPr/>
        </p:nvSpPr>
        <p:spPr>
          <a:xfrm>
            <a:off x="1950720" y="1121664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33"/>
          </a:p>
        </p:txBody>
      </p:sp>
      <p:sp>
        <p:nvSpPr>
          <p:cNvPr id="11" name="Text 9"/>
          <p:cNvSpPr/>
          <p:nvPr/>
        </p:nvSpPr>
        <p:spPr>
          <a:xfrm>
            <a:off x="8107680" y="11216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33"/>
          </a:p>
        </p:txBody>
      </p:sp>
      <p:sp>
        <p:nvSpPr>
          <p:cNvPr id="12" name="Shape 10"/>
          <p:cNvSpPr/>
          <p:nvPr/>
        </p:nvSpPr>
        <p:spPr>
          <a:xfrm>
            <a:off x="609600" y="1548384"/>
            <a:ext cx="10972800" cy="58521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09600" y="1548384"/>
            <a:ext cx="48768" cy="5852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92480" y="154838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33"/>
          </a:p>
        </p:txBody>
      </p:sp>
      <p:sp>
        <p:nvSpPr>
          <p:cNvPr id="15" name="Text 13"/>
          <p:cNvSpPr/>
          <p:nvPr/>
        </p:nvSpPr>
        <p:spPr>
          <a:xfrm>
            <a:off x="1950720" y="1548384"/>
            <a:ext cx="609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MuleSoft→Azure migration with reusable patterns; target 20+ APIs migrated</a:t>
            </a:r>
            <a:endParaRPr lang="en-US" sz="1133"/>
          </a:p>
        </p:txBody>
      </p:sp>
      <p:sp>
        <p:nvSpPr>
          <p:cNvPr id="16" name="Text 14"/>
          <p:cNvSpPr/>
          <p:nvPr/>
        </p:nvSpPr>
        <p:spPr>
          <a:xfrm>
            <a:off x="8107680" y="1548384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Cassidy Hodge, Sajid Chida</a:t>
            </a:r>
            <a:endParaRPr lang="en-US" sz="1133"/>
          </a:p>
        </p:txBody>
      </p:sp>
      <p:sp>
        <p:nvSpPr>
          <p:cNvPr id="17" name="Shape 15"/>
          <p:cNvSpPr/>
          <p:nvPr/>
        </p:nvSpPr>
        <p:spPr>
          <a:xfrm>
            <a:off x="609600" y="2182368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609600" y="2182368"/>
            <a:ext cx="48768" cy="5852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792480" y="218236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33"/>
          </a:p>
        </p:txBody>
      </p:sp>
      <p:sp>
        <p:nvSpPr>
          <p:cNvPr id="20" name="Text 18"/>
          <p:cNvSpPr/>
          <p:nvPr/>
        </p:nvSpPr>
        <p:spPr>
          <a:xfrm>
            <a:off x="1950720" y="2182368"/>
            <a:ext cx="609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hybrid orchestration: API gateway + Azure Service Bus for batch workflows</a:t>
            </a:r>
            <a:endParaRPr lang="en-US" sz="1133"/>
          </a:p>
        </p:txBody>
      </p:sp>
      <p:sp>
        <p:nvSpPr>
          <p:cNvPr id="21" name="Text 19"/>
          <p:cNvSpPr/>
          <p:nvPr/>
        </p:nvSpPr>
        <p:spPr>
          <a:xfrm>
            <a:off x="8107680" y="218236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Burgess</a:t>
            </a:r>
            <a:endParaRPr lang="en-US" sz="1133"/>
          </a:p>
        </p:txBody>
      </p:sp>
      <p:sp>
        <p:nvSpPr>
          <p:cNvPr id="22" name="Shape 20"/>
          <p:cNvSpPr/>
          <p:nvPr/>
        </p:nvSpPr>
        <p:spPr>
          <a:xfrm>
            <a:off x="609600" y="2816352"/>
            <a:ext cx="10972800" cy="58521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609600" y="2816352"/>
            <a:ext cx="48768" cy="5852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92480" y="281635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33"/>
          </a:p>
        </p:txBody>
      </p:sp>
      <p:sp>
        <p:nvSpPr>
          <p:cNvPr id="25" name="Text 23"/>
          <p:cNvSpPr/>
          <p:nvPr/>
        </p:nvSpPr>
        <p:spPr>
          <a:xfrm>
            <a:off x="1950720" y="2816352"/>
            <a:ext cx="609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self-healing locators, Jira→AI→Spira integration, synthetic test data gen</a:t>
            </a:r>
            <a:endParaRPr lang="en-US" sz="1133"/>
          </a:p>
        </p:txBody>
      </p:sp>
      <p:sp>
        <p:nvSpPr>
          <p:cNvPr id="26" name="Text 24"/>
          <p:cNvSpPr/>
          <p:nvPr/>
        </p:nvSpPr>
        <p:spPr>
          <a:xfrm>
            <a:off x="8107680" y="2816352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Kinnison, Geetha</a:t>
            </a:r>
            <a:endParaRPr lang="en-US" sz="1133"/>
          </a:p>
        </p:txBody>
      </p:sp>
      <p:sp>
        <p:nvSpPr>
          <p:cNvPr id="27" name="Shape 25"/>
          <p:cNvSpPr/>
          <p:nvPr/>
        </p:nvSpPr>
        <p:spPr>
          <a:xfrm>
            <a:off x="609600" y="3450336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609600" y="3450336"/>
            <a:ext cx="48768" cy="5852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792480" y="34503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33"/>
          </a:p>
        </p:txBody>
      </p:sp>
      <p:sp>
        <p:nvSpPr>
          <p:cNvPr id="30" name="Text 28"/>
          <p:cNvSpPr/>
          <p:nvPr/>
        </p:nvSpPr>
        <p:spPr>
          <a:xfrm>
            <a:off x="1950720" y="3450336"/>
            <a:ext cx="609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 NLP query interface; expand Treasury pilot to broader analytics users</a:t>
            </a:r>
            <a:endParaRPr lang="en-US" sz="1133"/>
          </a:p>
        </p:txBody>
      </p:sp>
      <p:sp>
        <p:nvSpPr>
          <p:cNvPr id="31" name="Text 29"/>
          <p:cNvSpPr/>
          <p:nvPr/>
        </p:nvSpPr>
        <p:spPr>
          <a:xfrm>
            <a:off x="8107680" y="3450336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Ruthford, Bobby Goodwin</a:t>
            </a:r>
            <a:endParaRPr lang="en-US" sz="1133"/>
          </a:p>
        </p:txBody>
      </p:sp>
      <p:sp>
        <p:nvSpPr>
          <p:cNvPr id="32" name="Shape 30"/>
          <p:cNvSpPr/>
          <p:nvPr/>
        </p:nvSpPr>
        <p:spPr>
          <a:xfrm>
            <a:off x="609600" y="4084320"/>
            <a:ext cx="10972800" cy="58521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609600" y="4084320"/>
            <a:ext cx="48768" cy="5852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792480" y="408432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133"/>
          </a:p>
        </p:txBody>
      </p:sp>
      <p:sp>
        <p:nvSpPr>
          <p:cNvPr id="35" name="Text 33"/>
          <p:cNvSpPr/>
          <p:nvPr/>
        </p:nvSpPr>
        <p:spPr>
          <a:xfrm>
            <a:off x="1950720" y="4084320"/>
            <a:ext cx="609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Salesforce knowledge management foundation; implement call classification</a:t>
            </a:r>
            <a:endParaRPr lang="en-US" sz="1133"/>
          </a:p>
        </p:txBody>
      </p:sp>
      <p:sp>
        <p:nvSpPr>
          <p:cNvPr id="36" name="Text 34"/>
          <p:cNvSpPr/>
          <p:nvPr/>
        </p:nvSpPr>
        <p:spPr>
          <a:xfrm>
            <a:off x="8107680" y="408432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Martir</a:t>
            </a:r>
            <a:endParaRPr lang="en-US" sz="1133"/>
          </a:p>
        </p:txBody>
      </p:sp>
      <p:sp>
        <p:nvSpPr>
          <p:cNvPr id="37" name="Shape 35"/>
          <p:cNvSpPr/>
          <p:nvPr/>
        </p:nvSpPr>
        <p:spPr>
          <a:xfrm>
            <a:off x="609600" y="4718304"/>
            <a:ext cx="10972800" cy="585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8" name="Shape 36"/>
          <p:cNvSpPr/>
          <p:nvPr/>
        </p:nvSpPr>
        <p:spPr>
          <a:xfrm>
            <a:off x="609600" y="4718304"/>
            <a:ext cx="48768" cy="5852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792480" y="471830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33"/>
          </a:p>
        </p:txBody>
      </p:sp>
      <p:sp>
        <p:nvSpPr>
          <p:cNvPr id="40" name="Text 38"/>
          <p:cNvSpPr/>
          <p:nvPr/>
        </p:nvSpPr>
        <p:spPr>
          <a:xfrm>
            <a:off x="1950720" y="4718304"/>
            <a:ext cx="609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domain-based PII access models; sync RBAC across SF/Azure/Okta/Genesys</a:t>
            </a:r>
            <a:endParaRPr lang="en-US" sz="1133"/>
          </a:p>
        </p:txBody>
      </p:sp>
      <p:sp>
        <p:nvSpPr>
          <p:cNvPr id="41" name="Text 39"/>
          <p:cNvSpPr/>
          <p:nvPr/>
        </p:nvSpPr>
        <p:spPr>
          <a:xfrm>
            <a:off x="8107680" y="4718304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Callaway, Tony Grogan</a:t>
            </a:r>
            <a:endParaRPr lang="en-US" sz="1133"/>
          </a:p>
        </p:txBody>
      </p:sp>
      <p:sp>
        <p:nvSpPr>
          <p:cNvPr id="42" name="Shape 40"/>
          <p:cNvSpPr/>
          <p:nvPr/>
        </p:nvSpPr>
        <p:spPr>
          <a:xfrm>
            <a:off x="609600" y="5352288"/>
            <a:ext cx="10972800" cy="58521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" name="Shape 41"/>
          <p:cNvSpPr/>
          <p:nvPr/>
        </p:nvSpPr>
        <p:spPr>
          <a:xfrm>
            <a:off x="609600" y="5352288"/>
            <a:ext cx="48768" cy="58521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792480" y="535228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133"/>
          </a:p>
        </p:txBody>
      </p:sp>
      <p:sp>
        <p:nvSpPr>
          <p:cNvPr id="45" name="Text 43"/>
          <p:cNvSpPr/>
          <p:nvPr/>
        </p:nvSpPr>
        <p:spPr>
          <a:xfrm>
            <a:off x="1950720" y="5352288"/>
            <a:ext cx="609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with ML Flow: model registry, experiment tracking, deployment pipelines</a:t>
            </a:r>
            <a:endParaRPr lang="en-US" sz="1133"/>
          </a:p>
        </p:txBody>
      </p:sp>
      <p:sp>
        <p:nvSpPr>
          <p:cNvPr id="46" name="Text 44"/>
          <p:cNvSpPr/>
          <p:nvPr/>
        </p:nvSpPr>
        <p:spPr>
          <a:xfrm>
            <a:off x="8107680" y="535228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Ruthford</a:t>
            </a:r>
            <a:endParaRPr lang="en-US" sz="1133"/>
          </a:p>
        </p:txBody>
      </p:sp>
      <p:sp>
        <p:nvSpPr>
          <p:cNvPr id="47" name="Shape 45"/>
          <p:cNvSpPr/>
          <p:nvPr/>
        </p:nvSpPr>
        <p:spPr>
          <a:xfrm>
            <a:off x="609600" y="5425440"/>
            <a:ext cx="10972800" cy="609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8" name="Shape 46"/>
          <p:cNvSpPr/>
          <p:nvPr/>
        </p:nvSpPr>
        <p:spPr>
          <a:xfrm>
            <a:off x="609600" y="5425440"/>
            <a:ext cx="73152" cy="6096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9" name="Text 47"/>
          <p:cNvSpPr/>
          <p:nvPr/>
        </p:nvSpPr>
        <p:spPr>
          <a:xfrm>
            <a:off x="914400" y="542544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(6-12+ months): Strategic capabilities — MCP pilot, knowledge graph, predictive analytics, N+1 sprint automation, collections voice AI, autonomous agent workflows</a:t>
            </a:r>
            <a:endParaRPr lang="en-US" sz="1267"/>
          </a:p>
        </p:txBody>
      </p:sp>
      <p:sp>
        <p:nvSpPr>
          <p:cNvPr id="50" name="Slide Number Placeholder 4">
            <a:extLst>
              <a:ext uri="{FF2B5EF4-FFF2-40B4-BE49-F238E27FC236}">
                <a16:creationId xmlns:a16="http://schemas.microsoft.com/office/drawing/2014/main" id="{3BD36F45-3108-E5B6-0064-0FDC194A0009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24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16D0-8106-6D85-BC3C-A272FE98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C0A71783-CB23-FBFA-98A1-5F6F42E79121}"/>
              </a:ext>
            </a:extLst>
          </p:cNvPr>
          <p:cNvSpPr/>
          <p:nvPr/>
        </p:nvSpPr>
        <p:spPr>
          <a:xfrm>
            <a:off x="5921706" y="1985923"/>
            <a:ext cx="58109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</a:t>
            </a:r>
            <a:endParaRPr lang="en-US" sz="4800"/>
          </a:p>
          <a:p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1AD801-725E-3E17-A5FD-DABA247E124E}"/>
              </a:ext>
            </a:extLst>
          </p:cNvPr>
          <p:cNvSpPr/>
          <p:nvPr/>
        </p:nvSpPr>
        <p:spPr>
          <a:xfrm>
            <a:off x="1950720" y="3169920"/>
            <a:ext cx="8534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33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FE7E61-E42F-3765-C8AE-05D3620FCD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61870" y="3931087"/>
            <a:ext cx="5317394" cy="847725"/>
          </a:xfrm>
        </p:spPr>
        <p:txBody>
          <a:bodyPr/>
          <a:lstStyle/>
          <a:p>
            <a:r>
              <a:rPr lang="en-US" sz="2000"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 and recommended immediate actions</a:t>
            </a:r>
          </a:p>
          <a:p>
            <a:endParaRPr lang="en-US" sz="2000"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3059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853440" y="512064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853440" y="1219200"/>
            <a:ext cx="1828800" cy="4876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53440" y="1463040"/>
            <a:ext cx="975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>
                <a:latin typeface="Calibri"/>
                <a:ea typeface="Calibri"/>
                <a:cs typeface="Calibri"/>
              </a:rPr>
              <a:t>SFS has strong foundational components (Azure, Fabric, Genesys, Salesforce) but significant gaps in data governance, integration coverage, and AI readiness that must be addressed before scaling AI initiatives.</a:t>
            </a:r>
            <a:endParaRPr lang="en-US" sz="1600">
              <a:latin typeface="Gill Sans MT"/>
              <a:ea typeface="Calibri"/>
              <a:cs typeface="Calibri"/>
            </a:endParaRPr>
          </a:p>
          <a:p>
            <a:endParaRPr lang="en-US" sz="1600"/>
          </a:p>
          <a:p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Three critical blockers require immediate attention:</a:t>
            </a:r>
            <a:endParaRPr lang="en-US" sz="1600">
              <a:solidFill>
                <a:srgbClr val="FFFFFF"/>
              </a:solidFill>
              <a:latin typeface="Gill Sans MT"/>
              <a:ea typeface="Calibri"/>
              <a:cs typeface="Calibri"/>
            </a:endParaRPr>
          </a:p>
          <a:p>
            <a:r>
              <a:rPr lang="en-US" sz="16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1. Data classification (95% untagged for AI)</a:t>
            </a:r>
            <a:endParaRPr lang="en-US" sz="1600">
              <a:solidFill>
                <a:schemeClr val="accent2"/>
              </a:solidFill>
              <a:latin typeface="Gill Sans MT"/>
              <a:ea typeface="Calibri"/>
              <a:cs typeface="Calibri"/>
            </a:endParaRPr>
          </a:p>
          <a:p>
            <a:r>
              <a:rPr lang="en-US" sz="16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2. MuleSoft migration (18-month window, pilot blocked)</a:t>
            </a:r>
            <a:endParaRPr lang="en-US" sz="1600">
              <a:solidFill>
                <a:schemeClr val="accent2"/>
              </a:solidFill>
              <a:latin typeface="Gill Sans MT"/>
              <a:ea typeface="Calibri"/>
              <a:cs typeface="Calibri"/>
            </a:endParaRPr>
          </a:p>
          <a:p>
            <a:r>
              <a:rPr lang="en-US" sz="160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3. AI governance operationalization (A1 maturity)</a:t>
            </a:r>
            <a:endParaRPr lang="en-US" sz="1600">
              <a:solidFill>
                <a:schemeClr val="accent2"/>
              </a:solidFill>
              <a:latin typeface="Gill Sans MT"/>
              <a:ea typeface="Calibri"/>
              <a:cs typeface="Calibri"/>
            </a:endParaRPr>
          </a:p>
          <a:p>
            <a:endParaRPr lang="en-US" sz="1600"/>
          </a:p>
          <a:p>
            <a:r>
              <a:rPr lang="en-US" sz="1600">
                <a:latin typeface="Calibri"/>
                <a:ea typeface="Calibri"/>
                <a:cs typeface="Calibri"/>
              </a:rPr>
              <a:t>The "crawl, walk, run" approach enables simultaneous progress: foundation strengthening alongside targeted quick wins in testing, BI optimization, and contact center intelligence.</a:t>
            </a:r>
            <a:endParaRPr lang="en-US" sz="1600">
              <a:latin typeface="Gill Sans MT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487680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867"/>
          </a:p>
        </p:txBody>
      </p:sp>
      <p:sp>
        <p:nvSpPr>
          <p:cNvPr id="8" name="Text 6"/>
          <p:cNvSpPr/>
          <p:nvPr/>
        </p:nvSpPr>
        <p:spPr>
          <a:xfrm>
            <a:off x="853440" y="5364480"/>
            <a:ext cx="975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1.</a:t>
            </a:r>
            <a:r>
              <a:rPr lang="en-US" sz="1450">
                <a:latin typeface="Calibri"/>
                <a:ea typeface="Calibri"/>
                <a:cs typeface="Calibri"/>
              </a:rPr>
              <a:t> Prioritize Phase 2 initiatives jointly (EIS + SFS leadership)</a:t>
            </a:r>
          </a:p>
          <a:p>
            <a:r>
              <a:rPr lang="en-US" sz="1450">
                <a:latin typeface="Calibri"/>
                <a:ea typeface="Calibri"/>
                <a:cs typeface="Calibri"/>
              </a:rPr>
              <a:t>2. Define minimum governance requirements for high-priority AI launches</a:t>
            </a:r>
          </a:p>
          <a:p>
            <a:r>
              <a:rPr lang="en-US" sz="1450">
                <a:latin typeface="Calibri"/>
                <a:ea typeface="Calibri"/>
                <a:cs typeface="Calibri"/>
              </a:rPr>
              <a:t>3. Sequence data classification acceleration with tactical AI implementations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8ADA81B-295F-0705-BC75-568762067D90}"/>
              </a:ext>
            </a:extLst>
          </p:cNvPr>
          <p:cNvSpPr txBox="1">
            <a:spLocks/>
          </p:cNvSpPr>
          <p:nvPr/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7294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ctr"/>
            <a:fld id="{86CB4B4D-7CA3-9044-876B-883B54F8677D}" type="slidenum">
              <a:rPr lang="uk-UA" sz="1000" smtClean="0">
                <a:solidFill>
                  <a:schemeClr val="bg1"/>
                </a:solidFill>
                <a:latin typeface="Aptos" panose="020B0004020202020204" pitchFamily="34" charset="0"/>
              </a:rPr>
              <a:pPr algn="ctr"/>
              <a:t>26</a:t>
            </a:fld>
            <a:endParaRPr lang="uk-UA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e3150ea6-e8ad-4da7-bc74-82486f2509b8&quot;,&quot;Name&quot;:&quot;EIS 2021&quot;,&quot;Kind&quot;:&quot;Custom&quot;,&quot;OldGuidesSetting&quot;:{&quot;HeaderHeight&quot;:10.0,&quot;FooterHeight&quot;:0.0,&quot;SideMargin&quot;:7.0,&quot;TopMargin&quot;:7.0,&quot;BottomMargin&quot;:7.0,&quot;IntervalMargin&quot;:5.0}}"/>
</p:tagLst>
</file>

<file path=ppt/theme/theme1.xml><?xml version="1.0" encoding="utf-8"?>
<a:theme xmlns:a="http://schemas.openxmlformats.org/drawingml/2006/main" name="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BA91877-27AE-499C-BD4A-10224F88736F}" vid="{AD41F37B-6A21-46F3-B80F-180BAC53D4C7}"/>
    </a:ext>
  </a:extLst>
</a:theme>
</file>

<file path=ppt/theme/theme3.xml><?xml version="1.0" encoding="utf-8"?>
<a:theme xmlns:a="http://schemas.openxmlformats.org/drawingml/2006/main" name="7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 xsi:nil="true"/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CA4609-FA67-401A-BEE4-5430357FC2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53D285-6E9B-4CD2-9C3B-7BA2B763F610}">
  <ds:schemaRefs>
    <ds:schemaRef ds:uri="17246cb7-97e8-44c0-90d5-6161e615d350"/>
    <ds:schemaRef ds:uri="1bbba5f1-a15e-48ed-ae4b-bc36e8dd2f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1A673B-B0AC-43F0-AFFB-FD3898D07867}">
  <ds:schemaRefs>
    <ds:schemaRef ds:uri="0eea126e-d378-4180-a2b3-4f5c76938639"/>
    <ds:schemaRef ds:uri="17246cb7-97e8-44c0-90d5-6161e615d350"/>
    <ds:schemaRef ds:uri="1bbba5f1-a15e-48ed-ae4b-bc36e8dd2f5c"/>
    <ds:schemaRef ds:uri="334308b5-d4b6-4ec7-9b27-cbe752524974"/>
    <ds:schemaRef ds:uri="95ad8014-9f7b-4325-a988-cf5c7a4f67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EIS-2022</Template>
  <Application>Microsoft Office PowerPoint</Application>
  <PresentationFormat>Widescreen</PresentationFormat>
  <Slides>26</Slides>
  <Notes>16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EIS-2022</vt:lpstr>
      <vt:lpstr>1_EIS-2022</vt:lpstr>
      <vt:lpstr>7_EIS-2022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Earley Information Science,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the Right Governance Model</dc:title>
  <dc:creator>Carolyn Southwick;Dave Skrobela</dc:creator>
  <cp:keywords>Governance; AI</cp:keywords>
  <dc:description>seth@earley.com</dc:description>
  <cp:revision>1</cp:revision>
  <cp:lastPrinted>2021-06-23T16:48:18Z</cp:lastPrinted>
  <dcterms:created xsi:type="dcterms:W3CDTF">2023-03-22T16:19:54Z</dcterms:created>
  <dcterms:modified xsi:type="dcterms:W3CDTF">2026-03-30T15:00:48Z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0x0101000B97C77CF6C980478CF1A0C7BB3DB346</vt:lpwstr>
  </property>
  <property fmtid="{D5CDD505-2E9C-101B-9397-08002B2CF9AE}" pid="4" name="Technology">
    <vt:lpwstr/>
  </property>
  <property fmtid="{D5CDD505-2E9C-101B-9397-08002B2CF9AE}" pid="5" name="Project_x0020_Document_x0020_Type_x0020_PROPOSED">
    <vt:lpwstr/>
  </property>
  <property fmtid="{D5CDD505-2E9C-101B-9397-08002B2CF9AE}" pid="6" name="AccountName">
    <vt:lpwstr>5;#Stellantis Financial Services|ae495efb-8e65-4cbd-b57d-7d196b299547</vt:lpwstr>
  </property>
  <property fmtid="{D5CDD505-2E9C-101B-9397-08002B2CF9AE}" pid="7" name="Project Document Type PROPOSED">
    <vt:lpwstr/>
  </property>
  <property fmtid="{D5CDD505-2E9C-101B-9397-08002B2CF9AE}" pid="8" name="Industry">
    <vt:lpwstr/>
  </property>
  <property fmtid="{D5CDD505-2E9C-101B-9397-08002B2CF9AE}" pid="9" name="TechnologyProduct">
    <vt:lpwstr/>
  </property>
  <property fmtid="{D5CDD505-2E9C-101B-9397-08002B2CF9AE}" pid="10" name="Competency">
    <vt:lpwstr>6;#information architecture|0c69daec-fbc4-45c7-ab9c-bd21b0f93d0b</vt:lpwstr>
  </property>
  <property fmtid="{D5CDD505-2E9C-101B-9397-08002B2CF9AE}" pid="11" name="MSIP_Label_791df23e-ee3d-4e72-bd33-1d096ae15290_Enabled">
    <vt:lpwstr>true</vt:lpwstr>
  </property>
  <property fmtid="{D5CDD505-2E9C-101B-9397-08002B2CF9AE}" pid="12" name="MSIP_Label_791df23e-ee3d-4e72-bd33-1d096ae15290_SetDate">
    <vt:lpwstr>2026-03-30T15:00:44Z</vt:lpwstr>
  </property>
  <property fmtid="{D5CDD505-2E9C-101B-9397-08002B2CF9AE}" pid="13" name="MSIP_Label_791df23e-ee3d-4e72-bd33-1d096ae15290_Method">
    <vt:lpwstr>Standard</vt:lpwstr>
  </property>
  <property fmtid="{D5CDD505-2E9C-101B-9397-08002B2CF9AE}" pid="14" name="MSIP_Label_791df23e-ee3d-4e72-bd33-1d096ae15290_Name">
    <vt:lpwstr>General</vt:lpwstr>
  </property>
  <property fmtid="{D5CDD505-2E9C-101B-9397-08002B2CF9AE}" pid="15" name="MSIP_Label_791df23e-ee3d-4e72-bd33-1d096ae15290_SiteId">
    <vt:lpwstr>aea87219-080c-4106-b601-bed93d828f3c</vt:lpwstr>
  </property>
  <property fmtid="{D5CDD505-2E9C-101B-9397-08002B2CF9AE}" pid="16" name="MSIP_Label_791df23e-ee3d-4e72-bd33-1d096ae15290_ActionId">
    <vt:lpwstr>d9c49e86-3efe-4d02-bb62-bfc082137bcb</vt:lpwstr>
  </property>
  <property fmtid="{D5CDD505-2E9C-101B-9397-08002B2CF9AE}" pid="17" name="MSIP_Label_791df23e-ee3d-4e72-bd33-1d096ae15290_ContentBits">
    <vt:lpwstr>0</vt:lpwstr>
  </property>
  <property fmtid="{D5CDD505-2E9C-101B-9397-08002B2CF9AE}" pid="18" name="MSIP_Label_791df23e-ee3d-4e72-bd33-1d096ae15290_Tag">
    <vt:lpwstr>10, 3, 0, 2</vt:lpwstr>
  </property>
</Properties>
</file>