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4"/>
    <p:sldMasterId id="2147485620" r:id="rId5"/>
  </p:sldMasterIdLst>
  <p:notesMasterIdLst>
    <p:notesMasterId r:id="rId11"/>
  </p:notesMasterIdLst>
  <p:sldIdLst>
    <p:sldId id="2147376078" r:id="rId6"/>
    <p:sldId id="2147376092" r:id="rId7"/>
    <p:sldId id="2147376088" r:id="rId8"/>
    <p:sldId id="2147376089" r:id="rId9"/>
    <p:sldId id="2147376090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C"/>
    <a:srgbClr val="0D144A"/>
    <a:srgbClr val="0A0A40"/>
    <a:srgbClr val="094978"/>
    <a:srgbClr val="0E1548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5" d="100"/>
          <a:sy n="145" d="100"/>
        </p:scale>
        <p:origin x="108" y="208"/>
      </p:cViewPr>
      <p:guideLst>
        <p:guide orient="horz" pos="36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 Chopra" userId="S::vikas.chopra@stellantis-fs.com::4a433382-3df7-4488-add7-4a0a135b19aa" providerId="AD" clId="Web-{E1D5EC89-5FFA-3843-C3E4-E86B0711113B}"/>
    <pc:docChg chg="mod">
      <pc:chgData name="Vik Chopra" userId="S::vikas.chopra@stellantis-fs.com::4a433382-3df7-4488-add7-4a0a135b19aa" providerId="AD" clId="Web-{E1D5EC89-5FFA-3843-C3E4-E86B0711113B}" dt="2026-04-08T14:42:48.024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370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1.1.1 Fabric and Azure AI Analysis</a:t>
            </a:r>
            <a:endParaRPr lang="en-US" sz="1800" dirty="0">
              <a:solidFill>
                <a:srgbClr val="052841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1800" dirty="0">
                <a:solidFill>
                  <a:srgbClr val="052841"/>
                </a:solidFill>
                <a:latin typeface="Aptos" panose="020B0004020202020204" pitchFamily="34" charset="0"/>
                <a:ea typeface="Calibri"/>
                <a:cs typeface="Calibri"/>
              </a:rPr>
              <a:t>Current user mapping, pain points, and platform-specific opportunities across Fabric-native capabilities, Purview governance, and Azure AI services.</a:t>
            </a:r>
          </a:p>
          <a:p>
            <a:endParaRPr lang="en-US" sz="1750" b="1" dirty="0">
              <a:solidFill>
                <a:srgbClr val="0070C0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1.1.2</a:t>
            </a:r>
            <a:r>
              <a:rPr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Technology Stack Evaluation</a:t>
            </a:r>
            <a:endParaRPr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1.1.3</a:t>
            </a:r>
            <a:r>
              <a:rPr sz="1750" b="1" dirty="0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Platform Access Gap Analysis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dirty="0">
                <a:latin typeface="Aptos" panose="020B0004020202020204" pitchFamily="34" charset="0"/>
              </a:rPr>
              <a:t>high-value opportunities, and implementation </a:t>
            </a:r>
            <a:r>
              <a:rPr lang="en-US" dirty="0">
                <a:latin typeface="Aptos" panose="020B0004020202020204" pitchFamily="34" charset="0"/>
              </a:rPr>
              <a:t>opportunities</a:t>
            </a:r>
            <a:r>
              <a:rPr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for</a:t>
            </a:r>
            <a:r>
              <a:rPr dirty="0">
                <a:latin typeface="Aptos" panose="020B0004020202020204" pitchFamily="34" charset="0"/>
              </a:rPr>
              <a:t> 2026-2027.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3515-C0CC-432F-A1F0-09E0FB69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966D-4257-79CA-8BC6-D07DE06A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939C-0119-3511-7565-596B0D53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1.1.1 Fabric and Azure AI Analysis</a:t>
            </a:r>
          </a:p>
          <a:p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Current user mapping, pain points, and platform-specific opportunities across Fabric-native capabilities, Purview governance, and Azure AI services.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1.1.2</a:t>
            </a: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 Technology Stack Evaluation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1.1.3</a:t>
            </a:r>
            <a:r>
              <a:rPr b="1" dirty="0">
                <a:solidFill>
                  <a:schemeClr val="accent2"/>
                </a:solidFill>
                <a:latin typeface="Aptos" panose="020B0004020202020204" pitchFamily="34" charset="0"/>
              </a:rPr>
              <a:t> Platform Access Gap Analysis</a:t>
            </a:r>
          </a:p>
          <a:p>
            <a:pPr marL="0" indent="0">
              <a:buNone/>
            </a:pP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, 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high-value opportunities, and implementation 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opportunities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for</a:t>
            </a:r>
            <a:r>
              <a:rPr dirty="0">
                <a:solidFill>
                  <a:schemeClr val="accent2"/>
                </a:solidFill>
                <a:latin typeface="Aptos" panose="020B0004020202020204" pitchFamily="34" charset="0"/>
              </a:rPr>
              <a:t> 2026-2027.</a:t>
            </a:r>
            <a:endParaRPr lang="en-US" dirty="0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D5B4F-4539-2A81-CAC5-7044F8F3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2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1.1.2</a:t>
            </a:r>
            <a:r>
              <a:rPr dirty="0">
                <a:latin typeface="Aptos" panose="020B0004020202020204" pitchFamily="34" charset="0"/>
              </a:rPr>
              <a:t> Technology Stack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Scope &amp; Methodology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Assessment of 25+ platforms based on stakeholder interviews, documentation review, and platform analysis. Evaluated current state, fit-for-purpose, challenges, and underutilized AI capabilities.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Core Platforms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Salesforce Ecosystem (Service Cloud, Automotive Cloud, Marketing Cloud, Data Cloud)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Genesys Cloud (Voice, IVR, Omnichannel, WFM)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Microsoft Fabric (EDW, Lakehouse, Data Lake)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MuleSoft → Azure APIM (65 APIs in migration)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Operational &amp; Specialized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DeFi Solutions, Shaw, Observe AI, Okta, Snowflake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Legacy &amp; Transitioning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SSIS (600+ packages), SAS (50+ licenses), Tableau → Power BI, SSRS, SharePoint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AI &amp; Emerging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Copilot Studio (pilot), GitHub Copilot (not approved), FICO Decision Engine (Q1 2026)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5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Key Issues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Platform Duplication &amp; Fragmentation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Observe AI vs. Genesys AI for transcription/coaching. Salesforce vs. Genesys for case management. Tableau vs. Power BI running in parallel.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Unused Licensed Capabilities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Genesys AI tokens expiring monthly unused. Salesforce Einstein awaiting approval. Fabric AI Foundry shut down pending governance.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Unauthorized AI Usage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Security scans found 281 ChatGPT users and 111 Gemini users—tools not officially sanctioned. Indicates demand outpacing governance.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Cost Visibility &amp; Allocation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All Salesforce costs roll to single org—no business unit allocation. API costs less clear in Azure APIM vs. MuleSoft. Fast growth makes projection difficult.</a:t>
            </a:r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Data Governance Gap</a:t>
            </a:r>
          </a:p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95% of data not tagged for AI use (no PII/sensitivity classification). Blocks legitimate AI applications requiring governed data access.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HIGH Priority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Establish Genesys vs. Salesforce AI decision framework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Activate purchased Genesys AI capabilities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Resolve Observe AI vs. Genesys strategic conflict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Implement data classification for AI enablement</a:t>
            </a:r>
          </a:p>
          <a:p>
            <a:pPr marL="365760" indent="-182880" algn="l">
              <a:buChar char="•"/>
            </a:pPr>
            <a:r>
              <a:rPr lang="en-US" dirty="0">
                <a:latin typeface="Aptos" panose="020B0004020202020204" pitchFamily="34" charset="0"/>
              </a:rPr>
              <a:t>Establish AI tool governance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  <a:latin typeface="Aptos" panose="020B0004020202020204" pitchFamily="34" charset="0"/>
              </a:rPr>
              <a:t>MEDIUM Priority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Accelerate SSIS modernization with AI assistance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Implement cost tracking for AI consumption</a:t>
            </a:r>
          </a:p>
          <a:p>
            <a:pPr marL="365760" indent="-182880" algn="l">
              <a:buChar char="•"/>
            </a:pPr>
            <a:r>
              <a:rPr dirty="0">
                <a:latin typeface="Aptos" panose="020B0004020202020204" pitchFamily="34" charset="0"/>
              </a:rPr>
              <a:t>Complete Einstein evaluation post-case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AF6CF4-5150-4A50-A512-275B70C131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46cb7-97e8-44c0-90d5-6161e615d350"/>
    <ds:schemaRef ds:uri="1bbba5f1-a15e-48ed-ae4b-bc36e8dd2f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DF8674-582C-48CF-9D1C-72280677BFE9}">
  <ds:schemaRefs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purl.org/dc/dcmitype/"/>
    <ds:schemaRef ds:uri="0eea126e-d378-4180-a2b3-4f5c76938639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1bbba5f1-a15e-48ed-ae4b-bc36e8dd2f5c"/>
    <ds:schemaRef ds:uri="17246cb7-97e8-44c0-90d5-6161e615d3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TotalTime>113</TotalTime>
  <Words>2853</Words>
  <Application>Microsoft Office PowerPoint</Application>
  <PresentationFormat>Widescreen</PresentationFormat>
  <Paragraphs>330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EIS_Delivery</vt:lpstr>
      <vt:lpstr>1_EIS-2022</vt:lpstr>
      <vt:lpstr>Current State Analysis</vt:lpstr>
      <vt:lpstr>Current State Analysis</vt:lpstr>
      <vt:lpstr>1.1.2 Technology Stack Evaluation</vt:lpstr>
      <vt:lpstr>Key Issues Identified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lastModifiedBy>Thomas Blumer</cp:lastModifiedBy>
  <cp:revision>34</cp:revision>
  <cp:lastPrinted>2025-10-23T18:20:35Z</cp:lastPrinted>
  <dcterms:created xsi:type="dcterms:W3CDTF">2025-09-02T21:00:23Z</dcterms:created>
  <dcterms:modified xsi:type="dcterms:W3CDTF">2026-04-08T14:42:52Z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  <property fmtid="{D5CDD505-2E9C-101B-9397-08002B2CF9AE}" pid="12" name="MSIP_Label_791df23e-ee3d-4e72-bd33-1d096ae15290_Enabled">
    <vt:lpwstr>true</vt:lpwstr>
  </property>
  <property fmtid="{D5CDD505-2E9C-101B-9397-08002B2CF9AE}" pid="13" name="MSIP_Label_791df23e-ee3d-4e72-bd33-1d096ae15290_SetDate">
    <vt:lpwstr>2026-04-08T14:42:48Z</vt:lpwstr>
  </property>
  <property fmtid="{D5CDD505-2E9C-101B-9397-08002B2CF9AE}" pid="14" name="MSIP_Label_791df23e-ee3d-4e72-bd33-1d096ae15290_Method">
    <vt:lpwstr>Standard</vt:lpwstr>
  </property>
  <property fmtid="{D5CDD505-2E9C-101B-9397-08002B2CF9AE}" pid="15" name="MSIP_Label_791df23e-ee3d-4e72-bd33-1d096ae15290_Name">
    <vt:lpwstr>General</vt:lpwstr>
  </property>
  <property fmtid="{D5CDD505-2E9C-101B-9397-08002B2CF9AE}" pid="16" name="MSIP_Label_791df23e-ee3d-4e72-bd33-1d096ae15290_SiteId">
    <vt:lpwstr>aea87219-080c-4106-b601-bed93d828f3c</vt:lpwstr>
  </property>
  <property fmtid="{D5CDD505-2E9C-101B-9397-08002B2CF9AE}" pid="17" name="MSIP_Label_791df23e-ee3d-4e72-bd33-1d096ae15290_ActionId">
    <vt:lpwstr>91c6303d-53ef-4a74-bc22-b09d6aebb71b</vt:lpwstr>
  </property>
  <property fmtid="{D5CDD505-2E9C-101B-9397-08002B2CF9AE}" pid="18" name="MSIP_Label_791df23e-ee3d-4e72-bd33-1d096ae15290_ContentBits">
    <vt:lpwstr>0</vt:lpwstr>
  </property>
  <property fmtid="{D5CDD505-2E9C-101B-9397-08002B2CF9AE}" pid="19" name="MSIP_Label_791df23e-ee3d-4e72-bd33-1d096ae15290_Tag">
    <vt:lpwstr>10, 3, 0, 2</vt:lpwstr>
  </property>
</Properties>
</file>