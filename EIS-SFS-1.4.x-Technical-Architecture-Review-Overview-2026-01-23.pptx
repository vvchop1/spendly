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5604" r:id="rId5"/>
    <p:sldMasterId id="2147485620" r:id="rId6"/>
  </p:sldMasterIdLst>
  <p:notesMasterIdLst>
    <p:notesMasterId r:id="rId16"/>
  </p:notesMasterIdLst>
  <p:sldIdLst>
    <p:sldId id="2147376105" r:id="rId7"/>
    <p:sldId id="2147376109" r:id="rId8"/>
    <p:sldId id="2147376110" r:id="rId9"/>
    <p:sldId id="2147376111" r:id="rId10"/>
    <p:sldId id="2147376112" r:id="rId11"/>
    <p:sldId id="2147376113" r:id="rId12"/>
    <p:sldId id="2147376107" r:id="rId13"/>
    <p:sldId id="2147376106" r:id="rId14"/>
    <p:sldId id="2147376108" r:id="rId15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72941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>
        <p15:guide id="1" orient="horz" pos="3696" userDrawn="1">
          <p15:clr>
            <a:srgbClr val="A4A3A4"/>
          </p15:clr>
        </p15:guide>
        <p15:guide id="2" pos="336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18FC50A-AB9F-7234-B831-A22CAAF7FB1E}" name="Ryan Pollack" initials="RP" userId="S::Ryan.Pollack@earley.com::f1080a3a-0fd5-41dd-a2ea-e78fa042f420" providerId="AD"/>
  <p188:author id="{56AC8A0F-D8C2-3D3E-4453-536261358B92}" name="Heather Eisenbraun" initials="HE" userId="S::Heather.Eisenbraun@earley.com::af8590ba-9108-4f55-8849-6d71c7b93ad1" providerId="AD"/>
  <p188:author id="{3B254925-EFC4-6BAD-30B8-6E024CB901BA}" name="Thomas Blumer" initials="TB" userId="S::Thomas.Blumer@earley.com::2c1d0262-690f-4609-bdfe-5ec3ce19bfeb" providerId="AD"/>
  <p188:author id="{00354340-13C1-9EB2-C01C-898E8A338B81}" name="Phil Ryan" initials="PR" userId="S::phil.ryan@earley.com::ec85e699-70e1-412a-ae5d-8b8689f57052" providerId="AD"/>
  <p188:author id="{9D463565-7999-E145-D807-F42E133AFA78}" name="Dave Skrobela" initials="DS" userId="S::Dave.Skrobela@earley.com::1a80532f-18b2-46d0-aa4f-ac04a10667d8" providerId="AD"/>
  <p188:author id="{B70B6884-82CA-26DC-657A-4C24E4D1E827}" name="Seth Earley" initials="" userId="S::Seth@earley.com::628be45f-8d1c-4a33-a8fa-c54e490afe68" providerId="AD"/>
  <p188:author id="{05CA0390-8346-199C-7B17-66418A0FED88}" name="Dave Skrobela" initials="DS" userId="S::dave.skrobela@earley.com::1a80532f-18b2-46d0-aa4f-ac04a10667d8" providerId="AD"/>
  <p188:author id="{FA6691BE-E185-20AF-21EC-A75E6A300ECE}" name="Heather Eisenbraun" initials="HE" userId="S::heather.eisenbraun@earley.com::af8590ba-9108-4f55-8849-6d71c7b93ad1" providerId="AD"/>
  <p188:author id="{09624CC8-35F3-5157-E097-7EAF13479239}" name="Ryan Pollack" initials="RP" userId="S::ryan.pollack@earley.com::f1080a3a-0fd5-41dd-a2ea-e78fa042f420" providerId="AD"/>
  <p188:author id="{4AE393E0-E885-47E0-ECDE-670D4F81BA25}" name="Jordan Cassel" initials="JC" userId="S::jordan.cassel@earley.com::cb5af049-45c7-4d1e-8514-8ed5eeea3222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E9EC"/>
    <a:srgbClr val="0D144A"/>
    <a:srgbClr val="0A0A40"/>
    <a:srgbClr val="094978"/>
    <a:srgbClr val="0E1548"/>
    <a:srgbClr val="0F151B"/>
    <a:srgbClr val="F4F7FA"/>
    <a:srgbClr val="8CA5CC"/>
    <a:srgbClr val="839EBA"/>
    <a:srgbClr val="01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D98FBF-1AE1-0E77-EE5B-9CD19449AF0D}" v="13" dt="2026-02-23T21:49:47.99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3696"/>
        <p:guide pos="336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6/11/relationships/changesInfo" Target="changesInfos/changesInfo1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5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9.xml"/><Relationship Id="rId23" Type="http://schemas.microsoft.com/office/2018/10/relationships/authors" Target="authors.xml"/><Relationship Id="rId10" Type="http://schemas.openxmlformats.org/officeDocument/2006/relationships/slide" Target="slides/slide4.xml"/><Relationship Id="rId19" Type="http://schemas.openxmlformats.org/officeDocument/2006/relationships/theme" Target="theme/theme1.xml"/><Relationship Id="rId22" Type="http://schemas.microsoft.com/office/2015/10/relationships/revisionInfo" Target="revisionInfo.xml"/><Relationship Id="rId9" Type="http://schemas.openxmlformats.org/officeDocument/2006/relationships/slide" Target="slides/slide3.xml"/><Relationship Id="rId14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homas Blumer" userId="S::thomas.blumer@earley.com::2c1d0262-690f-4609-bdfe-5ec3ce19bfeb" providerId="AD" clId="Web-{BCD98FBF-1AE1-0E77-EE5B-9CD19449AF0D}"/>
    <pc:docChg chg="delSld">
      <pc:chgData name="Thomas Blumer" userId="S::thomas.blumer@earley.com::2c1d0262-690f-4609-bdfe-5ec3ce19bfeb" providerId="AD" clId="Web-{BCD98FBF-1AE1-0E77-EE5B-9CD19449AF0D}" dt="2026-02-23T21:49:47.999" v="12"/>
      <pc:docMkLst>
        <pc:docMk/>
      </pc:docMkLst>
      <pc:sldChg chg="del">
        <pc:chgData name="Thomas Blumer" userId="S::thomas.blumer@earley.com::2c1d0262-690f-4609-bdfe-5ec3ce19bfeb" providerId="AD" clId="Web-{BCD98FBF-1AE1-0E77-EE5B-9CD19449AF0D}" dt="2026-02-23T21:49:47.999" v="12"/>
        <pc:sldMkLst>
          <pc:docMk/>
          <pc:sldMk cId="338789864" sldId="2147376078"/>
        </pc:sldMkLst>
      </pc:sldChg>
      <pc:sldChg chg="del">
        <pc:chgData name="Thomas Blumer" userId="S::thomas.blumer@earley.com::2c1d0262-690f-4609-bdfe-5ec3ce19bfeb" providerId="AD" clId="Web-{BCD98FBF-1AE1-0E77-EE5B-9CD19449AF0D}" dt="2026-02-23T21:49:47.999" v="6"/>
        <pc:sldMkLst>
          <pc:docMk/>
          <pc:sldMk cId="3732456645" sldId="2147376088"/>
        </pc:sldMkLst>
      </pc:sldChg>
      <pc:sldChg chg="del">
        <pc:chgData name="Thomas Blumer" userId="S::thomas.blumer@earley.com::2c1d0262-690f-4609-bdfe-5ec3ce19bfeb" providerId="AD" clId="Web-{BCD98FBF-1AE1-0E77-EE5B-9CD19449AF0D}" dt="2026-02-23T21:49:47.999" v="5"/>
        <pc:sldMkLst>
          <pc:docMk/>
          <pc:sldMk cId="0" sldId="2147376089"/>
        </pc:sldMkLst>
      </pc:sldChg>
      <pc:sldChg chg="del">
        <pc:chgData name="Thomas Blumer" userId="S::thomas.blumer@earley.com::2c1d0262-690f-4609-bdfe-5ec3ce19bfeb" providerId="AD" clId="Web-{BCD98FBF-1AE1-0E77-EE5B-9CD19449AF0D}" dt="2026-02-23T21:49:47.999" v="4"/>
        <pc:sldMkLst>
          <pc:docMk/>
          <pc:sldMk cId="0" sldId="2147376090"/>
        </pc:sldMkLst>
      </pc:sldChg>
      <pc:sldChg chg="del">
        <pc:chgData name="Thomas Blumer" userId="S::thomas.blumer@earley.com::2c1d0262-690f-4609-bdfe-5ec3ce19bfeb" providerId="AD" clId="Web-{BCD98FBF-1AE1-0E77-EE5B-9CD19449AF0D}" dt="2026-02-23T21:49:47.983" v="3"/>
        <pc:sldMkLst>
          <pc:docMk/>
          <pc:sldMk cId="1139538183" sldId="2147376091"/>
        </pc:sldMkLst>
      </pc:sldChg>
      <pc:sldChg chg="del">
        <pc:chgData name="Thomas Blumer" userId="S::thomas.blumer@earley.com::2c1d0262-690f-4609-bdfe-5ec3ce19bfeb" providerId="AD" clId="Web-{BCD98FBF-1AE1-0E77-EE5B-9CD19449AF0D}" dt="2026-02-23T21:49:47.999" v="7"/>
        <pc:sldMkLst>
          <pc:docMk/>
          <pc:sldMk cId="1494825061" sldId="2147376092"/>
        </pc:sldMkLst>
      </pc:sldChg>
      <pc:sldChg chg="del">
        <pc:chgData name="Thomas Blumer" userId="S::thomas.blumer@earley.com::2c1d0262-690f-4609-bdfe-5ec3ce19bfeb" providerId="AD" clId="Web-{BCD98FBF-1AE1-0E77-EE5B-9CD19449AF0D}" dt="2026-02-23T21:49:47.999" v="10"/>
        <pc:sldMkLst>
          <pc:docMk/>
          <pc:sldMk cId="1703713080" sldId="2147376093"/>
        </pc:sldMkLst>
      </pc:sldChg>
      <pc:sldChg chg="del">
        <pc:chgData name="Thomas Blumer" userId="S::thomas.blumer@earley.com::2c1d0262-690f-4609-bdfe-5ec3ce19bfeb" providerId="AD" clId="Web-{BCD98FBF-1AE1-0E77-EE5B-9CD19449AF0D}" dt="2026-02-23T21:49:47.999" v="9"/>
        <pc:sldMkLst>
          <pc:docMk/>
          <pc:sldMk cId="0" sldId="2147376094"/>
        </pc:sldMkLst>
      </pc:sldChg>
      <pc:sldChg chg="del">
        <pc:chgData name="Thomas Blumer" userId="S::thomas.blumer@earley.com::2c1d0262-690f-4609-bdfe-5ec3ce19bfeb" providerId="AD" clId="Web-{BCD98FBF-1AE1-0E77-EE5B-9CD19449AF0D}" dt="2026-02-23T21:49:47.999" v="8"/>
        <pc:sldMkLst>
          <pc:docMk/>
          <pc:sldMk cId="0" sldId="2147376095"/>
        </pc:sldMkLst>
      </pc:sldChg>
      <pc:sldChg chg="del">
        <pc:chgData name="Thomas Blumer" userId="S::thomas.blumer@earley.com::2c1d0262-690f-4609-bdfe-5ec3ce19bfeb" providerId="AD" clId="Web-{BCD98FBF-1AE1-0E77-EE5B-9CD19449AF0D}" dt="2026-02-23T21:49:47.999" v="11"/>
        <pc:sldMkLst>
          <pc:docMk/>
          <pc:sldMk cId="2354621495" sldId="2147376096"/>
        </pc:sldMkLst>
      </pc:sldChg>
      <pc:sldChg chg="del">
        <pc:chgData name="Thomas Blumer" userId="S::thomas.blumer@earley.com::2c1d0262-690f-4609-bdfe-5ec3ce19bfeb" providerId="AD" clId="Web-{BCD98FBF-1AE1-0E77-EE5B-9CD19449AF0D}" dt="2026-02-23T21:49:47.983" v="2"/>
        <pc:sldMkLst>
          <pc:docMk/>
          <pc:sldMk cId="3873408405" sldId="2147376097"/>
        </pc:sldMkLst>
      </pc:sldChg>
      <pc:sldChg chg="del">
        <pc:chgData name="Thomas Blumer" userId="S::thomas.blumer@earley.com::2c1d0262-690f-4609-bdfe-5ec3ce19bfeb" providerId="AD" clId="Web-{BCD98FBF-1AE1-0E77-EE5B-9CD19449AF0D}" dt="2026-02-23T21:49:47.983" v="1"/>
        <pc:sldMkLst>
          <pc:docMk/>
          <pc:sldMk cId="0" sldId="2147376098"/>
        </pc:sldMkLst>
      </pc:sldChg>
      <pc:sldChg chg="del">
        <pc:chgData name="Thomas Blumer" userId="S::thomas.blumer@earley.com::2c1d0262-690f-4609-bdfe-5ec3ce19bfeb" providerId="AD" clId="Web-{BCD98FBF-1AE1-0E77-EE5B-9CD19449AF0D}" dt="2026-02-23T21:49:47.983" v="0"/>
        <pc:sldMkLst>
          <pc:docMk/>
          <pc:sldMk cId="0" sldId="214737609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A9AA15-6E54-4D68-9055-5935DB952ACB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9DFBADD-43F2-4F28-AC53-B30F76A30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1986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asic Title &amp;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76752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E5D1925-F01A-4F90-AEA9-FC48E34A04F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8123" y="1247615"/>
            <a:ext cx="11136773" cy="47783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18F8C80-8A26-4ED2-8B9A-E24D5274526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AC91855-D87F-47DB-AAE4-308F916E4DE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517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76816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868196" y="1239008"/>
            <a:ext cx="5018129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6283015" y="1241146"/>
            <a:ext cx="5061809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8C05F4-9E01-44B6-B564-DFBA30768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4447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85361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609599" y="3273355"/>
            <a:ext cx="3203737" cy="274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Shape 8"/>
          <p:cNvSpPr>
            <a:spLocks noGrp="1"/>
          </p:cNvSpPr>
          <p:nvPr>
            <p:ph idx="10"/>
          </p:nvPr>
        </p:nvSpPr>
        <p:spPr>
          <a:xfrm>
            <a:off x="4494133" y="3273355"/>
            <a:ext cx="3203737" cy="274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Shape 8"/>
          <p:cNvSpPr>
            <a:spLocks noGrp="1"/>
          </p:cNvSpPr>
          <p:nvPr>
            <p:ph idx="11"/>
          </p:nvPr>
        </p:nvSpPr>
        <p:spPr>
          <a:xfrm>
            <a:off x="8378664" y="3273355"/>
            <a:ext cx="3203737" cy="27412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2"/>
          </p:nvPr>
        </p:nvSpPr>
        <p:spPr>
          <a:xfrm>
            <a:off x="609599" y="1257760"/>
            <a:ext cx="3203737" cy="1846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9" name="Picture Placeholder 6"/>
          <p:cNvSpPr>
            <a:spLocks noGrp="1"/>
          </p:cNvSpPr>
          <p:nvPr>
            <p:ph type="pic" sz="quarter" idx="13"/>
          </p:nvPr>
        </p:nvSpPr>
        <p:spPr>
          <a:xfrm>
            <a:off x="4494133" y="1257760"/>
            <a:ext cx="3203737" cy="1846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0" name="Picture Placeholder 6"/>
          <p:cNvSpPr>
            <a:spLocks noGrp="1"/>
          </p:cNvSpPr>
          <p:nvPr>
            <p:ph type="pic" sz="quarter" idx="14"/>
          </p:nvPr>
        </p:nvSpPr>
        <p:spPr>
          <a:xfrm>
            <a:off x="8378664" y="1257760"/>
            <a:ext cx="3203737" cy="1846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993ABF0-0745-4718-ADBF-6ABFF935AD54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591920" y="6448314"/>
            <a:ext cx="503416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2213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ndard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7"/>
          <p:cNvSpPr>
            <a:spLocks noGrp="1"/>
          </p:cNvSpPr>
          <p:nvPr>
            <p:ph type="title"/>
          </p:nvPr>
        </p:nvSpPr>
        <p:spPr>
          <a:xfrm>
            <a:off x="466333" y="281941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b="1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Shape 8"/>
          <p:cNvSpPr>
            <a:spLocks noGrp="1"/>
          </p:cNvSpPr>
          <p:nvPr>
            <p:ph idx="1"/>
          </p:nvPr>
        </p:nvSpPr>
        <p:spPr>
          <a:xfrm>
            <a:off x="538123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Shape 8"/>
          <p:cNvSpPr>
            <a:spLocks noGrp="1"/>
          </p:cNvSpPr>
          <p:nvPr>
            <p:ph idx="10"/>
          </p:nvPr>
        </p:nvSpPr>
        <p:spPr>
          <a:xfrm>
            <a:off x="3398750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Shape 8"/>
          <p:cNvSpPr>
            <a:spLocks noGrp="1"/>
          </p:cNvSpPr>
          <p:nvPr>
            <p:ph idx="11"/>
          </p:nvPr>
        </p:nvSpPr>
        <p:spPr>
          <a:xfrm>
            <a:off x="6247576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Shape 8"/>
          <p:cNvSpPr>
            <a:spLocks noGrp="1"/>
          </p:cNvSpPr>
          <p:nvPr>
            <p:ph idx="12"/>
          </p:nvPr>
        </p:nvSpPr>
        <p:spPr>
          <a:xfrm>
            <a:off x="9096402" y="2794610"/>
            <a:ext cx="2562990" cy="3289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596"/>
            </a:lvl1pPr>
            <a:lvl2pPr>
              <a:defRPr sz="1596"/>
            </a:lvl2pPr>
            <a:lvl3pPr>
              <a:defRPr sz="1596"/>
            </a:lvl3pPr>
            <a:lvl4pPr>
              <a:defRPr sz="1596"/>
            </a:lvl4pPr>
            <a:lvl5pPr>
              <a:defRPr sz="15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/>
          </p:nvPr>
        </p:nvSpPr>
        <p:spPr>
          <a:xfrm>
            <a:off x="538760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2" name="Picture Placeholder 9"/>
          <p:cNvSpPr>
            <a:spLocks noGrp="1"/>
          </p:cNvSpPr>
          <p:nvPr>
            <p:ph type="pic" sz="quarter" idx="14"/>
          </p:nvPr>
        </p:nvSpPr>
        <p:spPr>
          <a:xfrm>
            <a:off x="3398751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Picture Placeholder 9"/>
          <p:cNvSpPr>
            <a:spLocks noGrp="1"/>
          </p:cNvSpPr>
          <p:nvPr>
            <p:ph type="pic" sz="quarter" idx="15"/>
          </p:nvPr>
        </p:nvSpPr>
        <p:spPr>
          <a:xfrm>
            <a:off x="6248847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4" name="Picture Placeholder 9"/>
          <p:cNvSpPr>
            <a:spLocks noGrp="1"/>
          </p:cNvSpPr>
          <p:nvPr>
            <p:ph type="pic" sz="quarter" idx="16"/>
          </p:nvPr>
        </p:nvSpPr>
        <p:spPr>
          <a:xfrm>
            <a:off x="9096403" y="1241143"/>
            <a:ext cx="2561718" cy="1338262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108EB-7AE9-4A88-8140-8EF5047936B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4741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424D0-56B3-2443-8CF1-904F331A1CDA}"/>
              </a:ext>
            </a:extLst>
          </p:cNvPr>
          <p:cNvSpPr/>
          <p:nvPr/>
        </p:nvSpPr>
        <p:spPr>
          <a:xfrm>
            <a:off x="-31032" y="3052947"/>
            <a:ext cx="12223033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925E9B3-EE83-0644-8A0F-D702C3199662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1033" y="14747"/>
            <a:ext cx="6132868" cy="6858000"/>
          </a:xfrm>
          <a:prstGeom prst="rect">
            <a:avLst/>
          </a:prstGeom>
        </p:spPr>
      </p:pic>
      <p:sp>
        <p:nvSpPr>
          <p:cNvPr id="10" name="Shape 8">
            <a:extLst>
              <a:ext uri="{FF2B5EF4-FFF2-40B4-BE49-F238E27FC236}">
                <a16:creationId xmlns:a16="http://schemas.microsoft.com/office/drawing/2014/main" id="{F150CF6B-1388-9344-B77C-C085D836C28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532630" y="2243470"/>
            <a:ext cx="5068943" cy="4082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C22EDC-0F39-FE44-A71D-76BFD2F20E0F}"/>
              </a:ext>
            </a:extLst>
          </p:cNvPr>
          <p:cNvSpPr>
            <a:spLocks/>
          </p:cNvSpPr>
          <p:nvPr/>
        </p:nvSpPr>
        <p:spPr>
          <a:xfrm rot="10800000">
            <a:off x="590428" y="14746"/>
            <a:ext cx="5505572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918532" y="1162050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539" y="1462546"/>
            <a:ext cx="4800949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540" y="583773"/>
            <a:ext cx="4800949" cy="447586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SECTION TITLE CHANGE</a:t>
            </a:r>
          </a:p>
        </p:txBody>
      </p:sp>
      <p:pic>
        <p:nvPicPr>
          <p:cNvPr id="13" name="image1.png">
            <a:extLst>
              <a:ext uri="{FF2B5EF4-FFF2-40B4-BE49-F238E27FC236}">
                <a16:creationId xmlns:a16="http://schemas.microsoft.com/office/drawing/2014/main" id="{B23B9895-056B-D545-B7A2-818AE6726A7C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4E9CB18-23CA-834A-930A-E74144ECBA94}"/>
              </a:ext>
            </a:extLst>
          </p:cNvPr>
          <p:cNvSpPr txBox="1"/>
          <p:nvPr/>
        </p:nvSpPr>
        <p:spPr>
          <a:xfrm>
            <a:off x="609602" y="6507767"/>
            <a:ext cx="976506" cy="2459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671" tIns="45671" rIns="45671" bIns="45671" numCol="1" spcCol="38100" rtlCol="0" anchor="t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99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Calibri"/>
              </a:rPr>
              <a:t>www.earley.com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840135C-E513-4757-B7B4-8D9AA58F79F7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413C58AE-F8A0-4EA0-82D5-15D01715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630" y="1427983"/>
            <a:ext cx="5068943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398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20403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- 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424D0-56B3-2443-8CF1-904F331A1CDA}"/>
              </a:ext>
            </a:extLst>
          </p:cNvPr>
          <p:cNvSpPr/>
          <p:nvPr/>
        </p:nvSpPr>
        <p:spPr>
          <a:xfrm>
            <a:off x="-31032" y="3052947"/>
            <a:ext cx="12223033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10CADAF-6331-4204-8876-D79562F3CE17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36869" y="0"/>
            <a:ext cx="6132868" cy="6858000"/>
          </a:xfrm>
          <a:prstGeom prst="rect">
            <a:avLst/>
          </a:prstGeom>
        </p:spPr>
      </p:pic>
      <p:sp>
        <p:nvSpPr>
          <p:cNvPr id="12" name="Shape 8">
            <a:extLst>
              <a:ext uri="{FF2B5EF4-FFF2-40B4-BE49-F238E27FC236}">
                <a16:creationId xmlns:a16="http://schemas.microsoft.com/office/drawing/2014/main" id="{A3BF2F97-FA42-5A44-94C3-FE5FA8D89BAD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532630" y="2243470"/>
            <a:ext cx="5068943" cy="4082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78D4B1E-E96E-4B4A-BF15-F679E965759E}"/>
              </a:ext>
            </a:extLst>
          </p:cNvPr>
          <p:cNvSpPr>
            <a:spLocks/>
          </p:cNvSpPr>
          <p:nvPr/>
        </p:nvSpPr>
        <p:spPr>
          <a:xfrm rot="10800000">
            <a:off x="-36869" y="14746"/>
            <a:ext cx="6132868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918532" y="1162050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539" y="1462546"/>
            <a:ext cx="4800949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540" y="583773"/>
            <a:ext cx="4800949" cy="447586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SECTION TITLE CHANGE</a:t>
            </a:r>
          </a:p>
        </p:txBody>
      </p:sp>
      <p:pic>
        <p:nvPicPr>
          <p:cNvPr id="18" name="image1.png">
            <a:extLst>
              <a:ext uri="{FF2B5EF4-FFF2-40B4-BE49-F238E27FC236}">
                <a16:creationId xmlns:a16="http://schemas.microsoft.com/office/drawing/2014/main" id="{26A3889F-D7B4-FB4D-A0A0-B7164C643D2F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0D5CB43F-0B9E-C745-84D3-38DAAEC123E4}"/>
              </a:ext>
            </a:extLst>
          </p:cNvPr>
          <p:cNvSpPr txBox="1"/>
          <p:nvPr/>
        </p:nvSpPr>
        <p:spPr>
          <a:xfrm>
            <a:off x="609602" y="6507767"/>
            <a:ext cx="976506" cy="2459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671" tIns="45671" rIns="45671" bIns="45671" numCol="1" spcCol="38100" rtlCol="0" anchor="t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99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Calibri"/>
              </a:rPr>
              <a:t>www.earley.com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E4D1F8-1E0B-4194-9EA9-3B85633A8C0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Shape 7">
            <a:extLst>
              <a:ext uri="{FF2B5EF4-FFF2-40B4-BE49-F238E27FC236}">
                <a16:creationId xmlns:a16="http://schemas.microsoft.com/office/drawing/2014/main" id="{56D923B6-7587-4385-92A1-2B3A929250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630" y="1427983"/>
            <a:ext cx="5068943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398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16270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Purpl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7424D0-56B3-2443-8CF1-904F331A1CDA}"/>
              </a:ext>
            </a:extLst>
          </p:cNvPr>
          <p:cNvSpPr/>
          <p:nvPr/>
        </p:nvSpPr>
        <p:spPr>
          <a:xfrm>
            <a:off x="-31032" y="3052947"/>
            <a:ext cx="12223033" cy="36933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4DC5778-9DD2-D54A-BF9A-DE2028A17853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6868" y="0"/>
            <a:ext cx="6132868" cy="685800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66464445-A72B-FE4D-B60B-5807E20E33C5}"/>
              </a:ext>
            </a:extLst>
          </p:cNvPr>
          <p:cNvSpPr>
            <a:spLocks/>
          </p:cNvSpPr>
          <p:nvPr/>
        </p:nvSpPr>
        <p:spPr>
          <a:xfrm rot="10800000">
            <a:off x="-36869" y="-4"/>
            <a:ext cx="6132868" cy="6872750"/>
          </a:xfrm>
          <a:prstGeom prst="rect">
            <a:avLst/>
          </a:prstGeom>
          <a:solidFill>
            <a:schemeClr val="accent6">
              <a:alpha val="70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1E1C681-A68E-164B-81C1-94BF25E9C474}"/>
              </a:ext>
            </a:extLst>
          </p:cNvPr>
          <p:cNvSpPr>
            <a:spLocks/>
          </p:cNvSpPr>
          <p:nvPr/>
        </p:nvSpPr>
        <p:spPr>
          <a:xfrm rot="10800000">
            <a:off x="-55303" y="-6135"/>
            <a:ext cx="6132868" cy="6872751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F150CF6B-1388-9344-B77C-C085D836C28B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6532630" y="2243470"/>
            <a:ext cx="5068943" cy="40829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>
              <a:defRPr sz="1796"/>
            </a:lvl1pPr>
            <a:lvl2pPr>
              <a:defRPr sz="1796"/>
            </a:lvl2pPr>
            <a:lvl3pPr>
              <a:defRPr sz="1796"/>
            </a:lvl3pPr>
            <a:lvl4pPr>
              <a:defRPr sz="1796"/>
            </a:lvl4pPr>
            <a:lvl5pPr>
              <a:defRPr sz="1796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9539" y="1462546"/>
            <a:ext cx="4800949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918532" y="1162050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29540" y="583773"/>
            <a:ext cx="4800949" cy="447586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SECTION TITLE CHANGE</a:t>
            </a:r>
          </a:p>
        </p:txBody>
      </p:sp>
      <p:pic>
        <p:nvPicPr>
          <p:cNvPr id="19" name="image1.png">
            <a:extLst>
              <a:ext uri="{FF2B5EF4-FFF2-40B4-BE49-F238E27FC236}">
                <a16:creationId xmlns:a16="http://schemas.microsoft.com/office/drawing/2014/main" id="{27DA2935-6602-FF45-9BBD-ECDC22B6F1BD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643F77F4-4852-0F47-9842-1EEFFF77D289}"/>
              </a:ext>
            </a:extLst>
          </p:cNvPr>
          <p:cNvSpPr txBox="1"/>
          <p:nvPr/>
        </p:nvSpPr>
        <p:spPr>
          <a:xfrm>
            <a:off x="609602" y="6507767"/>
            <a:ext cx="976506" cy="24599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671" tIns="45671" rIns="45671" bIns="45671" numCol="1" spcCol="38100" rtlCol="0" anchor="t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999" b="0" i="0" u="none" strike="noStrike" cap="none" spc="0" normalizeH="0" baseline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+mj-ea"/>
                <a:cs typeface="Calibri" panose="020F0502020204030204" pitchFamily="34" charset="0"/>
                <a:sym typeface="Calibri"/>
              </a:rPr>
              <a:t>www.earley.com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3673AA5-14B2-4B53-AA68-67C31532F56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Shape 7">
            <a:extLst>
              <a:ext uri="{FF2B5EF4-FFF2-40B4-BE49-F238E27FC236}">
                <a16:creationId xmlns:a16="http://schemas.microsoft.com/office/drawing/2014/main" id="{421DD9DB-A286-49C6-8AFA-BE6E8E6444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32630" y="1427983"/>
            <a:ext cx="5068943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>
            <a:lvl1pPr algn="l">
              <a:defRPr sz="2398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69935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u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C2603-1D97-BF47-85CB-7AB423FC21F7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55"/>
          <a:stretch/>
        </p:blipFill>
        <p:spPr>
          <a:xfrm>
            <a:off x="-31033" y="14747"/>
            <a:ext cx="1222303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0B8211-E477-3846-88DD-E660E474E004}"/>
              </a:ext>
            </a:extLst>
          </p:cNvPr>
          <p:cNvSpPr>
            <a:spLocks/>
          </p:cNvSpPr>
          <p:nvPr/>
        </p:nvSpPr>
        <p:spPr>
          <a:xfrm rot="10800000">
            <a:off x="0" y="14746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9" name="Picture 2" descr="eis-logo">
            <a:extLst>
              <a:ext uri="{FF2B5EF4-FFF2-40B4-BE49-F238E27FC236}">
                <a16:creationId xmlns:a16="http://schemas.microsoft.com/office/drawing/2014/main" id="{E66A3F7A-CC93-40F8-9D87-551A28785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33627" y="2506514"/>
            <a:ext cx="1231305" cy="147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03341223-3D9C-1E49-99BB-E0632A812AB6}"/>
              </a:ext>
            </a:extLst>
          </p:cNvPr>
          <p:cNvSpPr/>
          <p:nvPr/>
        </p:nvSpPr>
        <p:spPr>
          <a:xfrm>
            <a:off x="6096000" y="3401498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2" name="Text Placeholder 14">
            <a:extLst>
              <a:ext uri="{FF2B5EF4-FFF2-40B4-BE49-F238E27FC236}">
                <a16:creationId xmlns:a16="http://schemas.microsoft.com/office/drawing/2014/main" id="{F5236ECC-A4BA-FB41-8C8D-01CF691B854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8" y="1162050"/>
            <a:ext cx="5053514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45AA1624-823B-5146-9A2E-869560E86F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751186"/>
            <a:ext cx="5177468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244238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ee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0CADAF-6331-4204-8876-D79562F3CE1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31029" y="-4"/>
            <a:ext cx="12223028" cy="685800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5A6840FF-03F7-4D2A-BABC-09762FFBD409}"/>
              </a:ext>
            </a:extLst>
          </p:cNvPr>
          <p:cNvSpPr/>
          <p:nvPr/>
        </p:nvSpPr>
        <p:spPr>
          <a:xfrm rot="10800000">
            <a:off x="-31028" y="14746"/>
            <a:ext cx="12223029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9" name="Picture 2" descr="eis-logo">
            <a:extLst>
              <a:ext uri="{FF2B5EF4-FFF2-40B4-BE49-F238E27FC236}">
                <a16:creationId xmlns:a16="http://schemas.microsoft.com/office/drawing/2014/main" id="{E66A3F7A-CC93-40F8-9D87-551A28785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33627" y="2506514"/>
            <a:ext cx="1231305" cy="147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F3C651B6-B639-6241-910B-EAF34417E92D}"/>
              </a:ext>
            </a:extLst>
          </p:cNvPr>
          <p:cNvSpPr/>
          <p:nvPr/>
        </p:nvSpPr>
        <p:spPr>
          <a:xfrm>
            <a:off x="6096000" y="3401498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174A78D8-2844-1C41-B024-A81F0BB1CF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8" y="1162050"/>
            <a:ext cx="5053514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1" name="Text Placeholder 16">
            <a:extLst>
              <a:ext uri="{FF2B5EF4-FFF2-40B4-BE49-F238E27FC236}">
                <a16:creationId xmlns:a16="http://schemas.microsoft.com/office/drawing/2014/main" id="{B2D5719B-D8F5-E84C-975E-87CA6CA4F2B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751186"/>
            <a:ext cx="5177468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37362364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rple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826E84C2-78EB-4D1A-A479-FDE6F0049F93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3"/>
            <a:ext cx="12192000" cy="6858003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6FE22296-8181-41B9-9124-1582127577FA}"/>
              </a:ext>
            </a:extLst>
          </p:cNvPr>
          <p:cNvSpPr/>
          <p:nvPr/>
        </p:nvSpPr>
        <p:spPr>
          <a:xfrm>
            <a:off x="0" y="3237494"/>
            <a:ext cx="12270576" cy="369010"/>
          </a:xfrm>
          <a:prstGeom prst="rect">
            <a:avLst/>
          </a:prstGeom>
          <a:solidFill>
            <a:schemeClr val="accent6">
              <a:alpha val="76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771A4-7CD4-2340-B6DE-3DA6E571F127}"/>
              </a:ext>
            </a:extLst>
          </p:cNvPr>
          <p:cNvSpPr>
            <a:spLocks/>
          </p:cNvSpPr>
          <p:nvPr/>
        </p:nvSpPr>
        <p:spPr>
          <a:xfrm rot="10800000">
            <a:off x="0" y="18218"/>
            <a:ext cx="12270576" cy="68580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71ED297-7BA9-466D-A965-AC62B16AC0B0}"/>
              </a:ext>
            </a:extLst>
          </p:cNvPr>
          <p:cNvSpPr/>
          <p:nvPr/>
        </p:nvSpPr>
        <p:spPr>
          <a:xfrm>
            <a:off x="6096000" y="3401498"/>
            <a:ext cx="915353" cy="9144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9" name="Picture 2" descr="eis-logo">
            <a:extLst>
              <a:ext uri="{FF2B5EF4-FFF2-40B4-BE49-F238E27FC236}">
                <a16:creationId xmlns:a16="http://schemas.microsoft.com/office/drawing/2014/main" id="{E66A3F7A-CC93-40F8-9D87-551A287854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833627" y="2506514"/>
            <a:ext cx="1231305" cy="1479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95998" y="1162050"/>
            <a:ext cx="5053514" cy="1981200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751186"/>
            <a:ext cx="5177468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</p:spTree>
    <p:extLst>
      <p:ext uri="{BB962C8B-B14F-4D97-AF65-F5344CB8AC3E}">
        <p14:creationId xmlns:p14="http://schemas.microsoft.com/office/powerpoint/2010/main" val="19798096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D0CC2603-1D97-BF47-85CB-7AB423FC21F7}"/>
              </a:ext>
            </a:extLst>
          </p:cNvPr>
          <p:cNvPicPr>
            <a:picLocks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55"/>
          <a:stretch/>
        </p:blipFill>
        <p:spPr>
          <a:xfrm>
            <a:off x="-31033" y="14747"/>
            <a:ext cx="12223033" cy="685800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CA0B8211-E477-3846-88DD-E660E474E004}"/>
              </a:ext>
            </a:extLst>
          </p:cNvPr>
          <p:cNvSpPr>
            <a:spLocks/>
          </p:cNvSpPr>
          <p:nvPr/>
        </p:nvSpPr>
        <p:spPr>
          <a:xfrm rot="10800000">
            <a:off x="0" y="4153"/>
            <a:ext cx="12191998" cy="6858000"/>
          </a:xfrm>
          <a:prstGeom prst="rect">
            <a:avLst/>
          </a:prstGeom>
          <a:gradFill>
            <a:gsLst>
              <a:gs pos="0">
                <a:schemeClr val="tx1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830" y="2992311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rgbClr val="13518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3"/>
            <a:ext cx="5317394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3" y="1162050"/>
            <a:ext cx="5317393" cy="2205332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197478"/>
            <a:ext cx="5323670" cy="1065213"/>
          </a:xfr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526142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F144138-D22C-4146-BF55-B4991D4FE948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31029" y="-4"/>
            <a:ext cx="12223028" cy="6858004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E3F56388-0B15-F442-A126-191C092C3EFD}"/>
              </a:ext>
            </a:extLst>
          </p:cNvPr>
          <p:cNvSpPr/>
          <p:nvPr/>
        </p:nvSpPr>
        <p:spPr>
          <a:xfrm rot="10800000">
            <a:off x="-31028" y="14746"/>
            <a:ext cx="12223029" cy="6858000"/>
          </a:xfrm>
          <a:prstGeom prst="rect">
            <a:avLst/>
          </a:prstGeom>
          <a:gradFill>
            <a:gsLst>
              <a:gs pos="0">
                <a:schemeClr val="accent4"/>
              </a:gs>
              <a:gs pos="100000">
                <a:schemeClr val="tx1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830" y="2992311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chemeClr val="accent4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3"/>
            <a:ext cx="5317394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3" y="1162050"/>
            <a:ext cx="5317393" cy="2205332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197478"/>
            <a:ext cx="5323670" cy="1065213"/>
          </a:xfr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9688220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Pur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FA018148-0706-5241-8BC6-07E2B1F5F7D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email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3"/>
            <a:ext cx="12192000" cy="6858003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F95DCA34-BE71-0B4F-A5F1-31722061925B}"/>
              </a:ext>
            </a:extLst>
          </p:cNvPr>
          <p:cNvSpPr/>
          <p:nvPr/>
        </p:nvSpPr>
        <p:spPr>
          <a:xfrm>
            <a:off x="-8972" y="3244495"/>
            <a:ext cx="12200971" cy="369010"/>
          </a:xfrm>
          <a:prstGeom prst="rect">
            <a:avLst/>
          </a:prstGeom>
          <a:solidFill>
            <a:schemeClr val="accent6">
              <a:alpha val="76000"/>
            </a:schemeClr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sp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ea typeface="+mj-ea"/>
              <a:cs typeface="+mj-cs"/>
              <a:sym typeface="Calibri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3B6622E-299B-D140-BB3F-A91125245E88}"/>
              </a:ext>
            </a:extLst>
          </p:cNvPr>
          <p:cNvSpPr>
            <a:spLocks/>
          </p:cNvSpPr>
          <p:nvPr/>
        </p:nvSpPr>
        <p:spPr>
          <a:xfrm rot="10800000">
            <a:off x="-359324" y="0"/>
            <a:ext cx="12270576" cy="6858000"/>
          </a:xfrm>
          <a:prstGeom prst="rect">
            <a:avLst/>
          </a:prstGeom>
          <a:gradFill>
            <a:gsLst>
              <a:gs pos="0">
                <a:schemeClr val="accent6"/>
              </a:gs>
              <a:gs pos="100000">
                <a:schemeClr val="accent6">
                  <a:alpha val="0"/>
                </a:schemeClr>
              </a:gs>
            </a:gsLst>
            <a:lin ang="0" scaled="0"/>
          </a:gra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651F526-8B4A-634B-A35B-9F78BF1E6A19}"/>
              </a:ext>
            </a:extLst>
          </p:cNvPr>
          <p:cNvPicPr>
            <a:picLocks noChangeAspect="1"/>
          </p:cNvPicPr>
          <p:nvPr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38830" y="2992311"/>
            <a:ext cx="2936611" cy="1178181"/>
          </a:xfrm>
          <a:prstGeom prst="rect">
            <a:avLst/>
          </a:prstGeom>
        </p:spPr>
      </p:pic>
      <p:sp>
        <p:nvSpPr>
          <p:cNvPr id="27" name="Rectangle 45">
            <a:extLst>
              <a:ext uri="{FF2B5EF4-FFF2-40B4-BE49-F238E27FC236}">
                <a16:creationId xmlns:a16="http://schemas.microsoft.com/office/drawing/2014/main" id="{26E1ED27-EDE9-FB46-BFE9-E705E3F4E2AF}"/>
              </a:ext>
            </a:extLst>
          </p:cNvPr>
          <p:cNvSpPr/>
          <p:nvPr/>
        </p:nvSpPr>
        <p:spPr>
          <a:xfrm rot="817502">
            <a:off x="5011627" y="-665636"/>
            <a:ext cx="7829622" cy="8567794"/>
          </a:xfrm>
          <a:custGeom>
            <a:avLst/>
            <a:gdLst>
              <a:gd name="connsiteX0" fmla="*/ 0 w 8614253"/>
              <a:gd name="connsiteY0" fmla="*/ 0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0 w 8614253"/>
              <a:gd name="connsiteY4" fmla="*/ 0 h 11082883"/>
              <a:gd name="connsiteX0" fmla="*/ 277202 w 8614253"/>
              <a:gd name="connsiteY0" fmla="*/ 2006227 h 11082883"/>
              <a:gd name="connsiteX1" fmla="*/ 8614253 w 8614253"/>
              <a:gd name="connsiteY1" fmla="*/ 0 h 11082883"/>
              <a:gd name="connsiteX2" fmla="*/ 8614253 w 8614253"/>
              <a:gd name="connsiteY2" fmla="*/ 11082883 h 11082883"/>
              <a:gd name="connsiteX3" fmla="*/ 0 w 8614253"/>
              <a:gd name="connsiteY3" fmla="*/ 11082883 h 11082883"/>
              <a:gd name="connsiteX4" fmla="*/ 277202 w 8614253"/>
              <a:gd name="connsiteY4" fmla="*/ 2006227 h 11082883"/>
              <a:gd name="connsiteX0" fmla="*/ 277202 w 8614253"/>
              <a:gd name="connsiteY0" fmla="*/ 1411375 h 10488031"/>
              <a:gd name="connsiteX1" fmla="*/ 6232006 w 8614253"/>
              <a:gd name="connsiteY1" fmla="*/ 0 h 10488031"/>
              <a:gd name="connsiteX2" fmla="*/ 8614253 w 8614253"/>
              <a:gd name="connsiteY2" fmla="*/ 10488031 h 10488031"/>
              <a:gd name="connsiteX3" fmla="*/ 0 w 8614253"/>
              <a:gd name="connsiteY3" fmla="*/ 10488031 h 10488031"/>
              <a:gd name="connsiteX4" fmla="*/ 277202 w 8614253"/>
              <a:gd name="connsiteY4" fmla="*/ 1411375 h 10488031"/>
              <a:gd name="connsiteX0" fmla="*/ 277202 w 8614253"/>
              <a:gd name="connsiteY0" fmla="*/ 1436311 h 10512967"/>
              <a:gd name="connsiteX1" fmla="*/ 6191115 w 8614253"/>
              <a:gd name="connsiteY1" fmla="*/ 0 h 10512967"/>
              <a:gd name="connsiteX2" fmla="*/ 8614253 w 8614253"/>
              <a:gd name="connsiteY2" fmla="*/ 10512967 h 10512967"/>
              <a:gd name="connsiteX3" fmla="*/ 0 w 8614253"/>
              <a:gd name="connsiteY3" fmla="*/ 10512967 h 10512967"/>
              <a:gd name="connsiteX4" fmla="*/ 277202 w 8614253"/>
              <a:gd name="connsiteY4" fmla="*/ 1436311 h 10512967"/>
              <a:gd name="connsiteX0" fmla="*/ 277202 w 7759139"/>
              <a:gd name="connsiteY0" fmla="*/ 1436311 h 10512967"/>
              <a:gd name="connsiteX1" fmla="*/ 6191115 w 7759139"/>
              <a:gd name="connsiteY1" fmla="*/ 0 h 10512967"/>
              <a:gd name="connsiteX2" fmla="*/ 7759139 w 7759139"/>
              <a:gd name="connsiteY2" fmla="*/ 6625675 h 10512967"/>
              <a:gd name="connsiteX3" fmla="*/ 0 w 7759139"/>
              <a:gd name="connsiteY3" fmla="*/ 10512967 h 10512967"/>
              <a:gd name="connsiteX4" fmla="*/ 277202 w 7759139"/>
              <a:gd name="connsiteY4" fmla="*/ 1436311 h 10512967"/>
              <a:gd name="connsiteX0" fmla="*/ 320521 w 7802458"/>
              <a:gd name="connsiteY0" fmla="*/ 1436311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0521 w 7802458"/>
              <a:gd name="connsiteY4" fmla="*/ 1436311 h 8537169"/>
              <a:gd name="connsiteX0" fmla="*/ 32276 w 7802458"/>
              <a:gd name="connsiteY0" fmla="*/ 1541024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276 w 7802458"/>
              <a:gd name="connsiteY4" fmla="*/ 1541024 h 8537169"/>
              <a:gd name="connsiteX0" fmla="*/ 32700 w 7802458"/>
              <a:gd name="connsiteY0" fmla="*/ 1481886 h 8537169"/>
              <a:gd name="connsiteX1" fmla="*/ 6234434 w 7802458"/>
              <a:gd name="connsiteY1" fmla="*/ 0 h 8537169"/>
              <a:gd name="connsiteX2" fmla="*/ 7802458 w 7802458"/>
              <a:gd name="connsiteY2" fmla="*/ 6625675 h 8537169"/>
              <a:gd name="connsiteX3" fmla="*/ 0 w 7802458"/>
              <a:gd name="connsiteY3" fmla="*/ 8537169 h 8537169"/>
              <a:gd name="connsiteX4" fmla="*/ 32700 w 7802458"/>
              <a:gd name="connsiteY4" fmla="*/ 1481886 h 8537169"/>
              <a:gd name="connsiteX0" fmla="*/ 32700 w 7802458"/>
              <a:gd name="connsiteY0" fmla="*/ 1501211 h 8556494"/>
              <a:gd name="connsiteX1" fmla="*/ 6207611 w 7802458"/>
              <a:gd name="connsiteY1" fmla="*/ 0 h 8556494"/>
              <a:gd name="connsiteX2" fmla="*/ 7802458 w 7802458"/>
              <a:gd name="connsiteY2" fmla="*/ 6645000 h 8556494"/>
              <a:gd name="connsiteX3" fmla="*/ 0 w 7802458"/>
              <a:gd name="connsiteY3" fmla="*/ 8556494 h 8556494"/>
              <a:gd name="connsiteX4" fmla="*/ 32700 w 7802458"/>
              <a:gd name="connsiteY4" fmla="*/ 1501211 h 8556494"/>
              <a:gd name="connsiteX0" fmla="*/ 32700 w 7820515"/>
              <a:gd name="connsiteY0" fmla="*/ 1501211 h 8556494"/>
              <a:gd name="connsiteX1" fmla="*/ 6207611 w 7820515"/>
              <a:gd name="connsiteY1" fmla="*/ 0 h 8556494"/>
              <a:gd name="connsiteX2" fmla="*/ 7820515 w 7820515"/>
              <a:gd name="connsiteY2" fmla="*/ 6673831 h 8556494"/>
              <a:gd name="connsiteX3" fmla="*/ 0 w 7820515"/>
              <a:gd name="connsiteY3" fmla="*/ 8556494 h 8556494"/>
              <a:gd name="connsiteX4" fmla="*/ 32700 w 7820515"/>
              <a:gd name="connsiteY4" fmla="*/ 1501211 h 8556494"/>
              <a:gd name="connsiteX0" fmla="*/ 33651 w 7821466"/>
              <a:gd name="connsiteY0" fmla="*/ 1501211 h 8567794"/>
              <a:gd name="connsiteX1" fmla="*/ 6208562 w 7821466"/>
              <a:gd name="connsiteY1" fmla="*/ 0 h 8567794"/>
              <a:gd name="connsiteX2" fmla="*/ 7821466 w 7821466"/>
              <a:gd name="connsiteY2" fmla="*/ 6673831 h 8567794"/>
              <a:gd name="connsiteX3" fmla="*/ 0 w 7821466"/>
              <a:gd name="connsiteY3" fmla="*/ 8567794 h 8567794"/>
              <a:gd name="connsiteX4" fmla="*/ 33651 w 7821466"/>
              <a:gd name="connsiteY4" fmla="*/ 1501211 h 8567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821466" h="8567794">
                <a:moveTo>
                  <a:pt x="33651" y="1501211"/>
                </a:moveTo>
                <a:lnTo>
                  <a:pt x="6208562" y="0"/>
                </a:lnTo>
                <a:lnTo>
                  <a:pt x="7821466" y="6673831"/>
                </a:lnTo>
                <a:lnTo>
                  <a:pt x="0" y="8567794"/>
                </a:lnTo>
                <a:lnTo>
                  <a:pt x="33651" y="1501211"/>
                </a:lnTo>
                <a:close/>
              </a:path>
            </a:pathLst>
          </a:custGeom>
          <a:solidFill>
            <a:schemeClr val="tx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2079E7E-A85E-C047-B8D1-4620089A3369}"/>
              </a:ext>
            </a:extLst>
          </p:cNvPr>
          <p:cNvSpPr/>
          <p:nvPr/>
        </p:nvSpPr>
        <p:spPr>
          <a:xfrm>
            <a:off x="6095999" y="3533720"/>
            <a:ext cx="915353" cy="91440"/>
          </a:xfrm>
          <a:prstGeom prst="rect">
            <a:avLst/>
          </a:prstGeom>
          <a:solidFill>
            <a:schemeClr val="accent6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671" tIns="45671" rIns="45671" bIns="45671" numCol="1" spcCol="38100" rtlCol="0" anchor="ctr">
            <a:noAutofit/>
          </a:bodyPr>
          <a:lstStyle/>
          <a:p>
            <a:pPr marL="0" marR="0" indent="0" algn="l" defTabSz="913486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798" b="0" i="0" u="none" strike="noStrike" cap="none" spc="0" normalizeH="0" baseline="0">
              <a:ln>
                <a:noFill/>
              </a:ln>
              <a:solidFill>
                <a:srgbClr val="072941"/>
              </a:solidFill>
              <a:effectLst/>
              <a:uFillTx/>
              <a:latin typeface="Calibri" panose="020F0502020204030204" pitchFamily="34" charset="0"/>
              <a:sym typeface="Calibri"/>
            </a:endParaRP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2B683F2-4BBD-47C8-894F-EE9C27F61E3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102276" y="3866693"/>
            <a:ext cx="5317394" cy="847725"/>
          </a:xfrm>
        </p:spPr>
        <p:txBody>
          <a:bodyPr>
            <a:no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  <a:lvl2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2pPr>
            <a:lvl3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3pPr>
            <a:lvl4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4pPr>
            <a:lvl5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1998" b="0" i="0" u="none" strike="noStrike" cap="all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+mj-lt"/>
                <a:ea typeface="Arial" charset="0"/>
                <a:cs typeface="Arial" charset="0"/>
                <a:sym typeface="Helvetica"/>
              </a:defRPr>
            </a:lvl5pPr>
          </a:lstStyle>
          <a:p>
            <a:pPr lvl="0"/>
            <a:r>
              <a:rPr lang="en-US"/>
              <a:t>Click to edit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FA3DB315-4FE4-4AB7-AC70-05542D09E92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080483" y="1162050"/>
            <a:ext cx="5317393" cy="2205332"/>
          </a:xfrm>
        </p:spPr>
        <p:txBody>
          <a:bodyPr>
            <a:normAutofit/>
          </a:bodyPr>
          <a:lstStyle>
            <a:lvl1pPr marL="0" marR="0" indent="0" algn="l" defTabSz="912573" rtl="0" eaLnBrk="1" fontAlgn="auto" latinLnBrk="0" hangingPunct="1">
              <a:lnSpc>
                <a:spcPct val="100000"/>
              </a:lnSpc>
              <a:spcBef>
                <a:spcPts val="1198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lang="en-US" sz="3596" b="1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Helvetica"/>
              </a:defRPr>
            </a:lvl1pPr>
          </a:lstStyle>
          <a:p>
            <a:pPr lvl="0"/>
            <a:r>
              <a:rPr lang="en-US"/>
              <a:t>Click To Edit Title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534A6-0E8D-7D41-AE7B-4A5A9032A93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096001" y="5197478"/>
            <a:ext cx="5323670" cy="1065213"/>
          </a:xfrm>
        </p:spPr>
        <p:txBody>
          <a:bodyPr>
            <a:normAutofit/>
          </a:bodyPr>
          <a:lstStyle>
            <a:lvl1pPr>
              <a:defRPr sz="1598">
                <a:solidFill>
                  <a:schemeClr val="bg1"/>
                </a:solidFill>
                <a:latin typeface="Calibri" panose="020F0502020204030204" pitchFamily="34" charset="0"/>
              </a:defRPr>
            </a:lvl1pPr>
          </a:lstStyle>
          <a:p>
            <a:pPr lvl="0"/>
            <a:r>
              <a:rPr lang="en-US"/>
              <a:t>Author Name</a:t>
            </a:r>
          </a:p>
          <a:p>
            <a:pPr lvl="0"/>
            <a:r>
              <a:rPr lang="en-US"/>
              <a:t>Date</a:t>
            </a:r>
          </a:p>
          <a:p>
            <a:pPr lvl="0"/>
            <a:r>
              <a:rPr lang="en-US"/>
              <a:t>Client</a:t>
            </a:r>
          </a:p>
        </p:txBody>
      </p:sp>
    </p:spTree>
    <p:extLst>
      <p:ext uri="{BB962C8B-B14F-4D97-AF65-F5344CB8AC3E}">
        <p14:creationId xmlns:p14="http://schemas.microsoft.com/office/powerpoint/2010/main" val="27081149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9C7908-BA04-472D-AE0E-2EC318BCA1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33" y="286157"/>
            <a:ext cx="11259334" cy="693551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" name="Shape 194"/>
          <p:cNvSpPr/>
          <p:nvPr/>
        </p:nvSpPr>
        <p:spPr>
          <a:xfrm rot="16200000">
            <a:off x="6036239" y="-6036238"/>
            <a:ext cx="119527" cy="12192001"/>
          </a:xfrm>
          <a:prstGeom prst="rect">
            <a:avLst/>
          </a:prstGeom>
          <a:solidFill>
            <a:srgbClr val="135181"/>
          </a:solidFill>
          <a:ln w="12700">
            <a:miter lim="400000"/>
          </a:ln>
        </p:spPr>
        <p:txBody>
          <a:bodyPr lIns="45671" rIns="45671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798">
              <a:latin typeface="Calibri" panose="020F0502020204030204" pitchFamily="34" charset="0"/>
            </a:endParaRPr>
          </a:p>
        </p:txBody>
      </p:sp>
      <p:sp>
        <p:nvSpPr>
          <p:cNvPr id="12" name="Shape 194">
            <a:extLst>
              <a:ext uri="{FF2B5EF4-FFF2-40B4-BE49-F238E27FC236}">
                <a16:creationId xmlns:a16="http://schemas.microsoft.com/office/drawing/2014/main" id="{FD4ACCAB-4A5B-4C90-B30B-07467397023C}"/>
              </a:ext>
            </a:extLst>
          </p:cNvPr>
          <p:cNvSpPr/>
          <p:nvPr/>
        </p:nvSpPr>
        <p:spPr>
          <a:xfrm rot="16200000">
            <a:off x="6036239" y="-6036238"/>
            <a:ext cx="119527" cy="12192001"/>
          </a:xfrm>
          <a:prstGeom prst="rect">
            <a:avLst/>
          </a:prstGeom>
          <a:solidFill>
            <a:srgbClr val="135181"/>
          </a:solidFill>
          <a:ln w="12700">
            <a:miter lim="400000"/>
          </a:ln>
        </p:spPr>
        <p:txBody>
          <a:bodyPr lIns="45671" rIns="45671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798"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803583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2247CCE-89C6-3398-EA67-035B11CFB9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9389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85800"/>
            <a:ext cx="4564763" cy="1426798"/>
          </a:xfrm>
        </p:spPr>
        <p:txBody>
          <a:bodyPr anchor="b">
            <a:no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45580E71-5349-7975-EE00-1D48FBB4552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09599" y="2514600"/>
            <a:ext cx="4564763" cy="3636598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790060" y="685800"/>
            <a:ext cx="5792341" cy="5465398"/>
          </a:xfrm>
        </p:spPr>
        <p:txBody>
          <a:bodyPr anchor="b"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>
            <a:noAutofit/>
          </a:bodyPr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5469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18303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D2B02E8B-EB97-8158-B585-0E0E95CF40CC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718303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46E4B5-B423-4137-0255-D68BAC85BE9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4724397" y="6343954"/>
            <a:ext cx="3422906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BFB53A-8FDF-F131-DCF2-D7BECE95381F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8945699" y="6343955"/>
            <a:ext cx="2150873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FEC5A8-0DCB-9EEB-83E2-0411804C543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11147096" y="6343955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2982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7" y="685800"/>
            <a:ext cx="6858000" cy="1111532"/>
          </a:xfrm>
        </p:spPr>
        <p:txBody>
          <a:bodyPr anchor="b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12647" y="1965960"/>
            <a:ext cx="6858000" cy="4200198"/>
          </a:xfrm>
        </p:spPr>
        <p:txBody>
          <a:bodyPr>
            <a:noAutofit/>
          </a:bodyPr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20916D3-99FA-E971-607F-14E290E58854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12647" y="6346870"/>
            <a:ext cx="2805405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3CAD5B-18BB-E21E-3A4C-7BAACB8519A4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115853" y="6346870"/>
            <a:ext cx="2925587" cy="365125"/>
          </a:xfrm>
        </p:spPr>
        <p:txBody>
          <a:bodyPr>
            <a:noAutofit/>
          </a:bodyPr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BDEAB8E-8806-A459-E320-4CA2B455BFD7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7041440" y="6346870"/>
            <a:ext cx="429207" cy="365125"/>
          </a:xfrm>
        </p:spPr>
        <p:txBody>
          <a:bodyPr>
            <a:noAutofit/>
          </a:bodyPr>
          <a:lstStyle/>
          <a:p>
            <a:fld id="{AEAA3239-9EA4-4A65-A281-97F994456D9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091732" y="0"/>
            <a:ext cx="4100267" cy="6858000"/>
          </a:xfr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008906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783709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742634CB-621C-0AA3-325D-CF93F15816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6441507"/>
            <a:ext cx="1073150" cy="319045"/>
          </a:xfrm>
          <a:prstGeom prst="rect">
            <a:avLst/>
          </a:prstGeom>
        </p:spPr>
      </p:pic>
      <p:sp>
        <p:nvSpPr>
          <p:cNvPr id="10" name="Slide Number Placeholder 16">
            <a:extLst>
              <a:ext uri="{FF2B5EF4-FFF2-40B4-BE49-F238E27FC236}">
                <a16:creationId xmlns:a16="http://schemas.microsoft.com/office/drawing/2014/main" id="{5573FDDA-2222-F089-2A12-1953DB6267E9}"/>
              </a:ext>
            </a:extLst>
          </p:cNvPr>
          <p:cNvSpPr txBox="1">
            <a:spLocks/>
          </p:cNvSpPr>
          <p:nvPr userDrawn="1"/>
        </p:nvSpPr>
        <p:spPr>
          <a:xfrm>
            <a:off x="11728412" y="6501106"/>
            <a:ext cx="335850" cy="161583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DC3E0BD-1E1B-4C56-A5B4-794BEE42BE14}" type="slidenum">
              <a:rPr lang="en-US" sz="1050" spc="144" smtClean="0">
                <a:solidFill>
                  <a:schemeClr val="bg1">
                    <a:lumMod val="75000"/>
                  </a:schemeClr>
                </a:solidFill>
                <a:latin typeface="Poppins Light" panose="00000400000000000000" pitchFamily="2" charset="0"/>
                <a:cs typeface="Poppins Light" panose="00000400000000000000" pitchFamily="2" charset="0"/>
              </a:rPr>
              <a:pPr/>
              <a:t>‹#›</a:t>
            </a:fld>
            <a:endParaRPr lang="en-US" sz="1050" spc="144">
              <a:solidFill>
                <a:schemeClr val="bg1">
                  <a:lumMod val="75000"/>
                </a:schemeClr>
              </a:solidFill>
              <a:latin typeface="Poppins Light" panose="00000400000000000000" pitchFamily="2" charset="0"/>
              <a:cs typeface="Poppins Light" panose="00000400000000000000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CE09213-FC9E-9CA9-6246-4269C560CD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81875" y="6487240"/>
            <a:ext cx="4248150" cy="246221"/>
          </a:xfrm>
          <a:prstGeom prst="rect">
            <a:avLst/>
          </a:prstGeom>
        </p:spPr>
        <p:txBody>
          <a:bodyPr/>
          <a:lstStyle>
            <a:lvl1pPr algn="ctr">
              <a:defRPr sz="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hangingPunct="1">
              <a:defRPr/>
            </a:pPr>
            <a:endParaRPr lang="en-US" kern="1200">
              <a:solidFill>
                <a:srgbClr val="04153D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9A2AAC-2181-F1F7-05B8-D983BB1073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787470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0.xml"/><Relationship Id="rId4" Type="http://schemas.openxmlformats.org/officeDocument/2006/relationships/image" Target="../media/image1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hape 7"/>
          <p:cNvSpPr>
            <a:spLocks noGrp="1"/>
          </p:cNvSpPr>
          <p:nvPr>
            <p:ph type="title"/>
          </p:nvPr>
        </p:nvSpPr>
        <p:spPr>
          <a:xfrm>
            <a:off x="466333" y="275273"/>
            <a:ext cx="11259334" cy="6935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endParaRPr/>
          </a:p>
        </p:txBody>
      </p:sp>
      <p:sp>
        <p:nvSpPr>
          <p:cNvPr id="8" name="Shape 8"/>
          <p:cNvSpPr>
            <a:spLocks noGrp="1"/>
          </p:cNvSpPr>
          <p:nvPr>
            <p:ph type="body" idx="1"/>
          </p:nvPr>
        </p:nvSpPr>
        <p:spPr>
          <a:xfrm>
            <a:off x="538124" y="1241146"/>
            <a:ext cx="11143530" cy="4764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" name="Shape 194"/>
          <p:cNvSpPr/>
          <p:nvPr/>
        </p:nvSpPr>
        <p:spPr>
          <a:xfrm rot="16200000">
            <a:off x="6036240" y="-6036238"/>
            <a:ext cx="119527" cy="12192001"/>
          </a:xfrm>
          <a:prstGeom prst="rect">
            <a:avLst/>
          </a:prstGeom>
          <a:solidFill>
            <a:srgbClr val="135181"/>
          </a:solidFill>
          <a:ln w="12700">
            <a:miter lim="400000"/>
          </a:ln>
        </p:spPr>
        <p:txBody>
          <a:bodyPr lIns="45623" rIns="45623" anchor="ctr"/>
          <a:lstStyle/>
          <a:p>
            <a:pPr algn="ctr">
              <a:defRPr>
                <a:solidFill>
                  <a:srgbClr val="FFFFFF"/>
                </a:solidFill>
              </a:defRPr>
            </a:pPr>
            <a:endParaRPr sz="1796">
              <a:latin typeface="Calibri" panose="020F0502020204030204" pitchFamily="34" charset="0"/>
            </a:endParaRPr>
          </a:p>
        </p:txBody>
      </p:sp>
      <p:sp>
        <p:nvSpPr>
          <p:cNvPr id="11" name="Shape 195"/>
          <p:cNvSpPr/>
          <p:nvPr/>
        </p:nvSpPr>
        <p:spPr>
          <a:xfrm flipV="1">
            <a:off x="11588799" y="6504877"/>
            <a:ext cx="0" cy="252001"/>
          </a:xfrm>
          <a:prstGeom prst="line">
            <a:avLst/>
          </a:prstGeom>
          <a:ln w="19050">
            <a:solidFill>
              <a:srgbClr val="084A79"/>
            </a:solidFill>
          </a:ln>
        </p:spPr>
        <p:txBody>
          <a:bodyPr lIns="45623" rIns="45623"/>
          <a:lstStyle/>
          <a:p>
            <a:endParaRPr sz="1796">
              <a:latin typeface="Calibri" panose="020F0502020204030204" pitchFamily="34" charset="0"/>
            </a:endParaRPr>
          </a:p>
        </p:txBody>
      </p:sp>
      <p:pic>
        <p:nvPicPr>
          <p:cNvPr id="12" name="image1.png"/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18" name="Shape 193">
            <a:extLst>
              <a:ext uri="{FF2B5EF4-FFF2-40B4-BE49-F238E27FC236}">
                <a16:creationId xmlns:a16="http://schemas.microsoft.com/office/drawing/2014/main" id="{E14E0D4A-2183-4715-BD53-68FAA9B3560A}"/>
              </a:ext>
            </a:extLst>
          </p:cNvPr>
          <p:cNvSpPr/>
          <p:nvPr/>
        </p:nvSpPr>
        <p:spPr>
          <a:xfrm>
            <a:off x="8483246" y="6570227"/>
            <a:ext cx="3084944" cy="2153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="" val="1"/>
            </a:ext>
          </a:extLst>
        </p:spPr>
        <p:txBody>
          <a:bodyPr wrap="none" lIns="45623" rIns="45623">
            <a:spAutoFit/>
          </a:bodyPr>
          <a:lstStyle>
            <a:lvl1pPr>
              <a:defRPr sz="600">
                <a:solidFill>
                  <a:srgbClr val="808080"/>
                </a:solidFill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r>
              <a:rPr sz="799"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Copyright © </a:t>
            </a:r>
            <a:r>
              <a:rPr lang="en-US" sz="799"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2026</a:t>
            </a:r>
            <a:r>
              <a:rPr sz="799">
                <a:latin typeface="Calibri" panose="020F0502020204030204" pitchFamily="34" charset="0"/>
                <a:ea typeface="Arial" charset="0"/>
                <a:cs typeface="Calibri" panose="020F0502020204030204" pitchFamily="34" charset="0"/>
              </a:rPr>
              <a:t> Earley Information Science, Inc.  All Rights Reserved.</a:t>
            </a:r>
          </a:p>
        </p:txBody>
      </p:sp>
      <p:pic>
        <p:nvPicPr>
          <p:cNvPr id="20" name="image1.png">
            <a:extLst>
              <a:ext uri="{FF2B5EF4-FFF2-40B4-BE49-F238E27FC236}">
                <a16:creationId xmlns:a16="http://schemas.microsoft.com/office/drawing/2014/main" id="{7E136C74-3E38-4711-B2DC-88AB407C6326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B7096-F130-43EC-B3EC-C13B832410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91920" y="6448314"/>
            <a:ext cx="5034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99">
                <a:solidFill>
                  <a:schemeClr val="tx1"/>
                </a:solidFill>
                <a:latin typeface="Calibri" panose="020F0502020204030204" pitchFamily="34" charset="0"/>
              </a:defRPr>
            </a:lvl1pPr>
          </a:lstStyle>
          <a:p>
            <a:fld id="{A22638FE-01C9-41BA-BE25-085106FB5C8A}" type="slidenum">
              <a:rPr lang="en-US" smtClean="0"/>
              <a:t>‹#›</a:t>
            </a:fld>
            <a:endParaRPr lang="en-US"/>
          </a:p>
        </p:txBody>
      </p:sp>
      <p:pic>
        <p:nvPicPr>
          <p:cNvPr id="13" name="image1.png">
            <a:extLst>
              <a:ext uri="{FF2B5EF4-FFF2-40B4-BE49-F238E27FC236}">
                <a16:creationId xmlns:a16="http://schemas.microsoft.com/office/drawing/2014/main" id="{C3296FC5-3030-41DC-9395-66F320BD0EFB}"/>
              </a:ext>
            </a:extLst>
          </p:cNvPr>
          <p:cNvPicPr>
            <a:picLocks noChangeAspect="1"/>
          </p:cNvPicPr>
          <p:nvPr/>
        </p:nvPicPr>
        <p:blipFill>
          <a:blip r:embed="rId21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760" y="6412367"/>
            <a:ext cx="363322" cy="43701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5154227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09" r:id="rId1"/>
    <p:sldLayoutId id="2147483664" r:id="rId2"/>
    <p:sldLayoutId id="2147485606" r:id="rId3"/>
    <p:sldLayoutId id="2147483666" r:id="rId4"/>
    <p:sldLayoutId id="2147485612" r:id="rId5"/>
    <p:sldLayoutId id="2147485613" r:id="rId6"/>
    <p:sldLayoutId id="2147485618" r:id="rId7"/>
    <p:sldLayoutId id="2147485619" r:id="rId8"/>
    <p:sldLayoutId id="2147485608" r:id="rId9"/>
    <p:sldLayoutId id="2147485607" r:id="rId10"/>
    <p:sldLayoutId id="2147485611" r:id="rId11"/>
    <p:sldLayoutId id="2147483674" r:id="rId12"/>
    <p:sldLayoutId id="2147485614" r:id="rId13"/>
    <p:sldLayoutId id="2147485615" r:id="rId14"/>
    <p:sldLayoutId id="2147485616" r:id="rId15"/>
    <p:sldLayoutId id="2147485626" r:id="rId16"/>
    <p:sldLayoutId id="2147485627" r:id="rId17"/>
    <p:sldLayoutId id="2147485628" r:id="rId18"/>
    <p:sldLayoutId id="2147485629" r:id="rId19"/>
  </p:sldLayoutIdLst>
  <p:hf hdr="0" ftr="0" dt="0"/>
  <p:txStyles>
    <p:titleStyle>
      <a:lvl1pPr marL="0" marR="0" indent="0" algn="ctr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3200" b="1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1pPr>
      <a:lvl2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0" algn="l" defTabSz="912573" rtl="0" eaLnBrk="1" latinLnBrk="0" hangingPunct="1">
        <a:lnSpc>
          <a:spcPct val="100000"/>
        </a:lnSpc>
        <a:spcBef>
          <a:spcPts val="1198"/>
        </a:spcBef>
        <a:spcAft>
          <a:spcPts val="0"/>
        </a:spcAft>
        <a:buClrTx/>
        <a:buSzTx/>
        <a:buFontTx/>
        <a:buNone/>
        <a:tabLst/>
        <a:defRPr sz="5390" b="1" i="0" u="none" strike="noStrike" cap="none" spc="0" baseline="0">
          <a:ln>
            <a:noFill/>
          </a:ln>
          <a:solidFill>
            <a:srgbClr val="808080"/>
          </a:solidFill>
          <a:uFillTx/>
          <a:latin typeface="+mn-lt"/>
          <a:ea typeface="+mn-ea"/>
          <a:cs typeface="+mn-cs"/>
          <a:sym typeface="Helvetica"/>
        </a:defRPr>
      </a:lvl9pPr>
    </p:titleStyle>
    <p:bodyStyle>
      <a:lvl1pPr marL="0" marR="0" indent="0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Tx/>
        <a:buFont typeface="Arial" charset="0"/>
        <a:buNone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1pPr>
      <a:lvl2pPr marL="456286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2pPr>
      <a:lvl3pPr marL="912573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3pPr>
      <a:lvl4pPr marL="1368858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4pPr>
      <a:lvl5pPr marL="1825144" marR="0" indent="-273772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 typeface="Arial" charset="0"/>
        <a:buChar char="•"/>
        <a:tabLst/>
        <a:defRPr sz="1996" b="0" i="0" u="none" strike="noStrike" cap="none" spc="0" baseline="0">
          <a:ln>
            <a:noFill/>
          </a:ln>
          <a:solidFill>
            <a:schemeClr val="tx1"/>
          </a:solidFill>
          <a:uFillTx/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  <a:sym typeface="Helvetica"/>
        </a:defRPr>
      </a:lvl5pPr>
      <a:lvl6pPr marL="2646459" marR="0" indent="-365029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6pPr>
      <a:lvl7pPr marL="3102745" marR="0" indent="-365029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7pPr>
      <a:lvl8pPr marL="3559030" marR="0" indent="-365028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8pPr>
      <a:lvl9pPr marL="4015317" marR="0" indent="-365028" algn="l" defTabSz="912573" rtl="0" eaLnBrk="1" latinLnBrk="0" hangingPunct="1">
        <a:lnSpc>
          <a:spcPct val="100000"/>
        </a:lnSpc>
        <a:spcBef>
          <a:spcPts val="698"/>
        </a:spcBef>
        <a:spcAft>
          <a:spcPts val="0"/>
        </a:spcAft>
        <a:buClrTx/>
        <a:buSzPct val="100000"/>
        <a:buFontTx/>
        <a:buChar char="•"/>
        <a:tabLst/>
        <a:defRPr sz="3194" b="0" i="0" u="none" strike="noStrike" cap="none" spc="0" baseline="0">
          <a:ln>
            <a:noFill/>
          </a:ln>
          <a:solidFill>
            <a:srgbClr val="072941"/>
          </a:solidFill>
          <a:uFillTx/>
          <a:latin typeface="+mn-lt"/>
          <a:ea typeface="+mn-ea"/>
          <a:cs typeface="+mn-cs"/>
          <a:sym typeface="Helvetica"/>
        </a:defRPr>
      </a:lvl9pPr>
    </p:bodyStyle>
    <p:otherStyle>
      <a:lvl1pPr marL="0" marR="0" indent="0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1pPr>
      <a:lvl2pPr marL="0" marR="0" indent="456286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2pPr>
      <a:lvl3pPr marL="0" marR="0" indent="912573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3pPr>
      <a:lvl4pPr marL="0" marR="0" indent="1368858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4pPr>
      <a:lvl5pPr marL="0" marR="0" indent="1825144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5pPr>
      <a:lvl6pPr marL="0" marR="0" indent="2281430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6pPr>
      <a:lvl7pPr marL="0" marR="0" indent="2737717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7pPr>
      <a:lvl8pPr marL="0" marR="0" indent="3194003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8pPr>
      <a:lvl9pPr marL="0" marR="0" indent="3650288" algn="ctr" defTabSz="912573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398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B6622AE-15AB-3693-1E20-3C4DCF1A34D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1999" cy="6858000"/>
          </a:xfrm>
          <a:prstGeom prst="rect">
            <a:avLst/>
          </a:prstGeom>
        </p:spPr>
      </p:pic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51FBB87-35F4-307D-73BC-BC1F29C1C60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81875" y="6487240"/>
            <a:ext cx="4248150" cy="246221"/>
          </a:xfrm>
          <a:prstGeom prst="rect">
            <a:avLst/>
          </a:prstGeom>
        </p:spPr>
        <p:txBody>
          <a:bodyPr/>
          <a:lstStyle>
            <a:lvl1pPr algn="ctr">
              <a:defRPr sz="9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pPr hangingPunct="1">
              <a:defRPr/>
            </a:pPr>
            <a:endParaRPr lang="en-US" kern="1200">
              <a:solidFill>
                <a:srgbClr val="04153D"/>
              </a:solidFill>
            </a:endParaRPr>
          </a:p>
        </p:txBody>
      </p:sp>
      <p:pic>
        <p:nvPicPr>
          <p:cNvPr id="3" name="Picture 2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id="{A1FFFA46-A092-173C-15EB-E829F3D653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1975" y="6441507"/>
            <a:ext cx="1073150" cy="319045"/>
          </a:xfrm>
          <a:prstGeom prst="rect">
            <a:avLst/>
          </a:prstGeom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13FE06A3-E275-89B9-7396-979DAB8C458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5240" y="6487240"/>
            <a:ext cx="437271" cy="246221"/>
          </a:xfrm>
          <a:prstGeom prst="rect">
            <a:avLst/>
          </a:prstGeom>
        </p:spPr>
        <p:txBody>
          <a:bodyPr anchor="ctr">
            <a:spAutoFit/>
          </a:bodyPr>
          <a:lstStyle>
            <a:lvl1pPr algn="ctr">
              <a:defRPr sz="100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fld id="{02D52048-A6CF-4AE3-B50C-6065BBDD86DF}" type="slidenum">
              <a:rPr lang="en-ID" smtClean="0"/>
              <a:pPr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6256767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21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7B6FDD-5B49-F4E4-9BAE-9284DCF14C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C2577-72F4-11E8-4992-51CB24293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t">
            <a:normAutofit/>
          </a:bodyPr>
          <a:lstStyle/>
          <a:p>
            <a:r>
              <a:rPr lang="en-US">
                <a:latin typeface="Aptos"/>
                <a:ea typeface="Calibri"/>
                <a:cs typeface="Calibri"/>
              </a:rPr>
              <a:t>1.4 </a:t>
            </a:r>
            <a:r>
              <a:rPr>
                <a:latin typeface="Aptos"/>
                <a:ea typeface="Calibri"/>
                <a:cs typeface="Calibri"/>
              </a:rPr>
              <a:t>Technical Architecture Review</a:t>
            </a:r>
            <a:endParaRPr lang="en-US">
              <a:latin typeface="Aptos"/>
              <a:ea typeface="Calibri"/>
              <a:cs typeface="Calibri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C66569-17E3-41A6-948F-6DAA4E6BFF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solidFill>
                  <a:srgbClr val="0070C0"/>
                </a:solidFill>
                <a:latin typeface="Aptos" panose="020B0004020202020204" pitchFamily="34" charset="0"/>
              </a:rPr>
              <a:t>1.</a:t>
            </a:r>
            <a:r>
              <a:rPr lang="en-US" b="1">
                <a:solidFill>
                  <a:srgbClr val="0070C0"/>
                </a:solidFill>
                <a:latin typeface="Aptos" panose="020B0004020202020204" pitchFamily="34" charset="0"/>
              </a:rPr>
              <a:t>4</a:t>
            </a:r>
            <a:r>
              <a:rPr b="1">
                <a:solidFill>
                  <a:srgbClr val="0070C0"/>
                </a:solidFill>
                <a:latin typeface="Aptos" panose="020B0004020202020204" pitchFamily="34" charset="0"/>
              </a:rPr>
              <a:t>.1 API Orchestration Strategy</a:t>
            </a:r>
          </a:p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Cost and scalability focus: orchestration patterns, Azure APIM guidance, AI token metering, and agentic system management.</a:t>
            </a:r>
          </a:p>
          <a:p>
            <a:pPr marL="0" indent="0">
              <a:buNone/>
            </a:pPr>
            <a:endParaRPr lang="en-US" b="1">
              <a:solidFill>
                <a:srgbClr val="0070C0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b="1">
                <a:solidFill>
                  <a:srgbClr val="0070C0"/>
                </a:solidFill>
                <a:latin typeface="Aptos" panose="020B0004020202020204" pitchFamily="34" charset="0"/>
              </a:rPr>
              <a:t>1.</a:t>
            </a:r>
            <a:r>
              <a:rPr lang="en-US" b="1">
                <a:solidFill>
                  <a:srgbClr val="0070C0"/>
                </a:solidFill>
                <a:latin typeface="Aptos" panose="020B0004020202020204" pitchFamily="34" charset="0"/>
              </a:rPr>
              <a:t>4</a:t>
            </a:r>
            <a:r>
              <a:rPr b="1">
                <a:solidFill>
                  <a:srgbClr val="0070C0"/>
                </a:solidFill>
                <a:latin typeface="Aptos" panose="020B0004020202020204" pitchFamily="34" charset="0"/>
              </a:rPr>
              <a:t>.2 MCP Opportunities</a:t>
            </a:r>
          </a:p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Model Context Protocol deep-dive: architecture patterns, implementation options, security considerations, and AI agent interoperability.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9E36FC-E103-E80B-96D2-E42B4DD2F0F0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solidFill>
                  <a:srgbClr val="0070C0"/>
                </a:solidFill>
                <a:latin typeface="Aptos" panose="020B0004020202020204" pitchFamily="34" charset="0"/>
              </a:rPr>
              <a:t>1.</a:t>
            </a:r>
            <a:r>
              <a:rPr lang="en-US" b="1">
                <a:solidFill>
                  <a:srgbClr val="0070C0"/>
                </a:solidFill>
                <a:latin typeface="Aptos" panose="020B0004020202020204" pitchFamily="34" charset="0"/>
              </a:rPr>
              <a:t>4</a:t>
            </a:r>
            <a:r>
              <a:rPr b="1">
                <a:solidFill>
                  <a:srgbClr val="0070C0"/>
                </a:solidFill>
                <a:latin typeface="Aptos" panose="020B0004020202020204" pitchFamily="34" charset="0"/>
              </a:rPr>
              <a:t>.3 Agent Lifecycle Management</a:t>
            </a:r>
          </a:p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Platform-agnostic 6-stage lifecycle framework with Agent Card model, governance integration touchpoints, and platform-specific mapping.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938CFE-766A-8403-5E52-13E78345D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1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4176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9FDEE-9293-0DE7-DF6F-93FCFE5DE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35DB0C-531D-DF41-25AC-F62981924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t">
            <a:normAutofit/>
          </a:bodyPr>
          <a:lstStyle/>
          <a:p>
            <a:r>
              <a:rPr lang="en-US">
                <a:latin typeface="Aptos"/>
              </a:rPr>
              <a:t>1.4 Technical Architecture Review</a:t>
            </a:r>
            <a:endParaRPr lang="en-US" b="0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F6D34-38ED-5110-1607-62D6D00D8E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solidFill>
                  <a:srgbClr val="0070C0"/>
                </a:solidFill>
                <a:latin typeface="Aptos" panose="020B0004020202020204" pitchFamily="34" charset="0"/>
              </a:rPr>
              <a:t>1.</a:t>
            </a:r>
            <a:r>
              <a:rPr lang="en-US" b="1">
                <a:solidFill>
                  <a:srgbClr val="0070C0"/>
                </a:solidFill>
                <a:latin typeface="Aptos" panose="020B0004020202020204" pitchFamily="34" charset="0"/>
              </a:rPr>
              <a:t>4</a:t>
            </a:r>
            <a:r>
              <a:rPr b="1">
                <a:solidFill>
                  <a:srgbClr val="0070C0"/>
                </a:solidFill>
                <a:latin typeface="Aptos" panose="020B0004020202020204" pitchFamily="34" charset="0"/>
              </a:rPr>
              <a:t>.1 API Orchestration Strategy</a:t>
            </a:r>
          </a:p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Cost and scalability focus: orchestration patterns, Azure APIM guidance, AI token metering, and agentic system management.</a:t>
            </a:r>
          </a:p>
          <a:p>
            <a:pPr marL="0" indent="0">
              <a:buNone/>
            </a:pPr>
            <a:endParaRPr lang="en-US" b="1">
              <a:solidFill>
                <a:srgbClr val="0070C0"/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b="1">
                <a:solidFill>
                  <a:srgbClr val="0070C0"/>
                </a:solidFill>
                <a:latin typeface="Aptos" panose="020B0004020202020204" pitchFamily="34" charset="0"/>
              </a:rPr>
              <a:t>1.</a:t>
            </a:r>
            <a:r>
              <a:rPr lang="en-US" b="1">
                <a:solidFill>
                  <a:srgbClr val="0070C0"/>
                </a:solidFill>
                <a:latin typeface="Aptos" panose="020B0004020202020204" pitchFamily="34" charset="0"/>
              </a:rPr>
              <a:t>4</a:t>
            </a:r>
            <a:r>
              <a:rPr b="1">
                <a:solidFill>
                  <a:srgbClr val="0070C0"/>
                </a:solidFill>
                <a:latin typeface="Aptos" panose="020B0004020202020204" pitchFamily="34" charset="0"/>
              </a:rPr>
              <a:t>.2 MCP Opportunities</a:t>
            </a:r>
          </a:p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Model Context Protocol deep-dive: architecture patterns, implementation options, security considerations, and AI agent interoperability.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6FA1ED-95DD-D06E-94A8-091EA7AD7BF3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1.</a:t>
            </a:r>
            <a:r>
              <a:rPr lang="en-US" b="1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4</a:t>
            </a:r>
            <a:r>
              <a:rPr b="1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.3 Agent Lifecycle Management</a:t>
            </a:r>
          </a:p>
          <a:p>
            <a:pPr marL="0" indent="0">
              <a:buNone/>
            </a:pPr>
            <a:r>
              <a:rPr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Platform-agnostic 6-stage lifecycle framework with Agent Card model, governance integration touchpoints, and platform-specific mapping.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048EFE-5B6D-CAAC-B96F-B002F57F16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2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924047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rasterized-gradient-c60373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10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3341" y="368530"/>
            <a:ext cx="5583175" cy="446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3520"/>
              </a:lnSpc>
            </a:pPr>
            <a:r>
              <a:rPr lang="en-US" sz="3200" b="1">
                <a:solidFill>
                  <a:srgbClr val="00336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API Orchestration Strategy</a:t>
            </a:r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83340" y="891611"/>
            <a:ext cx="11140440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  <a:spcBef>
                <a:spcPts val="600"/>
              </a:spcBef>
            </a:pPr>
            <a:r>
              <a:rPr lang="en-US" sz="1300">
                <a:solidFill>
                  <a:srgbClr val="71809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Stellantis Financial Services US | January 2025 (45 slides)</a:t>
            </a:r>
            <a:endParaRPr lang="en-US" sz="1300">
              <a:latin typeface="Aptos" panose="020B0004020202020204" pitchFamily="34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35001" y="1987407"/>
            <a:ext cx="5302249" cy="3458171"/>
          </a:xfrm>
          <a:prstGeom prst="roundRect">
            <a:avLst>
              <a:gd name="adj" fmla="val 2938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666751" y="1987407"/>
            <a:ext cx="0" cy="3458171"/>
          </a:xfrm>
          <a:prstGeom prst="line">
            <a:avLst/>
          </a:prstGeom>
          <a:noFill/>
          <a:ln w="47625">
            <a:solidFill>
              <a:srgbClr val="003366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952500" y="2241407"/>
            <a:ext cx="482536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  <a:spcAft>
                <a:spcPts val="1200"/>
              </a:spcAft>
            </a:pPr>
            <a:r>
              <a:rPr lang="en-US" sz="1200">
                <a:solidFill>
                  <a:srgbClr val="0066C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COST &amp; SCALABILITY OPPORTUNITIES</a:t>
            </a:r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952500" y="2607129"/>
            <a:ext cx="4825365" cy="742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1"/>
              </a:lnSpc>
              <a:spcAft>
                <a:spcPts val="1400"/>
              </a:spcAft>
            </a:pPr>
            <a:r>
              <a:rPr lang="en-US" sz="1300">
                <a:solidFill>
                  <a:srgbClr val="1A1A2E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Orchestration patterns and decision rubrics for the MuleSoft to Azure APIM migration. Covers API gateway strategies, event-driven architecture, and hybrid approaches.</a:t>
            </a:r>
            <a:endParaRPr lang="en-US" sz="1300">
              <a:latin typeface="Aptos" panose="020B0004020202020204" pitchFamily="34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52500" y="3527878"/>
            <a:ext cx="4825365" cy="742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1"/>
              </a:lnSpc>
              <a:spcAft>
                <a:spcPts val="1400"/>
              </a:spcAft>
            </a:pPr>
            <a:r>
              <a:rPr lang="en-US" sz="1300">
                <a:solidFill>
                  <a:srgbClr val="1A1A2E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Azure APIM capabilities mapped to SFS needs: authentication, rate limiting, caching, analytics, and process layer compute options (.NET, Functions, Durable Functions).</a:t>
            </a:r>
            <a:endParaRPr lang="en-US" sz="1300">
              <a:latin typeface="Aptos" panose="020B0004020202020204" pitchFamily="34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952500" y="4448629"/>
            <a:ext cx="4825365" cy="742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1"/>
              </a:lnSpc>
            </a:pPr>
            <a:r>
              <a:rPr lang="en-US" sz="1300">
                <a:solidFill>
                  <a:srgbClr val="1A1A2E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AI token metering patterns and cost tracking infrastructure. Agentic system management including agent registry, orchestration models, and governance frameworks.</a:t>
            </a:r>
            <a:endParaRPr lang="en-US" sz="1300">
              <a:latin typeface="Aptos" panose="020B0004020202020204" pitchFamily="34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242051" y="1974707"/>
            <a:ext cx="5314951" cy="3483571"/>
          </a:xfrm>
          <a:prstGeom prst="roundRect">
            <a:avLst>
              <a:gd name="adj" fmla="val 2917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6242051" y="1981057"/>
            <a:ext cx="5314951" cy="0"/>
          </a:xfrm>
          <a:prstGeom prst="line">
            <a:avLst/>
          </a:prstGeom>
          <a:noFill/>
          <a:ln w="9525">
            <a:solidFill>
              <a:srgbClr val="C5D4E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4" name="Shape 11"/>
          <p:cNvSpPr/>
          <p:nvPr/>
        </p:nvSpPr>
        <p:spPr>
          <a:xfrm>
            <a:off x="11550651" y="1974707"/>
            <a:ext cx="0" cy="3483571"/>
          </a:xfrm>
          <a:prstGeom prst="line">
            <a:avLst/>
          </a:prstGeom>
          <a:noFill/>
          <a:ln w="9525">
            <a:solidFill>
              <a:srgbClr val="C5D4E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242051" y="5451928"/>
            <a:ext cx="5314951" cy="0"/>
          </a:xfrm>
          <a:prstGeom prst="line">
            <a:avLst/>
          </a:prstGeom>
          <a:noFill/>
          <a:ln w="9525">
            <a:solidFill>
              <a:srgbClr val="C5D4E3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6" name="Shape 13"/>
          <p:cNvSpPr/>
          <p:nvPr/>
        </p:nvSpPr>
        <p:spPr>
          <a:xfrm>
            <a:off x="6273800" y="1974707"/>
            <a:ext cx="0" cy="3483571"/>
          </a:xfrm>
          <a:prstGeom prst="line">
            <a:avLst/>
          </a:prstGeom>
          <a:noFill/>
          <a:ln w="47625">
            <a:solidFill>
              <a:srgbClr val="0066CC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6559551" y="2241407"/>
            <a:ext cx="4825365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  <a:spcAft>
                <a:spcPts val="1200"/>
              </a:spcAft>
            </a:pPr>
            <a:r>
              <a:rPr lang="en-US" sz="1200">
                <a:solidFill>
                  <a:srgbClr val="0066C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MODEL CONTEXT PROTOCOL DEEP-DIVE</a:t>
            </a:r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6559551" y="2607129"/>
            <a:ext cx="4825365" cy="742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1"/>
              </a:lnSpc>
              <a:spcAft>
                <a:spcPts val="1400"/>
              </a:spcAft>
            </a:pPr>
            <a:r>
              <a:rPr lang="en-US" sz="1300">
                <a:solidFill>
                  <a:srgbClr val="1A1A2E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Architecture patterns for MCP: gateway-level vs. domain-level server implementations. Mapping SFS APIs to MCP tools with schema examples.</a:t>
            </a:r>
            <a:endParaRPr lang="en-US" sz="1300">
              <a:latin typeface="Aptos" panose="020B0004020202020204" pitchFamily="34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6559551" y="3527878"/>
            <a:ext cx="4825365" cy="742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1"/>
              </a:lnSpc>
              <a:spcAft>
                <a:spcPts val="1400"/>
              </a:spcAft>
            </a:pPr>
            <a:r>
              <a:rPr lang="en-US" sz="1300">
                <a:solidFill>
                  <a:srgbClr val="1A1A2E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Implementation options and adoption considerations. Platform-native alternatives (Azure AI function calling, Einstein Apex actions, Genesys bot flows).</a:t>
            </a:r>
            <a:endParaRPr lang="en-US" sz="1300">
              <a:latin typeface="Aptos" panose="020B0004020202020204" pitchFamily="34" charset="0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6559551" y="4448629"/>
            <a:ext cx="4825365" cy="7429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951"/>
              </a:lnSpc>
            </a:pPr>
            <a:r>
              <a:rPr lang="en-US" sz="1300">
                <a:solidFill>
                  <a:srgbClr val="1A1A2E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Security considerations: MCP as audit surface enhancement, not attack surface expansion. Existing SFS controls integration and guardrails.</a:t>
            </a:r>
            <a:endParaRPr lang="en-US" sz="13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90239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1001" y="304800"/>
            <a:ext cx="58422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3200" b="1">
                <a:solidFill>
                  <a:srgbClr val="003366"/>
                </a:solidFill>
                <a:latin typeface="Aptos" panose="020B0004020202020204" pitchFamily="34" charset="0"/>
                <a:cs typeface="Arial" pitchFamily="34" charset="-120"/>
              </a:rPr>
              <a:t>Deliverable</a:t>
            </a:r>
            <a:r>
              <a:rPr lang="en-US" sz="2600" b="1">
                <a:solidFill>
                  <a:srgbClr val="00336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3200" b="1">
                <a:solidFill>
                  <a:srgbClr val="003366"/>
                </a:solidFill>
                <a:latin typeface="Aptos" panose="020B0004020202020204" pitchFamily="34" charset="0"/>
                <a:cs typeface="Arial" pitchFamily="34" charset="-120"/>
              </a:rPr>
              <a:t>Structure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A60CAFA-336A-644D-D8DE-B3ABF72D0525}"/>
              </a:ext>
            </a:extLst>
          </p:cNvPr>
          <p:cNvGrpSpPr/>
          <p:nvPr/>
        </p:nvGrpSpPr>
        <p:grpSpPr>
          <a:xfrm>
            <a:off x="134319" y="1229532"/>
            <a:ext cx="11954359" cy="4173723"/>
            <a:chOff x="381000" y="1662559"/>
            <a:chExt cx="8382000" cy="2389882"/>
          </a:xfrm>
        </p:grpSpPr>
        <p:sp>
          <p:nvSpPr>
            <p:cNvPr id="4" name="Text 2"/>
            <p:cNvSpPr/>
            <p:nvPr/>
          </p:nvSpPr>
          <p:spPr>
            <a:xfrm>
              <a:off x="381000" y="1662559"/>
              <a:ext cx="4095750" cy="733127"/>
            </a:xfrm>
            <a:prstGeom prst="roundRect">
              <a:avLst>
                <a:gd name="adj" fmla="val 7795"/>
              </a:avLst>
            </a:prstGeom>
            <a:solidFill>
              <a:srgbClr val="F8FAFC"/>
            </a:solidFill>
            <a:ln/>
          </p:spPr>
          <p:txBody>
            <a:bodyPr wrap="square" rtlCol="0" anchor="ctr"/>
            <a:lstStyle/>
            <a:p>
              <a:endParaRPr lang="en-US" sz="4267">
                <a:latin typeface="Aptos" panose="020B0004020202020204" pitchFamily="34" charset="0"/>
              </a:endParaRPr>
            </a:p>
          </p:txBody>
        </p:sp>
        <p:sp>
          <p:nvSpPr>
            <p:cNvPr id="5" name="Shape 3"/>
            <p:cNvSpPr/>
            <p:nvPr/>
          </p:nvSpPr>
          <p:spPr>
            <a:xfrm>
              <a:off x="395288" y="1662559"/>
              <a:ext cx="0" cy="733127"/>
            </a:xfrm>
            <a:prstGeom prst="line">
              <a:avLst/>
            </a:prstGeom>
            <a:noFill/>
            <a:ln w="28575">
              <a:solidFill>
                <a:srgbClr val="003366"/>
              </a:solidFill>
              <a:prstDash val="solid"/>
            </a:ln>
          </p:spPr>
          <p:txBody>
            <a:bodyPr/>
            <a:lstStyle/>
            <a:p>
              <a:endParaRPr lang="en-US" sz="4267">
                <a:latin typeface="Aptos" panose="020B0004020202020204" pitchFamily="34" charset="0"/>
              </a:endParaRPr>
            </a:p>
          </p:txBody>
        </p:sp>
        <p:sp>
          <p:nvSpPr>
            <p:cNvPr id="6" name="Text 4"/>
            <p:cNvSpPr/>
            <p:nvPr/>
          </p:nvSpPr>
          <p:spPr>
            <a:xfrm>
              <a:off x="542925" y="1776859"/>
              <a:ext cx="3876485" cy="173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820"/>
                </a:lnSpc>
                <a:spcAft>
                  <a:spcPts val="400"/>
                </a:spcAft>
              </a:pPr>
              <a:r>
                <a:rPr lang="en-US" sz="1600" b="1">
                  <a:solidFill>
                    <a:srgbClr val="003366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1. Foundations </a:t>
              </a:r>
              <a:r>
                <a:rPr lang="en-US" sz="1467">
                  <a:solidFill>
                    <a:srgbClr val="718096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(11 slides)</a:t>
              </a:r>
              <a:endParaRPr lang="en-US" sz="1600">
                <a:latin typeface="Aptos" panose="020B0004020202020204" pitchFamily="34" charset="0"/>
              </a:endParaRPr>
            </a:p>
          </p:txBody>
        </p:sp>
        <p:sp>
          <p:nvSpPr>
            <p:cNvPr id="7" name="Text 5"/>
            <p:cNvSpPr/>
            <p:nvPr/>
          </p:nvSpPr>
          <p:spPr>
            <a:xfrm>
              <a:off x="542925" y="1988195"/>
              <a:ext cx="3876485" cy="2931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540"/>
                </a:lnSpc>
              </a:pPr>
              <a:r>
                <a:rPr lang="en-US" sz="1467">
                  <a:solidFill>
                    <a:srgbClr val="4A556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Orchestration patterns, decision rubric, Azure APIM capabilities, MuleSoft migration considerations, compute options</a:t>
              </a:r>
              <a:endParaRPr lang="en-US" sz="1467">
                <a:latin typeface="Aptos" panose="020B0004020202020204" pitchFamily="34" charset="0"/>
              </a:endParaRPr>
            </a:p>
          </p:txBody>
        </p:sp>
        <p:sp>
          <p:nvSpPr>
            <p:cNvPr id="8" name="Text 6"/>
            <p:cNvSpPr/>
            <p:nvPr/>
          </p:nvSpPr>
          <p:spPr>
            <a:xfrm>
              <a:off x="381000" y="2490936"/>
              <a:ext cx="4095750" cy="733127"/>
            </a:xfrm>
            <a:prstGeom prst="roundRect">
              <a:avLst>
                <a:gd name="adj" fmla="val 7795"/>
              </a:avLst>
            </a:prstGeom>
            <a:solidFill>
              <a:srgbClr val="F8FAFC"/>
            </a:solidFill>
            <a:ln/>
          </p:spPr>
          <p:txBody>
            <a:bodyPr wrap="square" rtlCol="0" anchor="ctr"/>
            <a:lstStyle/>
            <a:p>
              <a:endParaRPr lang="en-US" sz="4267">
                <a:latin typeface="Aptos" panose="020B0004020202020204" pitchFamily="34" charset="0"/>
              </a:endParaRPr>
            </a:p>
          </p:txBody>
        </p:sp>
        <p:sp>
          <p:nvSpPr>
            <p:cNvPr id="9" name="Shape 7"/>
            <p:cNvSpPr/>
            <p:nvPr/>
          </p:nvSpPr>
          <p:spPr>
            <a:xfrm>
              <a:off x="395288" y="2490936"/>
              <a:ext cx="0" cy="733127"/>
            </a:xfrm>
            <a:prstGeom prst="line">
              <a:avLst/>
            </a:prstGeom>
            <a:noFill/>
            <a:ln w="28575">
              <a:solidFill>
                <a:srgbClr val="0066CC"/>
              </a:solidFill>
              <a:prstDash val="solid"/>
            </a:ln>
          </p:spPr>
          <p:txBody>
            <a:bodyPr/>
            <a:lstStyle/>
            <a:p>
              <a:endParaRPr lang="en-US" sz="4267">
                <a:latin typeface="Aptos" panose="020B0004020202020204" pitchFamily="34" charset="0"/>
              </a:endParaRPr>
            </a:p>
          </p:txBody>
        </p:sp>
        <p:sp>
          <p:nvSpPr>
            <p:cNvPr id="10" name="Text 8"/>
            <p:cNvSpPr/>
            <p:nvPr/>
          </p:nvSpPr>
          <p:spPr>
            <a:xfrm>
              <a:off x="542925" y="2605236"/>
              <a:ext cx="3876485" cy="173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820"/>
                </a:lnSpc>
                <a:spcAft>
                  <a:spcPts val="400"/>
                </a:spcAft>
              </a:pPr>
              <a:r>
                <a:rPr lang="en-US" sz="1600" b="1">
                  <a:solidFill>
                    <a:srgbClr val="003366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2. Cost Monitoring &amp; Token Tracking </a:t>
              </a:r>
              <a:r>
                <a:rPr lang="en-US" sz="1467">
                  <a:solidFill>
                    <a:srgbClr val="718096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(6 slides)</a:t>
              </a:r>
              <a:endParaRPr lang="en-US" sz="1600">
                <a:latin typeface="Aptos" panose="020B0004020202020204" pitchFamily="34" charset="0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542925" y="2816572"/>
              <a:ext cx="3876485" cy="2931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540"/>
                </a:lnSpc>
              </a:pPr>
              <a:r>
                <a:rPr lang="en-US" sz="1467">
                  <a:solidFill>
                    <a:srgbClr val="4A556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API cost tracking architecture, AI token metering patterns (gateway proxy, SDK wrapper, async), chargeback foundation</a:t>
              </a:r>
              <a:endParaRPr lang="en-US" sz="1467">
                <a:latin typeface="Aptos" panose="020B0004020202020204" pitchFamily="34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381000" y="3319314"/>
              <a:ext cx="4095750" cy="733127"/>
            </a:xfrm>
            <a:prstGeom prst="roundRect">
              <a:avLst>
                <a:gd name="adj" fmla="val 7795"/>
              </a:avLst>
            </a:prstGeom>
            <a:solidFill>
              <a:srgbClr val="F8FAFC"/>
            </a:solidFill>
            <a:ln/>
          </p:spPr>
          <p:txBody>
            <a:bodyPr wrap="square" rtlCol="0" anchor="ctr"/>
            <a:lstStyle/>
            <a:p>
              <a:endParaRPr lang="en-US" sz="4267">
                <a:latin typeface="Aptos" panose="020B0004020202020204" pitchFamily="34" charset="0"/>
              </a:endParaRPr>
            </a:p>
          </p:txBody>
        </p:sp>
        <p:sp>
          <p:nvSpPr>
            <p:cNvPr id="13" name="Shape 11"/>
            <p:cNvSpPr/>
            <p:nvPr/>
          </p:nvSpPr>
          <p:spPr>
            <a:xfrm>
              <a:off x="395288" y="3319314"/>
              <a:ext cx="0" cy="733127"/>
            </a:xfrm>
            <a:prstGeom prst="line">
              <a:avLst/>
            </a:prstGeom>
            <a:noFill/>
            <a:ln w="28575">
              <a:solidFill>
                <a:srgbClr val="2D7D9A"/>
              </a:solidFill>
              <a:prstDash val="solid"/>
            </a:ln>
          </p:spPr>
          <p:txBody>
            <a:bodyPr/>
            <a:lstStyle/>
            <a:p>
              <a:endParaRPr lang="en-US" sz="4267">
                <a:latin typeface="Aptos" panose="020B0004020202020204" pitchFamily="34" charset="0"/>
              </a:endParaRPr>
            </a:p>
          </p:txBody>
        </p:sp>
        <p:sp>
          <p:nvSpPr>
            <p:cNvPr id="14" name="Text 12"/>
            <p:cNvSpPr/>
            <p:nvPr/>
          </p:nvSpPr>
          <p:spPr>
            <a:xfrm>
              <a:off x="542925" y="3433614"/>
              <a:ext cx="3876485" cy="173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820"/>
                </a:lnSpc>
                <a:spcAft>
                  <a:spcPts val="400"/>
                </a:spcAft>
              </a:pPr>
              <a:r>
                <a:rPr lang="en-US" sz="1600" b="1">
                  <a:solidFill>
                    <a:srgbClr val="003366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3. Agentic System Management </a:t>
              </a:r>
              <a:r>
                <a:rPr lang="en-US" sz="1467">
                  <a:solidFill>
                    <a:srgbClr val="718096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(7 slides)</a:t>
              </a:r>
              <a:endParaRPr lang="en-US" sz="1600">
                <a:latin typeface="Aptos" panose="020B0004020202020204" pitchFamily="34" charset="0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542925" y="3644950"/>
              <a:ext cx="3876485" cy="2931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540"/>
                </a:lnSpc>
              </a:pPr>
              <a:r>
                <a:rPr lang="en-US" sz="1467">
                  <a:solidFill>
                    <a:srgbClr val="4A556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Agent registry patterns, decision engines (FICO, Remarketing), orchestration models, architecture with and without MCP</a:t>
              </a:r>
              <a:endParaRPr lang="en-US" sz="1467">
                <a:latin typeface="Aptos" panose="020B0004020202020204" pitchFamily="34" charset="0"/>
              </a:endParaRPr>
            </a:p>
          </p:txBody>
        </p:sp>
        <p:sp>
          <p:nvSpPr>
            <p:cNvPr id="16" name="Text 14"/>
            <p:cNvSpPr/>
            <p:nvPr/>
          </p:nvSpPr>
          <p:spPr>
            <a:xfrm>
              <a:off x="4667250" y="1662559"/>
              <a:ext cx="4095750" cy="733127"/>
            </a:xfrm>
            <a:prstGeom prst="roundRect">
              <a:avLst>
                <a:gd name="adj" fmla="val 7795"/>
              </a:avLst>
            </a:prstGeom>
            <a:solidFill>
              <a:srgbClr val="F8FAFC"/>
            </a:solidFill>
            <a:ln/>
          </p:spPr>
          <p:txBody>
            <a:bodyPr wrap="square" rtlCol="0" anchor="ctr"/>
            <a:lstStyle/>
            <a:p>
              <a:endParaRPr lang="en-US" sz="4267">
                <a:latin typeface="Aptos" panose="020B0004020202020204" pitchFamily="34" charset="0"/>
              </a:endParaRPr>
            </a:p>
          </p:txBody>
        </p:sp>
        <p:sp>
          <p:nvSpPr>
            <p:cNvPr id="17" name="Shape 15"/>
            <p:cNvSpPr/>
            <p:nvPr/>
          </p:nvSpPr>
          <p:spPr>
            <a:xfrm>
              <a:off x="4681538" y="1662559"/>
              <a:ext cx="0" cy="733127"/>
            </a:xfrm>
            <a:prstGeom prst="line">
              <a:avLst/>
            </a:prstGeom>
            <a:noFill/>
            <a:ln w="28575">
              <a:solidFill>
                <a:srgbClr val="5A67D8"/>
              </a:solidFill>
              <a:prstDash val="solid"/>
            </a:ln>
          </p:spPr>
          <p:txBody>
            <a:bodyPr/>
            <a:lstStyle/>
            <a:p>
              <a:endParaRPr lang="en-US" sz="4267">
                <a:latin typeface="Aptos" panose="020B0004020202020204" pitchFamily="34" charset="0"/>
              </a:endParaRPr>
            </a:p>
          </p:txBody>
        </p:sp>
        <p:sp>
          <p:nvSpPr>
            <p:cNvPr id="18" name="Text 16"/>
            <p:cNvSpPr/>
            <p:nvPr/>
          </p:nvSpPr>
          <p:spPr>
            <a:xfrm>
              <a:off x="4829175" y="1776859"/>
              <a:ext cx="3876485" cy="173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820"/>
                </a:lnSpc>
                <a:spcAft>
                  <a:spcPts val="400"/>
                </a:spcAft>
              </a:pPr>
              <a:r>
                <a:rPr lang="en-US" sz="1600" b="1">
                  <a:solidFill>
                    <a:srgbClr val="003366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4. SFS-Specific Recommendations </a:t>
              </a:r>
              <a:r>
                <a:rPr lang="en-US" sz="1467">
                  <a:solidFill>
                    <a:srgbClr val="718096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(6 slides)</a:t>
              </a:r>
              <a:endParaRPr lang="en-US" sz="1600">
                <a:latin typeface="Aptos" panose="020B0004020202020204" pitchFamily="34" charset="0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4829175" y="1988195"/>
              <a:ext cx="3876485" cy="2931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540"/>
                </a:lnSpc>
              </a:pPr>
              <a:r>
                <a:rPr lang="en-US" sz="1467">
                  <a:solidFill>
                    <a:srgbClr val="4A556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Proposed timeframes (3 phases), Azure migration integration, platform readiness checklist, quick wins, governance framework</a:t>
              </a:r>
              <a:endParaRPr lang="en-US" sz="1467">
                <a:latin typeface="Aptos" panose="020B0004020202020204" pitchFamily="34" charset="0"/>
              </a:endParaRPr>
            </a:p>
          </p:txBody>
        </p:sp>
        <p:sp>
          <p:nvSpPr>
            <p:cNvPr id="20" name="Text 18"/>
            <p:cNvSpPr/>
            <p:nvPr/>
          </p:nvSpPr>
          <p:spPr>
            <a:xfrm>
              <a:off x="4667250" y="2490936"/>
              <a:ext cx="4095750" cy="733127"/>
            </a:xfrm>
            <a:prstGeom prst="roundRect">
              <a:avLst>
                <a:gd name="adj" fmla="val 7795"/>
              </a:avLst>
            </a:prstGeom>
            <a:solidFill>
              <a:srgbClr val="F8FAFC"/>
            </a:solidFill>
            <a:ln/>
          </p:spPr>
          <p:txBody>
            <a:bodyPr wrap="square" rtlCol="0" anchor="ctr"/>
            <a:lstStyle/>
            <a:p>
              <a:endParaRPr lang="en-US" sz="4267">
                <a:latin typeface="Aptos" panose="020B0004020202020204" pitchFamily="34" charset="0"/>
              </a:endParaRPr>
            </a:p>
          </p:txBody>
        </p:sp>
        <p:sp>
          <p:nvSpPr>
            <p:cNvPr id="21" name="Shape 19"/>
            <p:cNvSpPr/>
            <p:nvPr/>
          </p:nvSpPr>
          <p:spPr>
            <a:xfrm>
              <a:off x="4681538" y="2490936"/>
              <a:ext cx="0" cy="733127"/>
            </a:xfrm>
            <a:prstGeom prst="line">
              <a:avLst/>
            </a:prstGeom>
            <a:noFill/>
            <a:ln w="28575">
              <a:solidFill>
                <a:srgbClr val="C53030"/>
              </a:solidFill>
              <a:prstDash val="solid"/>
            </a:ln>
          </p:spPr>
          <p:txBody>
            <a:bodyPr/>
            <a:lstStyle/>
            <a:p>
              <a:endParaRPr lang="en-US" sz="4267">
                <a:latin typeface="Aptos" panose="020B0004020202020204" pitchFamily="34" charset="0"/>
              </a:endParaRPr>
            </a:p>
          </p:txBody>
        </p:sp>
        <p:sp>
          <p:nvSpPr>
            <p:cNvPr id="22" name="Text 20"/>
            <p:cNvSpPr/>
            <p:nvPr/>
          </p:nvSpPr>
          <p:spPr>
            <a:xfrm>
              <a:off x="4829175" y="2605236"/>
              <a:ext cx="3876485" cy="173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820"/>
                </a:lnSpc>
                <a:spcAft>
                  <a:spcPts val="400"/>
                </a:spcAft>
              </a:pPr>
              <a:r>
                <a:rPr lang="en-US" sz="1600" b="1">
                  <a:solidFill>
                    <a:srgbClr val="003366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5. MCP Deep Dive </a:t>
              </a:r>
              <a:r>
                <a:rPr lang="en-US" sz="1467">
                  <a:solidFill>
                    <a:srgbClr val="718096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(12 slides)</a:t>
              </a:r>
              <a:endParaRPr lang="en-US" sz="1600">
                <a:latin typeface="Aptos" panose="020B0004020202020204" pitchFamily="34" charset="0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4829175" y="2816572"/>
              <a:ext cx="3876485" cy="2931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540"/>
                </a:lnSpc>
              </a:pPr>
              <a:r>
                <a:rPr lang="en-US" sz="1467">
                  <a:solidFill>
                    <a:srgbClr val="4A556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Protocol overview, architecture concepts, server implementation options, API-to-tool mapping, security considerations, non-MCP alternatives</a:t>
              </a:r>
              <a:endParaRPr lang="en-US" sz="1467">
                <a:latin typeface="Aptos" panose="020B0004020202020204" pitchFamily="34" charset="0"/>
              </a:endParaRPr>
            </a:p>
          </p:txBody>
        </p:sp>
        <p:sp>
          <p:nvSpPr>
            <p:cNvPr id="24" name="Text 22"/>
            <p:cNvSpPr/>
            <p:nvPr/>
          </p:nvSpPr>
          <p:spPr>
            <a:xfrm>
              <a:off x="4667250" y="3319314"/>
              <a:ext cx="4095750" cy="733127"/>
            </a:xfrm>
            <a:prstGeom prst="roundRect">
              <a:avLst>
                <a:gd name="adj" fmla="val 7795"/>
              </a:avLst>
            </a:prstGeom>
            <a:solidFill>
              <a:srgbClr val="F8FAFC"/>
            </a:solidFill>
            <a:ln/>
          </p:spPr>
          <p:txBody>
            <a:bodyPr wrap="square" rtlCol="0" anchor="ctr"/>
            <a:lstStyle/>
            <a:p>
              <a:endParaRPr lang="en-US" sz="4267">
                <a:latin typeface="Aptos" panose="020B0004020202020204" pitchFamily="34" charset="0"/>
              </a:endParaRPr>
            </a:p>
          </p:txBody>
        </p:sp>
        <p:sp>
          <p:nvSpPr>
            <p:cNvPr id="25" name="Shape 23"/>
            <p:cNvSpPr/>
            <p:nvPr/>
          </p:nvSpPr>
          <p:spPr>
            <a:xfrm>
              <a:off x="4681538" y="3319314"/>
              <a:ext cx="0" cy="733127"/>
            </a:xfrm>
            <a:prstGeom prst="line">
              <a:avLst/>
            </a:prstGeom>
            <a:noFill/>
            <a:ln w="28575">
              <a:solidFill>
                <a:srgbClr val="718096"/>
              </a:solidFill>
              <a:prstDash val="solid"/>
            </a:ln>
          </p:spPr>
          <p:txBody>
            <a:bodyPr/>
            <a:lstStyle/>
            <a:p>
              <a:endParaRPr lang="en-US" sz="4267">
                <a:latin typeface="Aptos" panose="020B0004020202020204" pitchFamily="34" charset="0"/>
              </a:endParaRPr>
            </a:p>
          </p:txBody>
        </p:sp>
        <p:sp>
          <p:nvSpPr>
            <p:cNvPr id="26" name="Text 24"/>
            <p:cNvSpPr/>
            <p:nvPr/>
          </p:nvSpPr>
          <p:spPr>
            <a:xfrm>
              <a:off x="4829175" y="3433614"/>
              <a:ext cx="3876485" cy="17323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820"/>
                </a:lnSpc>
                <a:spcAft>
                  <a:spcPts val="400"/>
                </a:spcAft>
              </a:pPr>
              <a:r>
                <a:rPr lang="en-US" sz="1600" b="1">
                  <a:solidFill>
                    <a:srgbClr val="003366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6. Appendix </a:t>
              </a:r>
              <a:r>
                <a:rPr lang="en-US" sz="1467">
                  <a:solidFill>
                    <a:srgbClr val="718096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(3 slides)</a:t>
              </a:r>
              <a:endParaRPr lang="en-US" sz="1600">
                <a:latin typeface="Aptos" panose="020B0004020202020204" pitchFamily="34" charset="0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4829175" y="3644950"/>
              <a:ext cx="3876485" cy="293191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540"/>
                </a:lnSpc>
              </a:pPr>
              <a:r>
                <a:rPr lang="en-US" sz="1467">
                  <a:solidFill>
                    <a:srgbClr val="4A5568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Glossary of orchestration and AI terms, MuleSoft to Azure APIM comparison table, migration lessons learned</a:t>
              </a:r>
              <a:endParaRPr lang="en-US" sz="1467">
                <a:latin typeface="Aptos" panose="020B0004020202020204" pitchFamily="34" charset="0"/>
              </a:endParaRPr>
            </a:p>
          </p:txBody>
        </p:sp>
      </p:grpSp>
      <p:sp>
        <p:nvSpPr>
          <p:cNvPr id="28" name="Text 26"/>
          <p:cNvSpPr/>
          <p:nvPr/>
        </p:nvSpPr>
        <p:spPr>
          <a:xfrm>
            <a:off x="508001" y="6375400"/>
            <a:ext cx="4975145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00">
                <a:solidFill>
                  <a:srgbClr val="71809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Section 5 (MCP) is the largest, reflecting strategic importance of this emerging protocol</a:t>
            </a:r>
            <a:endParaRPr lang="en-US" sz="1000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17072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6200"/>
          </a:xfrm>
          <a:prstGeom prst="rect">
            <a:avLst/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81001" y="304800"/>
            <a:ext cx="584225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</a:pPr>
            <a:r>
              <a:rPr lang="en-US" sz="3200" b="1">
                <a:solidFill>
                  <a:srgbClr val="00336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508000" y="1585516"/>
            <a:ext cx="5461000" cy="1216421"/>
          </a:xfrm>
          <a:prstGeom prst="roundRect">
            <a:avLst>
              <a:gd name="adj" fmla="val 6264"/>
            </a:avLst>
          </a:prstGeom>
          <a:solidFill>
            <a:srgbClr val="003366"/>
          </a:solidFill>
          <a:ln/>
        </p:spPr>
        <p:txBody>
          <a:bodyPr wrap="square" rtlCol="0" anchor="ctr"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1" y="1737916"/>
            <a:ext cx="5207508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600"/>
              </a:spcAft>
            </a:pPr>
            <a:r>
              <a:rPr lang="en-US" sz="1333">
                <a:solidFill>
                  <a:srgbClr val="FFFFFF">
                    <a:alpha val="70000"/>
                  </a:srgb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STRATEGIC CONTEXT</a:t>
            </a:r>
            <a:endParaRPr lang="en-US" sz="1333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685801" y="2009577"/>
            <a:ext cx="5207508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400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18-month MuleSoft to Azure APIM migration with 65 APIs. Emerging AI/agentic capabilities require governance framework. Cost attribution critical for sustainable AI adoption.</a:t>
            </a:r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08000" y="2954338"/>
            <a:ext cx="5461000" cy="1260673"/>
          </a:xfrm>
          <a:prstGeom prst="roundRect">
            <a:avLst>
              <a:gd name="adj" fmla="val 604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5801" y="3106738"/>
            <a:ext cx="5207508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600"/>
              </a:spcAft>
            </a:pPr>
            <a:r>
              <a:rPr lang="en-US" sz="1333">
                <a:solidFill>
                  <a:srgbClr val="0066C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CORE RECOMMENDATION</a:t>
            </a:r>
            <a:endParaRPr lang="en-US" sz="1333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85801" y="3378399"/>
            <a:ext cx="520750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  <a:spcAft>
                <a:spcPts val="600"/>
              </a:spcAft>
            </a:pPr>
            <a:r>
              <a:rPr lang="en-US" sz="1400" b="1">
                <a:solidFill>
                  <a:srgbClr val="00336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Hybrid Orchestration Pattern</a:t>
            </a:r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685801" y="3685581"/>
            <a:ext cx="5207508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85"/>
              </a:lnSpc>
            </a:pPr>
            <a:r>
              <a:rPr lang="en-US" sz="1333">
                <a:solidFill>
                  <a:srgbClr val="4A556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API Gateway for real-time management and governance. Event-Driven for batch processes and Salesforce Platform Events.</a:t>
            </a:r>
            <a:endParaRPr lang="en-US" sz="1333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08000" y="4367412"/>
            <a:ext cx="5461000" cy="1260673"/>
          </a:xfrm>
          <a:prstGeom prst="roundRect">
            <a:avLst>
              <a:gd name="adj" fmla="val 6044"/>
            </a:avLst>
          </a:prstGeom>
          <a:solidFill>
            <a:srgbClr val="F0F4F8"/>
          </a:solidFill>
          <a:ln/>
        </p:spPr>
        <p:txBody>
          <a:bodyPr wrap="square" rtlCol="0" anchor="ctr"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85801" y="4519811"/>
            <a:ext cx="5207508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600"/>
              </a:spcAft>
            </a:pPr>
            <a:r>
              <a:rPr lang="en-US" sz="1333">
                <a:solidFill>
                  <a:srgbClr val="0066C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PROCESS LAYER DEFAULT</a:t>
            </a:r>
            <a:endParaRPr lang="en-US" sz="1333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685801" y="4791472"/>
            <a:ext cx="5207508" cy="2309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820"/>
              </a:lnSpc>
              <a:spcAft>
                <a:spcPts val="600"/>
              </a:spcAft>
            </a:pPr>
            <a:r>
              <a:rPr lang="en-US" sz="1400" b="1">
                <a:solidFill>
                  <a:srgbClr val="00336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.NET APIs with APIM Gateway</a:t>
            </a:r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685801" y="5098654"/>
            <a:ext cx="5207508" cy="3770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85"/>
              </a:lnSpc>
            </a:pPr>
            <a:r>
              <a:rPr lang="en-US" sz="1333">
                <a:solidFill>
                  <a:srgbClr val="4A556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Team expertise, full control, testable. Functions for event triggers, Durable Functions for long-running workflows.</a:t>
            </a:r>
            <a:endParaRPr lang="en-US" sz="1333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223000" y="1589392"/>
            <a:ext cx="5461000" cy="1191883"/>
          </a:xfrm>
          <a:prstGeom prst="roundRect">
            <a:avLst>
              <a:gd name="adj" fmla="val 590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413500" y="1692499"/>
            <a:ext cx="5181600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600"/>
              </a:spcAft>
            </a:pPr>
            <a:r>
              <a:rPr lang="en-US" sz="1333">
                <a:solidFill>
                  <a:srgbClr val="71809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PROPOSED TIMEFRAMES</a:t>
            </a:r>
            <a:endParaRPr lang="en-US" sz="1333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413500" y="1964160"/>
            <a:ext cx="5181600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</a:pPr>
            <a:r>
              <a:rPr lang="en-US" sz="1333" b="1">
                <a:solidFill>
                  <a:srgbClr val="2D374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Months 1-6:</a:t>
            </a:r>
            <a:r>
              <a:rPr lang="en-US" sz="1333">
                <a:solidFill>
                  <a:srgbClr val="2D374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Foundation (pilot APIs, tagging </a:t>
            </a:r>
            <a:r>
              <a:rPr lang="en-US" sz="1333" err="1">
                <a:solidFill>
                  <a:srgbClr val="2D374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stds</a:t>
            </a:r>
            <a:r>
              <a:rPr lang="en-US" sz="1333">
                <a:solidFill>
                  <a:srgbClr val="2D374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, Azure Monitoring)</a:t>
            </a:r>
            <a:endParaRPr lang="en-US" sz="1333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13500" y="2210422"/>
            <a:ext cx="5181600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Bef>
                <a:spcPts val="400"/>
              </a:spcBef>
            </a:pPr>
            <a:r>
              <a:rPr lang="en-US" sz="1333" b="1">
                <a:solidFill>
                  <a:srgbClr val="2D374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Months 7-12:</a:t>
            </a:r>
            <a:r>
              <a:rPr lang="en-US" sz="1333">
                <a:solidFill>
                  <a:srgbClr val="2D374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Expansion (token tracking, agent registry, MCP pilot)</a:t>
            </a:r>
            <a:endParaRPr lang="en-US" sz="1333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413500" y="2456683"/>
            <a:ext cx="5181600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Bef>
                <a:spcPts val="400"/>
              </a:spcBef>
            </a:pPr>
            <a:r>
              <a:rPr lang="en-US" sz="1333" b="1">
                <a:solidFill>
                  <a:srgbClr val="2D374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Months 13-18:</a:t>
            </a:r>
            <a:r>
              <a:rPr lang="en-US" sz="1333">
                <a:solidFill>
                  <a:srgbClr val="2D374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Optimization (chargeback model, MCP expansion)</a:t>
            </a:r>
            <a:endParaRPr lang="en-US" sz="1333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23000" y="2944244"/>
            <a:ext cx="5461000" cy="1270768"/>
          </a:xfrm>
          <a:prstGeom prst="roundRect">
            <a:avLst>
              <a:gd name="adj" fmla="val 7675"/>
            </a:avLst>
          </a:prstGeom>
          <a:solidFill>
            <a:srgbClr val="FFF5F5"/>
          </a:solidFill>
          <a:ln w="9525">
            <a:solidFill>
              <a:srgbClr val="FED7D7"/>
            </a:solidFill>
          </a:ln>
        </p:spPr>
        <p:txBody>
          <a:bodyPr wrap="square" rtlCol="0" anchor="ctr"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413500" y="3145072"/>
            <a:ext cx="5181600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600"/>
              </a:spcAft>
            </a:pPr>
            <a:r>
              <a:rPr lang="en-US" sz="1333">
                <a:solidFill>
                  <a:srgbClr val="C53030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MCP POSITION</a:t>
            </a:r>
            <a:endParaRPr lang="en-US" sz="1333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413500" y="3416734"/>
            <a:ext cx="5181600" cy="390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</a:pPr>
            <a:r>
              <a:rPr lang="en-US" sz="1333" b="1">
                <a:solidFill>
                  <a:srgbClr val="2D374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Strategic direction, not immediate requirement.</a:t>
            </a:r>
            <a:r>
              <a:rPr lang="en-US" sz="1333">
                <a:solidFill>
                  <a:srgbClr val="2D374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Design APIs to be MCP-ready. Pilot in 2026 with single domain. Increases audit surface, not attack surface.</a:t>
            </a:r>
            <a:endParaRPr lang="en-US" sz="1333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6223000" y="4404121"/>
            <a:ext cx="5461000" cy="1223963"/>
          </a:xfrm>
          <a:prstGeom prst="roundRect">
            <a:avLst>
              <a:gd name="adj" fmla="val 7675"/>
            </a:avLst>
          </a:prstGeom>
          <a:solidFill>
            <a:srgbClr val="F0FFF4"/>
          </a:solidFill>
          <a:ln w="9525">
            <a:solidFill>
              <a:srgbClr val="C6F6D5"/>
            </a:solidFill>
          </a:ln>
        </p:spPr>
        <p:txBody>
          <a:bodyPr wrap="square" rtlCol="0" anchor="ctr"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413500" y="4569222"/>
            <a:ext cx="5181600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600"/>
              </a:spcAft>
            </a:pPr>
            <a:r>
              <a:rPr lang="en-US" sz="1333">
                <a:solidFill>
                  <a:srgbClr val="276749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QUICK WINS</a:t>
            </a:r>
            <a:endParaRPr lang="en-US" sz="1333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413500" y="4840884"/>
            <a:ext cx="5181600" cy="3909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</a:pPr>
            <a:r>
              <a:rPr lang="en-US" sz="1333">
                <a:solidFill>
                  <a:srgbClr val="2D3748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Add cost tags during migration (avoid retrofit) | Rate limit expensive APIs (FICO, RDN, Datascan) | Formalize AI governance policy</a:t>
            </a:r>
            <a:endParaRPr lang="en-US" sz="1333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08000" y="6197600"/>
            <a:ext cx="8999794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>
                <a:solidFill>
                  <a:srgbClr val="718096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Key principle: Embed governance into existing work streams rather than separate initiatives</a:t>
            </a:r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7857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90575E-9FEF-A7CF-F054-615F07BB5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757C2-C897-B5CA-D2E4-CB3BC6132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45719" tIns="45720" rIns="45719" bIns="45720" anchor="t">
            <a:normAutofit/>
          </a:bodyPr>
          <a:lstStyle/>
          <a:p>
            <a:r>
              <a:rPr lang="en-US">
                <a:latin typeface="Aptos"/>
              </a:rPr>
              <a:t>1.4 Technical Architecture Review</a:t>
            </a:r>
            <a:endParaRPr lang="en-US" b="0">
              <a:solidFill>
                <a:srgbClr val="000000"/>
              </a:solidFill>
              <a:latin typeface="Aptos"/>
            </a:endParaRPr>
          </a:p>
          <a:p>
            <a:pPr marL="0" indent="0">
              <a:buNone/>
            </a:pPr>
            <a:endParaRPr sz="2800">
              <a:latin typeface="Aptos" panose="020B00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51FFBE-7441-CBAF-11CC-34F6CF40F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1.</a:t>
            </a:r>
            <a:r>
              <a:rPr lang="en-US" b="1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4</a:t>
            </a:r>
            <a:r>
              <a:rPr b="1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.1 API Orchestration Strategy</a:t>
            </a:r>
          </a:p>
          <a:p>
            <a:pPr marL="0" indent="0">
              <a:buNone/>
            </a:pPr>
            <a:r>
              <a:rPr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Cost and scalability focus: orchestration patterns, Azure APIM guidance, AI token metering, and agentic system management.</a:t>
            </a:r>
          </a:p>
          <a:p>
            <a:pPr marL="0" indent="0">
              <a:buNone/>
            </a:pPr>
            <a:endParaRPr lang="en-US" b="1">
              <a:solidFill>
                <a:schemeClr val="bg1">
                  <a:lumMod val="65000"/>
                </a:schemeClr>
              </a:solidFill>
              <a:latin typeface="Aptos" panose="020B0004020202020204" pitchFamily="34" charset="0"/>
            </a:endParaRPr>
          </a:p>
          <a:p>
            <a:pPr marL="0" indent="0">
              <a:buNone/>
            </a:pPr>
            <a:r>
              <a:rPr b="1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1.</a:t>
            </a:r>
            <a:r>
              <a:rPr lang="en-US" b="1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4</a:t>
            </a:r>
            <a:r>
              <a:rPr b="1"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.2 MCP Opportunities</a:t>
            </a:r>
          </a:p>
          <a:p>
            <a:pPr marL="0" indent="0">
              <a:buNone/>
            </a:pPr>
            <a:r>
              <a:rPr>
                <a:solidFill>
                  <a:schemeClr val="bg1">
                    <a:lumMod val="65000"/>
                  </a:schemeClr>
                </a:solidFill>
                <a:latin typeface="Aptos" panose="020B0004020202020204" pitchFamily="34" charset="0"/>
              </a:rPr>
              <a:t>Model Context Protocol deep-dive: architecture patterns, implementation options, security considerations, and AI agent interoperability.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D3A428-16CD-7747-CB59-EF1D4DD63811}"/>
              </a:ext>
            </a:extLst>
          </p:cNvPr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pPr marL="0" indent="0">
              <a:buNone/>
            </a:pPr>
            <a:r>
              <a:rPr b="1">
                <a:solidFill>
                  <a:srgbClr val="0070C0"/>
                </a:solidFill>
                <a:latin typeface="Aptos" panose="020B0004020202020204" pitchFamily="34" charset="0"/>
              </a:rPr>
              <a:t>1.</a:t>
            </a:r>
            <a:r>
              <a:rPr lang="en-US" b="1">
                <a:solidFill>
                  <a:srgbClr val="0070C0"/>
                </a:solidFill>
                <a:latin typeface="Aptos" panose="020B0004020202020204" pitchFamily="34" charset="0"/>
              </a:rPr>
              <a:t>4</a:t>
            </a:r>
            <a:r>
              <a:rPr b="1">
                <a:solidFill>
                  <a:srgbClr val="0070C0"/>
                </a:solidFill>
                <a:latin typeface="Aptos" panose="020B0004020202020204" pitchFamily="34" charset="0"/>
              </a:rPr>
              <a:t>.3 Agent Lifecycle Management</a:t>
            </a:r>
          </a:p>
          <a:p>
            <a:pPr marL="0" indent="0">
              <a:buNone/>
            </a:pPr>
            <a:r>
              <a:rPr>
                <a:latin typeface="Aptos" panose="020B0004020202020204" pitchFamily="34" charset="0"/>
              </a:rPr>
              <a:t>Platform-agnostic 6-stage lifecycle framework with Agent Card model, governance integration touchpoints, and platform-specific mapping.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4C30DA-6A09-C08F-6361-E881E6321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2638FE-01C9-41BA-BE25-085106FB5C8A}" type="slidenum">
              <a:rPr lang="en-US" smtClean="0">
                <a:latin typeface="Aptos" panose="020B0004020202020204" pitchFamily="34" charset="0"/>
              </a:rPr>
              <a:t>6</a:t>
            </a:fld>
            <a:endParaRPr lang="en-US">
              <a:latin typeface="Aptos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98663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254000"/>
            <a:ext cx="11379200" cy="381000"/>
          </a:xfrm>
          <a:prstGeom prst="roundRect">
            <a:avLst>
              <a:gd name="adj" fmla="val 13333"/>
            </a:avLst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0400" y="355600"/>
            <a:ext cx="1108862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STELLANTIS FINANCIAL SERVICES | AGENT LIFECYCLE MANAGEMENT APPROACH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400" y="990600"/>
            <a:ext cx="58163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  <a:spcAft>
                <a:spcPts val="200"/>
              </a:spcAft>
            </a:pPr>
            <a:r>
              <a:rPr lang="en-US" sz="2400" b="1">
                <a:solidFill>
                  <a:srgbClr val="1A3A5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Deck Structure Overview</a:t>
            </a:r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6400" y="1320800"/>
            <a:ext cx="11606784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</a:pPr>
            <a:r>
              <a:rPr lang="en-US" sz="1400">
                <a:solidFill>
                  <a:srgbClr val="5A6A7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7 sections covering AI agent governance from ideation to decommissioning</a:t>
            </a:r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06400" y="2299295"/>
            <a:ext cx="3708400" cy="1216224"/>
          </a:xfrm>
          <a:prstGeom prst="roundRect">
            <a:avLst>
              <a:gd name="adj" fmla="val 417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endParaRPr lang="en-US" sz="2800"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25451" y="2299295"/>
            <a:ext cx="0" cy="1216224"/>
          </a:xfrm>
          <a:prstGeom prst="line">
            <a:avLst/>
          </a:prstGeom>
          <a:noFill/>
          <a:ln w="28575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 sz="280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96900" y="2426295"/>
            <a:ext cx="3432811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Aft>
                <a:spcPts val="200"/>
              </a:spcAft>
            </a:pPr>
            <a:r>
              <a:rPr lang="en-US" sz="1000" b="1">
                <a:solidFill>
                  <a:srgbClr val="2E7D9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01 CONTEXT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96900" y="2611636"/>
            <a:ext cx="3432811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400"/>
              </a:spcAft>
            </a:pPr>
            <a:r>
              <a:rPr lang="en-US" sz="1200" b="1">
                <a:solidFill>
                  <a:srgbClr val="1A3A5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Context and Challenge</a:t>
            </a:r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96900" y="2857898"/>
            <a:ext cx="3432811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000">
                <a:solidFill>
                  <a:srgbClr val="5A6A7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Why agent lifecycle management matters. Industry stats: 80% risky behaviors, 40%+ project failures predicted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96900" y="3228579"/>
            <a:ext cx="3432811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Bef>
                <a:spcPts val="400"/>
              </a:spcBef>
            </a:pPr>
            <a:r>
              <a:rPr lang="en-US" sz="1000" b="1">
                <a:solidFill>
                  <a:srgbClr val="2E7D9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Slides 1-6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4241800" y="2299295"/>
            <a:ext cx="3708400" cy="1216224"/>
          </a:xfrm>
          <a:prstGeom prst="roundRect">
            <a:avLst>
              <a:gd name="adj" fmla="val 417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endParaRPr lang="en-US" sz="2800">
              <a:latin typeface="Aptos" panose="020B0004020202020204" pitchFamily="34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4260851" y="2299295"/>
            <a:ext cx="0" cy="1216224"/>
          </a:xfrm>
          <a:prstGeom prst="line">
            <a:avLst/>
          </a:prstGeom>
          <a:noFill/>
          <a:ln w="28575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 sz="280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432300" y="2426295"/>
            <a:ext cx="3432811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Aft>
                <a:spcPts val="200"/>
              </a:spcAft>
            </a:pPr>
            <a:r>
              <a:rPr lang="en-US" sz="1000" b="1">
                <a:solidFill>
                  <a:srgbClr val="2E7D9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02 CURRENT STATE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432300" y="2611636"/>
            <a:ext cx="3432811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400"/>
              </a:spcAft>
            </a:pPr>
            <a:r>
              <a:rPr lang="en-US" sz="1200" b="1">
                <a:solidFill>
                  <a:srgbClr val="1A3A5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SFS AI Governance v1.0</a:t>
            </a:r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432300" y="2857898"/>
            <a:ext cx="3432811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000">
                <a:solidFill>
                  <a:srgbClr val="5A6A7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Existing foundation and identified gaps. Steering Committee structure, missing registry, no drift detection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432300" y="3228579"/>
            <a:ext cx="3432811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Bef>
                <a:spcPts val="400"/>
              </a:spcBef>
            </a:pPr>
            <a:r>
              <a:rPr lang="en-US" sz="1000" b="1">
                <a:solidFill>
                  <a:srgbClr val="2E7D9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Slides 7-9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077200" y="2299295"/>
            <a:ext cx="3708400" cy="1216224"/>
          </a:xfrm>
          <a:prstGeom prst="roundRect">
            <a:avLst>
              <a:gd name="adj" fmla="val 417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endParaRPr lang="en-US" sz="280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096251" y="2299295"/>
            <a:ext cx="0" cy="1216224"/>
          </a:xfrm>
          <a:prstGeom prst="line">
            <a:avLst/>
          </a:prstGeom>
          <a:noFill/>
          <a:ln w="28575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 sz="280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267700" y="2426295"/>
            <a:ext cx="3432811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Aft>
                <a:spcPts val="200"/>
              </a:spcAft>
            </a:pPr>
            <a:r>
              <a:rPr lang="en-US" sz="1000" b="1">
                <a:solidFill>
                  <a:srgbClr val="2E7D9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03 FRAMEWORK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267700" y="2611636"/>
            <a:ext cx="3432811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400"/>
              </a:spcAft>
            </a:pPr>
            <a:r>
              <a:rPr lang="en-US" sz="1200" b="1">
                <a:solidFill>
                  <a:srgbClr val="1A3A5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Recommended Lifecycle</a:t>
            </a:r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267700" y="2857898"/>
            <a:ext cx="3432811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000">
                <a:solidFill>
                  <a:srgbClr val="5A6A7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6-stage lifecycle with Agent Registry as system of record. Ideation through Decommissioning flow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67700" y="3228579"/>
            <a:ext cx="3432811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Bef>
                <a:spcPts val="400"/>
              </a:spcBef>
            </a:pPr>
            <a:r>
              <a:rPr lang="en-US" sz="1000" b="1">
                <a:solidFill>
                  <a:srgbClr val="2E7D9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Slides 10-16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406400" y="3617119"/>
            <a:ext cx="3708400" cy="1216224"/>
          </a:xfrm>
          <a:prstGeom prst="roundRect">
            <a:avLst>
              <a:gd name="adj" fmla="val 417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endParaRPr lang="en-US" sz="2800">
              <a:latin typeface="Aptos" panose="020B0004020202020204" pitchFamily="34" charset="0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25451" y="3617119"/>
            <a:ext cx="0" cy="1216224"/>
          </a:xfrm>
          <a:prstGeom prst="line">
            <a:avLst/>
          </a:prstGeom>
          <a:noFill/>
          <a:ln w="28575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 sz="280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96900" y="3744119"/>
            <a:ext cx="3432811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Aft>
                <a:spcPts val="200"/>
              </a:spcAft>
            </a:pPr>
            <a:r>
              <a:rPr lang="en-US" sz="1000" b="1">
                <a:solidFill>
                  <a:srgbClr val="2E7D9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04 RISK TIERING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96900" y="3929460"/>
            <a:ext cx="3432811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400"/>
              </a:spcAft>
            </a:pPr>
            <a:r>
              <a:rPr lang="en-US" sz="1200" b="1">
                <a:solidFill>
                  <a:srgbClr val="1A3A5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Governance by Tier</a:t>
            </a:r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96900" y="4175721"/>
            <a:ext cx="3432811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000">
                <a:solidFill>
                  <a:srgbClr val="5A6A7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4-tier framework: Critical (T1) through Low (T4). Controls proportional to risk level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96900" y="4546402"/>
            <a:ext cx="3432811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Bef>
                <a:spcPts val="400"/>
              </a:spcBef>
            </a:pPr>
            <a:r>
              <a:rPr lang="en-US" sz="1000" b="1">
                <a:solidFill>
                  <a:srgbClr val="2E7D9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Slide 17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4241800" y="3617119"/>
            <a:ext cx="3708400" cy="1216224"/>
          </a:xfrm>
          <a:prstGeom prst="roundRect">
            <a:avLst>
              <a:gd name="adj" fmla="val 417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endParaRPr lang="en-US" sz="2800">
              <a:latin typeface="Aptos" panose="020B0004020202020204" pitchFamily="34" charset="0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4260851" y="3617119"/>
            <a:ext cx="0" cy="1216224"/>
          </a:xfrm>
          <a:prstGeom prst="line">
            <a:avLst/>
          </a:prstGeom>
          <a:noFill/>
          <a:ln w="28575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 sz="2800">
              <a:latin typeface="Aptos" panose="020B0004020202020204" pitchFamily="34" charset="0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4432300" y="3744119"/>
            <a:ext cx="3432811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Aft>
                <a:spcPts val="200"/>
              </a:spcAft>
            </a:pPr>
            <a:r>
              <a:rPr lang="en-US" sz="1000" b="1">
                <a:solidFill>
                  <a:srgbClr val="2E7D9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05 PLATFORMS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4432300" y="3929460"/>
            <a:ext cx="3432811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400"/>
              </a:spcAft>
            </a:pPr>
            <a:r>
              <a:rPr lang="en-US" sz="1200" b="1">
                <a:solidFill>
                  <a:srgbClr val="1A3A5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Implementation Specifics</a:t>
            </a:r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4432300" y="4175721"/>
            <a:ext cx="3432811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000">
                <a:solidFill>
                  <a:srgbClr val="5A6A7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Azure, Genesys, Salesforce implementations. MCP/A2A interoperability landscape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4432300" y="4546402"/>
            <a:ext cx="3432811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Bef>
                <a:spcPts val="400"/>
              </a:spcBef>
            </a:pPr>
            <a:r>
              <a:rPr lang="en-US" sz="1000" b="1">
                <a:solidFill>
                  <a:srgbClr val="2E7D9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Slides 18-19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077200" y="3617119"/>
            <a:ext cx="3708400" cy="1216224"/>
          </a:xfrm>
          <a:prstGeom prst="roundRect">
            <a:avLst>
              <a:gd name="adj" fmla="val 417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endParaRPr lang="en-US" sz="2800">
              <a:latin typeface="Aptos" panose="020B0004020202020204" pitchFamily="34" charset="0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096251" y="3617119"/>
            <a:ext cx="0" cy="1216224"/>
          </a:xfrm>
          <a:prstGeom prst="line">
            <a:avLst/>
          </a:prstGeom>
          <a:noFill/>
          <a:ln w="28575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 sz="2800">
              <a:latin typeface="Aptos" panose="020B0004020202020204" pitchFamily="34" charset="0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267700" y="3744119"/>
            <a:ext cx="3432811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Aft>
                <a:spcPts val="200"/>
              </a:spcAft>
            </a:pPr>
            <a:r>
              <a:rPr lang="en-US" sz="1000" b="1">
                <a:solidFill>
                  <a:srgbClr val="2E7D9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06 GOVERNANCE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267700" y="3929460"/>
            <a:ext cx="3432811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400"/>
              </a:spcAft>
            </a:pPr>
            <a:r>
              <a:rPr lang="en-US" sz="1200" b="1">
                <a:solidFill>
                  <a:srgbClr val="1A3A5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Integration and RACI</a:t>
            </a:r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267700" y="4175721"/>
            <a:ext cx="3432811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000">
                <a:solidFill>
                  <a:srgbClr val="5A6A7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Touchpoints by lifecycle stage. CDO accountability, Steering Committee roles defined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267700" y="4546402"/>
            <a:ext cx="3432811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Bef>
                <a:spcPts val="400"/>
              </a:spcBef>
            </a:pPr>
            <a:r>
              <a:rPr lang="en-US" sz="1000" b="1">
                <a:solidFill>
                  <a:srgbClr val="2E7D9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Slides 20-22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406402" y="4934943"/>
            <a:ext cx="5569677" cy="1216224"/>
          </a:xfrm>
          <a:prstGeom prst="roundRect">
            <a:avLst>
              <a:gd name="adj" fmla="val 417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endParaRPr lang="en-US" sz="2800">
              <a:latin typeface="Aptos" panose="020B0004020202020204" pitchFamily="34" charset="0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425451" y="4934943"/>
            <a:ext cx="0" cy="1216224"/>
          </a:xfrm>
          <a:prstGeom prst="line">
            <a:avLst/>
          </a:prstGeom>
          <a:noFill/>
          <a:ln w="28575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 sz="2800">
              <a:latin typeface="Aptos" panose="020B0004020202020204" pitchFamily="34" charset="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96901" y="5061943"/>
            <a:ext cx="718522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Aft>
                <a:spcPts val="200"/>
              </a:spcAft>
            </a:pPr>
            <a:r>
              <a:rPr lang="en-US" sz="1000" b="1">
                <a:solidFill>
                  <a:srgbClr val="2E7D9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07 NEXT STEPS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96901" y="5247283"/>
            <a:ext cx="7185220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400"/>
              </a:spcAft>
            </a:pPr>
            <a:r>
              <a:rPr lang="en-US" sz="1200" b="1">
                <a:solidFill>
                  <a:srgbClr val="1A3A5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Recommended Actions</a:t>
            </a:r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96902" y="5493545"/>
            <a:ext cx="5139335" cy="3198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000">
                <a:solidFill>
                  <a:srgbClr val="5A6A7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Immediate (0-3 mo): Establish registry, document practices, pilot process. Short-term (3-6 mo): Formalize artifacts, monitoring. Medium-term (6-12 mo): Azure tooling, cost attribution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96901" y="5864226"/>
            <a:ext cx="7185220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Bef>
                <a:spcPts val="400"/>
              </a:spcBef>
            </a:pPr>
            <a:r>
              <a:rPr lang="en-US" sz="1000" b="1">
                <a:solidFill>
                  <a:srgbClr val="2E7D9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Slides 23-26</a:t>
            </a:r>
            <a:endParaRPr lang="en-US" sz="1000">
              <a:latin typeface="Aptos" panose="020B0004020202020204" pitchFamily="34" charset="0"/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BE624C92-1FC5-14CE-E388-C05A93B4A219}"/>
              </a:ext>
            </a:extLst>
          </p:cNvPr>
          <p:cNvGrpSpPr/>
          <p:nvPr/>
        </p:nvGrpSpPr>
        <p:grpSpPr>
          <a:xfrm>
            <a:off x="6096001" y="4934943"/>
            <a:ext cx="5689600" cy="1216224"/>
            <a:chOff x="5940475" y="3701207"/>
            <a:chExt cx="2898725" cy="912168"/>
          </a:xfrm>
        </p:grpSpPr>
        <p:sp>
          <p:nvSpPr>
            <p:cNvPr id="48" name="Text 46"/>
            <p:cNvSpPr/>
            <p:nvPr/>
          </p:nvSpPr>
          <p:spPr>
            <a:xfrm>
              <a:off x="5940475" y="3701207"/>
              <a:ext cx="2898725" cy="912168"/>
            </a:xfrm>
            <a:prstGeom prst="roundRect">
              <a:avLst>
                <a:gd name="adj" fmla="val 4809"/>
              </a:avLst>
            </a:prstGeom>
            <a:solidFill>
              <a:srgbClr val="F5F7FA"/>
            </a:solidFill>
            <a:ln/>
          </p:spPr>
          <p:txBody>
            <a:bodyPr wrap="square" rtlCol="0" anchor="ctr"/>
            <a:lstStyle/>
            <a:p>
              <a:endParaRPr lang="en-US" sz="2800">
                <a:latin typeface="Aptos" panose="020B0004020202020204" pitchFamily="34" charset="0"/>
              </a:endParaRPr>
            </a:p>
          </p:txBody>
        </p:sp>
        <p:sp>
          <p:nvSpPr>
            <p:cNvPr id="49" name="Shape 47"/>
            <p:cNvSpPr/>
            <p:nvPr/>
          </p:nvSpPr>
          <p:spPr>
            <a:xfrm flipH="1">
              <a:off x="5954762" y="3701207"/>
              <a:ext cx="7888" cy="912168"/>
            </a:xfrm>
            <a:prstGeom prst="line">
              <a:avLst/>
            </a:prstGeom>
            <a:noFill/>
            <a:ln w="28575">
              <a:solidFill>
                <a:srgbClr val="5A6A7A"/>
              </a:solidFill>
              <a:prstDash val="solid"/>
            </a:ln>
          </p:spPr>
          <p:txBody>
            <a:bodyPr/>
            <a:lstStyle/>
            <a:p>
              <a:endParaRPr lang="en-US" sz="2800">
                <a:latin typeface="Aptos" panose="020B0004020202020204" pitchFamily="34" charset="0"/>
              </a:endParaRPr>
            </a:p>
          </p:txBody>
        </p:sp>
        <p:sp>
          <p:nvSpPr>
            <p:cNvPr id="50" name="Text 48"/>
            <p:cNvSpPr/>
            <p:nvPr/>
          </p:nvSpPr>
          <p:spPr>
            <a:xfrm>
              <a:off x="6083350" y="3856434"/>
              <a:ext cx="2694381" cy="1283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260"/>
                </a:lnSpc>
                <a:spcAft>
                  <a:spcPts val="200"/>
                </a:spcAft>
              </a:pPr>
              <a:r>
                <a:rPr lang="en-US" sz="1000" b="1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APPENDIX</a:t>
              </a:r>
              <a:endParaRPr lang="en-US" sz="1000">
                <a:latin typeface="Aptos" panose="020B0004020202020204" pitchFamily="34" charset="0"/>
              </a:endParaRPr>
            </a:p>
          </p:txBody>
        </p:sp>
        <p:sp>
          <p:nvSpPr>
            <p:cNvPr id="51" name="Text 49"/>
            <p:cNvSpPr/>
            <p:nvPr/>
          </p:nvSpPr>
          <p:spPr>
            <a:xfrm>
              <a:off x="6083350" y="3995440"/>
              <a:ext cx="2694381" cy="15691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540"/>
                </a:lnSpc>
                <a:spcAft>
                  <a:spcPts val="400"/>
                </a:spcAft>
              </a:pPr>
              <a:r>
                <a:rPr lang="en-US" sz="1200" b="1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Sources and Glossary</a:t>
              </a:r>
              <a:endParaRPr lang="en-US" sz="1200">
                <a:latin typeface="Aptos" panose="020B0004020202020204" pitchFamily="34" charset="0"/>
              </a:endParaRPr>
            </a:p>
          </p:txBody>
        </p:sp>
        <p:sp>
          <p:nvSpPr>
            <p:cNvPr id="52" name="Text 50"/>
            <p:cNvSpPr/>
            <p:nvPr/>
          </p:nvSpPr>
          <p:spPr>
            <a:xfrm>
              <a:off x="6083350" y="4180136"/>
              <a:ext cx="2694381" cy="1283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260"/>
                </a:lnSpc>
              </a:pPr>
              <a:r>
                <a:rPr lang="en-US" sz="1000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Industry stats citations, platform announcements, key term definitions</a:t>
              </a:r>
              <a:endParaRPr lang="en-US" sz="1000">
                <a:latin typeface="Aptos" panose="020B0004020202020204" pitchFamily="34" charset="0"/>
              </a:endParaRPr>
            </a:p>
          </p:txBody>
        </p:sp>
        <p:sp>
          <p:nvSpPr>
            <p:cNvPr id="53" name="Text 51"/>
            <p:cNvSpPr/>
            <p:nvPr/>
          </p:nvSpPr>
          <p:spPr>
            <a:xfrm>
              <a:off x="6083350" y="4338191"/>
              <a:ext cx="2694381" cy="12839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260"/>
                </a:lnSpc>
                <a:spcBef>
                  <a:spcPts val="400"/>
                </a:spcBef>
              </a:pPr>
              <a:r>
                <a:rPr lang="en-US" sz="1000" b="1">
                  <a:solidFill>
                    <a:srgbClr val="5A6A7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Slides 27-28</a:t>
              </a:r>
              <a:endParaRPr lang="en-US" sz="1000">
                <a:latin typeface="Aptos" panose="020B0004020202020204" pitchFamily="34" charset="0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254000"/>
            <a:ext cx="11379200" cy="381000"/>
          </a:xfrm>
          <a:prstGeom prst="roundRect">
            <a:avLst>
              <a:gd name="adj" fmla="val 13333"/>
            </a:avLst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0400" y="355600"/>
            <a:ext cx="1108862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STELLANTIS FINANCIAL SERVICES | AGENT LIFECYCLE MANAGEMENT | EXECUTIVE SUMMARY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400" y="990600"/>
            <a:ext cx="654177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600"/>
              </a:lnSpc>
              <a:spcAft>
                <a:spcPts val="200"/>
              </a:spcAft>
            </a:pPr>
            <a:r>
              <a:rPr lang="en-US" sz="2600" b="1">
                <a:solidFill>
                  <a:srgbClr val="1A3A5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Agent Lifecycle Management Framework</a:t>
            </a:r>
            <a:endParaRPr lang="en-US" sz="2600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6400" y="1346200"/>
            <a:ext cx="11606784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600">
                <a:solidFill>
                  <a:srgbClr val="5A6A7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 Platform-Agnostic Approach to AI Agent Governance — Summary of 28-Slide Deck</a:t>
            </a:r>
            <a:endParaRPr lang="en-US" sz="160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06401" y="2371925"/>
            <a:ext cx="5626100" cy="1128911"/>
          </a:xfrm>
          <a:prstGeom prst="roundRect">
            <a:avLst>
              <a:gd name="adj" fmla="val 4500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1800" y="2371925"/>
            <a:ext cx="0" cy="1128911"/>
          </a:xfrm>
          <a:prstGeom prst="line">
            <a:avLst/>
          </a:prstGeom>
          <a:noFill/>
          <a:ln w="381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35001" y="2524324"/>
            <a:ext cx="5324095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600"/>
              </a:spcAft>
            </a:pPr>
            <a:r>
              <a:rPr lang="en-US" sz="1400" b="1">
                <a:solidFill>
                  <a:srgbClr val="1A3A5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6-Stage Lifecycle Framework</a:t>
            </a:r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635001" y="2795984"/>
            <a:ext cx="5324095" cy="5524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1100">
                <a:solidFill>
                  <a:srgbClr val="1D1D1D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Comprehensive governance from </a:t>
            </a:r>
            <a:r>
              <a:rPr lang="en-US" sz="1100" b="1">
                <a:solidFill>
                  <a:srgbClr val="2E7D9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Ideation</a:t>
            </a:r>
            <a:r>
              <a:rPr lang="en-US" sz="1100">
                <a:solidFill>
                  <a:srgbClr val="1D1D1D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through </a:t>
            </a:r>
            <a:r>
              <a:rPr lang="en-US" sz="1100" b="1">
                <a:solidFill>
                  <a:srgbClr val="2E7D9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Decommissioning</a:t>
            </a:r>
            <a:r>
              <a:rPr lang="en-US" sz="1100">
                <a:solidFill>
                  <a:srgbClr val="1D1D1D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. Each stage defines required artifacts, approval gates, and accountability. Agent Registry serves as the central system of record.</a:t>
            </a:r>
            <a:endParaRPr lang="en-US" sz="1100">
              <a:latin typeface="Aptos" panose="020B0004020202020204" pitchFamily="34" charset="0"/>
            </a:endParaRPr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6F8A1026-7CB3-39D6-00C1-2130335E8B3D}"/>
              </a:ext>
            </a:extLst>
          </p:cNvPr>
          <p:cNvGrpSpPr/>
          <p:nvPr/>
        </p:nvGrpSpPr>
        <p:grpSpPr>
          <a:xfrm>
            <a:off x="6159501" y="2371925"/>
            <a:ext cx="5626100" cy="1128911"/>
            <a:chOff x="4619625" y="1847999"/>
            <a:chExt cx="4219575" cy="708571"/>
          </a:xfrm>
        </p:grpSpPr>
        <p:sp>
          <p:nvSpPr>
            <p:cNvPr id="10" name="Text 8"/>
            <p:cNvSpPr/>
            <p:nvPr/>
          </p:nvSpPr>
          <p:spPr>
            <a:xfrm>
              <a:off x="4619625" y="1847999"/>
              <a:ext cx="4219575" cy="708571"/>
            </a:xfrm>
            <a:prstGeom prst="roundRect">
              <a:avLst>
                <a:gd name="adj" fmla="val 5377"/>
              </a:avLst>
            </a:prstGeom>
            <a:solidFill>
              <a:srgbClr val="F5F7FA"/>
            </a:solidFill>
            <a:ln/>
          </p:spPr>
          <p:txBody>
            <a:bodyPr wrap="square" rtlCol="0" anchor="ctr"/>
            <a:lstStyle/>
            <a:p>
              <a:endParaRPr lang="en-US" sz="3200">
                <a:latin typeface="Aptos" panose="020B0004020202020204" pitchFamily="34" charset="0"/>
              </a:endParaRPr>
            </a:p>
          </p:txBody>
        </p:sp>
        <p:sp>
          <p:nvSpPr>
            <p:cNvPr id="11" name="Shape 9"/>
            <p:cNvSpPr/>
            <p:nvPr/>
          </p:nvSpPr>
          <p:spPr>
            <a:xfrm>
              <a:off x="4638675" y="1847999"/>
              <a:ext cx="0" cy="708571"/>
            </a:xfrm>
            <a:prstGeom prst="line">
              <a:avLst/>
            </a:prstGeom>
            <a:noFill/>
            <a:ln w="38100">
              <a:solidFill>
                <a:srgbClr val="1A3A5C"/>
              </a:solidFill>
              <a:prstDash val="solid"/>
            </a:ln>
          </p:spPr>
          <p:txBody>
            <a:bodyPr/>
            <a:lstStyle/>
            <a:p>
              <a:endParaRPr lang="en-US" sz="3200">
                <a:latin typeface="Aptos" panose="020B0004020202020204" pitchFamily="34" charset="0"/>
              </a:endParaRPr>
            </a:p>
          </p:txBody>
        </p:sp>
        <p:sp>
          <p:nvSpPr>
            <p:cNvPr id="12" name="Text 10"/>
            <p:cNvSpPr/>
            <p:nvPr/>
          </p:nvSpPr>
          <p:spPr>
            <a:xfrm>
              <a:off x="4791075" y="1962299"/>
              <a:ext cx="3993071" cy="14659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540"/>
                </a:lnSpc>
                <a:spcAft>
                  <a:spcPts val="600"/>
                </a:spcAft>
              </a:pPr>
              <a:r>
                <a:rPr lang="en-US" sz="1400" b="1">
                  <a:solidFill>
                    <a:srgbClr val="1A3A5C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4-Tier Risk Classification</a:t>
              </a:r>
              <a:endParaRPr lang="en-US" sz="1400">
                <a:latin typeface="Aptos" panose="020B0004020202020204" pitchFamily="34" charset="0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4791075" y="2166045"/>
              <a:ext cx="3993071" cy="27622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>
                <a:lnSpc>
                  <a:spcPts val="1451"/>
                </a:lnSpc>
              </a:pPr>
              <a:r>
                <a:rPr lang="en-US" sz="1100">
                  <a:solidFill>
                    <a:srgbClr val="1D1D1D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Proportional controls based on risk: </a:t>
              </a:r>
              <a:r>
                <a:rPr lang="en-US" sz="1100" b="1">
                  <a:solidFill>
                    <a:srgbClr val="2E7D9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Tier 1 (Critical)</a:t>
              </a:r>
              <a:r>
                <a:rPr lang="en-US" sz="1100">
                  <a:solidFill>
                    <a:srgbClr val="1D1D1D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 requires full committee review and human-in-the-loop; </a:t>
              </a:r>
              <a:r>
                <a:rPr lang="en-US" sz="1100" b="1">
                  <a:solidFill>
                    <a:srgbClr val="2E7D9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Tier 4 (Low)</a:t>
              </a:r>
              <a:r>
                <a:rPr lang="en-US" sz="1100">
                  <a:solidFill>
                    <a:srgbClr val="1D1D1D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 requires registration only.</a:t>
              </a:r>
              <a:endParaRPr lang="en-US" sz="1100">
                <a:latin typeface="Aptos" panose="020B0004020202020204" pitchFamily="34" charset="0"/>
              </a:endParaRPr>
            </a:p>
          </p:txBody>
        </p:sp>
      </p:grpSp>
      <p:sp>
        <p:nvSpPr>
          <p:cNvPr id="14" name="Text 12"/>
          <p:cNvSpPr/>
          <p:nvPr/>
        </p:nvSpPr>
        <p:spPr>
          <a:xfrm>
            <a:off x="406401" y="3602436"/>
            <a:ext cx="5626100" cy="944761"/>
          </a:xfrm>
          <a:prstGeom prst="roundRect">
            <a:avLst>
              <a:gd name="adj" fmla="val 537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31800" y="3602436"/>
            <a:ext cx="0" cy="944761"/>
          </a:xfrm>
          <a:prstGeom prst="line">
            <a:avLst/>
          </a:prstGeom>
          <a:noFill/>
          <a:ln w="381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35001" y="3754835"/>
            <a:ext cx="5324095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600"/>
              </a:spcAft>
            </a:pPr>
            <a:r>
              <a:rPr lang="en-US" sz="1400" b="1">
                <a:solidFill>
                  <a:srgbClr val="1A3A5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Platform-Specific Implementation</a:t>
            </a:r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35001" y="4026495"/>
            <a:ext cx="5324095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1100">
                <a:solidFill>
                  <a:srgbClr val="1D1D1D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Unified governance mapped to </a:t>
            </a:r>
            <a:r>
              <a:rPr lang="en-US" sz="1100" b="1">
                <a:solidFill>
                  <a:srgbClr val="2E7D9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Azure</a:t>
            </a:r>
            <a:r>
              <a:rPr lang="en-US" sz="1100">
                <a:solidFill>
                  <a:srgbClr val="1D1D1D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(ML workspace, Monitor), </a:t>
            </a:r>
            <a:r>
              <a:rPr lang="en-US" sz="1100" b="1">
                <a:solidFill>
                  <a:srgbClr val="2E7D9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Genesys</a:t>
            </a:r>
            <a:r>
              <a:rPr lang="en-US" sz="1100">
                <a:solidFill>
                  <a:srgbClr val="1D1D1D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(AI Studio, EDP), and </a:t>
            </a:r>
            <a:r>
              <a:rPr lang="en-US" sz="1100" b="1">
                <a:solidFill>
                  <a:srgbClr val="2E7D9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Salesforce</a:t>
            </a:r>
            <a:r>
              <a:rPr lang="en-US" sz="1100">
                <a:solidFill>
                  <a:srgbClr val="1D1D1D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(AgentBuilder). MCP/A2A interoperability readiness.</a:t>
            </a:r>
            <a:endParaRPr lang="en-US" sz="110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159501" y="3602436"/>
            <a:ext cx="5626100" cy="944761"/>
          </a:xfrm>
          <a:prstGeom prst="roundRect">
            <a:avLst>
              <a:gd name="adj" fmla="val 537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184900" y="3602436"/>
            <a:ext cx="0" cy="944761"/>
          </a:xfrm>
          <a:prstGeom prst="line">
            <a:avLst/>
          </a:prstGeom>
          <a:noFill/>
          <a:ln w="381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388101" y="3754835"/>
            <a:ext cx="5324095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600"/>
              </a:spcAft>
            </a:pPr>
            <a:r>
              <a:rPr lang="en-US" sz="1400" b="1">
                <a:solidFill>
                  <a:srgbClr val="1A3A5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Governance Integration and RACI</a:t>
            </a:r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388101" y="4026495"/>
            <a:ext cx="5324095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1050">
                <a:solidFill>
                  <a:srgbClr val="1D1D1D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Clear touchpoints with </a:t>
            </a:r>
            <a:r>
              <a:rPr lang="en-US" sz="1050" b="1">
                <a:solidFill>
                  <a:srgbClr val="2E7D9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AI Steering Committee</a:t>
            </a:r>
            <a:r>
              <a:rPr lang="en-US" sz="1050">
                <a:solidFill>
                  <a:srgbClr val="1D1D1D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at each lifecycle stage. CDO accountability across all stages. Defined roles for Model Governance, Platform Teams, Compliance.</a:t>
            </a:r>
            <a:endParaRPr lang="en-US" sz="105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06400" y="4648796"/>
            <a:ext cx="7366000" cy="944761"/>
          </a:xfrm>
          <a:prstGeom prst="roundRect">
            <a:avLst>
              <a:gd name="adj" fmla="val 537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431800" y="4648796"/>
            <a:ext cx="0" cy="944761"/>
          </a:xfrm>
          <a:prstGeom prst="line">
            <a:avLst/>
          </a:prstGeom>
          <a:noFill/>
          <a:ln w="381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35000" y="4801195"/>
            <a:ext cx="7098792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600"/>
              </a:spcAft>
            </a:pPr>
            <a:r>
              <a:rPr lang="en-US" sz="1400" b="1">
                <a:solidFill>
                  <a:srgbClr val="1A3A5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Builds on SFS AI Governance Policy v1.0</a:t>
            </a:r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35000" y="5072857"/>
            <a:ext cx="7098792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1100">
                <a:solidFill>
                  <a:srgbClr val="1D1D1D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Addresses gaps: adds Agent Registry, version control standards, champion-challenger methodology, drift detection thresholds, performance SLAs, cost attribution, AI-specific incident response playbook.</a:t>
            </a:r>
            <a:endParaRPr lang="en-US" sz="110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899400" y="4648796"/>
            <a:ext cx="3886200" cy="944761"/>
          </a:xfrm>
          <a:prstGeom prst="roundRect">
            <a:avLst>
              <a:gd name="adj" fmla="val 5377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924800" y="4648796"/>
            <a:ext cx="0" cy="944761"/>
          </a:xfrm>
          <a:prstGeom prst="line">
            <a:avLst/>
          </a:prstGeom>
          <a:noFill/>
          <a:ln w="38100">
            <a:solidFill>
              <a:srgbClr val="1A3A5C"/>
            </a:solidFill>
            <a:prstDash val="solid"/>
          </a:ln>
        </p:spPr>
        <p:txBody>
          <a:bodyPr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128001" y="4801195"/>
            <a:ext cx="3549396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  <a:spcAft>
                <a:spcPts val="600"/>
              </a:spcAft>
            </a:pPr>
            <a:r>
              <a:rPr lang="en-US" sz="1400" b="1">
                <a:solidFill>
                  <a:srgbClr val="1A3A5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Why Now</a:t>
            </a:r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128001" y="5072857"/>
            <a:ext cx="3549396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51"/>
              </a:lnSpc>
            </a:pPr>
            <a:r>
              <a:rPr lang="en-US" sz="1100" b="1">
                <a:solidFill>
                  <a:srgbClr val="2E7D9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80%</a:t>
            </a:r>
            <a:r>
              <a:rPr lang="en-US" sz="1100">
                <a:solidFill>
                  <a:srgbClr val="1D1D1D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of orgs encountered risky agent behaviors. </a:t>
            </a:r>
            <a:r>
              <a:rPr lang="en-US" sz="1100" b="1">
                <a:solidFill>
                  <a:srgbClr val="2E7D9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40%+</a:t>
            </a:r>
            <a:r>
              <a:rPr lang="en-US" sz="1100">
                <a:solidFill>
                  <a:srgbClr val="1D1D1D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 of agentic AI projects predicted to fail by 2027.</a:t>
            </a:r>
            <a:endParaRPr lang="en-US" sz="1100">
              <a:latin typeface="Aptos" panose="020B0004020202020204" pitchFamily="34" charset="0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06400" y="6336109"/>
            <a:ext cx="11379200" cy="0"/>
          </a:xfrm>
          <a:prstGeom prst="line">
            <a:avLst/>
          </a:prstGeom>
          <a:noFill/>
          <a:ln w="9525">
            <a:solidFill>
              <a:srgbClr val="D0D7DE"/>
            </a:solidFill>
            <a:prstDash val="solid"/>
          </a:ln>
        </p:spPr>
        <p:txBody>
          <a:bodyPr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06400" y="6393261"/>
            <a:ext cx="11606784" cy="159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900">
                <a:solidFill>
                  <a:srgbClr val="5A6A7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Full deck: 28 slides across 7 sections — Context, Current State, Recommended Framework, Risk Tiering, Platform Implementation, Governance Integration, Next Steps</a:t>
            </a:r>
            <a:endParaRPr lang="en-US" sz="90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400" y="254000"/>
            <a:ext cx="11379200" cy="381000"/>
          </a:xfrm>
          <a:prstGeom prst="roundRect">
            <a:avLst>
              <a:gd name="adj" fmla="val 13333"/>
            </a:avLst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60400" y="355600"/>
            <a:ext cx="11088624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</a:pPr>
            <a:r>
              <a:rPr lang="en-US" sz="1000" b="1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STELLANTIS FINANCIAL SERVICES | AGENT LIFECYCLE MANAGEMENT APPROACH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4" name="Text 2"/>
          <p:cNvSpPr/>
          <p:nvPr/>
        </p:nvSpPr>
        <p:spPr>
          <a:xfrm>
            <a:off x="406400" y="990600"/>
            <a:ext cx="5816347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2400"/>
              </a:lnSpc>
              <a:spcAft>
                <a:spcPts val="200"/>
              </a:spcAft>
            </a:pPr>
            <a:r>
              <a:rPr lang="en-US" sz="2400" b="1">
                <a:solidFill>
                  <a:srgbClr val="1A3A5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Key Takeaways</a:t>
            </a:r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06400" y="1320800"/>
            <a:ext cx="11606784" cy="1954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540"/>
              </a:lnSpc>
            </a:pPr>
            <a:r>
              <a:rPr lang="en-US" sz="1400">
                <a:solidFill>
                  <a:srgbClr val="5A6A7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Core recommendations from the Agent Lifecycle Management framework</a:t>
            </a:r>
            <a:endParaRPr lang="en-US" sz="1400">
              <a:latin typeface="Aptos" panose="020B0004020202020204" pitchFamily="34" charset="0"/>
            </a:endParaRPr>
          </a:p>
        </p:txBody>
      </p:sp>
      <p:sp>
        <p:nvSpPr>
          <p:cNvPr id="6" name="Text 4"/>
          <p:cNvSpPr/>
          <p:nvPr/>
        </p:nvSpPr>
        <p:spPr>
          <a:xfrm>
            <a:off x="406400" y="1799969"/>
            <a:ext cx="2768600" cy="1528763"/>
          </a:xfrm>
          <a:prstGeom prst="roundRect">
            <a:avLst>
              <a:gd name="adj" fmla="val 3323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558800" y="1926969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681435" y="1985309"/>
            <a:ext cx="8662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58801" y="2333369"/>
            <a:ext cx="251307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400"/>
              </a:spcAft>
            </a:pPr>
            <a:r>
              <a:rPr lang="en-US" sz="1000" b="1">
                <a:solidFill>
                  <a:srgbClr val="1A3A5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Agent Registry is Critical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558801" y="2561969"/>
            <a:ext cx="2513076" cy="63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000">
                <a:solidFill>
                  <a:srgbClr val="5A6A7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Establish centralized inventory of all AI agents across Azure, Genesys, Salesforce. Start simple (spreadsheet) and formalize over time. No visibility = no governance.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276600" y="1799969"/>
            <a:ext cx="2768600" cy="1528763"/>
          </a:xfrm>
          <a:prstGeom prst="roundRect">
            <a:avLst>
              <a:gd name="adj" fmla="val 3323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3429000" y="1926969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551635" y="1985309"/>
            <a:ext cx="8662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3429001" y="2333369"/>
            <a:ext cx="251307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400"/>
              </a:spcAft>
            </a:pPr>
            <a:r>
              <a:rPr lang="en-US" sz="1000" b="1">
                <a:solidFill>
                  <a:srgbClr val="1A3A5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Risk Tiering Enables Scale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29001" y="2561969"/>
            <a:ext cx="2513076" cy="6397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000">
                <a:solidFill>
                  <a:srgbClr val="5A6A7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4-tier framework (Critical to Low) balances governance with velocity. Tier 1 requires full committee review; Tier 4 is registration-only for POCs.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46800" y="1799970"/>
            <a:ext cx="2768600" cy="1528762"/>
          </a:xfrm>
          <a:prstGeom prst="roundRect">
            <a:avLst>
              <a:gd name="adj" fmla="val 371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6281285" y="1932155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6403920" y="1990495"/>
            <a:ext cx="8662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299201" y="2325204"/>
            <a:ext cx="251307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400"/>
              </a:spcAft>
            </a:pPr>
            <a:r>
              <a:rPr lang="en-US" sz="1000" b="1">
                <a:solidFill>
                  <a:srgbClr val="1A3A5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Platform-Agnostic Principles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299201" y="2553804"/>
            <a:ext cx="2513076" cy="479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000">
                <a:solidFill>
                  <a:srgbClr val="5A6A7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Unified governance across all platforms while leveraging platform-specific tooling. MCP/A2A emergence suggests future convergence.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9017000" y="1799969"/>
            <a:ext cx="2768600" cy="1528763"/>
          </a:xfrm>
          <a:prstGeom prst="roundRect">
            <a:avLst>
              <a:gd name="adj" fmla="val 3711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169401" y="1931963"/>
            <a:ext cx="330200" cy="330200"/>
          </a:xfrm>
          <a:prstGeom prst="roundRect">
            <a:avLst>
              <a:gd name="adj" fmla="val 15385"/>
            </a:avLst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9292036" y="1990303"/>
            <a:ext cx="86629" cy="213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680"/>
              </a:lnSpc>
            </a:pPr>
            <a:r>
              <a:rPr lang="en-US" sz="1200" b="1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>
              <a:latin typeface="Aptos" panose="020B0004020202020204" pitchFamily="34" charset="0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169401" y="2325204"/>
            <a:ext cx="2513076" cy="177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400"/>
              </a:lnSpc>
              <a:spcAft>
                <a:spcPts val="400"/>
              </a:spcAft>
            </a:pPr>
            <a:r>
              <a:rPr lang="en-US" sz="1000" b="1">
                <a:solidFill>
                  <a:srgbClr val="1A3A5C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Formalize Existing Practices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169401" y="2553804"/>
            <a:ext cx="2513076" cy="479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</a:pPr>
            <a:r>
              <a:rPr lang="en-US" sz="1000">
                <a:solidFill>
                  <a:srgbClr val="5A6A7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Document champion-challenger methodology, ARB review criteria, Steering Committee processes. Build on v1.0 AI Governance Policy.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406400" y="3692412"/>
            <a:ext cx="11379200" cy="1285789"/>
          </a:xfrm>
          <a:prstGeom prst="roundRect">
            <a:avLst>
              <a:gd name="adj" fmla="val 6923"/>
            </a:avLst>
          </a:prstGeom>
          <a:solidFill>
            <a:srgbClr val="F5F7FA"/>
          </a:solidFill>
          <a:ln/>
        </p:spPr>
        <p:txBody>
          <a:bodyPr wrap="square" rtlCol="0" anchor="ctr"/>
          <a:lstStyle/>
          <a:p>
            <a:endParaRPr lang="en-US" sz="3200">
              <a:latin typeface="Aptos" panose="020B0004020202020204" pitchFamily="34" charset="0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09600" y="3914939"/>
            <a:ext cx="11192256" cy="280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1260"/>
              </a:lnSpc>
              <a:spcAft>
                <a:spcPts val="600"/>
              </a:spcAft>
            </a:pPr>
            <a:r>
              <a:rPr lang="en-US" sz="1200" b="1">
                <a:solidFill>
                  <a:srgbClr val="5A6A7A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6-STAGE LIFECYCLE (REGISTRY AS SYSTEM OF RECORD)</a:t>
            </a:r>
            <a:endParaRPr lang="en-US" sz="1200">
              <a:latin typeface="Aptos" panose="020B0004020202020204" pitchFamily="34" charset="0"/>
            </a:endParaRP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78B4E4B7-01EA-F285-CFAE-3AB23C4BDF1D}"/>
              </a:ext>
            </a:extLst>
          </p:cNvPr>
          <p:cNvGrpSpPr/>
          <p:nvPr/>
        </p:nvGrpSpPr>
        <p:grpSpPr>
          <a:xfrm>
            <a:off x="2776251" y="4328700"/>
            <a:ext cx="6393150" cy="426974"/>
            <a:chOff x="3255565" y="4328700"/>
            <a:chExt cx="5680671" cy="426974"/>
          </a:xfrm>
        </p:grpSpPr>
        <p:sp>
          <p:nvSpPr>
            <p:cNvPr id="28" name="Text 26"/>
            <p:cNvSpPr/>
            <p:nvPr/>
          </p:nvSpPr>
          <p:spPr>
            <a:xfrm>
              <a:off x="3255565" y="4328700"/>
              <a:ext cx="677863" cy="426974"/>
            </a:xfrm>
            <a:prstGeom prst="roundRect">
              <a:avLst>
                <a:gd name="adj" fmla="val 15635"/>
              </a:avLst>
            </a:prstGeom>
            <a:solidFill>
              <a:srgbClr val="1A3A5C"/>
            </a:solidFill>
            <a:ln/>
          </p:spPr>
          <p:txBody>
            <a:bodyPr wrap="square" rtlCol="0" anchor="ctr"/>
            <a:lstStyle/>
            <a:p>
              <a:pPr algn="ctr"/>
              <a:endParaRPr lang="en-US" sz="3600">
                <a:latin typeface="Aptos" panose="020B0004020202020204" pitchFamily="34" charset="0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3357165" y="4417710"/>
              <a:ext cx="484156" cy="2489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120"/>
                </a:lnSpc>
              </a:pPr>
              <a:r>
                <a:rPr lang="en-US" sz="1050">
                  <a:solidFill>
                    <a:srgbClr val="FFFFFF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1. Ideation</a:t>
              </a:r>
              <a:endParaRPr lang="en-US" sz="1050">
                <a:latin typeface="Aptos" panose="020B0004020202020204" pitchFamily="34" charset="0"/>
              </a:endParaRPr>
            </a:p>
          </p:txBody>
        </p:sp>
        <p:sp>
          <p:nvSpPr>
            <p:cNvPr id="30" name="Text 28"/>
            <p:cNvSpPr/>
            <p:nvPr/>
          </p:nvSpPr>
          <p:spPr>
            <a:xfrm>
              <a:off x="4009628" y="4370771"/>
              <a:ext cx="47565" cy="3424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540"/>
                </a:lnSpc>
              </a:pPr>
              <a:r>
                <a:rPr lang="en-US" sz="1600">
                  <a:solidFill>
                    <a:srgbClr val="2E7D9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-</a:t>
              </a:r>
              <a:endParaRPr lang="en-US" sz="1600">
                <a:latin typeface="Aptos" panose="020B0004020202020204" pitchFamily="34" charset="0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4132461" y="4328700"/>
              <a:ext cx="632420" cy="426974"/>
            </a:xfrm>
            <a:prstGeom prst="roundRect">
              <a:avLst>
                <a:gd name="adj" fmla="val 15635"/>
              </a:avLst>
            </a:prstGeom>
            <a:solidFill>
              <a:srgbClr val="1A3A5C"/>
            </a:solidFill>
            <a:ln/>
          </p:spPr>
          <p:txBody>
            <a:bodyPr wrap="square" rtlCol="0" anchor="ctr"/>
            <a:lstStyle/>
            <a:p>
              <a:pPr algn="ctr"/>
              <a:endParaRPr lang="en-US" sz="3600">
                <a:latin typeface="Aptos" panose="020B0004020202020204" pitchFamily="34" charset="0"/>
              </a:endParaRPr>
            </a:p>
          </p:txBody>
        </p:sp>
        <p:sp>
          <p:nvSpPr>
            <p:cNvPr id="32" name="Text 30"/>
            <p:cNvSpPr/>
            <p:nvPr/>
          </p:nvSpPr>
          <p:spPr>
            <a:xfrm>
              <a:off x="4234061" y="4417710"/>
              <a:ext cx="437805" cy="2489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120"/>
                </a:lnSpc>
              </a:pPr>
              <a:r>
                <a:rPr lang="en-US" sz="1050">
                  <a:solidFill>
                    <a:srgbClr val="FFFFFF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2. Design</a:t>
              </a:r>
              <a:endParaRPr lang="en-US" sz="1050">
                <a:latin typeface="Aptos" panose="020B0004020202020204" pitchFamily="34" charset="0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4841081" y="4370771"/>
              <a:ext cx="47565" cy="3424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540"/>
                </a:lnSpc>
              </a:pPr>
              <a:r>
                <a:rPr lang="en-US" sz="1600">
                  <a:solidFill>
                    <a:srgbClr val="2E7D9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-</a:t>
              </a:r>
              <a:endParaRPr lang="en-US" sz="1600">
                <a:latin typeface="Aptos" panose="020B0004020202020204" pitchFamily="34" charset="0"/>
              </a:endParaRPr>
            </a:p>
          </p:txBody>
        </p:sp>
        <p:sp>
          <p:nvSpPr>
            <p:cNvPr id="34" name="Text 32"/>
            <p:cNvSpPr/>
            <p:nvPr/>
          </p:nvSpPr>
          <p:spPr>
            <a:xfrm>
              <a:off x="4963915" y="4328700"/>
              <a:ext cx="636389" cy="426974"/>
            </a:xfrm>
            <a:prstGeom prst="roundRect">
              <a:avLst>
                <a:gd name="adj" fmla="val 15635"/>
              </a:avLst>
            </a:prstGeom>
            <a:solidFill>
              <a:srgbClr val="1A3A5C"/>
            </a:solidFill>
            <a:ln/>
          </p:spPr>
          <p:txBody>
            <a:bodyPr wrap="square" rtlCol="0" anchor="ctr"/>
            <a:lstStyle/>
            <a:p>
              <a:pPr algn="ctr"/>
              <a:endParaRPr lang="en-US" sz="3600">
                <a:latin typeface="Aptos" panose="020B0004020202020204" pitchFamily="34" charset="0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5043549" y="4417710"/>
              <a:ext cx="517120" cy="2489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120"/>
                </a:lnSpc>
              </a:pPr>
              <a:r>
                <a:rPr lang="en-US" sz="1050">
                  <a:solidFill>
                    <a:srgbClr val="FFFFFF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3. </a:t>
              </a:r>
            </a:p>
            <a:p>
              <a:pPr algn="ctr">
                <a:lnSpc>
                  <a:spcPts val="1120"/>
                </a:lnSpc>
              </a:pPr>
              <a:r>
                <a:rPr lang="en-US" sz="1050">
                  <a:solidFill>
                    <a:srgbClr val="FFFFFF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Testing</a:t>
              </a:r>
              <a:endParaRPr lang="en-US" sz="1050">
                <a:latin typeface="Aptos" panose="020B0004020202020204" pitchFamily="34" charset="0"/>
              </a:endParaRPr>
            </a:p>
          </p:txBody>
        </p:sp>
        <p:sp>
          <p:nvSpPr>
            <p:cNvPr id="36" name="Text 34"/>
            <p:cNvSpPr/>
            <p:nvPr/>
          </p:nvSpPr>
          <p:spPr>
            <a:xfrm>
              <a:off x="5676503" y="4370771"/>
              <a:ext cx="47565" cy="3424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540"/>
                </a:lnSpc>
              </a:pPr>
              <a:r>
                <a:rPr lang="en-US" sz="1600">
                  <a:solidFill>
                    <a:srgbClr val="2E7D9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-</a:t>
              </a:r>
              <a:endParaRPr lang="en-US" sz="1600">
                <a:latin typeface="Aptos" panose="020B0004020202020204" pitchFamily="34" charset="0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5799336" y="4328700"/>
              <a:ext cx="858440" cy="426974"/>
            </a:xfrm>
            <a:prstGeom prst="roundRect">
              <a:avLst>
                <a:gd name="adj" fmla="val 15635"/>
              </a:avLst>
            </a:prstGeom>
            <a:solidFill>
              <a:srgbClr val="1A3A5C"/>
            </a:solidFill>
            <a:ln/>
          </p:spPr>
          <p:txBody>
            <a:bodyPr wrap="square" rtlCol="0" anchor="ctr"/>
            <a:lstStyle/>
            <a:p>
              <a:pPr algn="ctr"/>
              <a:endParaRPr lang="en-US" sz="3600">
                <a:latin typeface="Aptos" panose="020B0004020202020204" pitchFamily="34" charset="0"/>
              </a:endParaRPr>
            </a:p>
          </p:txBody>
        </p:sp>
        <p:sp>
          <p:nvSpPr>
            <p:cNvPr id="38" name="Text 36"/>
            <p:cNvSpPr/>
            <p:nvPr/>
          </p:nvSpPr>
          <p:spPr>
            <a:xfrm>
              <a:off x="5900936" y="4417710"/>
              <a:ext cx="668345" cy="2489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120"/>
                </a:lnSpc>
              </a:pPr>
              <a:r>
                <a:rPr lang="en-US" sz="1050">
                  <a:solidFill>
                    <a:srgbClr val="FFFFFF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4. Deployment</a:t>
              </a:r>
              <a:endParaRPr lang="en-US" sz="1050">
                <a:latin typeface="Aptos" panose="020B0004020202020204" pitchFamily="34" charset="0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6733976" y="4370771"/>
              <a:ext cx="47565" cy="3424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540"/>
                </a:lnSpc>
              </a:pPr>
              <a:r>
                <a:rPr lang="en-US" sz="1600">
                  <a:solidFill>
                    <a:srgbClr val="2E7D9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-</a:t>
              </a:r>
              <a:endParaRPr lang="en-US" sz="1600">
                <a:latin typeface="Aptos" panose="020B0004020202020204" pitchFamily="34" charset="0"/>
              </a:endParaRPr>
            </a:p>
          </p:txBody>
        </p:sp>
        <p:sp>
          <p:nvSpPr>
            <p:cNvPr id="40" name="Text 38"/>
            <p:cNvSpPr/>
            <p:nvPr/>
          </p:nvSpPr>
          <p:spPr>
            <a:xfrm>
              <a:off x="6856809" y="4328700"/>
              <a:ext cx="897929" cy="426974"/>
            </a:xfrm>
            <a:prstGeom prst="roundRect">
              <a:avLst>
                <a:gd name="adj" fmla="val 15635"/>
              </a:avLst>
            </a:prstGeom>
            <a:solidFill>
              <a:srgbClr val="1A3A5C"/>
            </a:solidFill>
            <a:ln/>
          </p:spPr>
          <p:txBody>
            <a:bodyPr wrap="square" rtlCol="0" anchor="ctr"/>
            <a:lstStyle/>
            <a:p>
              <a:pPr algn="ctr"/>
              <a:endParaRPr lang="en-US" sz="3600">
                <a:latin typeface="Aptos" panose="020B0004020202020204" pitchFamily="34" charset="0"/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6958409" y="4417710"/>
              <a:ext cx="708624" cy="2489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120"/>
                </a:lnSpc>
              </a:pPr>
              <a:r>
                <a:rPr lang="en-US" sz="1050">
                  <a:solidFill>
                    <a:srgbClr val="FFFFFF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5. Maintenance</a:t>
              </a:r>
              <a:endParaRPr lang="en-US" sz="1050">
                <a:latin typeface="Aptos" panose="020B0004020202020204" pitchFamily="34" charset="0"/>
              </a:endParaRPr>
            </a:p>
          </p:txBody>
        </p:sp>
        <p:sp>
          <p:nvSpPr>
            <p:cNvPr id="42" name="Text 40"/>
            <p:cNvSpPr/>
            <p:nvPr/>
          </p:nvSpPr>
          <p:spPr>
            <a:xfrm>
              <a:off x="7830939" y="4370771"/>
              <a:ext cx="47565" cy="3424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540"/>
                </a:lnSpc>
              </a:pPr>
              <a:r>
                <a:rPr lang="en-US" sz="1600">
                  <a:solidFill>
                    <a:srgbClr val="2E7D9A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-</a:t>
              </a:r>
              <a:endParaRPr lang="en-US" sz="1600">
                <a:latin typeface="Aptos" panose="020B0004020202020204" pitchFamily="34" charset="0"/>
              </a:endParaRPr>
            </a:p>
          </p:txBody>
        </p:sp>
        <p:sp>
          <p:nvSpPr>
            <p:cNvPr id="43" name="Text 41"/>
            <p:cNvSpPr/>
            <p:nvPr/>
          </p:nvSpPr>
          <p:spPr>
            <a:xfrm>
              <a:off x="7953772" y="4328700"/>
              <a:ext cx="982464" cy="426974"/>
            </a:xfrm>
            <a:prstGeom prst="roundRect">
              <a:avLst>
                <a:gd name="adj" fmla="val 15635"/>
              </a:avLst>
            </a:prstGeom>
            <a:solidFill>
              <a:srgbClr val="1A3A5C"/>
            </a:solidFill>
            <a:ln/>
          </p:spPr>
          <p:txBody>
            <a:bodyPr wrap="square" rtlCol="0" anchor="ctr"/>
            <a:lstStyle/>
            <a:p>
              <a:pPr algn="ctr"/>
              <a:endParaRPr lang="en-US" sz="3600">
                <a:latin typeface="Aptos" panose="020B0004020202020204" pitchFamily="34" charset="0"/>
              </a:endParaRPr>
            </a:p>
          </p:txBody>
        </p:sp>
        <p:sp>
          <p:nvSpPr>
            <p:cNvPr id="44" name="Text 42"/>
            <p:cNvSpPr/>
            <p:nvPr/>
          </p:nvSpPr>
          <p:spPr>
            <a:xfrm>
              <a:off x="8055372" y="4417710"/>
              <a:ext cx="794849" cy="2489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ctr">
                <a:lnSpc>
                  <a:spcPts val="1120"/>
                </a:lnSpc>
              </a:pPr>
              <a:r>
                <a:rPr lang="en-US" sz="1050">
                  <a:solidFill>
                    <a:srgbClr val="FFFFFF"/>
                  </a:solidFill>
                  <a:latin typeface="Aptos" panose="020B0004020202020204" pitchFamily="34" charset="0"/>
                  <a:ea typeface="Arial" pitchFamily="34" charset="-122"/>
                  <a:cs typeface="Arial" pitchFamily="34" charset="-120"/>
                </a:rPr>
                <a:t>6. Decommission</a:t>
              </a:r>
              <a:endParaRPr lang="en-US" sz="1050">
                <a:latin typeface="Aptos" panose="020B0004020202020204" pitchFamily="34" charset="0"/>
              </a:endParaRPr>
            </a:p>
          </p:txBody>
        </p:sp>
      </p:grpSp>
      <p:sp>
        <p:nvSpPr>
          <p:cNvPr id="45" name="Text 43"/>
          <p:cNvSpPr/>
          <p:nvPr/>
        </p:nvSpPr>
        <p:spPr>
          <a:xfrm>
            <a:off x="406400" y="5105201"/>
            <a:ext cx="11379200" cy="762199"/>
          </a:xfrm>
          <a:prstGeom prst="roundRect">
            <a:avLst>
              <a:gd name="adj" fmla="val 7197"/>
            </a:avLst>
          </a:prstGeom>
          <a:solidFill>
            <a:srgbClr val="1A3A5C"/>
          </a:solidFill>
          <a:ln/>
        </p:spPr>
        <p:txBody>
          <a:bodyPr wrap="square" rtlCol="0" anchor="ctr"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95426" y="5232202"/>
            <a:ext cx="1445788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80%</a:t>
            </a:r>
            <a:endParaRPr lang="en-US" sz="1600">
              <a:latin typeface="Aptos" panose="020B0004020202020204" pitchFamily="34" charset="0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95426" y="5541964"/>
            <a:ext cx="1445788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0"/>
              </a:lnSpc>
              <a:spcBef>
                <a:spcPts val="200"/>
              </a:spcBef>
            </a:pPr>
            <a:r>
              <a:rPr lang="en-US" sz="1000">
                <a:solidFill>
                  <a:srgbClr val="FFFFFF">
                    <a:alpha val="80000"/>
                  </a:srgb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Orgs with risky agent behaviors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2230239" y="5280224"/>
            <a:ext cx="12700" cy="3556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2426652" y="5232202"/>
            <a:ext cx="1987629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40%+</a:t>
            </a:r>
            <a:endParaRPr lang="en-US" sz="1600">
              <a:latin typeface="Aptos" panose="020B0004020202020204" pitchFamily="34" charset="0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2426652" y="5541964"/>
            <a:ext cx="1987629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0"/>
              </a:lnSpc>
              <a:spcBef>
                <a:spcPts val="200"/>
              </a:spcBef>
            </a:pPr>
            <a:r>
              <a:rPr lang="en-US" sz="1000">
                <a:solidFill>
                  <a:srgbClr val="FFFFFF">
                    <a:alpha val="80000"/>
                  </a:srgb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Agentic AI projects predicted to fail by 2027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4597995" y="5280224"/>
            <a:ext cx="12700" cy="3556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4799722" y="5232202"/>
            <a:ext cx="1445788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FFFF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25-36%</a:t>
            </a:r>
            <a:endParaRPr lang="en-US" sz="1600">
              <a:latin typeface="Aptos" panose="020B0004020202020204" pitchFamily="34" charset="0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799722" y="5541964"/>
            <a:ext cx="1445788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0"/>
              </a:lnSpc>
              <a:spcBef>
                <a:spcPts val="200"/>
              </a:spcBef>
            </a:pPr>
            <a:r>
              <a:rPr lang="en-US" sz="1000">
                <a:solidFill>
                  <a:srgbClr val="FFFFFF">
                    <a:alpha val="80000"/>
                  </a:srgb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Orgs with formal AI governance</a:t>
            </a:r>
            <a:endParaRPr lang="en-US" sz="1000">
              <a:latin typeface="Aptos" panose="020B0004020202020204" pitchFamily="34" charset="0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6434535" y="5280224"/>
            <a:ext cx="12700" cy="355600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  <p:txBody>
          <a:bodyPr wrap="square" rtlCol="0" anchor="ctr"/>
          <a:lstStyle/>
          <a:p>
            <a:endParaRPr lang="en-US" sz="2400">
              <a:latin typeface="Aptos" panose="020B0004020202020204" pitchFamily="34" charset="0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601115" y="5232202"/>
            <a:ext cx="5030605" cy="2843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2240"/>
              </a:lnSpc>
            </a:pPr>
            <a:r>
              <a:rPr lang="en-US" sz="1600" b="1">
                <a:solidFill>
                  <a:srgbClr val="7FDBFF"/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Immediate</a:t>
            </a:r>
            <a:endParaRPr lang="en-US" sz="1600">
              <a:latin typeface="Aptos" panose="020B0004020202020204" pitchFamily="34" charset="0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601115" y="5541964"/>
            <a:ext cx="5030605" cy="14208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1120"/>
              </a:lnSpc>
              <a:spcBef>
                <a:spcPts val="200"/>
              </a:spcBef>
            </a:pPr>
            <a:r>
              <a:rPr lang="en-US" sz="1000">
                <a:solidFill>
                  <a:srgbClr val="FFFFFF">
                    <a:alpha val="80000"/>
                  </a:srgbClr>
                </a:solidFill>
                <a:latin typeface="Aptos" panose="020B0004020202020204" pitchFamily="34" charset="0"/>
                <a:ea typeface="Arial" pitchFamily="34" charset="-122"/>
                <a:cs typeface="Arial" pitchFamily="34" charset="-120"/>
              </a:rPr>
              <a:t>Registry + Pilot Process + Incident Playbook</a:t>
            </a:r>
            <a:endParaRPr lang="en-US" sz="1000">
              <a:latin typeface="Aptos" panose="020B00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IS_Delivery">
  <a:themeElements>
    <a:clrScheme name="EIS Auth 2019">
      <a:dk1>
        <a:srgbClr val="052841"/>
      </a:dk1>
      <a:lt1>
        <a:srgbClr val="FFFFFF"/>
      </a:lt1>
      <a:dk2>
        <a:srgbClr val="1877BC"/>
      </a:dk2>
      <a:lt2>
        <a:srgbClr val="DBE3EF"/>
      </a:lt2>
      <a:accent1>
        <a:srgbClr val="094978"/>
      </a:accent1>
      <a:accent2>
        <a:srgbClr val="C7D3E0"/>
      </a:accent2>
      <a:accent3>
        <a:srgbClr val="20CC8C"/>
      </a:accent3>
      <a:accent4>
        <a:srgbClr val="209D6E"/>
      </a:accent4>
      <a:accent5>
        <a:srgbClr val="B34BC7"/>
      </a:accent5>
      <a:accent6>
        <a:srgbClr val="7F3B8B"/>
      </a:accent6>
      <a:hlink>
        <a:srgbClr val="32A3FB"/>
      </a:hlink>
      <a:folHlink>
        <a:srgbClr val="839EBA"/>
      </a:folHlink>
    </a:clrScheme>
    <a:fontScheme name="Custom 2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5400" cap="flat">
          <a:noFill/>
          <a:prstDash val="solid"/>
          <a:round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 dirty="0">
            <a:ln>
              <a:noFill/>
            </a:ln>
            <a:solidFill>
              <a:srgbClr val="072941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/>
      <a:lstStyle/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 dirty="0" err="1" smtClean="0">
            <a:ln>
              <a:noFill/>
            </a:ln>
            <a:solidFill>
              <a:srgbClr val="072941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  <a:extLst>
    <a:ext uri="{05A4C25C-085E-4340-85A3-A5531E510DB2}">
      <thm15:themeFamily xmlns:thm15="http://schemas.microsoft.com/office/thememl/2012/main" name="Presentation1" id="{5D393D5A-6040-4319-A2E2-81A49F979150}" vid="{F28966A7-FDF5-47A0-9CE1-0A484E5DE957}"/>
    </a:ext>
  </a:extLst>
</a:theme>
</file>

<file path=ppt/theme/theme2.xml><?xml version="1.0" encoding="utf-8"?>
<a:theme xmlns:a="http://schemas.openxmlformats.org/drawingml/2006/main" name="1_EIS-2022">
  <a:themeElements>
    <a:clrScheme name="Custom 2">
      <a:dk1>
        <a:srgbClr val="05163E"/>
      </a:dk1>
      <a:lt1>
        <a:srgbClr val="FFFFFF"/>
      </a:lt1>
      <a:dk2>
        <a:srgbClr val="05163E"/>
      </a:dk2>
      <a:lt2>
        <a:srgbClr val="E7EFF7"/>
      </a:lt2>
      <a:accent1>
        <a:srgbClr val="093171"/>
      </a:accent1>
      <a:accent2>
        <a:srgbClr val="1877BC"/>
      </a:accent2>
      <a:accent3>
        <a:srgbClr val="1AA3FF"/>
      </a:accent3>
      <a:accent4>
        <a:srgbClr val="AACDE5"/>
      </a:accent4>
      <a:accent5>
        <a:srgbClr val="21CC8C"/>
      </a:accent5>
      <a:accent6>
        <a:srgbClr val="FF6108"/>
      </a:accent6>
      <a:hlink>
        <a:srgbClr val="E80087"/>
      </a:hlink>
      <a:folHlink>
        <a:srgbClr val="839EBA"/>
      </a:folHlink>
    </a:clrScheme>
    <a:fontScheme name="Gill Sans MT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156082"/>
        </a:solidFill>
        <a:ln w="9525">
          <a:solidFill>
            <a:srgbClr val="70707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8100">
          <a:solidFill>
            <a:srgbClr val="05163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 algn="l">
          <a:defRPr sz="2000" dirty="0" smtClean="0">
            <a:solidFill>
              <a:schemeClr val="tx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EIS-Webinar-Pre-PIM-Software-2023-01-11" id="{4A3928EC-89E0-794F-829C-2537F4CABD3A}" vid="{AE149165-CB1A-1E4F-9C35-7BFA3C825A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3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2687EB7-071A-4A86-8C4E-636FE5A351E7}">
  <we:reference id="WA200005566" version="3.0.0.3" store="Omex" storeType="OMEX"/>
  <we:alternateReferences>
    <we:reference id="WA200005566" version="3.0.0.3" store="WA200005566" storeType="OMEX"/>
  </we:alternateReferences>
  <we:properties>
    <we:property name="theme" value="{&quot;name&quot;:&quot;Drift&quot;,&quot;colorPalette&quot;:[&quot;0E2841&quot;,&quot;E8E8E8&quot;,&quot;00416B&quot;,&quot;006098&quot;,&quot;238DC1&quot;,&quot;939598&quot;,&quot;D7D7D7&quot;,&quot;7775FF&quot;,&quot;467886&quot;,&quot;96607D&quot;],&quot;isDefault&quot;:true,&quot;color&quot;:&quot;#ffffff&quot;,&quot;previewImages&quot;:[&quot;https://cpp.appsdowonders.com/assets/SlideTitle-drift.png&quot;,&quot;https://cpp.appsdowonders.com/assets/SlideTextbox1V1-drift.png&quot;,&quot;https://cpp.appsdowonders.com/assets/SlideTextbox3V1-drift.png&quot;,&quot;https://cpp.appsdowonders.com/assets/SlideTable-drift.png&quot;,&quot;https://cpp.appsdowonders.com/assets/SlideTimeline-drift.png&quot;,&quot;https://cpp.appsdowonders.com/assets/SlideQuestion-drift.png&quot;],&quot;previewAnimation&quot;:&quot;https://cpp.appsdowonders.com/assets/drift-preview.gif&quot;,&quot;index&quot;:0}"/>
  </we:properties>
  <we:bindings/>
  <we:snapshot xmlns:r="http://schemas.openxmlformats.org/officeDocument/2006/relationships"/>
</we:webextension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97C77CF6C980478CF1A0C7BB3DB346" ma:contentTypeVersion="11" ma:contentTypeDescription="Create a new document." ma:contentTypeScope="" ma:versionID="c1a83d7d099b5be531ea543abe836433">
  <xsd:schema xmlns:xsd="http://www.w3.org/2001/XMLSchema" xmlns:xs="http://www.w3.org/2001/XMLSchema" xmlns:p="http://schemas.microsoft.com/office/2006/metadata/properties" xmlns:ns2="17246cb7-97e8-44c0-90d5-6161e615d350" xmlns:ns3="1bbba5f1-a15e-48ed-ae4b-bc36e8dd2f5c" targetNamespace="http://schemas.microsoft.com/office/2006/metadata/properties" ma:root="true" ma:fieldsID="4c654fb0583e2735ba72a8dcae06ecab" ns2:_="" ns3:_="">
    <xsd:import namespace="17246cb7-97e8-44c0-90d5-6161e615d350"/>
    <xsd:import namespace="1bbba5f1-a15e-48ed-ae4b-bc36e8dd2f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246cb7-97e8-44c0-90d5-6161e615d35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6eeceaf-6cb7-4eb2-b72c-1bbb44499cd0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bbba5f1-a15e-48ed-ae4b-bc36e8dd2f5c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75b72e8f-4642-4cb4-99b4-07cc3ba4a6e0}" ma:internalName="TaxCatchAll" ma:showField="CatchAllData" ma:web="1bbba5f1-a15e-48ed-ae4b-bc36e8dd2f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1bbba5f1-a15e-48ed-ae4b-bc36e8dd2f5c">
      <Value>18</Value>
      <Value>17</Value>
      <Value>16</Value>
      <Value>15</Value>
    </TaxCatchAll>
    <lcf76f155ced4ddcb4097134ff3c332f xmlns="17246cb7-97e8-44c0-90d5-6161e615d350">
      <Terms xmlns="http://schemas.microsoft.com/office/infopath/2007/PartnerControls"/>
    </lcf76f155ced4ddcb4097134ff3c332f>
  </documentManagement>
</p:properties>
</file>

<file path=customXml/item4.xml><?xml version="1.0" encoding="utf-8"?>
<?mso-contentType ?>
<SharedContentType xmlns="Microsoft.SharePoint.Taxonomy.ContentTypeSync" SourceId="80784755-79b8-48d6-9428-3b17d2b68283" ContentTypeId="0x010100344C9658AE87044DB333EA4A93A1BC8001" PreviousValue="false"/>
</file>

<file path=customXml/itemProps1.xml><?xml version="1.0" encoding="utf-8"?>
<ds:datastoreItem xmlns:ds="http://schemas.openxmlformats.org/officeDocument/2006/customXml" ds:itemID="{3255D431-2BEB-4DCC-AD5B-A494006B59D6}"/>
</file>

<file path=customXml/itemProps2.xml><?xml version="1.0" encoding="utf-8"?>
<ds:datastoreItem xmlns:ds="http://schemas.openxmlformats.org/officeDocument/2006/customXml" ds:itemID="{775D1607-B0B5-4557-A365-B6585D953D5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ADF8674-582C-48CF-9D1C-72280677BFE9}">
  <ds:schemaRefs>
    <ds:schemaRef ds:uri="0eea126e-d378-4180-a2b3-4f5c76938639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customXml/itemProps4.xml><?xml version="1.0" encoding="utf-8"?>
<ds:datastoreItem xmlns:ds="http://schemas.openxmlformats.org/officeDocument/2006/customXml" ds:itemID="{AC63825D-4C1B-4E7C-B786-398320586920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EIS-Delivery-Template-2025</Template>
  <Application>Microsoft Office PowerPoint</Application>
  <PresentationFormat>Widescreen</PresentationFormat>
  <Slides>9</Slides>
  <Notes>6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EIS_Delivery</vt:lpstr>
      <vt:lpstr>1_EIS-2022</vt:lpstr>
      <vt:lpstr>1.4 Technical Architecture Review</vt:lpstr>
      <vt:lpstr>1.4 Technical Architecture Review</vt:lpstr>
      <vt:lpstr>PowerPoint Presentation</vt:lpstr>
      <vt:lpstr>PowerPoint Presentation</vt:lpstr>
      <vt:lpstr>PowerPoint Presentation</vt:lpstr>
      <vt:lpstr>1.4 Technical Architecture Review 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Proof of Value ROI Assessment for product data enrichment</dc:title>
  <dc:creator>Heather Eisenbraun</dc:creator>
  <cp:revision>1</cp:revision>
  <cp:lastPrinted>2025-10-23T18:20:35Z</cp:lastPrinted>
  <dcterms:created xsi:type="dcterms:W3CDTF">2025-09-02T21:00:23Z</dcterms:created>
  <dcterms:modified xsi:type="dcterms:W3CDTF">2026-02-23T21:50:15Z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chnology">
    <vt:lpwstr/>
  </property>
  <property fmtid="{D5CDD505-2E9C-101B-9397-08002B2CF9AE}" pid="3" name="Competency">
    <vt:lpwstr>16;#education ＆ training|82e5fb2a-a54f-4b03-b3d9-e6bd67db0a94</vt:lpwstr>
  </property>
  <property fmtid="{D5CDD505-2E9C-101B-9397-08002B2CF9AE}" pid="4" name="TechnologyProduct">
    <vt:lpwstr/>
  </property>
  <property fmtid="{D5CDD505-2E9C-101B-9397-08002B2CF9AE}" pid="5" name="lcf76f155ced4ddcb4097134ff3c332f">
    <vt:lpwstr/>
  </property>
  <property fmtid="{D5CDD505-2E9C-101B-9397-08002B2CF9AE}" pid="6" name="MediaServiceImageTags">
    <vt:lpwstr/>
  </property>
  <property fmtid="{D5CDD505-2E9C-101B-9397-08002B2CF9AE}" pid="7" name="Industry">
    <vt:lpwstr>17;#nonprofit ＆ public sector|77bad53f-d986-4455-8155-211ebc098cac</vt:lpwstr>
  </property>
  <property fmtid="{D5CDD505-2E9C-101B-9397-08002B2CF9AE}" pid="8" name="AccountName">
    <vt:lpwstr>15;#Omnia Partners|8e8cab59-0751-4e02-9108-64e780ed2311</vt:lpwstr>
  </property>
  <property fmtid="{D5CDD505-2E9C-101B-9397-08002B2CF9AE}" pid="9" name="ContentTypeId">
    <vt:lpwstr>0x0101000B97C77CF6C980478CF1A0C7BB3DB346</vt:lpwstr>
  </property>
  <property fmtid="{D5CDD505-2E9C-101B-9397-08002B2CF9AE}" pid="10" name="Project Document Type PROPOSED">
    <vt:lpwstr>18;#framework|f4c6afd5-bc0d-4101-be0b-cfb899ffe5cf</vt:lpwstr>
  </property>
  <property fmtid="{D5CDD505-2E9C-101B-9397-08002B2CF9AE}" pid="11" name="Project_x0020_Document_x0020_Type_x0020_PROPOSED">
    <vt:lpwstr>18;#framework|f4c6afd5-bc0d-4101-be0b-cfb899ffe5cf</vt:lpwstr>
  </property>
</Properties>
</file>