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.jpg" ContentType="image/jp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6"/>
  </p:notesMasterIdLst>
  <p:sldIdLst>
    <p:sldId id="26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2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0" Type="http://schemas.openxmlformats.org/officeDocument/2006/relationships/tableStyles" Target="tableStyles.xml"/><Relationship Id="rId16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399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B86DE4-4F78-CEA8-4F64-661ECCC724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975360" y="1219200"/>
            <a:ext cx="10241280" cy="2682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54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SFS AI Governance</a:t>
            </a:r>
            <a:endParaRPr lang="en-US" sz="5400" dirty="0">
              <a:latin typeface="Aptos" panose="020B00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54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Operational Framework</a:t>
            </a:r>
            <a:endParaRPr lang="en-US" sz="5333" dirty="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75360" y="3901440"/>
            <a:ext cx="85344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Strategy to Execution: Decision-Making Structures, Charters, and Working Agendas</a:t>
            </a:r>
            <a:endParaRPr lang="en-US" sz="2133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975360" y="5608320"/>
            <a:ext cx="6096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February 2026  </a:t>
            </a:r>
            <a:r>
              <a:rPr lang="en-US" sz="16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|  v3.0 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Earley Information Science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F6EAE07D-116A-2E1C-2BA1-3F4C00D8FD66}"/>
              </a:ext>
            </a:extLst>
          </p:cNvPr>
          <p:cNvSpPr/>
          <p:nvPr/>
        </p:nvSpPr>
        <p:spPr>
          <a:xfrm>
            <a:off x="975360" y="47548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Decision-Making Structures,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Charters, and Operational Playbook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is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33272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Earley Information Science 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731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Governance Gap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16916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24231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AI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Score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37560" y="155448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37560" y="16916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100’s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337560" y="24231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Unauthorized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Users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55448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17920" y="16916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$4.5M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217920" y="24231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Platform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098280" y="155448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098280" y="16916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$15K/mo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9098280" y="24231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Genesys Tokens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Expiring Unused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SFS has the policy, the executive commitment, and the platform investments. What it lacks is the operational mechanism to turn governance intent into execution velocity.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" y="42062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What Exists: </a:t>
            </a: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Governance Policy v1.0, AI Steering Committee (every 6-10 weeks), security infrastructure, five-tier data classification, AI Champions program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26480" y="420624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What Is Missing: </a:t>
            </a: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tiered review process, no weekly operational body, no agent registry, no cost attribution, no vendor evaluation framework, no shadow IT workflow, no AI incident response playbook, no AI model/tooling evaluation process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539496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31520" y="5440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week of governance delay has measurable cost: $15K in expiring Genesys tokens, continued shadow AI data exposure, and $4.5M in unresolved platform duplication.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is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33272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Earley Information Science 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3"/>
          <p:cNvSpPr/>
          <p:nvPr/>
        </p:nvSpPr>
        <p:spPr>
          <a:xfrm>
            <a:off x="457200" y="731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E79"/>
                </a:solidFill>
                <a:latin typeface="Aptos" pitchFamily="34" charset="0"/>
              </a:rPr>
              <a:t>Three-Tier Governance Structure</a:t>
            </a:r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Committee sets direction. The Working Group makes binding decisions weekly. Task Forces execute time-boxed investigations.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7"/>
          <p:cNvSpPr/>
          <p:nvPr/>
        </p:nvSpPr>
        <p:spPr>
          <a:xfrm>
            <a:off x="457200" y="2148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Steering Committee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" y="2788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6 Weeks | 90 min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20040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0"/>
          <p:cNvSpPr/>
          <p:nvPr/>
        </p:nvSpPr>
        <p:spPr>
          <a:xfrm>
            <a:off x="594360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Chair: </a:t>
            </a: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Ryan Miller (CDO)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4360" y="374904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direction, policy endorsement, Tier 1 approvals, budget allocation, cross-BU alignment, AI portfolio review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06240" y="210312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1B6B6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3"/>
          <p:cNvSpPr/>
          <p:nvPr/>
        </p:nvSpPr>
        <p:spPr>
          <a:xfrm>
            <a:off x="4206240" y="2148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Governance</a:t>
            </a:r>
            <a:endParaRPr lang="en-US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Group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206240" y="2788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| 60 min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206240" y="320040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Text 16"/>
          <p:cNvSpPr/>
          <p:nvPr/>
        </p:nvSpPr>
        <p:spPr>
          <a:xfrm>
            <a:off x="4343400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Chair: </a:t>
            </a: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Ryan Miller / Larry Burgess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343400" y="374904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standards, Tier 2-3 approvals, tool evaluations, platform decisions, policy development, intake triage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955280" y="210312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2E6B5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19"/>
          <p:cNvSpPr/>
          <p:nvPr/>
        </p:nvSpPr>
        <p:spPr>
          <a:xfrm>
            <a:off x="7955280" y="2148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Execution</a:t>
            </a:r>
            <a:endParaRPr lang="en-US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Forces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955280" y="2788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Bi-weekly | 45 min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955280" y="320040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Text 22"/>
          <p:cNvSpPr/>
          <p:nvPr/>
        </p:nvSpPr>
        <p:spPr>
          <a:xfrm>
            <a:off x="8092440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Chair: </a:t>
            </a: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Varies by Initiative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092440" y="374904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Time-boxed investigations: Genesys vs. Observe AI (8 wks), Agent Registry (4 wks), Shadow IT Workflow (6 wks), Data Classification (12 wks)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57200" y="5943600"/>
            <a:ext cx="11247120" cy="365760"/>
          </a:xfrm>
          <a:prstGeom prst="roundRect">
            <a:avLst>
              <a:gd name="adj" fmla="val 12500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0" name="Text 27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input at Committee level | Technical architecture decisions at Working Group level | Investigations delegated to Task Forces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is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33272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Earley Information Science 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3"/>
          <p:cNvSpPr/>
          <p:nvPr/>
        </p:nvSpPr>
        <p:spPr>
          <a:xfrm>
            <a:off x="457200" y="731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Standing Working Groups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5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Ongoing operational bodies addressing continuous governance needs.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7"/>
          <p:cNvSpPr/>
          <p:nvPr/>
        </p:nvSpPr>
        <p:spPr>
          <a:xfrm>
            <a:off x="457200" y="192024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Cost Management Team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57200" y="2331720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Bi-weekly | 45 min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651760"/>
            <a:ext cx="5577840" cy="3566160"/>
          </a:xfrm>
          <a:prstGeom prst="roundRect">
            <a:avLst>
              <a:gd name="adj" fmla="val 205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0"/>
          <p:cNvSpPr/>
          <p:nvPr/>
        </p:nvSpPr>
        <p:spPr>
          <a:xfrm>
            <a:off x="594360" y="2697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Lead: </a:t>
            </a: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Lead + Larry Burgess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4360" y="3017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Develops and maintains AI cost attribution, chargeback models, and ROI measurement frameworks.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3520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Standing Agenda: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" y="3794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spend review: actual vs. forecast by BU (10 min)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" y="4114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consumption and licensing utilization (10 min)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4360" y="4434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 scorecard updates per active use case (10 min)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4360" y="4754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cost variance and contract review (5 min)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" y="5074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Escalations to Working Group (5 min)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4360" y="5760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Reports to: </a:t>
            </a: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Group (methodology) | Committee (budget items)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09360" y="192024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1B6B6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0"/>
          <p:cNvSpPr/>
          <p:nvPr/>
        </p:nvSpPr>
        <p:spPr>
          <a:xfrm>
            <a:off x="6309360" y="192024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Champions Group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309360" y="2331720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| 60 min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309360" y="2651760"/>
            <a:ext cx="5577840" cy="3566160"/>
          </a:xfrm>
          <a:prstGeom prst="roundRect">
            <a:avLst>
              <a:gd name="adj" fmla="val 205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3"/>
          <p:cNvSpPr/>
          <p:nvPr/>
        </p:nvSpPr>
        <p:spPr>
          <a:xfrm>
            <a:off x="6446520" y="2697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Lead: </a:t>
            </a: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Nader Afshar + BU Representatives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46520" y="3017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of AI practitioners sharing best practices, surfacing adoption feedback, and cross-pollinating ideas.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46520" y="3520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Standing Agenda: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446520" y="3794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updates from Working Group (10 min)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46520" y="4114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spotlight: use case showcase (15 min)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46520" y="4434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feedback: tools, training, barriers (15 min)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46520" y="4754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ideation from frontline (10 min)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446520" y="5074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Items to escalate to Working Group (5 min)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446520" y="5760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Reports to: </a:t>
            </a: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Two-way to Working Group and Committee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is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33272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Earley Information Science 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731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E79"/>
                </a:solidFill>
                <a:latin typeface="Aptos" pitchFamily="34" charset="0"/>
              </a:rPr>
              <a:t>Risk Tiering Framework</a:t>
            </a:r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5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rigor proportional to risk. This is the single most important mechanism for addressing the velocity problem.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062064"/>
              </p:ext>
            </p:extLst>
          </p:nvPr>
        </p:nvGraphicFramePr>
        <p:xfrm>
          <a:off x="457200" y="2011680"/>
          <a:ext cx="10058400" cy="30632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Description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SFS Examples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Timeline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Tier 1: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Critical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Customer-facing financial decisions;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restricted data; autonomous actions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Credit decisioning AI,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autonomous collections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Committee +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CDO + Legal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4-6 weeks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Tier 2: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Customer-facing non-financial;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confidential PII; operational impact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Genesys virtual agents,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wrongful repo detection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Group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2-4 weeks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Tier 3: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Moderate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Internal facing; internal data;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augments human decisions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NLP query for BI, AI-assisted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ETL, code generation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Domain Lead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 AI PO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1-2 weeks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Tier 4: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POCs, sandboxes, internal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productivity tools; no customer data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Copilot prototypes, internal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knowledge chatbots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Self-service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(register only)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Under 1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539496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7"/>
          <p:cNvSpPr/>
          <p:nvPr/>
        </p:nvSpPr>
        <p:spPr>
          <a:xfrm>
            <a:off x="731520" y="5440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Key Principle: </a:t>
            </a:r>
            <a:r>
              <a:rPr lang="en-US" sz="1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4 self-service in under one week enables innovation velocity. Tier 1 full committee review in 4-6 weeks ensures appropriate controls. Every AI initiative receives a tier assignment at intake by the Working Group.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is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33272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Earley Information Science 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731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E79"/>
                </a:solidFill>
                <a:latin typeface="Aptos" pitchFamily="34" charset="0"/>
              </a:rPr>
              <a:t>15 Governance Gaps: Prioritized Action Plan</a:t>
            </a:r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P1: Immediate (Months 1-2)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2148840"/>
            <a:ext cx="2606040" cy="292608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1" name="Text 8"/>
          <p:cNvSpPr/>
          <p:nvPr/>
        </p:nvSpPr>
        <p:spPr>
          <a:xfrm>
            <a:off x="548640" y="2240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tiered governance review process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27432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Committee cadence too slow (6-10 wks)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246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Shadow AI uncontrolled (100s of users)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37560" y="155448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B7791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5" name="Text 12"/>
          <p:cNvSpPr/>
          <p:nvPr/>
        </p:nvSpPr>
        <p:spPr>
          <a:xfrm>
            <a:off x="3337560" y="1554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P2: Short-term (Months 2-4)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337560" y="2148840"/>
            <a:ext cx="2606040" cy="292608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7" name="Text 14"/>
          <p:cNvSpPr/>
          <p:nvPr/>
        </p:nvSpPr>
        <p:spPr>
          <a:xfrm>
            <a:off x="3429000" y="2240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agent registry or inventory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29000" y="27432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duplication ($4.5M)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429000" y="3246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Licensed AI capabilities unused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429000" y="37490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decision logging
No AI model/tooling evaluation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17920" y="155448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3B82B6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2" name="Text 19"/>
          <p:cNvSpPr/>
          <p:nvPr/>
        </p:nvSpPr>
        <p:spPr>
          <a:xfrm>
            <a:off x="6217920" y="1554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P3: Medium-term (Months 4-9)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17920" y="214884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4" name="Text 21"/>
          <p:cNvSpPr/>
          <p:nvPr/>
        </p:nvSpPr>
        <p:spPr>
          <a:xfrm>
            <a:off x="6309360" y="2240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classification for AI (95% untagged)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09360" y="27432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attribution and chargeback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309360" y="3246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incident response playbook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309360" y="37490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lending/bias testing framework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098280" y="155448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276749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9" name="Text 26"/>
          <p:cNvSpPr/>
          <p:nvPr/>
        </p:nvSpPr>
        <p:spPr>
          <a:xfrm>
            <a:off x="9098280" y="1554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P4: Months 10-12+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098280" y="2148840"/>
            <a:ext cx="2606040" cy="292608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1" name="Text 28"/>
          <p:cNvSpPr/>
          <p:nvPr/>
        </p:nvSpPr>
        <p:spPr>
          <a:xfrm>
            <a:off x="9189720" y="2240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evaluation framework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189720" y="27432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skills and training program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189720" y="3246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person risk mitigation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57200" y="566928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5" name="Text 32"/>
          <p:cNvSpPr/>
          <p:nvPr/>
        </p:nvSpPr>
        <p:spPr>
          <a:xfrm>
            <a:off x="731520" y="56692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gap is assigned to the appropriate governance body with specific recommended actions, success criteria, and timelines. See the AI Roadmap Consolidated Workbook (Issues &amp; Actions tab) and the Governance Maturity tab for the complete gap analysis and C1-C51 component mapping.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is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33272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Earley Information Science 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731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E79"/>
                </a:solidFill>
                <a:latin typeface="Aptos" pitchFamily="34" charset="0"/>
              </a:rPr>
              <a:t>Top Six Governance Risks</a:t>
            </a:r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39184"/>
              </p:ext>
            </p:extLst>
          </p:nvPr>
        </p:nvGraphicFramePr>
        <p:xfrm>
          <a:off x="457200" y="1554480"/>
          <a:ext cx="11247120" cy="3520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Severity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Governance perceived as bottleneck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Critical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Weekly Working Group cadence + risk tiering framework. Success: Tier 4 approvals in under one week.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Shadow AI data exfiltration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Critical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Sanctioned alternatives approved within 60 days; shadow IT request workflow deployed within 90 days.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Duplicate platform costs ($4.5M)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Structured Genesys vs. Observe AI evaluation and consolidation decision within 60 days.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Licensed AI waste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Dormant capability inventory and fast-track activation within 30 days. Every month = direct, measurable cost.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Regulatory exposure (CFPB, FDIC)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Critical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incident response playbook within 45 days; bias testing framework within 90 days.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AI model/tooling evaluation process (GG-1)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Establish vendor/model evaluation process within 90 days. Contributed to $4.5M duplication precedent.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is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33272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Earley Information Science 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731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E79"/>
                </a:solidFill>
                <a:latin typeface="Aptos" pitchFamily="34" charset="0"/>
              </a:rPr>
              <a:t>Implementation Roadmap</a:t>
            </a:r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Months 1-3:</a:t>
            </a:r>
            <a:endParaRPr lang="en-US" sz="1600" dirty="0">
              <a:latin typeface="Aptos" panose="020B0004020202020204" pitchFamily="34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7200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48640" y="2423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Formalize 3-tier structure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48640" y="2926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Approved charters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864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Convert office hours to Working Group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8640" y="39319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Decision log in SharePoint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48640" y="4434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Begin agent registry design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337560" y="155448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1B6B6D"/>
          </a:solidFill>
          <a:ln/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337560" y="15544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Months 4-6:</a:t>
            </a:r>
            <a:endParaRPr lang="en-US" sz="1600" dirty="0">
              <a:latin typeface="Aptos" panose="020B0004020202020204" pitchFamily="34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Operationalize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337560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429000" y="2423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Deploy risk tiering with intake form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429000" y="2926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Commission Genesys vs. Observe AI TF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42900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Evaluate enterprise AI coding tools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429000" y="39319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Design shadow IT request workflow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429000" y="4434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Inventory dormant AI capabilities</a:t>
            </a:r>
            <a:endParaRPr lang="en-US" sz="1200" dirty="0"/>
          </a:p>
          <a:p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model/tooling evaluation process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217920" y="155448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2E6B50"/>
          </a:solidFill>
          <a:ln/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217920" y="15544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Months 7-9:</a:t>
            </a:r>
            <a:endParaRPr lang="en-US" sz="1600" dirty="0">
              <a:latin typeface="Aptos" panose="020B0004020202020204" pitchFamily="34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Mature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217920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309360" y="2423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Purview Data Map for classification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309360" y="2926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Cost tracking and attribution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30936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AI incident response playbook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309360" y="39319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Platform consolidation recommendation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309360" y="4434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Activate first dormant capabilities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9098280" y="155448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4A6741"/>
          </a:solidFill>
          <a:ln/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9098280" y="15544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Months 10-12:</a:t>
            </a:r>
            <a:endParaRPr lang="en-US" sz="1600" dirty="0">
              <a:latin typeface="Aptos" panose="020B0004020202020204" pitchFamily="34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Scale &amp; Optimize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9098280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9189720" y="2423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Quarterly governance reviews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9189720" y="2926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Annual framework refresh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918972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Continuous risk register updates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9189720" y="39319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Expanding AI training programs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9189720" y="4434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Key person risk mitigation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is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33272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Earley Information Science 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731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4E79"/>
                </a:solidFill>
                <a:latin typeface="Aptos" pitchFamily="34" charset="0"/>
              </a:rPr>
              <a:t>Success Metrics</a:t>
            </a:r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If the framework cannot demonstrate measurable improvement within 90 days, it needs to be adjusted. Governance for its own sake is overhead; governance that enables is infrastructure.</a:t>
            </a:r>
            <a:endParaRPr lang="en-US" sz="1400" dirty="0">
              <a:latin typeface="Aptos" panose="020B0004020202020204" pitchFamily="34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36508"/>
              </p:ext>
            </p:extLst>
          </p:nvPr>
        </p:nvGraphicFramePr>
        <p:xfrm>
          <a:off x="457200" y="2103120"/>
          <a:ext cx="10332720" cy="3200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Frequency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Velocity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time from AI request to deployment, by tier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Tier 4: &lt;1 week; Tier 1: &lt;6 weeks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Monthly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Control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Shadow AI instance count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&lt;50 within 6 months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Monthly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Control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registry completeness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 of production AI within 90 days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Monthly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Licensed AI utilization rate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 80%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Monthly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spend attribution coverage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 90% attributed within 6 months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Quarterly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Compliance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classification for AI sources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 80% within 12 months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Quarterly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Compliance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AI-related regulatory findings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Zero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Ongoing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Cost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Unapproved AI model/tool acquisitions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Zero within 6 months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Quarterly</a:t>
                      </a: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Actions This Week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0" y="1234440"/>
            <a:ext cx="39319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350000"/>
            <a:ext cx="600000" cy="600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350000"/>
            <a:ext cx="600000" cy="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011680" y="1350000"/>
            <a:ext cx="868680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Ratify the Three-Tier Structure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1700000"/>
            <a:ext cx="86868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Circulate the charter to Committee members. Convert the next office hours to the first weekly Working Group meeting. No budget, no procurement, no technology decisions required.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300000"/>
            <a:ext cx="600000" cy="600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300000"/>
            <a:ext cx="600000" cy="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11680" y="2300000"/>
            <a:ext cx="868680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the First Working Group Meeting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2650000"/>
            <a:ext cx="86868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structured agenda: action items, new request triage, standards deep-dive, task force status, architecture decisions, risk/compliance updates.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250000"/>
            <a:ext cx="600000" cy="600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250000"/>
            <a:ext cx="600000" cy="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011680" y="3250000"/>
            <a:ext cx="868680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the Agent Registry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11680" y="3600000"/>
            <a:ext cx="86868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spreadsheet-based v1 with known AI agents across Genesys, Salesforce, and Azure takes one person one day. You cannot govern what you cannot see.</a:t>
            </a:r>
            <a:endParaRPr lang="en-US" sz="1200" dirty="0"/>
          </a:p>
        </p:txBody>
      </p:sp>
      <p:sp>
        <p:nvSpPr>
          <p:cNvPr id="20" name="Shape 20"/>
          <p:cNvSpPr/>
          <p:nvPr/>
        </p:nvSpPr>
        <p:spPr>
          <a:xfrm>
            <a:off x="914400" y="4200000"/>
            <a:ext cx="600000" cy="600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21"/>
          <p:cNvSpPr/>
          <p:nvPr/>
        </p:nvSpPr>
        <p:spPr>
          <a:xfrm>
            <a:off x="914400" y="4200000"/>
            <a:ext cx="6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1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Aptos" pitchFamily="34" charset="0"/>
              </a:rPr>
              <a:t>4</a:t>
            </a:r>
          </a:p>
        </p:txBody>
      </p:sp>
      <p:sp>
        <p:nvSpPr>
          <p:cNvPr id="22" name="Text 22"/>
          <p:cNvSpPr/>
          <p:nvPr/>
        </p:nvSpPr>
        <p:spPr>
          <a:xfrm>
            <a:off x="2011680" y="4200000"/>
            <a:ext cx="86868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</a:rPr>
              <a:t>Publish the Approved AI Tool List</a:t>
            </a:r>
          </a:p>
        </p:txBody>
      </p:sp>
      <p:sp>
        <p:nvSpPr>
          <p:cNvPr id="23" name="Text 23"/>
          <p:cNvSpPr/>
          <p:nvPr/>
        </p:nvSpPr>
        <p:spPr>
          <a:xfrm>
            <a:off x="2011680" y="4550000"/>
            <a:ext cx="86868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ptos" pitchFamily="34" charset="0"/>
              </a:rPr>
              <a:t>Address unauthorized users by providing sanctioned alternatives. Establish the intake process through Enterprise Architecture and commission the Shadow IT Workflow task force.</a:t>
            </a:r>
          </a:p>
        </p:txBody>
      </p:sp>
      <p:sp>
        <p:nvSpPr>
          <p:cNvPr id="24" name="Shape 24"/>
          <p:cNvSpPr/>
          <p:nvPr/>
        </p:nvSpPr>
        <p:spPr>
          <a:xfrm>
            <a:off x="914400" y="5150000"/>
            <a:ext cx="600000" cy="600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5"/>
          <p:cNvSpPr/>
          <p:nvPr/>
        </p:nvSpPr>
        <p:spPr>
          <a:xfrm>
            <a:off x="914400" y="5150000"/>
            <a:ext cx="6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1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Aptos" pitchFamily="34" charset="0"/>
              </a:rPr>
              <a:t>5</a:t>
            </a:r>
          </a:p>
        </p:txBody>
      </p:sp>
      <p:sp>
        <p:nvSpPr>
          <p:cNvPr id="26" name="Text 26"/>
          <p:cNvSpPr/>
          <p:nvPr/>
        </p:nvSpPr>
        <p:spPr>
          <a:xfrm>
            <a:off x="2011680" y="5150000"/>
            <a:ext cx="86868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</a:rPr>
              <a:t>Deploy the Enhanced Testing Prompt Template</a:t>
            </a:r>
          </a:p>
        </p:txBody>
      </p:sp>
      <p:sp>
        <p:nvSpPr>
          <p:cNvPr id="27" name="Text 27"/>
          <p:cNvSpPr/>
          <p:nvPr/>
        </p:nvSpPr>
        <p:spPr>
          <a:xfrm>
            <a:off x="2011680" y="5500000"/>
            <a:ext cx="86868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ptos" pitchFamily="34" charset="0"/>
              </a:rPr>
              <a:t>The improved Copilot prompt requires zero procurement, zero integration, and zero governance approval (Tier 4). Expected 30–50% improvement in output consistency.</a:t>
            </a:r>
          </a:p>
        </p:txBody>
      </p:sp>
      <p:sp>
        <p:nvSpPr>
          <p:cNvPr id="16" name="Shape 14"/>
          <p:cNvSpPr/>
          <p:nvPr/>
        </p:nvSpPr>
        <p:spPr>
          <a:xfrm>
            <a:off x="457200" y="6100000"/>
            <a:ext cx="1124712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6126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Earley Information Science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0" y="6126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?>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haredContentType xmlns="Microsoft.SharePoint.Taxonomy.ContentTypeSync" SourceId="80784755-79b8-48d6-9428-3b17d2b68283" ContentTypeId="0x010100344C9658AE87044DB333EA4A93A1BC8001" PreviousValue="false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97C77CF6C980478CF1A0C7BB3DB346" ma:contentTypeVersion="11" ma:contentTypeDescription="Create a new document." ma:contentTypeScope="" ma:versionID="c1a83d7d099b5be531ea543abe836433">
  <xsd:schema xmlns:xsd="http://www.w3.org/2001/XMLSchema" xmlns:xs="http://www.w3.org/2001/XMLSchema" xmlns:p="http://schemas.microsoft.com/office/2006/metadata/properties" xmlns:ns2="17246cb7-97e8-44c0-90d5-6161e615d350" xmlns:ns3="1bbba5f1-a15e-48ed-ae4b-bc36e8dd2f5c" targetNamespace="http://schemas.microsoft.com/office/2006/metadata/properties" ma:root="true" ma:fieldsID="4c654fb0583e2735ba72a8dcae06ecab" ns2:_="" ns3:_="">
    <xsd:import namespace="17246cb7-97e8-44c0-90d5-6161e615d350"/>
    <xsd:import namespace="1bbba5f1-a15e-48ed-ae4b-bc36e8dd2f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46cb7-97e8-44c0-90d5-6161e615d3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6eeceaf-6cb7-4eb2-b72c-1bbb44499c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ba5f1-a15e-48ed-ae4b-bc36e8dd2f5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5b72e8f-4642-4cb4-99b4-07cc3ba4a6e0}" ma:internalName="TaxCatchAll" ma:showField="CatchAllData" ma:web="1bbba5f1-a15e-48ed-ae4b-bc36e8dd2f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bba5f1-a15e-48ed-ae4b-bc36e8dd2f5c">
      <Value>5</Value>
      <Value>6</Value>
    </TaxCatchAll>
    <lcf76f155ced4ddcb4097134ff3c332f xmlns="17246cb7-97e8-44c0-90d5-6161e615d3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8153228-7E3F-4601-9EBD-5120C1045D8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0553DC9-145A-4B16-8777-423A09B3D4F7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EB0C78B2-074C-4A7A-85ED-9099744AE045}"/>
</file>

<file path=customXml/itemProps4.xml><?xml version="1.0" encoding="utf-8"?>
<ds:datastoreItem xmlns:ds="http://schemas.openxmlformats.org/officeDocument/2006/customXml" ds:itemID="{2D47CA22-7F0D-4648-ACFD-1AE35DFA814E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0eea126e-d378-4180-a2b3-4f5c76938639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terms/"/>
    <ds:schemaRef ds:uri="http://schemas.microsoft.com/sharepoint/v3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1816</TotalTime>
  <Words>1495</Words>
  <Application>Microsoft Office PowerPoint</Application>
  <PresentationFormat>Widescreen</PresentationFormat>
  <Paragraphs>263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Earley Information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SFS AI Governance Framework</dc:subject>
  <dc:creator>Earley Information Science</dc:creator>
  <cp:lastModifiedBy>Seth Earley</cp:lastModifiedBy>
  <cp:revision>6</cp:revision>
  <dcterms:created xsi:type="dcterms:W3CDTF">2026-02-24T20:42:45Z</dcterms:created>
  <dcterms:modified xsi:type="dcterms:W3CDTF">2026-02-27T16:34:50Z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0x0101000B97C77CF6C980478CF1A0C7BB3DB346</vt:lpwstr>
  </property>
  <property fmtid="{D5CDD505-2E9C-101B-9397-08002B2CF9AE}" pid="3" name="Project_x0020_Document_x0020_Type_x0020_PROPOSED">
    <vt:lpwstr/>
  </property>
  <property fmtid="{D5CDD505-2E9C-101B-9397-08002B2CF9AE}" pid="4" name="Technology">
    <vt:lpwstr/>
  </property>
  <property fmtid="{D5CDD505-2E9C-101B-9397-08002B2CF9AE}" pid="5" name="AccountName">
    <vt:lpwstr>5;#Stellantis Financial Services|ae495efb-8e65-4cbd-b57d-7d196b299547</vt:lpwstr>
  </property>
  <property fmtid="{D5CDD505-2E9C-101B-9397-08002B2CF9AE}" pid="6" name="Competency">
    <vt:lpwstr>6;#information architecture|0c69daec-fbc4-45c7-ab9c-bd21b0f93d0b</vt:lpwstr>
  </property>
  <property fmtid="{D5CDD505-2E9C-101B-9397-08002B2CF9AE}" pid="7" name="TechnologyProduct">
    <vt:lpwstr/>
  </property>
  <property fmtid="{D5CDD505-2E9C-101B-9397-08002B2CF9AE}" pid="8" name="Industry">
    <vt:lpwstr/>
  </property>
  <property fmtid="{D5CDD505-2E9C-101B-9397-08002B2CF9AE}" pid="9" name="Project Document Type PROPOSED">
    <vt:lpwstr/>
  </property>
</Properties>
</file>