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04" r:id="rId5"/>
    <p:sldMasterId id="2147485620" r:id="rId6"/>
  </p:sldMasterIdLst>
  <p:notesMasterIdLst>
    <p:notesMasterId r:id="rId12"/>
  </p:notesMasterIdLst>
  <p:sldIdLst>
    <p:sldId id="2147376078" r:id="rId7"/>
    <p:sldId id="2147376096" r:id="rId8"/>
    <p:sldId id="2147376093" r:id="rId9"/>
    <p:sldId id="2147376094" r:id="rId10"/>
    <p:sldId id="2147376095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3696" userDrawn="1">
          <p15:clr>
            <a:srgbClr val="A4A3A4"/>
          </p15:clr>
        </p15:guide>
        <p15:guide id="2" pos="3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8FC50A-AB9F-7234-B831-A22CAAF7FB1E}" name="Ryan Pollack" initials="RP" userId="S::Ryan.Pollack@earley.com::f1080a3a-0fd5-41dd-a2ea-e78fa042f420" providerId="AD"/>
  <p188:author id="{56AC8A0F-D8C2-3D3E-4453-536261358B92}" name="Heather Eisenbraun" initials="HE" userId="S::Heather.Eisenbraun@earley.com::af8590ba-9108-4f55-8849-6d71c7b93ad1" providerId="AD"/>
  <p188:author id="{3B254925-EFC4-6BAD-30B8-6E024CB901BA}" name="Thomas Blumer" initials="TB" userId="S::Thomas.Blumer@earley.com::2c1d0262-690f-4609-bdfe-5ec3ce19bfeb" providerId="AD"/>
  <p188:author id="{00354340-13C1-9EB2-C01C-898E8A338B81}" name="Phil Ryan" initials="PR" userId="S::phil.ryan@earley.com::ec85e699-70e1-412a-ae5d-8b8689f57052" providerId="AD"/>
  <p188:author id="{9D463565-7999-E145-D807-F42E133AFA78}" name="Dave Skrobela" initials="DS" userId="S::Dave.Skrobela@earley.com::1a80532f-18b2-46d0-aa4f-ac04a10667d8" providerId="AD"/>
  <p188:author id="{B70B6884-82CA-26DC-657A-4C24E4D1E827}" name="Seth Earley" initials="" userId="S::Seth@earley.com::628be45f-8d1c-4a33-a8fa-c54e490afe68" providerId="AD"/>
  <p188:author id="{05CA0390-8346-199C-7B17-66418A0FED88}" name="Dave Skrobela" initials="DS" userId="S::dave.skrobela@earley.com::1a80532f-18b2-46d0-aa4f-ac04a10667d8" providerId="AD"/>
  <p188:author id="{FA6691BE-E185-20AF-21EC-A75E6A300ECE}" name="Heather Eisenbraun" initials="HE" userId="S::heather.eisenbraun@earley.com::af8590ba-9108-4f55-8849-6d71c7b93ad1" providerId="AD"/>
  <p188:author id="{09624CC8-35F3-5157-E097-7EAF13479239}" name="Ryan Pollack" initials="RP" userId="S::ryan.pollack@earley.com::f1080a3a-0fd5-41dd-a2ea-e78fa042f420" providerId="AD"/>
  <p188:author id="{4AE393E0-E885-47E0-ECDE-670D4F81BA25}" name="Jordan Cassel" initials="JC" userId="S::jordan.cassel@earley.com::cb5af049-45c7-4d1e-8514-8ed5eeea322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9EC"/>
    <a:srgbClr val="0D144A"/>
    <a:srgbClr val="0A0A40"/>
    <a:srgbClr val="094978"/>
    <a:srgbClr val="0E1548"/>
    <a:srgbClr val="0F151B"/>
    <a:srgbClr val="F4F7FA"/>
    <a:srgbClr val="8CA5CC"/>
    <a:srgbClr val="839EBA"/>
    <a:srgbClr val="01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4B9BC8-7165-F2EA-26E9-9A8804BF1B1A}" v="9" dt="2026-02-23T21:54:05.841"/>
    <p1510:client id="{FBEB247A-9904-525A-A921-1AF98ECE5A3D}" v="8" dt="2026-02-23T23:58:48.4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45" d="100"/>
          <a:sy n="145" d="100"/>
        </p:scale>
        <p:origin x="108" y="208"/>
      </p:cViewPr>
      <p:guideLst>
        <p:guide orient="horz" pos="3696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microsoft.com/office/2018/10/relationships/authors" Target="authors.xml"/><Relationship Id="rId1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lumer" userId="S::thomas.blumer@earley.com::2c1d0262-690f-4609-bdfe-5ec3ce19bfeb" providerId="AD" clId="Web-{FBEB247A-9904-525A-A921-1AF98ECE5A3D}"/>
    <pc:docChg chg="delSld">
      <pc:chgData name="Thomas Blumer" userId="S::thomas.blumer@earley.com::2c1d0262-690f-4609-bdfe-5ec3ce19bfeb" providerId="AD" clId="Web-{FBEB247A-9904-525A-A921-1AF98ECE5A3D}" dt="2026-02-23T23:58:48.419" v="7"/>
      <pc:docMkLst>
        <pc:docMk/>
      </pc:docMkLst>
      <pc:sldChg chg="del">
        <pc:chgData name="Thomas Blumer" userId="S::thomas.blumer@earley.com::2c1d0262-690f-4609-bdfe-5ec3ce19bfeb" providerId="AD" clId="Web-{FBEB247A-9904-525A-A921-1AF98ECE5A3D}" dt="2026-02-23T23:58:48.419" v="6"/>
        <pc:sldMkLst>
          <pc:docMk/>
          <pc:sldMk cId="3732456645" sldId="2147376088"/>
        </pc:sldMkLst>
      </pc:sldChg>
      <pc:sldChg chg="del">
        <pc:chgData name="Thomas Blumer" userId="S::thomas.blumer@earley.com::2c1d0262-690f-4609-bdfe-5ec3ce19bfeb" providerId="AD" clId="Web-{FBEB247A-9904-525A-A921-1AF98ECE5A3D}" dt="2026-02-23T23:58:48.419" v="5"/>
        <pc:sldMkLst>
          <pc:docMk/>
          <pc:sldMk cId="0" sldId="2147376089"/>
        </pc:sldMkLst>
      </pc:sldChg>
      <pc:sldChg chg="del">
        <pc:chgData name="Thomas Blumer" userId="S::thomas.blumer@earley.com::2c1d0262-690f-4609-bdfe-5ec3ce19bfeb" providerId="AD" clId="Web-{FBEB247A-9904-525A-A921-1AF98ECE5A3D}" dt="2026-02-23T23:58:48.419" v="4"/>
        <pc:sldMkLst>
          <pc:docMk/>
          <pc:sldMk cId="0" sldId="2147376090"/>
        </pc:sldMkLst>
      </pc:sldChg>
      <pc:sldChg chg="del">
        <pc:chgData name="Thomas Blumer" userId="S::thomas.blumer@earley.com::2c1d0262-690f-4609-bdfe-5ec3ce19bfeb" providerId="AD" clId="Web-{FBEB247A-9904-525A-A921-1AF98ECE5A3D}" dt="2026-02-23T23:58:48.419" v="3"/>
        <pc:sldMkLst>
          <pc:docMk/>
          <pc:sldMk cId="1139538183" sldId="2147376091"/>
        </pc:sldMkLst>
      </pc:sldChg>
      <pc:sldChg chg="del">
        <pc:chgData name="Thomas Blumer" userId="S::thomas.blumer@earley.com::2c1d0262-690f-4609-bdfe-5ec3ce19bfeb" providerId="AD" clId="Web-{FBEB247A-9904-525A-A921-1AF98ECE5A3D}" dt="2026-02-23T23:58:48.419" v="7"/>
        <pc:sldMkLst>
          <pc:docMk/>
          <pc:sldMk cId="1494825061" sldId="2147376092"/>
        </pc:sldMkLst>
      </pc:sldChg>
      <pc:sldChg chg="del">
        <pc:chgData name="Thomas Blumer" userId="S::thomas.blumer@earley.com::2c1d0262-690f-4609-bdfe-5ec3ce19bfeb" providerId="AD" clId="Web-{FBEB247A-9904-525A-A921-1AF98ECE5A3D}" dt="2026-02-23T23:58:48.419" v="2"/>
        <pc:sldMkLst>
          <pc:docMk/>
          <pc:sldMk cId="3873408405" sldId="2147376097"/>
        </pc:sldMkLst>
      </pc:sldChg>
      <pc:sldChg chg="del">
        <pc:chgData name="Thomas Blumer" userId="S::thomas.blumer@earley.com::2c1d0262-690f-4609-bdfe-5ec3ce19bfeb" providerId="AD" clId="Web-{FBEB247A-9904-525A-A921-1AF98ECE5A3D}" dt="2026-02-23T23:58:48.403" v="1"/>
        <pc:sldMkLst>
          <pc:docMk/>
          <pc:sldMk cId="0" sldId="2147376098"/>
        </pc:sldMkLst>
      </pc:sldChg>
      <pc:sldChg chg="del">
        <pc:chgData name="Thomas Blumer" userId="S::thomas.blumer@earley.com::2c1d0262-690f-4609-bdfe-5ec3ce19bfeb" providerId="AD" clId="Web-{FBEB247A-9904-525A-A921-1AF98ECE5A3D}" dt="2026-02-23T23:58:48.403" v="0"/>
        <pc:sldMkLst>
          <pc:docMk/>
          <pc:sldMk cId="0" sldId="21473760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9AA15-6E54-4D68-9055-5935DB952A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FBADD-43F2-4F28-AC53-B30F76A30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9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752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5D1925-F01A-4F90-AEA9-FC48E34A04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8123" y="1247615"/>
            <a:ext cx="11136773" cy="4778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F8C80-8A26-4ED2-8B9A-E24D527452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AC91855-D87F-47DB-AAE4-308F916E4D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816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868196" y="1239008"/>
            <a:ext cx="501812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283015" y="1241146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4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536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609599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494133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hape 8"/>
          <p:cNvSpPr>
            <a:spLocks noGrp="1"/>
          </p:cNvSpPr>
          <p:nvPr>
            <p:ph idx="11"/>
          </p:nvPr>
        </p:nvSpPr>
        <p:spPr>
          <a:xfrm>
            <a:off x="8378664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09599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494133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8378664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993ABF0-0745-4718-ADBF-6ABFF935AD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91920" y="6448314"/>
            <a:ext cx="5034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2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194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538123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hape 8"/>
          <p:cNvSpPr>
            <a:spLocks noGrp="1"/>
          </p:cNvSpPr>
          <p:nvPr>
            <p:ph idx="10"/>
          </p:nvPr>
        </p:nvSpPr>
        <p:spPr>
          <a:xfrm>
            <a:off x="3398750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Shape 8"/>
          <p:cNvSpPr>
            <a:spLocks noGrp="1"/>
          </p:cNvSpPr>
          <p:nvPr>
            <p:ph idx="11"/>
          </p:nvPr>
        </p:nvSpPr>
        <p:spPr>
          <a:xfrm>
            <a:off x="6247576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hape 8"/>
          <p:cNvSpPr>
            <a:spLocks noGrp="1"/>
          </p:cNvSpPr>
          <p:nvPr>
            <p:ph idx="12"/>
          </p:nvPr>
        </p:nvSpPr>
        <p:spPr>
          <a:xfrm>
            <a:off x="9096402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38760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3398751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248847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9096403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08EB-7AE9-4A88-8140-8EF5047936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7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5E9B3-EE83-0644-8A0F-D702C3199662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33" y="14747"/>
            <a:ext cx="6132868" cy="6858000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22EDC-0F39-FE44-A71D-76BFD2F20E0F}"/>
              </a:ext>
            </a:extLst>
          </p:cNvPr>
          <p:cNvSpPr>
            <a:spLocks/>
          </p:cNvSpPr>
          <p:nvPr/>
        </p:nvSpPr>
        <p:spPr>
          <a:xfrm rot="10800000">
            <a:off x="590428" y="14746"/>
            <a:ext cx="5505572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B23B9895-056B-D545-B7A2-818AE6726A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9CB18-23CA-834A-930A-E74144ECBA9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0135C-E513-4757-B7B4-8D9AA58F79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13C58AE-F8A0-4EA0-82D5-15D0171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040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6869" y="0"/>
            <a:ext cx="6132868" cy="685800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A3BF2F97-FA42-5A44-94C3-FE5FA8D89B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D4B1E-E96E-4B4A-BF15-F679E965759E}"/>
              </a:ext>
            </a:extLst>
          </p:cNvPr>
          <p:cNvSpPr>
            <a:spLocks/>
          </p:cNvSpPr>
          <p:nvPr/>
        </p:nvSpPr>
        <p:spPr>
          <a:xfrm rot="10800000">
            <a:off x="-36869" y="14746"/>
            <a:ext cx="6132868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8" name="image1.png">
            <a:extLst>
              <a:ext uri="{FF2B5EF4-FFF2-40B4-BE49-F238E27FC236}">
                <a16:creationId xmlns:a16="http://schemas.microsoft.com/office/drawing/2014/main" id="{26A3889F-D7B4-FB4D-A0A0-B7164C643D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5CB43F-0B9E-C745-84D3-38DAAEC123E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4D1F8-1E0B-4194-9EA9-3B85633A8C0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6D923B6-7587-4385-92A1-2B3A9292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27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DC5778-9DD2-D54A-BF9A-DE2028A17853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6868" y="0"/>
            <a:ext cx="6132868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464445-A72B-FE4D-B60B-5807E20E33C5}"/>
              </a:ext>
            </a:extLst>
          </p:cNvPr>
          <p:cNvSpPr>
            <a:spLocks/>
          </p:cNvSpPr>
          <p:nvPr/>
        </p:nvSpPr>
        <p:spPr>
          <a:xfrm rot="10800000">
            <a:off x="-36869" y="-4"/>
            <a:ext cx="6132868" cy="6872750"/>
          </a:xfrm>
          <a:prstGeom prst="rect">
            <a:avLst/>
          </a:prstGeom>
          <a:solidFill>
            <a:schemeClr val="accent6">
              <a:alpha val="7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1C681-A68E-164B-81C1-94BF25E9C474}"/>
              </a:ext>
            </a:extLst>
          </p:cNvPr>
          <p:cNvSpPr>
            <a:spLocks/>
          </p:cNvSpPr>
          <p:nvPr/>
        </p:nvSpPr>
        <p:spPr>
          <a:xfrm rot="10800000">
            <a:off x="-55303" y="-6135"/>
            <a:ext cx="6132868" cy="6872751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9" name="image1.png">
            <a:extLst>
              <a:ext uri="{FF2B5EF4-FFF2-40B4-BE49-F238E27FC236}">
                <a16:creationId xmlns:a16="http://schemas.microsoft.com/office/drawing/2014/main" id="{27DA2935-6602-FF45-9BBD-ECDC22B6F1B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3F77F4-4852-0F47-9842-1EEFFF77D289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73AA5-14B2-4B53-AA68-67C31532F5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421DD9DB-A286-49C6-8AFA-BE6E8E64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93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14746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41223-3D9C-1E49-99BB-E0632A812AB6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236ECC-A4BA-FB41-8C8D-01CF691B8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5AA1624-823B-5146-9A2E-869560E86F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4423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6840FF-03F7-4D2A-BABC-09762FFBD409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3C651B6-B639-6241-910B-EAF34417E92D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74A78D8-2844-1C41-B024-A81F0BB1CF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D5719B-D8F5-E84C-975E-87CA6CA4F2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73623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6E84C2-78EB-4D1A-A479-FDE6F0049F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E22296-8181-41B9-9124-1582127577FA}"/>
              </a:ext>
            </a:extLst>
          </p:cNvPr>
          <p:cNvSpPr/>
          <p:nvPr/>
        </p:nvSpPr>
        <p:spPr>
          <a:xfrm>
            <a:off x="0" y="3237494"/>
            <a:ext cx="12270576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771A4-7CD4-2340-B6DE-3DA6E571F127}"/>
              </a:ext>
            </a:extLst>
          </p:cNvPr>
          <p:cNvSpPr>
            <a:spLocks/>
          </p:cNvSpPr>
          <p:nvPr/>
        </p:nvSpPr>
        <p:spPr>
          <a:xfrm rot="10800000">
            <a:off x="0" y="18218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7980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52614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144138-D22C-4146-BF55-B4991D4FE9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56388-0B15-F442-A126-191C092C3EFD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968822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018148-0706-5241-8BC6-07E2B1F5F7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5DCA34-BE71-0B4F-A5F1-31722061925B}"/>
              </a:ext>
            </a:extLst>
          </p:cNvPr>
          <p:cNvSpPr/>
          <p:nvPr/>
        </p:nvSpPr>
        <p:spPr>
          <a:xfrm>
            <a:off x="-8972" y="3244495"/>
            <a:ext cx="12200971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6622E-299B-D140-BB3F-A91125245E88}"/>
              </a:ext>
            </a:extLst>
          </p:cNvPr>
          <p:cNvSpPr>
            <a:spLocks/>
          </p:cNvSpPr>
          <p:nvPr/>
        </p:nvSpPr>
        <p:spPr>
          <a:xfrm rot="10800000">
            <a:off x="-359324" y="0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708114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9C7908-BA04-472D-AE0E-2EC318BC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33" y="286157"/>
            <a:ext cx="11259334" cy="6935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hape 194"/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  <p:sp>
        <p:nvSpPr>
          <p:cNvPr id="12" name="Shape 194">
            <a:extLst>
              <a:ext uri="{FF2B5EF4-FFF2-40B4-BE49-F238E27FC236}">
                <a16:creationId xmlns:a16="http://schemas.microsoft.com/office/drawing/2014/main" id="{FD4ACCAB-4A5B-4C90-B30B-07467397023C}"/>
              </a:ext>
            </a:extLst>
          </p:cNvPr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35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47CCE-89C6-3398-EA67-035B11CFB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3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54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29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89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370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2634CB-621C-0AA3-325D-CF93F1581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10" name="Slide Number Placeholder 16">
            <a:extLst>
              <a:ext uri="{FF2B5EF4-FFF2-40B4-BE49-F238E27FC236}">
                <a16:creationId xmlns:a16="http://schemas.microsoft.com/office/drawing/2014/main" id="{5573FDDA-2222-F089-2A12-1953DB6267E9}"/>
              </a:ext>
            </a:extLst>
          </p:cNvPr>
          <p:cNvSpPr txBox="1">
            <a:spLocks/>
          </p:cNvSpPr>
          <p:nvPr userDrawn="1"/>
        </p:nvSpPr>
        <p:spPr>
          <a:xfrm>
            <a:off x="11728412" y="6501106"/>
            <a:ext cx="335850" cy="1615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C3E0BD-1E1B-4C56-A5B4-794BEE42BE14}" type="slidenum">
              <a:rPr lang="en-US" sz="1050" spc="144" smtClean="0">
                <a:solidFill>
                  <a:schemeClr val="bg1">
                    <a:lumMod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50" spc="144">
              <a:solidFill>
                <a:schemeClr val="bg1">
                  <a:lumMod val="7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09213-FC9E-9CA9-6246-4269C560C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A2AAC-2181-F1F7-05B8-D983BB10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747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466333" y="275273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538124" y="1241146"/>
            <a:ext cx="11143530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hape 194"/>
          <p:cNvSpPr/>
          <p:nvPr/>
        </p:nvSpPr>
        <p:spPr>
          <a:xfrm rot="16200000">
            <a:off x="6036240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23" rIns="45623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6">
              <a:latin typeface="Calibri" panose="020F0502020204030204" pitchFamily="34" charset="0"/>
            </a:endParaRPr>
          </a:p>
        </p:txBody>
      </p:sp>
      <p:sp>
        <p:nvSpPr>
          <p:cNvPr id="11" name="Shape 195"/>
          <p:cNvSpPr/>
          <p:nvPr/>
        </p:nvSpPr>
        <p:spPr>
          <a:xfrm flipV="1">
            <a:off x="11588799" y="6504877"/>
            <a:ext cx="0" cy="252001"/>
          </a:xfrm>
          <a:prstGeom prst="line">
            <a:avLst/>
          </a:prstGeom>
          <a:ln w="19050">
            <a:solidFill>
              <a:srgbClr val="084A79"/>
            </a:solidFill>
          </a:ln>
        </p:spPr>
        <p:txBody>
          <a:bodyPr lIns="45623" rIns="45623"/>
          <a:lstStyle/>
          <a:p>
            <a:endParaRPr sz="1796">
              <a:latin typeface="Calibri" panose="020F0502020204030204" pitchFamily="34" charset="0"/>
            </a:endParaRPr>
          </a:p>
        </p:txBody>
      </p:sp>
      <p:pic>
        <p:nvPicPr>
          <p:cNvPr id="12" name="image1.png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hape 193">
            <a:extLst>
              <a:ext uri="{FF2B5EF4-FFF2-40B4-BE49-F238E27FC236}">
                <a16:creationId xmlns:a16="http://schemas.microsoft.com/office/drawing/2014/main" id="{E14E0D4A-2183-4715-BD53-68FAA9B3560A}"/>
              </a:ext>
            </a:extLst>
          </p:cNvPr>
          <p:cNvSpPr/>
          <p:nvPr/>
        </p:nvSpPr>
        <p:spPr>
          <a:xfrm>
            <a:off x="8483246" y="6570227"/>
            <a:ext cx="3084944" cy="21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623" rIns="45623">
            <a:spAutoFit/>
          </a:bodyPr>
          <a:lstStyle>
            <a:lvl1pPr>
              <a:defRPr sz="6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Copyright © </a:t>
            </a:r>
            <a:r>
              <a:rPr lang="en-US"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2026</a:t>
            </a:r>
            <a:r>
              <a:rPr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 Earley Information Science, Inc.  All Rights Reserved.</a:t>
            </a:r>
          </a:p>
        </p:txBody>
      </p:sp>
      <p:pic>
        <p:nvPicPr>
          <p:cNvPr id="20" name="image1.png">
            <a:extLst>
              <a:ext uri="{FF2B5EF4-FFF2-40B4-BE49-F238E27FC236}">
                <a16:creationId xmlns:a16="http://schemas.microsoft.com/office/drawing/2014/main" id="{7E136C74-3E38-4711-B2DC-88AB407C6326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B7096-F130-43EC-B3EC-C13B83241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C3296FC5-3030-41DC-9395-66F320BD0EFB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542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9" r:id="rId1"/>
    <p:sldLayoutId id="2147483664" r:id="rId2"/>
    <p:sldLayoutId id="2147485606" r:id="rId3"/>
    <p:sldLayoutId id="2147483666" r:id="rId4"/>
    <p:sldLayoutId id="2147485612" r:id="rId5"/>
    <p:sldLayoutId id="2147485613" r:id="rId6"/>
    <p:sldLayoutId id="2147485618" r:id="rId7"/>
    <p:sldLayoutId id="2147485619" r:id="rId8"/>
    <p:sldLayoutId id="2147485608" r:id="rId9"/>
    <p:sldLayoutId id="2147485607" r:id="rId10"/>
    <p:sldLayoutId id="2147485611" r:id="rId11"/>
    <p:sldLayoutId id="2147483674" r:id="rId12"/>
    <p:sldLayoutId id="2147485614" r:id="rId13"/>
    <p:sldLayoutId id="2147485615" r:id="rId14"/>
    <p:sldLayoutId id="2147485616" r:id="rId15"/>
    <p:sldLayoutId id="2147485626" r:id="rId16"/>
    <p:sldLayoutId id="2147485627" r:id="rId17"/>
    <p:sldLayoutId id="2147485628" r:id="rId18"/>
    <p:sldLayoutId id="2147485629" r:id="rId19"/>
  </p:sldLayoutIdLst>
  <p:hf hdr="0" ftr="0" dt="0"/>
  <p:txStyles>
    <p:titleStyle>
      <a:lvl1pPr marL="0" marR="0" indent="0" algn="ctr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Tx/>
        <a:buFont typeface="Arial" charset="0"/>
        <a:buNone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456286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2pPr>
      <a:lvl3pPr marL="912573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3pPr>
      <a:lvl4pPr marL="1368858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4pPr>
      <a:lvl5pPr marL="1825144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5pPr>
      <a:lvl6pPr marL="2646459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6pPr>
      <a:lvl7pPr marL="3102745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7pPr>
      <a:lvl8pPr marL="3559030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8pPr>
      <a:lvl9pPr marL="4015317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6286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257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6885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5144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143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37717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19400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028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6622AE-15AB-3693-1E20-3C4DCF1A3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1FFFA46-A092-173C-15EB-E829F3D653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FE06A3-E275-89B9-7396-979DAB8C4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567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2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Current State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8"/>
            <a:ext cx="8187669" cy="4764741"/>
          </a:xfrm>
        </p:spPr>
        <p:txBody>
          <a:bodyPr lIns="45719" tIns="45720" rIns="45719" bIns="45720" anchor="t">
            <a:norm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1.1.1 Fabric and Azure AI Analysis</a:t>
            </a:r>
            <a:endParaRPr lang="en-US" sz="1800" dirty="0">
              <a:solidFill>
                <a:srgbClr val="052841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r>
              <a:rPr lang="en-US" sz="1800" dirty="0">
                <a:solidFill>
                  <a:srgbClr val="052841"/>
                </a:solidFill>
                <a:latin typeface="Aptos" panose="020B0004020202020204" pitchFamily="34" charset="0"/>
                <a:ea typeface="Calibri"/>
                <a:cs typeface="Calibri"/>
              </a:rPr>
              <a:t>Current user mapping, pain points, and platform-specific opportunities across Fabric-native capabilities, Purview governance, and Azure AI services.</a:t>
            </a:r>
          </a:p>
          <a:p>
            <a:endParaRPr lang="en-US" sz="1750" b="1" dirty="0">
              <a:solidFill>
                <a:srgbClr val="0070C0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50" b="1" dirty="0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1.1.2</a:t>
            </a:r>
            <a:r>
              <a:rPr sz="1750" b="1" dirty="0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 Technology Stack Evaluation</a:t>
            </a:r>
            <a:endParaRPr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Assessment of 25+ platforms including Salesforce, Genesys, Fabric, and MuleSoft. Identified unused AI licenses, platform duplication issues, and strategic cost drivers.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750" b="1" dirty="0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1.1.3</a:t>
            </a:r>
            <a:r>
              <a:rPr sz="1750" b="1" dirty="0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 Platform Access Gap Analysis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Prioritized AI capabilities by ROI: underutilized licenses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dirty="0">
                <a:latin typeface="Aptos" panose="020B0004020202020204" pitchFamily="34" charset="0"/>
              </a:rPr>
              <a:t>high-value opportunities, and implementation </a:t>
            </a:r>
            <a:r>
              <a:rPr lang="en-US" dirty="0">
                <a:latin typeface="Aptos" panose="020B0004020202020204" pitchFamily="34" charset="0"/>
              </a:rPr>
              <a:t>opportunities</a:t>
            </a:r>
            <a:r>
              <a:rPr dirty="0"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for</a:t>
            </a:r>
            <a:r>
              <a:rPr dirty="0">
                <a:latin typeface="Aptos" panose="020B0004020202020204" pitchFamily="34" charset="0"/>
              </a:rPr>
              <a:t> 2026-2027.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609E1-D5DB-7CC9-16CD-9CF480FF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76544-B24F-3B30-A64D-91A07B9D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Current State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A35D4-92C3-60D8-0994-E92ACA935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8"/>
            <a:ext cx="8187669" cy="4764741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1.1.1 Fabric and Azure AI Analysis</a:t>
            </a:r>
          </a:p>
          <a:p>
            <a:r>
              <a:rPr lang="en-US" dirty="0">
                <a:latin typeface="Aptos" panose="020B0004020202020204" pitchFamily="34" charset="0"/>
              </a:rPr>
              <a:t>Current user mapping, pain points, and platform-specific opportunities across Fabric-native capabilities, Purview governance, and Azure AI services.</a:t>
            </a:r>
          </a:p>
          <a:p>
            <a:pPr marL="0" indent="0">
              <a:buNone/>
            </a:pPr>
            <a:endParaRPr lang="en-US" b="1" dirty="0">
              <a:solidFill>
                <a:schemeClr val="accent2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Aptos" panose="020B0004020202020204" pitchFamily="34" charset="0"/>
              </a:rPr>
              <a:t>1.1.2</a:t>
            </a:r>
            <a:r>
              <a:rPr b="1" dirty="0">
                <a:solidFill>
                  <a:schemeClr val="accent2"/>
                </a:solidFill>
                <a:latin typeface="Aptos" panose="020B0004020202020204" pitchFamily="34" charset="0"/>
              </a:rPr>
              <a:t> Technology Stack Evaluation</a:t>
            </a:r>
          </a:p>
          <a:p>
            <a:pPr marL="0" indent="0">
              <a:buNone/>
            </a:pPr>
            <a:r>
              <a:rPr dirty="0">
                <a:solidFill>
                  <a:schemeClr val="accent2"/>
                </a:solidFill>
                <a:latin typeface="Aptos" panose="020B0004020202020204" pitchFamily="34" charset="0"/>
              </a:rPr>
              <a:t>Assessment of 25+ platforms including Salesforce, Genesys, Fabric, and MuleSoft. Identified unused AI licenses, platform duplication issues, and strategic cost drivers.</a:t>
            </a:r>
            <a:endParaRPr lang="en-US" dirty="0">
              <a:solidFill>
                <a:schemeClr val="accent2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dirty="0">
              <a:solidFill>
                <a:schemeClr val="accent2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Aptos" panose="020B0004020202020204" pitchFamily="34" charset="0"/>
              </a:rPr>
              <a:t>1.1.3</a:t>
            </a:r>
            <a:r>
              <a:rPr b="1" dirty="0">
                <a:solidFill>
                  <a:schemeClr val="accent2"/>
                </a:solidFill>
                <a:latin typeface="Aptos" panose="020B0004020202020204" pitchFamily="34" charset="0"/>
              </a:rPr>
              <a:t> Platform Access Gap Analysis</a:t>
            </a:r>
          </a:p>
          <a:p>
            <a:pPr marL="0" indent="0">
              <a:buNone/>
            </a:pPr>
            <a:r>
              <a:rPr dirty="0">
                <a:solidFill>
                  <a:schemeClr val="accent2"/>
                </a:solidFill>
                <a:latin typeface="Aptos" panose="020B0004020202020204" pitchFamily="34" charset="0"/>
              </a:rPr>
              <a:t>Prioritized AI capabilities by ROI: underutilized licenses</a:t>
            </a: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, </a:t>
            </a:r>
            <a:r>
              <a:rPr dirty="0">
                <a:solidFill>
                  <a:schemeClr val="accent2"/>
                </a:solidFill>
                <a:latin typeface="Aptos" panose="020B0004020202020204" pitchFamily="34" charset="0"/>
              </a:rPr>
              <a:t>high-value opportunities, and implementation </a:t>
            </a: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opportunities</a:t>
            </a:r>
            <a:r>
              <a:rPr dirty="0">
                <a:solidFill>
                  <a:schemeClr val="accent2"/>
                </a:solidFill>
                <a:latin typeface="Aptos" panose="020B0004020202020204" pitchFamily="34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for</a:t>
            </a:r>
            <a:r>
              <a:rPr dirty="0">
                <a:solidFill>
                  <a:schemeClr val="accent2"/>
                </a:solidFill>
                <a:latin typeface="Aptos" panose="020B0004020202020204" pitchFamily="34" charset="0"/>
              </a:rPr>
              <a:t> 2026-2027.</a:t>
            </a:r>
            <a:endParaRPr lang="en-US" dirty="0">
              <a:solidFill>
                <a:schemeClr val="accent2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18C9D-E21A-FBEC-66E0-598379F85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2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1.1.1</a:t>
            </a:r>
            <a:r>
              <a:rPr dirty="0">
                <a:latin typeface="Aptos" panose="020B0004020202020204" pitchFamily="34" charset="0"/>
              </a:rPr>
              <a:t> Fabric &amp; Azure AI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30" y="1239008"/>
            <a:ext cx="5596568" cy="3520279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Document Scope</a:t>
            </a:r>
          </a:p>
          <a:p>
            <a:pPr marL="0" indent="0">
              <a:buNone/>
            </a:pPr>
            <a:r>
              <a:rPr dirty="0"/>
              <a:t>Maps current Fabric users and identifies opportunities across three platform categories—each with distinct licensing, skillsets, and implementation approaches.</a:t>
            </a:r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Deliverable Contents</a:t>
            </a:r>
          </a:p>
          <a:p>
            <a:pPr indent="-182880" algn="l">
              <a:spcBef>
                <a:spcPts val="0"/>
              </a:spcBef>
              <a:buChar char="•"/>
            </a:pPr>
            <a:r>
              <a:rPr dirty="0"/>
              <a:t>Platform Taxonomy (Fabric vs. Purview vs. Azure AI)</a:t>
            </a:r>
          </a:p>
          <a:p>
            <a:pPr indent="-182880" algn="l">
              <a:spcBef>
                <a:spcPts val="0"/>
              </a:spcBef>
              <a:buChar char="•"/>
            </a:pPr>
            <a:r>
              <a:rPr dirty="0"/>
              <a:t>Current Fabric Users (10 stakeholders mapped)</a:t>
            </a:r>
          </a:p>
          <a:p>
            <a:pPr indent="-182880" algn="l">
              <a:spcBef>
                <a:spcPts val="0"/>
              </a:spcBef>
              <a:buChar char="•"/>
            </a:pPr>
            <a:r>
              <a:rPr dirty="0"/>
              <a:t>Fabric-Native Opportunities (8)</a:t>
            </a:r>
          </a:p>
          <a:p>
            <a:pPr indent="-182880" algn="l">
              <a:spcBef>
                <a:spcPts val="0"/>
              </a:spcBef>
              <a:buChar char="•"/>
            </a:pPr>
            <a:r>
              <a:rPr dirty="0"/>
              <a:t>Purview Governance Opportunities (4)</a:t>
            </a:r>
          </a:p>
          <a:p>
            <a:pPr indent="-182880" algn="l">
              <a:spcBef>
                <a:spcPts val="0"/>
              </a:spcBef>
              <a:buChar char="•"/>
            </a:pPr>
            <a:r>
              <a:rPr dirty="0"/>
              <a:t>Azure AI Opportunities (5)</a:t>
            </a:r>
          </a:p>
          <a:p>
            <a:pPr indent="-182880" algn="l">
              <a:spcBef>
                <a:spcPts val="0"/>
              </a:spcBef>
              <a:buChar char="•"/>
            </a:pPr>
            <a:r>
              <a:rPr dirty="0"/>
              <a:t>Prioritized Recommendations (8)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663858" y="1239008"/>
            <a:ext cx="5061809" cy="4764741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Platform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Delineation / </a:t>
            </a: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Licensing</a:t>
            </a:r>
          </a:p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Microsoft Fabric: </a:t>
            </a:r>
            <a:r>
              <a:rPr dirty="0">
                <a:latin typeface="Aptos" panose="020B0004020202020204" pitchFamily="34" charset="0"/>
              </a:rPr>
              <a:t>Subscription-based, already licensed. Copilot features included. Most opportunities here are 'activation' not procurement.</a:t>
            </a:r>
          </a:p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Microsoft Purview: </a:t>
            </a:r>
            <a:r>
              <a:rPr dirty="0">
                <a:latin typeface="Aptos" panose="020B0004020202020204" pitchFamily="34" charset="0"/>
              </a:rPr>
              <a:t>Separate licensing from Fabric. Critical for banking compliance. Data Quality GA Sept 2025.</a:t>
            </a:r>
          </a:p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Azure AI Services: </a:t>
            </a:r>
            <a:r>
              <a:rPr dirty="0">
                <a:latin typeface="Aptos" panose="020B0004020202020204" pitchFamily="34" charset="0"/>
              </a:rPr>
              <a:t>Pay-per-use. Different skillset (developers vs. analysts). Subject to AI Governance Policy.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Appendix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Purview Implementation Approach (3-phase plan with detailed guidance)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F8944-1CB1-4235-6328-7ABF3B6A6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19" y="4580967"/>
            <a:ext cx="4957589" cy="186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1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404482-6532-71A1-69E3-24DE3C5EC7F3}"/>
              </a:ext>
            </a:extLst>
          </p:cNvPr>
          <p:cNvSpPr/>
          <p:nvPr/>
        </p:nvSpPr>
        <p:spPr>
          <a:xfrm>
            <a:off x="6190908" y="3462051"/>
            <a:ext cx="5310130" cy="183469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72941"/>
              </a:solidFill>
              <a:effectLst/>
              <a:uFillTx/>
              <a:sym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1AE6BE-4941-E190-84E5-6EAA40482F0F}"/>
              </a:ext>
            </a:extLst>
          </p:cNvPr>
          <p:cNvSpPr/>
          <p:nvPr/>
        </p:nvSpPr>
        <p:spPr>
          <a:xfrm>
            <a:off x="683046" y="3462051"/>
            <a:ext cx="5310130" cy="183469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72941"/>
              </a:solidFill>
              <a:effectLst/>
              <a:uFillTx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E76BCE-8597-8BDF-4577-AA7F0FBA2ED6}"/>
              </a:ext>
            </a:extLst>
          </p:cNvPr>
          <p:cNvSpPr/>
          <p:nvPr/>
        </p:nvSpPr>
        <p:spPr>
          <a:xfrm>
            <a:off x="6213514" y="1216975"/>
            <a:ext cx="5310130" cy="183469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72941"/>
              </a:solidFill>
              <a:effectLst/>
              <a:uFillTx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A4B58-858D-2781-5104-C2473D11E825}"/>
              </a:ext>
            </a:extLst>
          </p:cNvPr>
          <p:cNvSpPr/>
          <p:nvPr/>
        </p:nvSpPr>
        <p:spPr>
          <a:xfrm>
            <a:off x="683046" y="1239008"/>
            <a:ext cx="5310130" cy="1834698"/>
          </a:xfrm>
          <a:prstGeom prst="rect">
            <a:avLst/>
          </a:prstGeom>
          <a:solidFill>
            <a:srgbClr val="E7E9E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72941"/>
              </a:solidFill>
              <a:effectLst/>
              <a:uFillTx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Opportunities by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8"/>
            <a:ext cx="5018129" cy="5437214"/>
          </a:xfrm>
        </p:spPr>
        <p:txBody>
          <a:bodyPr lIns="45719" tIns="45720" rIns="45719" bIns="45720" anchor="t">
            <a:normAutofit/>
          </a:bodyPr>
          <a:lstStyle/>
          <a:p>
            <a:pPr marL="0" indent="0">
              <a:buNone/>
            </a:pPr>
            <a:r>
              <a:rPr sz="1750" b="1" dirty="0">
                <a:solidFill>
                  <a:srgbClr val="0070C0"/>
                </a:solidFill>
                <a:latin typeface="Aptos"/>
                <a:ea typeface="Calibri"/>
                <a:cs typeface="Calibri"/>
              </a:rPr>
              <a:t>Current Fabric </a:t>
            </a:r>
            <a:r>
              <a:rPr lang="en-US" sz="1750" b="1" dirty="0">
                <a:solidFill>
                  <a:srgbClr val="0070C0"/>
                </a:solidFill>
                <a:latin typeface="Aptos"/>
                <a:ea typeface="Calibri"/>
                <a:cs typeface="Calibri"/>
              </a:rPr>
              <a:t>Usage</a:t>
            </a:r>
            <a:endParaRPr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10 stakeholders mapped across IT-Data, Risk, BI, and Operations. Maturity ranges from LOW to HIGH. Key pain points: 600+ SSIS packages, manual data quality rules, shadow AI usage, 30-40 min query times.</a:t>
            </a:r>
          </a:p>
          <a:p>
            <a:pPr marL="0" indent="0">
              <a:buNone/>
            </a:pPr>
            <a:endParaRPr lang="en-US" b="1" dirty="0">
              <a:solidFill>
                <a:srgbClr val="7030A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b="1" dirty="0">
                <a:solidFill>
                  <a:srgbClr val="7030A0"/>
                </a:solidFill>
                <a:latin typeface="Aptos" panose="020B0004020202020204" pitchFamily="34" charset="0"/>
              </a:rPr>
              <a:t>Purview Governance (4 opportunities)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AI-Generated Data Quality Rules, Data Classification/PII Tagging, Data Lineage Visualization, Data Catalog/Discovery. Separate licensing, critical for banking compliance.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b="1" dirty="0">
                <a:solidFill>
                  <a:srgbClr val="7030A0"/>
                </a:solidFill>
                <a:latin typeface="Aptos" panose="020B0004020202020204" pitchFamily="34" charset="0"/>
              </a:rPr>
              <a:t>→ See Appendix: Purview Implementation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Fabric-Native (8 opportunities)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NLP Query Interface, SQL/Code Generation, Real-Time Intelligence, </a:t>
            </a:r>
            <a:r>
              <a:rPr dirty="0" err="1">
                <a:latin typeface="Aptos" panose="020B0004020202020204" pitchFamily="34" charset="0"/>
              </a:rPr>
              <a:t>MLOps</a:t>
            </a:r>
            <a:r>
              <a:rPr dirty="0">
                <a:latin typeface="Aptos" panose="020B0004020202020204" pitchFamily="34" charset="0"/>
              </a:rPr>
              <a:t> Formalization, BI Migration Support, Capacity Observability, Platform Integration, ETL Modernization. Already licensed—activation not procurement.</a:t>
            </a: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Azure AI (5 opportunities)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Sanctioned LLM Access (URGENT), Document Intelligence (MEDIUM), Research Automation (MEDIUM), Knowledge RAG (ASSESS), Telematics Processing (FUTURE). Net-new capabilities requiring separate licensing and governance.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Prioritized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Immediate (Fabric Activation)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Expand Code Assistance Tools—address 30-40 min queries blocking IT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Expand Data Agents / NLP Query—democratize data access</a:t>
            </a:r>
          </a:p>
          <a:p>
            <a:pPr marL="0" indent="0">
              <a:buNone/>
            </a:pPr>
            <a:r>
              <a:rPr b="1" dirty="0">
                <a:solidFill>
                  <a:srgbClr val="7030A0"/>
                </a:solidFill>
                <a:latin typeface="Aptos" panose="020B0004020202020204" pitchFamily="34" charset="0"/>
              </a:rPr>
              <a:t>Near-Term (Purview)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Accelerate Purview Deployment—95% of data untagged for AI use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Activate Real-Time Intelligence—fraud detection, payment patterns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0" indent="0">
              <a:buNone/>
            </a:pPr>
            <a:r>
              <a:rPr b="1" dirty="0">
                <a:solidFill>
                  <a:srgbClr val="C00000"/>
                </a:solidFill>
                <a:latin typeface="Aptos" panose="020B0004020202020204" pitchFamily="34" charset="0"/>
              </a:rPr>
              <a:t>Urgent (Azure AI - Governance)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Provide Sanctioned LLM Access—replace shadow ChatGPT usage</a:t>
            </a:r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Medium-Term (Azure AI - Additive)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Pilot Research Automation for Economics team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Assess Document Intelligence when DMS matures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5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IS_Delivery">
  <a:themeElements>
    <a:clrScheme name="EIS Auth 2019">
      <a:dk1>
        <a:srgbClr val="052841"/>
      </a:dk1>
      <a:lt1>
        <a:srgbClr val="FFFFFF"/>
      </a:lt1>
      <a:dk2>
        <a:srgbClr val="1877BC"/>
      </a:dk2>
      <a:lt2>
        <a:srgbClr val="DBE3EF"/>
      </a:lt2>
      <a:accent1>
        <a:srgbClr val="094978"/>
      </a:accent1>
      <a:accent2>
        <a:srgbClr val="C7D3E0"/>
      </a:accent2>
      <a:accent3>
        <a:srgbClr val="20CC8C"/>
      </a:accent3>
      <a:accent4>
        <a:srgbClr val="209D6E"/>
      </a:accent4>
      <a:accent5>
        <a:srgbClr val="B34BC7"/>
      </a:accent5>
      <a:accent6>
        <a:srgbClr val="7F3B8B"/>
      </a:accent6>
      <a:hlink>
        <a:srgbClr val="32A3FB"/>
      </a:hlink>
      <a:folHlink>
        <a:srgbClr val="839EBA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 err="1" smtClean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5D393D5A-6040-4319-A2E2-81A49F979150}" vid="{F28966A7-FDF5-47A0-9CE1-0A484E5DE957}"/>
    </a:ext>
  </a:extLst>
</a:theme>
</file>

<file path=ppt/theme/theme2.xml><?xml version="1.0" encoding="utf-8"?>
<a:theme xmlns:a="http://schemas.openxmlformats.org/drawingml/2006/main" name="1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56082"/>
        </a:solidFill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687EB7-071A-4A86-8C4E-636FE5A351E7}">
  <we:reference id="WA200005566" version="3.0.0.3" store="Omex" storeType="OMEX"/>
  <we:alternateReferences>
    <we:reference id="WA200005566" version="3.0.0.3" store="WA200005566" storeType="OMEX"/>
  </we:alternateReferences>
  <we:properties>
    <we:property name="theme" value="{&quot;name&quot;:&quot;Drift&quot;,&quot;colorPalette&quot;:[&quot;0E2841&quot;,&quot;E8E8E8&quot;,&quot;00416B&quot;,&quot;006098&quot;,&quot;238DC1&quot;,&quot;939598&quot;,&quot;D7D7D7&quot;,&quot;7775FF&quot;,&quot;467886&quot;,&quot;96607D&quot;],&quot;isDefault&quot;:true,&quot;color&quot;:&quot;#ffffff&quot;,&quot;previewImages&quot;:[&quot;https://cpp.appsdowonders.com/assets/SlideTitle-drift.png&quot;,&quot;https://cpp.appsdowonders.com/assets/SlideTextbox1V1-drift.png&quot;,&quot;https://cpp.appsdowonders.com/assets/SlideTextbox3V1-drift.png&quot;,&quot;https://cpp.appsdowonders.com/assets/SlideTable-drift.png&quot;,&quot;https://cpp.appsdowonders.com/assets/SlideTimeline-drift.png&quot;,&quot;https://cpp.appsdowonders.com/assets/SlideQuestion-drift.png&quot;],&quot;previewAnimation&quot;:&quot;https://cpp.appsdowonders.com/assets/drift-preview.gif&quot;,&quot;index&quot;:0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>
      <Value>18</Value>
      <Value>17</Value>
      <Value>16</Value>
      <Value>15</Value>
    </TaxCatchAll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Project Document" ma:contentTypeID="0x010100344C9658AE87044DB333EA4A93A1BC800100095641DC2C80A542A0D628A833D252D6" ma:contentTypeVersion="0" ma:contentTypeDescription="This is the primary content type for project site utilization." ma:contentTypeScope="" ma:versionID="d6fa05fbb1cb112e985131c9c8bbab34">
  <xsd:schema xmlns:xsd="http://www.w3.org/2001/XMLSchema" xmlns:xs="http://www.w3.org/2001/XMLSchema" xmlns:p="http://schemas.microsoft.com/office/2006/metadata/properties" xmlns:ns1="http://schemas.microsoft.com/sharepoint/v3" xmlns:ns2="0eea126e-d378-4180-a2b3-4f5c76938639" targetNamespace="http://schemas.microsoft.com/office/2006/metadata/properties" ma:root="true" ma:fieldsID="e9a8dd297e5a64717615abe832cbfc67" ns1:_="" ns2:_="">
    <xsd:import namespace="http://schemas.microsoft.com/sharepoint/v3"/>
    <xsd:import namespace="0eea126e-d378-4180-a2b3-4f5c76938639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Status"/>
                <xsd:element ref="ns2:Exemplar" minOccurs="0"/>
                <xsd:element ref="ns2:Approved_On" minOccurs="0"/>
                <xsd:element ref="ns2:f2f50ace197541ad86cff9e70e2da8fe" minOccurs="0"/>
                <xsd:element ref="ns2:nba4425962384a1da17435b0ede58895" minOccurs="0"/>
                <xsd:element ref="ns2:m7adfda30bd44047a5638478612301c3" minOccurs="0"/>
                <xsd:element ref="ns2:gee6b8e6849a45c3b287423ef253694f" minOccurs="0"/>
                <xsd:element ref="ns2:f26024b91be24958abad48b23a9fdabd" minOccurs="0"/>
                <xsd:element ref="ns2:TaxCatchAll" minOccurs="0"/>
                <xsd:element ref="ns2:TaxCatchAllLabel" minOccurs="0"/>
                <xsd:element ref="ns2:a990347f3ac744ba9319d59deee28e62" minOccurs="0"/>
                <xsd:element ref="ns2:SOW_x0020_Deliverable_x003f_" minOccurs="0"/>
                <xsd:element ref="ns2:Is_x0020_Highlight_x003f_" minOccurs="0"/>
                <xsd:element ref="ns2:Project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3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a126e-d378-4180-a2b3-4f5c76938639" elementFormDefault="qualified">
    <xsd:import namespace="http://schemas.microsoft.com/office/2006/documentManagement/types"/>
    <xsd:import namespace="http://schemas.microsoft.com/office/infopath/2007/PartnerControls"/>
    <xsd:element name="DocumentStatus" ma:index="5" ma:displayName="Document Status" ma:default="internal" ma:format="Dropdown" ma:internalName="DocumentStatus">
      <xsd:simpleType>
        <xsd:restriction base="dms:Choice">
          <xsd:enumeration value="internal"/>
          <xsd:enumeration value="ready to share"/>
          <xsd:enumeration value="shared"/>
          <xsd:enumeration value="waiting for approval"/>
        </xsd:restriction>
      </xsd:simpleType>
    </xsd:element>
    <xsd:element name="Exemplar" ma:index="11" nillable="true" ma:displayName="Exemplar" ma:default="0" ma:internalName="Exemplar">
      <xsd:simpleType>
        <xsd:restriction base="dms:Boolean"/>
      </xsd:simpleType>
    </xsd:element>
    <xsd:element name="Approved_On" ma:index="12" nillable="true" ma:displayName="Approved On" ma:format="DateOnly" ma:internalName="Approved_On">
      <xsd:simpleType>
        <xsd:restriction base="dms:DateTime"/>
      </xsd:simpleType>
    </xsd:element>
    <xsd:element name="f2f50ace197541ad86cff9e70e2da8fe" ma:index="14" nillable="true" ma:taxonomy="true" ma:internalName="f2f50ace197541ad86cff9e70e2da8fe" ma:taxonomyFieldName="Competency" ma:displayName="Competency" ma:default="" ma:fieldId="{f2f50ace-1975-41ad-86cf-f9e70e2da8fe}" ma:sspId="80784755-79b8-48d6-9428-3b17d2b68283" ma:termSetId="66fc978f-7778-48f0-b25e-6102ec3c890a" ma:anchorId="79d02cd2-c888-4dca-91ee-ab8cc34a5d36" ma:open="false" ma:isKeyword="false">
      <xsd:complexType>
        <xsd:sequence>
          <xsd:element ref="pc:Terms" minOccurs="0" maxOccurs="1"/>
        </xsd:sequence>
      </xsd:complexType>
    </xsd:element>
    <xsd:element name="nba4425962384a1da17435b0ede58895" ma:index="16" nillable="true" ma:taxonomy="true" ma:internalName="nba4425962384a1da17435b0ede58895" ma:taxonomyFieldName="Technology" ma:displayName="Technology" ma:default="" ma:fieldId="{7ba44259-6238-4a1d-a174-35b0ede58895}" ma:sspId="80784755-79b8-48d6-9428-3b17d2b68283" ma:termSetId="66fc978f-7778-48f0-b25e-6102ec3c890a" ma:anchorId="813a78bb-6284-4eb5-a207-1e736defb902" ma:open="false" ma:isKeyword="false">
      <xsd:complexType>
        <xsd:sequence>
          <xsd:element ref="pc:Terms" minOccurs="0" maxOccurs="1"/>
        </xsd:sequence>
      </xsd:complexType>
    </xsd:element>
    <xsd:element name="m7adfda30bd44047a5638478612301c3" ma:index="18" nillable="true" ma:taxonomy="true" ma:internalName="m7adfda30bd44047a5638478612301c3" ma:taxonomyFieldName="TechnologyProduct" ma:displayName="Technology Product" ma:default="" ma:fieldId="{67adfda3-0bd4-4047-a563-8478612301c3}" ma:sspId="80784755-79b8-48d6-9428-3b17d2b68283" ma:termSetId="66fc978f-7778-48f0-b25e-6102ec3c890a" ma:anchorId="5d1c3ad4-2cfc-4c6c-ae3c-92a81c5029d9" ma:open="false" ma:isKeyword="false">
      <xsd:complexType>
        <xsd:sequence>
          <xsd:element ref="pc:Terms" minOccurs="0" maxOccurs="1"/>
        </xsd:sequence>
      </xsd:complexType>
    </xsd:element>
    <xsd:element name="gee6b8e6849a45c3b287423ef253694f" ma:index="20" nillable="true" ma:taxonomy="true" ma:internalName="gee6b8e6849a45c3b287423ef253694f" ma:taxonomyFieldName="Industry" ma:displayName="Industry" ma:default="" ma:fieldId="{0ee6b8e6-849a-45c3-b287-423ef253694f}" ma:sspId="80784755-79b8-48d6-9428-3b17d2b68283" ma:termSetId="66fc978f-7778-48f0-b25e-6102ec3c890a" ma:anchorId="e73ca4ff-ea7d-4041-a298-57ef1e2d566c" ma:open="false" ma:isKeyword="false">
      <xsd:complexType>
        <xsd:sequence>
          <xsd:element ref="pc:Terms" minOccurs="0" maxOccurs="1"/>
        </xsd:sequence>
      </xsd:complexType>
    </xsd:element>
    <xsd:element name="f26024b91be24958abad48b23a9fdabd" ma:index="21" nillable="true" ma:taxonomy="true" ma:internalName="f26024b91be24958abad48b23a9fdabd" ma:taxonomyFieldName="AccountName" ma:displayName="Account Name" ma:default="" ma:fieldId="{f26024b9-1be2-4958-abad-48b23a9fdabd}" ma:sspId="80784755-79b8-48d6-9428-3b17d2b68283" ma:termSetId="ffcabd10-b5c4-4d4a-85d5-d81c14c826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22" nillable="true" ma:displayName="Taxonomy Catch All Column" ma:hidden="true" ma:list="{9177BC99-164C-4B82-8728-4FEB32A6B1B8}" ma:internalName="TaxCatchAll" ma:showField="CatchAllData" ma:web="{32c2a11c-da96-468b-9edd-a18f19d1794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3" nillable="true" ma:displayName="Taxonomy Catch All Column1" ma:hidden="true" ma:list="{9177BC99-164C-4B82-8728-4FEB32A6B1B8}" ma:internalName="TaxCatchAllLabel" ma:readOnly="true" ma:showField="CatchAllDataLabel" ma:web="{32c2a11c-da96-468b-9edd-a18f19d1794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90347f3ac744ba9319d59deee28e62" ma:index="25" nillable="true" ma:taxonomy="true" ma:internalName="a990347f3ac744ba9319d59deee28e62" ma:taxonomyFieldName="Project_x0020_Document_x0020_Type_x0020_PROPOSED" ma:displayName="Doc Type" ma:default="" ma:fieldId="{a990347f-3ac7-44ba-9319-d59deee28e62}" ma:taxonomyMulti="true" ma:sspId="80784755-79b8-48d6-9428-3b17d2b68283" ma:termSetId="66fc978f-7778-48f0-b25e-6102ec3c890a" ma:anchorId="83e52bf2-229e-4551-83c8-6c619852a84e" ma:open="false" ma:isKeyword="false">
      <xsd:complexType>
        <xsd:sequence>
          <xsd:element ref="pc:Terms" minOccurs="0" maxOccurs="1"/>
        </xsd:sequence>
      </xsd:complexType>
    </xsd:element>
    <xsd:element name="SOW_x0020_Deliverable_x003f_" ma:index="27" nillable="true" ma:displayName="SOW Deliverable?" ma:default="0" ma:description="If this document is a required deliverable according to an SOW" ma:internalName="SOW_x0020_Deliverable_x003F_0">
      <xsd:simpleType>
        <xsd:restriction base="dms:Boolean"/>
      </xsd:simpleType>
    </xsd:element>
    <xsd:element name="Is_x0020_Highlight_x003f_" ma:index="28" nillable="true" ma:displayName="Is Highlight?" ma:default="0" ma:description="If this document represents interesting work during the project; not limited to deliverables" ma:internalName="Is_x0020_Highlight_x003F_">
      <xsd:simpleType>
        <xsd:restriction base="dms:Boolean"/>
      </xsd:simpleType>
    </xsd:element>
    <xsd:element name="Project_x0020_Name" ma:index="29" nillable="true" ma:displayName="Project Name" ma:description="Title of the specific engagement, not including the client/account name (e.g. &quot;Taxonomy Assessment and Roadmap&quot;)" ma:internalName="Project_x0020_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6" ma:displayName="Content Type"/>
        <xsd:element ref="dc:title" minOccurs="0" maxOccurs="1" ma:index="1" ma:displayName="Title"/>
        <xsd:element ref="dc:subject" minOccurs="0" maxOccurs="1"/>
        <xsd:element ref="dc:description" minOccurs="0" maxOccurs="1" ma:index="4" ma:displayName="Comments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5D1607-B0B5-4557-A365-B6585D953D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DF8674-582C-48CF-9D1C-72280677BFE9}">
  <ds:schemaRefs>
    <ds:schemaRef ds:uri="http://schemas.openxmlformats.org/package/2006/metadata/core-properties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purl.org/dc/dcmitype/"/>
    <ds:schemaRef ds:uri="0eea126e-d378-4180-a2b3-4f5c76938639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BD828CD-246B-458B-BF1F-3BFD58649178}"/>
</file>

<file path=customXml/itemProps4.xml><?xml version="1.0" encoding="utf-8"?>
<ds:datastoreItem xmlns:ds="http://schemas.openxmlformats.org/officeDocument/2006/customXml" ds:itemID="{9DFAD67B-4504-494E-AB3F-2FF577B284B5}">
  <ds:schemaRefs>
    <ds:schemaRef ds:uri="0eea126e-d378-4180-a2b3-4f5c769386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EIS-Delivery-Template-2025</Template>
  <TotalTime>113</TotalTime>
  <Words>2853</Words>
  <Application>Microsoft Office PowerPoint</Application>
  <PresentationFormat>Widescreen</PresentationFormat>
  <Paragraphs>330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EIS_Delivery</vt:lpstr>
      <vt:lpstr>1_EIS-2022</vt:lpstr>
      <vt:lpstr>Current State Analysis</vt:lpstr>
      <vt:lpstr>Current State Analysis</vt:lpstr>
      <vt:lpstr>1.1.1 Fabric &amp; Azure AI Analysis</vt:lpstr>
      <vt:lpstr>Opportunities by Platform</vt:lpstr>
      <vt:lpstr>Prioritized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Value ROI Assessment for product data enrichment</dc:title>
  <dc:creator>Heather Eisenbraun</dc:creator>
  <cp:lastModifiedBy>Thomas Blumer</cp:lastModifiedBy>
  <cp:revision>31</cp:revision>
  <cp:lastPrinted>2025-10-23T18:20:35Z</cp:lastPrinted>
  <dcterms:created xsi:type="dcterms:W3CDTF">2025-09-02T21:00:23Z</dcterms:created>
  <dcterms:modified xsi:type="dcterms:W3CDTF">2026-02-23T23:58:48Z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chnology">
    <vt:lpwstr/>
  </property>
  <property fmtid="{D5CDD505-2E9C-101B-9397-08002B2CF9AE}" pid="3" name="Competency">
    <vt:lpwstr>16;#education ＆ training|82e5fb2a-a54f-4b03-b3d9-e6bd67db0a94</vt:lpwstr>
  </property>
  <property fmtid="{D5CDD505-2E9C-101B-9397-08002B2CF9AE}" pid="4" name="TechnologyProduct">
    <vt:lpwstr/>
  </property>
  <property fmtid="{D5CDD505-2E9C-101B-9397-08002B2CF9AE}" pid="5" name="lcf76f155ced4ddcb4097134ff3c332f">
    <vt:lpwstr/>
  </property>
  <property fmtid="{D5CDD505-2E9C-101B-9397-08002B2CF9AE}" pid="6" name="MediaServiceImageTags">
    <vt:lpwstr/>
  </property>
  <property fmtid="{D5CDD505-2E9C-101B-9397-08002B2CF9AE}" pid="7" name="Industry">
    <vt:lpwstr>17;#nonprofit ＆ public sector|77bad53f-d986-4455-8155-211ebc098cac</vt:lpwstr>
  </property>
  <property fmtid="{D5CDD505-2E9C-101B-9397-08002B2CF9AE}" pid="8" name="AccountName">
    <vt:lpwstr>15;#Omnia Partners|8e8cab59-0751-4e02-9108-64e780ed2311</vt:lpwstr>
  </property>
  <property fmtid="{D5CDD505-2E9C-101B-9397-08002B2CF9AE}" pid="9" name="ContentTypeId">
    <vt:lpwstr>0x0101000B97C77CF6C980478CF1A0C7BB3DB346</vt:lpwstr>
  </property>
  <property fmtid="{D5CDD505-2E9C-101B-9397-08002B2CF9AE}" pid="10" name="Project Document Type PROPOSED">
    <vt:lpwstr>18;#framework|f4c6afd5-bc0d-4101-be0b-cfb899ffe5cf</vt:lpwstr>
  </property>
  <property fmtid="{D5CDD505-2E9C-101B-9397-08002B2CF9AE}" pid="11" name="Project_x0020_Document_x0020_Type_x0020_PROPOSED">
    <vt:lpwstr>18;#framework|f4c6afd5-bc0d-4101-be0b-cfb899ffe5cf</vt:lpwstr>
  </property>
</Properties>
</file>