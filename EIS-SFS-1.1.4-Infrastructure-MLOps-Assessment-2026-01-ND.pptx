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CE29D7-2D07-1D6A-7BC3-BD36B0F2A298}" v="18" dt="2026-02-24T01:47:00.3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microsoft.com/office/2015/10/relationships/revisionInfo" Target="revisionInfo.xml"/><Relationship Id="rId14" Type="http://schemas.openxmlformats.org/officeDocument/2006/relationships/presProps" Target="presProps.xml"/><Relationship Id="rId9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Blumer" userId="S::thomas.blumer@earley.com::2c1d0262-690f-4609-bdfe-5ec3ce19bfeb" providerId="AD" clId="Web-{0CCE29D7-2D07-1D6A-7BC3-BD36B0F2A298}"/>
    <pc:docChg chg="modSld">
      <pc:chgData name="Thomas Blumer" userId="S::thomas.blumer@earley.com::2c1d0262-690f-4609-bdfe-5ec3ce19bfeb" providerId="AD" clId="Web-{0CCE29D7-2D07-1D6A-7BC3-BD36B0F2A298}" dt="2026-02-24T01:47:00.306" v="17" actId="20577"/>
      <pc:docMkLst>
        <pc:docMk/>
      </pc:docMkLst>
      <pc:sldChg chg="modSp">
        <pc:chgData name="Thomas Blumer" userId="S::thomas.blumer@earley.com::2c1d0262-690f-4609-bdfe-5ec3ce19bfeb" providerId="AD" clId="Web-{0CCE29D7-2D07-1D6A-7BC3-BD36B0F2A298}" dt="2026-02-24T01:46:36.103" v="15" actId="20577"/>
        <pc:sldMkLst>
          <pc:docMk/>
          <pc:sldMk cId="0" sldId="257"/>
        </pc:sldMkLst>
        <pc:spChg chg="mod">
          <ac:chgData name="Thomas Blumer" userId="S::thomas.blumer@earley.com::2c1d0262-690f-4609-bdfe-5ec3ce19bfeb" providerId="AD" clId="Web-{0CCE29D7-2D07-1D6A-7BC3-BD36B0F2A298}" dt="2026-02-24T01:46:01.056" v="3" actId="20577"/>
          <ac:spMkLst>
            <pc:docMk/>
            <pc:sldMk cId="0" sldId="257"/>
            <ac:spMk id="16" creationId="{00000000-0000-0000-0000-000000000000}"/>
          </ac:spMkLst>
        </pc:spChg>
        <pc:spChg chg="mod">
          <ac:chgData name="Thomas Blumer" userId="S::thomas.blumer@earley.com::2c1d0262-690f-4609-bdfe-5ec3ce19bfeb" providerId="AD" clId="Web-{0CCE29D7-2D07-1D6A-7BC3-BD36B0F2A298}" dt="2026-02-24T01:46:36.103" v="15" actId="20577"/>
          <ac:spMkLst>
            <pc:docMk/>
            <pc:sldMk cId="0" sldId="257"/>
            <ac:spMk id="17" creationId="{00000000-0000-0000-0000-000000000000}"/>
          </ac:spMkLst>
        </pc:spChg>
      </pc:sldChg>
      <pc:sldChg chg="modSp">
        <pc:chgData name="Thomas Blumer" userId="S::thomas.blumer@earley.com::2c1d0262-690f-4609-bdfe-5ec3ce19bfeb" providerId="AD" clId="Web-{0CCE29D7-2D07-1D6A-7BC3-BD36B0F2A298}" dt="2026-02-24T01:47:00.306" v="17" actId="20577"/>
        <pc:sldMkLst>
          <pc:docMk/>
          <pc:sldMk cId="0" sldId="261"/>
        </pc:sldMkLst>
        <pc:spChg chg="mod">
          <ac:chgData name="Thomas Blumer" userId="S::thomas.blumer@earley.com::2c1d0262-690f-4609-bdfe-5ec3ce19bfeb" providerId="AD" clId="Web-{0CCE29D7-2D07-1D6A-7BC3-BD36B0F2A298}" dt="2026-02-24T01:47:00.306" v="17" actId="20577"/>
          <ac:spMkLst>
            <pc:docMk/>
            <pc:sldMk cId="0" sldId="261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9FD94E-D04F-4BA3-92FD-2FF5F805E209}" type="datetimeFigureOut"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31ABD8-6D67-4A30-BA28-FFFADA46FBA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369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586" y="1097459"/>
            <a:ext cx="806082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1500"/>
              </a:spcAft>
              <a:buNone/>
            </a:pPr>
            <a:r>
              <a:rPr lang="en-US" sz="1050" dirty="0">
                <a:solidFill>
                  <a:srgbClr val="00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STELLANTIS FINANCIAL SERVICES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1586" y="1474589"/>
            <a:ext cx="8060829" cy="460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30"/>
              </a:lnSpc>
              <a:spcAft>
                <a:spcPts val="1200"/>
              </a:spcAft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&amp; ML/AI Ops Assessment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1586" y="2087910"/>
            <a:ext cx="80608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Bef>
                <a:spcPts val="300"/>
              </a:spcBef>
              <a:spcAft>
                <a:spcPts val="3750"/>
              </a:spcAft>
              <a:buNone/>
            </a:pPr>
            <a:r>
              <a:rPr lang="en-US" sz="15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 Assessment &amp; Recommendations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000500" y="2840385"/>
            <a:ext cx="1143000" cy="0"/>
          </a:xfrm>
          <a:prstGeom prst="line">
            <a:avLst/>
          </a:prstGeom>
          <a:noFill/>
          <a:ln w="19050">
            <a:solidFill>
              <a:srgbClr val="00A3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1586" y="3135660"/>
            <a:ext cx="806082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by: Sanjay Mehta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1586" y="3387030"/>
            <a:ext cx="806082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 - Infrastructure &amp; ML/AI Ops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1586" y="3859411"/>
            <a:ext cx="806082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2250"/>
              </a:spcBef>
              <a:spcAft>
                <a:spcPts val="300"/>
              </a:spcAft>
              <a:buNone/>
            </a:pPr>
            <a:r>
              <a:rPr lang="en-US" sz="105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 2026 | Earley Information Science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00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28600" y="413296"/>
            <a:ext cx="44399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Overview &amp; Key Metrics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228600" y="1754237"/>
            <a:ext cx="1107430" cy="676126"/>
          </a:xfrm>
          <a:prstGeom prst="roundRect">
            <a:avLst>
              <a:gd name="adj" fmla="val 8453"/>
            </a:avLst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14681" y="1849487"/>
            <a:ext cx="935269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314681" y="2215158"/>
            <a:ext cx="93526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Readiness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1412230" y="1754237"/>
            <a:ext cx="1107430" cy="676126"/>
          </a:xfrm>
          <a:prstGeom prst="roundRect">
            <a:avLst>
              <a:gd name="adj" fmla="val 8453"/>
            </a:avLst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498311" y="1849487"/>
            <a:ext cx="935269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498311" y="2215158"/>
            <a:ext cx="93526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2595860" y="1754237"/>
            <a:ext cx="1107430" cy="676126"/>
          </a:xfrm>
          <a:prstGeom prst="roundRect">
            <a:avLst>
              <a:gd name="adj" fmla="val 8453"/>
            </a:avLst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681941" y="1849487"/>
            <a:ext cx="935269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30"/>
              </a:lnSpc>
              <a:buNone/>
            </a:pPr>
            <a:r>
              <a:rPr lang="en-US" sz="19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2681941" y="2215158"/>
            <a:ext cx="935269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spcBef>
                <a:spcPts val="150"/>
              </a:spcBef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Q4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228600" y="2506563"/>
            <a:ext cx="3474690" cy="740866"/>
          </a:xfrm>
          <a:prstGeom prst="roundRect">
            <a:avLst>
              <a:gd name="adj" fmla="val 5143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247650" y="2506563"/>
            <a:ext cx="0" cy="740866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950" y="2601813"/>
            <a:ext cx="33110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FINDING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61950" y="2773263"/>
            <a:ext cx="3311012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90"/>
              </a:lnSpc>
            </a:pPr>
            <a:r>
              <a:rPr lang="en-US" sz="1350" b="1" dirty="0">
                <a:solidFill>
                  <a:srgbClr val="991B1B"/>
                </a:solidFill>
                <a:latin typeface="Arial"/>
                <a:ea typeface="Arial" pitchFamily="34" charset="-122"/>
                <a:cs typeface="Arial"/>
              </a:rPr>
              <a:t>Prevent </a:t>
            </a:r>
            <a:r>
              <a:rPr lang="en-US" sz="1350" b="1" dirty="0" err="1">
                <a:solidFill>
                  <a:srgbClr val="991B1B"/>
                </a:solidFill>
                <a:latin typeface="Arial"/>
                <a:ea typeface="Arial" pitchFamily="34" charset="-122"/>
                <a:cs typeface="Arial"/>
              </a:rPr>
              <a:t>unauthorized </a:t>
            </a:r>
            <a:r>
              <a:rPr lang="en-US" sz="1350" b="1" dirty="0">
                <a:solidFill>
                  <a:srgbClr val="991B1B"/>
                </a:solidFill>
                <a:latin typeface="Arial"/>
                <a:ea typeface="Arial" pitchFamily="34" charset="-122"/>
                <a:cs typeface="Arial"/>
              </a:rPr>
              <a:t>AI Users</a:t>
            </a:r>
            <a:endParaRPr lang="en-US" sz="1350" dirty="0">
              <a:latin typeface="Arial"/>
              <a:cs typeface="Arial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61950" y="3032224"/>
            <a:ext cx="33110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945"/>
              </a:lnSpc>
              <a:spcBef>
                <a:spcPts val="150"/>
              </a:spcBef>
            </a:pPr>
            <a:r>
              <a:rPr lang="en-US" sz="650">
                <a:solidFill>
                  <a:srgbClr val="991B1B"/>
                </a:solidFill>
                <a:latin typeface="Arial"/>
                <a:ea typeface="Arial" pitchFamily="34" charset="-122"/>
                <a:cs typeface="Arial"/>
              </a:rPr>
              <a:t>SFS paid for 281 GPT + 111 Gemini licenses which could create a compliance risk</a:t>
            </a:r>
            <a:endParaRPr lang="en-US" sz="650">
              <a:latin typeface="Arial"/>
              <a:cs typeface="Arial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28600" y="3323630"/>
            <a:ext cx="3474690" cy="473273"/>
          </a:xfrm>
          <a:prstGeom prst="roundRect">
            <a:avLst>
              <a:gd name="adj" fmla="val 805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247650" y="3323630"/>
            <a:ext cx="0" cy="473273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950" y="3418880"/>
            <a:ext cx="33110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FOUNDATION GAP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61950" y="3590330"/>
            <a:ext cx="3311012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7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30-40% integration documentation. 75,080 EDW tables uncatalogued.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3855690" y="1941909"/>
            <a:ext cx="496188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Assessment Areas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3855690" y="2164705"/>
            <a:ext cx="1570732" cy="546497"/>
          </a:xfrm>
          <a:prstGeom prst="roundRect">
            <a:avLst>
              <a:gd name="adj" fmla="val 6972"/>
            </a:avLst>
          </a:prstGeom>
          <a:solidFill>
            <a:srgbClr val="E8F0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931890" y="2240905"/>
            <a:ext cx="1446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Azure/Fabric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931890" y="2412355"/>
            <a:ext cx="1446699" cy="222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75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Intelligence unexplored, workspace sprawl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5502622" y="2164705"/>
            <a:ext cx="1570732" cy="546497"/>
          </a:xfrm>
          <a:prstGeom prst="roundRect">
            <a:avLst>
              <a:gd name="adj" fmla="val 6972"/>
            </a:avLst>
          </a:prstGeom>
          <a:solidFill>
            <a:srgbClr val="E8F0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578822" y="2240905"/>
            <a:ext cx="1446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578822" y="2412355"/>
            <a:ext cx="1446699" cy="222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75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Genesys tokens not activated, MS Copilot rejected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7149554" y="2164705"/>
            <a:ext cx="1570732" cy="546497"/>
          </a:xfrm>
          <a:prstGeom prst="roundRect">
            <a:avLst>
              <a:gd name="adj" fmla="val 6972"/>
            </a:avLst>
          </a:prstGeom>
          <a:solidFill>
            <a:srgbClr val="E8F0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225754" y="2240905"/>
            <a:ext cx="1446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ML/AI Ops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225754" y="2412355"/>
            <a:ext cx="1446699" cy="222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75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MLOps platform, manual drift detection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3855690" y="2787402"/>
            <a:ext cx="4864596" cy="481905"/>
          </a:xfrm>
          <a:prstGeom prst="roundRect">
            <a:avLst>
              <a:gd name="adj" fmla="val 11859"/>
            </a:avLst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950940" y="2882652"/>
            <a:ext cx="47675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0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SCOPE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950940" y="3054102"/>
            <a:ext cx="476757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 stakeholder interviews. Azure/Fabric review. ML/AI Ops maturity assessment. API orchestration analysis.</a:t>
            </a:r>
            <a:endParaRPr lang="en-US" sz="675" dirty="0"/>
          </a:p>
        </p:txBody>
      </p:sp>
      <p:sp>
        <p:nvSpPr>
          <p:cNvPr id="35" name="Text 33"/>
          <p:cNvSpPr/>
          <p:nvPr/>
        </p:nvSpPr>
        <p:spPr>
          <a:xfrm>
            <a:off x="3855690" y="3345507"/>
            <a:ext cx="4864596" cy="263723"/>
          </a:xfrm>
          <a:prstGeom prst="roundRect">
            <a:avLst>
              <a:gd name="adj" fmla="val 14447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3874740" y="3345507"/>
            <a:ext cx="0" cy="263723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69990" y="3421707"/>
            <a:ext cx="4767578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7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Strength:</a:t>
            </a:r>
            <a:r>
              <a:rPr lang="en-US" sz="67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Governance Policy provides foundation. Committee active. 66% governance score.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228600" y="4794945"/>
            <a:ext cx="886053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EIS Assessment, December 2025</a:t>
            </a:r>
            <a:endParaRPr lang="en-US" sz="6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00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 ASSESSMENT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28600" y="413296"/>
            <a:ext cx="44399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ML/AI Ops Capability Dimensions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228600" y="1629073"/>
            <a:ext cx="4169569" cy="662732"/>
          </a:xfrm>
          <a:prstGeom prst="roundRect">
            <a:avLst>
              <a:gd name="adj" fmla="val 8623"/>
            </a:avLst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3850" y="1764209"/>
            <a:ext cx="10746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&amp; Governance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3997821" y="1724323"/>
            <a:ext cx="3112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3850" y="1994743"/>
            <a:ext cx="3979069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3850" y="1994743"/>
            <a:ext cx="2626072" cy="5715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3850" y="2089993"/>
            <a:ext cx="405865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| Policy enforcement needed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228600" y="2368004"/>
            <a:ext cx="4169569" cy="662732"/>
          </a:xfrm>
          <a:prstGeom prst="roundRect">
            <a:avLst>
              <a:gd name="adj" fmla="val 8623"/>
            </a:avLst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3850" y="2503140"/>
            <a:ext cx="74308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&amp; Culture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997821" y="2463254"/>
            <a:ext cx="3112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3850" y="2733675"/>
            <a:ext cx="3979069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23850" y="2733675"/>
            <a:ext cx="2188369" cy="571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23850" y="2828925"/>
            <a:ext cx="405865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| Training programs nascent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28600" y="3106936"/>
            <a:ext cx="4169569" cy="662732"/>
          </a:xfrm>
          <a:prstGeom prst="roundRect">
            <a:avLst>
              <a:gd name="adj" fmla="val 8623"/>
            </a:avLst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23850" y="3242072"/>
            <a:ext cx="7664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Foundation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997821" y="3202186"/>
            <a:ext cx="3112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3850" y="3472607"/>
            <a:ext cx="3979069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23850" y="3472607"/>
            <a:ext cx="1909911" cy="5715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23850" y="3567857"/>
            <a:ext cx="405865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 | 95% data unclassified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4550569" y="1629073"/>
            <a:ext cx="4169569" cy="662732"/>
          </a:xfrm>
          <a:prstGeom prst="roundRect">
            <a:avLst>
              <a:gd name="adj" fmla="val 8623"/>
            </a:avLst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645819" y="1764209"/>
            <a:ext cx="6316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319790" y="1724323"/>
            <a:ext cx="3112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45819" y="1994743"/>
            <a:ext cx="3979069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645819" y="1994743"/>
            <a:ext cx="1710928" cy="571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645819" y="2089993"/>
            <a:ext cx="405865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| No MLOps platform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550569" y="2368004"/>
            <a:ext cx="4169569" cy="662732"/>
          </a:xfrm>
          <a:prstGeom prst="roundRect">
            <a:avLst>
              <a:gd name="adj" fmla="val 8623"/>
            </a:avLst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645819" y="2503140"/>
            <a:ext cx="5129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319790" y="2463254"/>
            <a:ext cx="3112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45819" y="2733675"/>
            <a:ext cx="3979069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645819" y="2733675"/>
            <a:ext cx="1710928" cy="571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645819" y="2828925"/>
            <a:ext cx="405865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| Manual drift detection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550569" y="3106936"/>
            <a:ext cx="4169569" cy="662732"/>
          </a:xfrm>
          <a:prstGeom prst="roundRect">
            <a:avLst>
              <a:gd name="adj" fmla="val 8623"/>
            </a:avLst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645819" y="3242072"/>
            <a:ext cx="11391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Management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8319790" y="3202186"/>
            <a:ext cx="311200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43%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645819" y="3472607"/>
            <a:ext cx="3979069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645819" y="3472607"/>
            <a:ext cx="1710928" cy="571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645819" y="3567857"/>
            <a:ext cx="405865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| No enterprise search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228600" y="4642545"/>
            <a:ext cx="8686800" cy="272355"/>
          </a:xfrm>
          <a:prstGeom prst="roundRect">
            <a:avLst>
              <a:gd name="adj" fmla="val 13989"/>
            </a:avLst>
          </a:prstGeom>
          <a:solidFill>
            <a:srgbClr val="E8F0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42900" y="4718745"/>
            <a:ext cx="862736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Priority:</a:t>
            </a:r>
            <a:r>
              <a:rPr lang="en-US" sz="675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Infrastructure, Operations, and KM need attention for 70%+ by Q4 2026.</a:t>
            </a:r>
            <a:endParaRPr lang="en-US" sz="6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00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28600" y="413296"/>
            <a:ext cx="44399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Orchestration &amp; MCP Strategy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228600" y="1641872"/>
            <a:ext cx="42529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Patterns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28600" y="1851422"/>
            <a:ext cx="4169569" cy="473273"/>
          </a:xfrm>
          <a:prstGeom prst="roundRect">
            <a:avLst>
              <a:gd name="adj" fmla="val 12075"/>
            </a:avLst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3850" y="1946672"/>
            <a:ext cx="40586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0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Proxy Pattern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3850" y="2118122"/>
            <a:ext cx="4058650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API gateway for token management, rate limiting, cost allocation. Azure APIM recommended.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228600" y="2400895"/>
            <a:ext cx="4169569" cy="473273"/>
          </a:xfrm>
          <a:prstGeom prst="roundRect">
            <a:avLst>
              <a:gd name="adj" fmla="val 12075"/>
            </a:avLst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3850" y="2496145"/>
            <a:ext cx="40586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0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Wrapper Pattern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23850" y="2667595"/>
            <a:ext cx="4058650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Abstraction layer for multi-provider support. Enables provider switching without code changes.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228600" y="2950369"/>
            <a:ext cx="4169569" cy="473273"/>
          </a:xfrm>
          <a:prstGeom prst="roundRect">
            <a:avLst>
              <a:gd name="adj" fmla="val 12075"/>
            </a:avLst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23850" y="3045619"/>
            <a:ext cx="40586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b="1" dirty="0">
                <a:solidFill>
                  <a:srgbClr val="00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Processing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23850" y="3217069"/>
            <a:ext cx="4058650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architecture for batch operations. Azure Service Bus for queue management.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228600" y="3499842"/>
            <a:ext cx="4169569" cy="409426"/>
          </a:xfrm>
          <a:prstGeom prst="roundRect">
            <a:avLst>
              <a:gd name="adj" fmla="val 9306"/>
            </a:avLst>
          </a:prstGeom>
          <a:solidFill>
            <a:srgbClr val="E8F0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04800" y="3576042"/>
            <a:ext cx="409751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Management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304800" y="3734098"/>
            <a:ext cx="4097512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0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tracking per department. Budget alerts at 80% threshold. Monthly chargeback reporting.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4550569" y="1823293"/>
            <a:ext cx="42529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Integration Roadmap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550569" y="2032843"/>
            <a:ext cx="999530" cy="397966"/>
          </a:xfrm>
          <a:prstGeom prst="roundRect">
            <a:avLst>
              <a:gd name="adj" fmla="val 9574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618297" y="2109043"/>
            <a:ext cx="8640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4618297" y="2248049"/>
            <a:ext cx="86407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5607248" y="2032843"/>
            <a:ext cx="999530" cy="397966"/>
          </a:xfrm>
          <a:prstGeom prst="roundRect">
            <a:avLst>
              <a:gd name="adj" fmla="val 957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674977" y="2109043"/>
            <a:ext cx="8640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5674977" y="2248049"/>
            <a:ext cx="86407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6663928" y="2032843"/>
            <a:ext cx="999530" cy="397966"/>
          </a:xfrm>
          <a:prstGeom prst="roundRect">
            <a:avLst>
              <a:gd name="adj" fmla="val 9574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731657" y="2109043"/>
            <a:ext cx="8640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6731657" y="2248049"/>
            <a:ext cx="86407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7720608" y="2032843"/>
            <a:ext cx="999530" cy="397966"/>
          </a:xfrm>
          <a:prstGeom prst="roundRect">
            <a:avLst>
              <a:gd name="adj" fmla="val 9574"/>
            </a:avLst>
          </a:prstGeom>
          <a:solidFill>
            <a:srgbClr val="E8F0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788337" y="2109043"/>
            <a:ext cx="86407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7788337" y="2248049"/>
            <a:ext cx="86407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550569" y="2507010"/>
            <a:ext cx="4169569" cy="752177"/>
          </a:xfrm>
          <a:prstGeom prst="roundRect">
            <a:avLst>
              <a:gd name="adj" fmla="val 7598"/>
            </a:avLst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645819" y="2602260"/>
            <a:ext cx="40586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00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 Architecture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645819" y="2792760"/>
            <a:ext cx="4058650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300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Protocol-based tool integration for agents: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4645819" y="2950815"/>
            <a:ext cx="4058650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MCP for CRM data access. SharePoint MCP for document retrieval. EDW MCP for analytics queries. Genesys MCP for call center context.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550569" y="3335387"/>
            <a:ext cx="4169569" cy="392311"/>
          </a:xfrm>
          <a:prstGeom prst="roundRect">
            <a:avLst>
              <a:gd name="adj" fmla="val 9712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4569619" y="3335387"/>
            <a:ext cx="0" cy="392311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4869" y="3411587"/>
            <a:ext cx="405865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Decision:</a:t>
            </a:r>
            <a:r>
              <a:rPr lang="en-US" sz="67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Evaluate MCP vs traditional API integration by Q1. Platform-agnostic approach recommended.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228600" y="4794945"/>
            <a:ext cx="886053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EIS API Orchestration Strategy, January 2026</a:t>
            </a:r>
            <a:endParaRPr lang="en-US" sz="6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00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FRAMEWORK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28600" y="413296"/>
            <a:ext cx="44399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Lifecycle Management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228600" y="1977628"/>
            <a:ext cx="48732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6-Stage Lifecycle Framework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28600" y="2187178"/>
            <a:ext cx="748605" cy="577007"/>
          </a:xfrm>
          <a:prstGeom prst="roundRect">
            <a:avLst>
              <a:gd name="adj" fmla="val 6603"/>
            </a:avLst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98838" y="2263378"/>
            <a:ext cx="60813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98838" y="2469059"/>
            <a:ext cx="60813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b="1" dirty="0">
                <a:solidFill>
                  <a:srgbClr val="00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IDEATE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298838" y="2594670"/>
            <a:ext cx="608130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150"/>
              </a:spcBef>
              <a:buNone/>
            </a:pPr>
            <a:r>
              <a:rPr lang="en-US" sz="5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 discovery</a:t>
            </a:r>
            <a:endParaRPr lang="en-US" sz="525" dirty="0"/>
          </a:p>
        </p:txBody>
      </p:sp>
      <p:sp>
        <p:nvSpPr>
          <p:cNvPr id="9" name="Text 7"/>
          <p:cNvSpPr/>
          <p:nvPr/>
        </p:nvSpPr>
        <p:spPr>
          <a:xfrm>
            <a:off x="1034355" y="2187178"/>
            <a:ext cx="748605" cy="577007"/>
          </a:xfrm>
          <a:prstGeom prst="roundRect">
            <a:avLst>
              <a:gd name="adj" fmla="val 6603"/>
            </a:avLst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04593" y="2263378"/>
            <a:ext cx="60813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04593" y="2469059"/>
            <a:ext cx="60813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b="1" dirty="0">
                <a:solidFill>
                  <a:srgbClr val="00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1104593" y="2594670"/>
            <a:ext cx="608130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150"/>
              </a:spcBef>
              <a:buNone/>
            </a:pPr>
            <a:r>
              <a:rPr lang="en-US" sz="5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spec</a:t>
            </a:r>
            <a:endParaRPr lang="en-US" sz="525" dirty="0"/>
          </a:p>
        </p:txBody>
      </p:sp>
      <p:sp>
        <p:nvSpPr>
          <p:cNvPr id="13" name="Text 11"/>
          <p:cNvSpPr/>
          <p:nvPr/>
        </p:nvSpPr>
        <p:spPr>
          <a:xfrm>
            <a:off x="1840111" y="2187178"/>
            <a:ext cx="748605" cy="577007"/>
          </a:xfrm>
          <a:prstGeom prst="roundRect">
            <a:avLst>
              <a:gd name="adj" fmla="val 6603"/>
            </a:avLst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910349" y="2263378"/>
            <a:ext cx="60813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910349" y="2469059"/>
            <a:ext cx="60813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b="1" dirty="0">
                <a:solidFill>
                  <a:srgbClr val="00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1910349" y="2594670"/>
            <a:ext cx="608130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150"/>
              </a:spcBef>
              <a:buNone/>
            </a:pPr>
            <a:r>
              <a:rPr lang="en-US" sz="5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 integrate</a:t>
            </a:r>
            <a:endParaRPr lang="en-US" sz="525" dirty="0"/>
          </a:p>
        </p:txBody>
      </p:sp>
      <p:sp>
        <p:nvSpPr>
          <p:cNvPr id="17" name="Text 15"/>
          <p:cNvSpPr/>
          <p:nvPr/>
        </p:nvSpPr>
        <p:spPr>
          <a:xfrm>
            <a:off x="2645866" y="2187178"/>
            <a:ext cx="748605" cy="577007"/>
          </a:xfrm>
          <a:prstGeom prst="roundRect">
            <a:avLst>
              <a:gd name="adj" fmla="val 6603"/>
            </a:avLst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716104" y="2263378"/>
            <a:ext cx="60813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716104" y="2469059"/>
            <a:ext cx="60813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b="1" dirty="0">
                <a:solidFill>
                  <a:srgbClr val="00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2716104" y="2594670"/>
            <a:ext cx="608130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150"/>
              </a:spcBef>
              <a:buNone/>
            </a:pPr>
            <a:r>
              <a:rPr lang="en-US" sz="5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&amp; approve</a:t>
            </a:r>
            <a:endParaRPr lang="en-US" sz="525" dirty="0"/>
          </a:p>
        </p:txBody>
      </p:sp>
      <p:sp>
        <p:nvSpPr>
          <p:cNvPr id="21" name="Text 19"/>
          <p:cNvSpPr/>
          <p:nvPr/>
        </p:nvSpPr>
        <p:spPr>
          <a:xfrm>
            <a:off x="3451622" y="2187178"/>
            <a:ext cx="748605" cy="577007"/>
          </a:xfrm>
          <a:prstGeom prst="roundRect">
            <a:avLst>
              <a:gd name="adj" fmla="val 6603"/>
            </a:avLst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521860" y="2263378"/>
            <a:ext cx="60813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521860" y="2469059"/>
            <a:ext cx="60813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b="1" dirty="0">
                <a:solidFill>
                  <a:srgbClr val="00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3521860" y="2594670"/>
            <a:ext cx="608130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150"/>
              </a:spcBef>
              <a:buNone/>
            </a:pPr>
            <a:r>
              <a:rPr lang="en-US" sz="5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&amp; scale</a:t>
            </a:r>
            <a:endParaRPr lang="en-US" sz="525" dirty="0"/>
          </a:p>
        </p:txBody>
      </p:sp>
      <p:sp>
        <p:nvSpPr>
          <p:cNvPr id="25" name="Text 23"/>
          <p:cNvSpPr/>
          <p:nvPr/>
        </p:nvSpPr>
        <p:spPr>
          <a:xfrm>
            <a:off x="4257377" y="2187178"/>
            <a:ext cx="748605" cy="577007"/>
          </a:xfrm>
          <a:prstGeom prst="roundRect">
            <a:avLst>
              <a:gd name="adj" fmla="val 6603"/>
            </a:avLst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327615" y="2263378"/>
            <a:ext cx="60813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327615" y="2469059"/>
            <a:ext cx="608130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b="1" dirty="0">
                <a:solidFill>
                  <a:srgbClr val="00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327615" y="2594670"/>
            <a:ext cx="608130" cy="93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35"/>
              </a:lnSpc>
              <a:spcBef>
                <a:spcPts val="150"/>
              </a:spcBef>
              <a:buNone/>
            </a:pPr>
            <a:r>
              <a:rPr lang="en-US" sz="52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&amp; tune</a:t>
            </a:r>
            <a:endParaRPr lang="en-US" sz="525" dirty="0"/>
          </a:p>
        </p:txBody>
      </p:sp>
      <p:sp>
        <p:nvSpPr>
          <p:cNvPr id="29" name="Text 27"/>
          <p:cNvSpPr/>
          <p:nvPr/>
        </p:nvSpPr>
        <p:spPr>
          <a:xfrm>
            <a:off x="228600" y="2840385"/>
            <a:ext cx="4777680" cy="733127"/>
          </a:xfrm>
          <a:prstGeom prst="roundRect">
            <a:avLst>
              <a:gd name="adj" fmla="val 7795"/>
            </a:avLst>
          </a:prstGeom>
          <a:solidFill>
            <a:srgbClr val="E8F0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23850" y="2935635"/>
            <a:ext cx="4678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450"/>
              </a:spcAft>
              <a:buNone/>
            </a:pPr>
            <a:r>
              <a:rPr lang="en-US" sz="75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Tiering Framework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23850" y="3126135"/>
            <a:ext cx="11115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1 - Low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323850" y="3265140"/>
            <a:ext cx="1111514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productivity tools. Self-service approval.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1489770" y="3126135"/>
            <a:ext cx="11115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2 - Medium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1489770" y="3265140"/>
            <a:ext cx="1111514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Customer-facing assists. Manager approval.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2655689" y="3126135"/>
            <a:ext cx="11115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3 - High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2655689" y="3265140"/>
            <a:ext cx="1111514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decisions. Committee review.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3821609" y="3126135"/>
            <a:ext cx="1111514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4 - Critical</a:t>
            </a:r>
            <a:endParaRPr lang="en-US" sz="675" dirty="0"/>
          </a:p>
        </p:txBody>
      </p:sp>
      <p:sp>
        <p:nvSpPr>
          <p:cNvPr id="38" name="Text 36"/>
          <p:cNvSpPr/>
          <p:nvPr/>
        </p:nvSpPr>
        <p:spPr>
          <a:xfrm>
            <a:off x="3821609" y="3265140"/>
            <a:ext cx="1111514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impact. Board approval.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5158680" y="1854250"/>
            <a:ext cx="36326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 (0-3 months)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158680" y="2063800"/>
            <a:ext cx="3561457" cy="841772"/>
          </a:xfrm>
          <a:prstGeom prst="roundRect">
            <a:avLst>
              <a:gd name="adj" fmla="val 6789"/>
            </a:avLst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253930" y="2159050"/>
            <a:ext cx="34383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b="1" dirty="0">
                <a:solidFill>
                  <a:srgbClr val="00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Document existing agent inventory (Genesys copilot, internal tools)</a:t>
            </a:r>
            <a:endParaRPr lang="en-US" sz="675" dirty="0"/>
          </a:p>
        </p:txBody>
      </p:sp>
      <p:sp>
        <p:nvSpPr>
          <p:cNvPr id="42" name="Text 40"/>
          <p:cNvSpPr/>
          <p:nvPr/>
        </p:nvSpPr>
        <p:spPr>
          <a:xfrm>
            <a:off x="5253930" y="2336155"/>
            <a:ext cx="34383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b="1" dirty="0">
                <a:solidFill>
                  <a:srgbClr val="00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Classify by risk tier using framework</a:t>
            </a:r>
            <a:endParaRPr lang="en-US" sz="675" dirty="0"/>
          </a:p>
        </p:txBody>
      </p:sp>
      <p:sp>
        <p:nvSpPr>
          <p:cNvPr id="43" name="Text 41"/>
          <p:cNvSpPr/>
          <p:nvPr/>
        </p:nvSpPr>
        <p:spPr>
          <a:xfrm>
            <a:off x="5253930" y="2513261"/>
            <a:ext cx="34383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b="1" dirty="0">
                <a:solidFill>
                  <a:srgbClr val="00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Establish approval workflows per tier</a:t>
            </a:r>
            <a:endParaRPr lang="en-US" sz="675" dirty="0"/>
          </a:p>
        </p:txBody>
      </p:sp>
      <p:sp>
        <p:nvSpPr>
          <p:cNvPr id="44" name="Text 42"/>
          <p:cNvSpPr/>
          <p:nvPr/>
        </p:nvSpPr>
        <p:spPr>
          <a:xfrm>
            <a:off x="5253930" y="2690366"/>
            <a:ext cx="343837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0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Define monitoring requirements</a:t>
            </a:r>
            <a:endParaRPr lang="en-US" sz="675" dirty="0"/>
          </a:p>
        </p:txBody>
      </p:sp>
      <p:sp>
        <p:nvSpPr>
          <p:cNvPr id="45" name="Text 43"/>
          <p:cNvSpPr/>
          <p:nvPr/>
        </p:nvSpPr>
        <p:spPr>
          <a:xfrm>
            <a:off x="5158680" y="2981771"/>
            <a:ext cx="3561457" cy="375047"/>
          </a:xfrm>
          <a:prstGeom prst="roundRect">
            <a:avLst>
              <a:gd name="adj" fmla="val 10159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5177730" y="2981771"/>
            <a:ext cx="0" cy="375047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72980" y="3057971"/>
            <a:ext cx="3438376" cy="222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7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Agnostic:</a:t>
            </a:r>
            <a:r>
              <a:rPr lang="en-US" sz="675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Framework supports any agent platform - Genesys, Azure AI, custom builds.</a:t>
            </a:r>
            <a:endParaRPr lang="en-US" sz="675" dirty="0"/>
          </a:p>
        </p:txBody>
      </p:sp>
      <p:sp>
        <p:nvSpPr>
          <p:cNvPr id="48" name="Text 46"/>
          <p:cNvSpPr/>
          <p:nvPr/>
        </p:nvSpPr>
        <p:spPr>
          <a:xfrm>
            <a:off x="5158680" y="3433018"/>
            <a:ext cx="3561457" cy="263723"/>
          </a:xfrm>
          <a:prstGeom prst="roundRect">
            <a:avLst>
              <a:gd name="adj" fmla="val 14447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5177730" y="3433018"/>
            <a:ext cx="0" cy="263723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72980" y="3509218"/>
            <a:ext cx="3438376" cy="111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77"/>
              </a:lnSpc>
              <a:buNone/>
            </a:pPr>
            <a:r>
              <a:rPr lang="en-US" sz="67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SFS Priority:</a:t>
            </a:r>
            <a:r>
              <a:rPr lang="en-US" sz="675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End-of-Lease collection agent should follow Tier 3 approval path.</a:t>
            </a:r>
            <a:endParaRPr lang="en-US" sz="675" dirty="0"/>
          </a:p>
        </p:txBody>
      </p:sp>
      <p:sp>
        <p:nvSpPr>
          <p:cNvPr id="51" name="Text 49"/>
          <p:cNvSpPr/>
          <p:nvPr/>
        </p:nvSpPr>
        <p:spPr>
          <a:xfrm>
            <a:off x="228600" y="4794945"/>
            <a:ext cx="886053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Reference: EIS Agent Lifecycle Framework, aligned with NIST AI RMF</a:t>
            </a:r>
            <a:endParaRPr lang="en-US" sz="6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8605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dirty="0">
                <a:solidFill>
                  <a:srgbClr val="00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ROADMAP</a:t>
            </a:r>
            <a:endParaRPr lang="en-US" sz="825" dirty="0"/>
          </a:p>
        </p:txBody>
      </p:sp>
      <p:sp>
        <p:nvSpPr>
          <p:cNvPr id="3" name="Text 1"/>
          <p:cNvSpPr/>
          <p:nvPr/>
        </p:nvSpPr>
        <p:spPr>
          <a:xfrm>
            <a:off x="228600" y="413296"/>
            <a:ext cx="443998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Transformation Plan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228600" y="2057549"/>
            <a:ext cx="2779663" cy="828526"/>
          </a:xfrm>
          <a:prstGeom prst="roundRect">
            <a:avLst>
              <a:gd name="adj" fmla="val 6898"/>
            </a:avLst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3850" y="2152799"/>
            <a:ext cx="11043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Foundation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2722364" y="2159347"/>
            <a:ext cx="1944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23850" y="2356545"/>
            <a:ext cx="264094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Q1-Q2 2026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323850" y="2533650"/>
            <a:ext cx="264094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5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AI Use Case Registry deployment. Shadow AI remediation. API </a:t>
            </a:r>
            <a:r>
              <a:rPr lang="en-US" sz="650" dirty="0">
                <a:solidFill>
                  <a:srgbClr val="FFFFFF"/>
                </a:solidFill>
                <a:latin typeface="Arial"/>
                <a:ea typeface="Arial" pitchFamily="34" charset="-122"/>
                <a:cs typeface="Arial"/>
              </a:rPr>
              <a:t>gateway implementation. Data classification pilot.</a:t>
            </a:r>
            <a:endParaRPr lang="en-US" sz="650" dirty="0">
              <a:latin typeface="Arial"/>
              <a:cs typeface="Arial"/>
            </a:endParaRPr>
          </a:p>
        </p:txBody>
      </p:sp>
      <p:sp>
        <p:nvSpPr>
          <p:cNvPr id="9" name="Text 7"/>
          <p:cNvSpPr/>
          <p:nvPr/>
        </p:nvSpPr>
        <p:spPr>
          <a:xfrm>
            <a:off x="228600" y="2943225"/>
            <a:ext cx="2779663" cy="397966"/>
          </a:xfrm>
          <a:prstGeom prst="roundRect">
            <a:avLst>
              <a:gd name="adj" fmla="val 9574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04800" y="3019425"/>
            <a:ext cx="267980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304800" y="3158430"/>
            <a:ext cx="267980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unauthorized AI migrated. Gateway live. 20% data classified.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3122563" y="2057549"/>
            <a:ext cx="2779663" cy="828526"/>
          </a:xfrm>
          <a:prstGeom prst="roundRect">
            <a:avLst>
              <a:gd name="adj" fmla="val 6898"/>
            </a:avLst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217813" y="2152799"/>
            <a:ext cx="80198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Scale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5616327" y="2159347"/>
            <a:ext cx="1944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217813" y="2356545"/>
            <a:ext cx="264094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Q3-Q4 2026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3217813" y="2533650"/>
            <a:ext cx="264094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MLOps platform deployment. Agent copilot production launch. Enterprise knowledge graph. MCP integration rollout.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3122563" y="2943225"/>
            <a:ext cx="2779663" cy="397966"/>
          </a:xfrm>
          <a:prstGeom prst="roundRect">
            <a:avLst>
              <a:gd name="adj" fmla="val 9574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198763" y="3019425"/>
            <a:ext cx="267980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3198763" y="3158430"/>
            <a:ext cx="267980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 agents in production. 50% data classified. Model registry active.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6016526" y="2057549"/>
            <a:ext cx="2779663" cy="828526"/>
          </a:xfrm>
          <a:prstGeom prst="roundRect">
            <a:avLst>
              <a:gd name="adj" fmla="val 6898"/>
            </a:avLst>
          </a:prstGeom>
          <a:solidFill>
            <a:srgbClr val="0D213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11776" y="2152799"/>
            <a:ext cx="9739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0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Optimize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8454628" y="2159347"/>
            <a:ext cx="2512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75%+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111776" y="2356545"/>
            <a:ext cx="2640946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450"/>
              </a:spcAft>
              <a:buNone/>
            </a:pPr>
            <a:r>
              <a:rPr lang="en-US" sz="675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2027+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6111776" y="2533650"/>
            <a:ext cx="264094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AI platform. Automated governance checks. Advanced analytics integration. Continuous model optimization.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6016526" y="2943225"/>
            <a:ext cx="2779663" cy="397966"/>
          </a:xfrm>
          <a:prstGeom prst="roundRect">
            <a:avLst>
              <a:gd name="adj" fmla="val 9574"/>
            </a:avLst>
          </a:prstGeom>
          <a:solidFill>
            <a:srgbClr val="E8F0F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092726" y="3019425"/>
            <a:ext cx="2679808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0D21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Metrics</a:t>
            </a:r>
            <a:endParaRPr lang="en-US" sz="675" dirty="0"/>
          </a:p>
        </p:txBody>
      </p:sp>
      <p:sp>
        <p:nvSpPr>
          <p:cNvPr id="27" name="Text 25"/>
          <p:cNvSpPr/>
          <p:nvPr/>
        </p:nvSpPr>
        <p:spPr>
          <a:xfrm>
            <a:off x="6092726" y="3158430"/>
            <a:ext cx="267980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150"/>
              </a:spcBef>
              <a:buNone/>
            </a:pPr>
            <a:r>
              <a:rPr lang="en-US" sz="600" dirty="0">
                <a:solidFill>
                  <a:srgbClr val="5A69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 for Tier 1-2. 80%+ data classified. Auto-scaling.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228600" y="4642545"/>
            <a:ext cx="8686800" cy="272355"/>
          </a:xfrm>
          <a:prstGeom prst="roundRect">
            <a:avLst>
              <a:gd name="adj" fmla="val 13989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247650" y="4642545"/>
            <a:ext cx="0" cy="272355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1000" y="4718745"/>
            <a:ext cx="858850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Path:</a:t>
            </a:r>
            <a:r>
              <a:rPr lang="en-US" sz="675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Phase 1 completion required before Bank launch. Salesforce integration timeline must align with CRM migration Q2 2026.</a:t>
            </a:r>
            <a:endParaRPr lang="en-US" sz="6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1490" y="524173"/>
            <a:ext cx="816102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Bef>
                <a:spcPts val="300"/>
              </a:spcBef>
              <a:spcAft>
                <a:spcPts val="1200"/>
              </a:spcAft>
              <a:buNone/>
            </a:pPr>
            <a:r>
              <a:rPr lang="en-US" sz="1050" dirty="0">
                <a:solidFill>
                  <a:srgbClr val="00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ACTIONS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87813" y="863203"/>
            <a:ext cx="7568375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spcAft>
                <a:spcPts val="180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SFS into an AI-Ready Organization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217218" y="1503164"/>
            <a:ext cx="1010096" cy="830461"/>
          </a:xfrm>
          <a:prstGeom prst="roundRect">
            <a:avLst>
              <a:gd name="adj" fmla="val 9176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00A3A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450004" y="1646039"/>
            <a:ext cx="54452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450004" y="2057400"/>
            <a:ext cx="5445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377428" y="1758404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00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60714" y="1503164"/>
            <a:ext cx="1165920" cy="830461"/>
          </a:xfrm>
          <a:prstGeom prst="roundRect">
            <a:avLst>
              <a:gd name="adj" fmla="val 9176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00A3A3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91942" y="1646039"/>
            <a:ext cx="703463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70%+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991942" y="2057400"/>
            <a:ext cx="7034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71500" y="2562225"/>
            <a:ext cx="2590800" cy="906512"/>
          </a:xfrm>
          <a:prstGeom prst="roundRect">
            <a:avLst>
              <a:gd name="adj" fmla="val 630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04850" y="2695575"/>
            <a:ext cx="23705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00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704850" y="2918371"/>
            <a:ext cx="237058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approved AI tool list</a:t>
            </a:r>
            <a:endParaRPr lang="en-US" sz="675" dirty="0"/>
          </a:p>
        </p:txBody>
      </p:sp>
      <p:sp>
        <p:nvSpPr>
          <p:cNvPr id="14" name="Text 12"/>
          <p:cNvSpPr/>
          <p:nvPr/>
        </p:nvSpPr>
        <p:spPr>
          <a:xfrm>
            <a:off x="704850" y="3066901"/>
            <a:ext cx="237058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AI intake process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704850" y="3215432"/>
            <a:ext cx="237058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unauthorized user remediation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3276600" y="2562225"/>
            <a:ext cx="2590800" cy="906512"/>
          </a:xfrm>
          <a:prstGeom prst="roundRect">
            <a:avLst>
              <a:gd name="adj" fmla="val 630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09950" y="2695575"/>
            <a:ext cx="23705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00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2-4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3409950" y="2918371"/>
            <a:ext cx="237058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Initiate Genesys AI activation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3409950" y="3066901"/>
            <a:ext cx="237058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Azure Purview foundation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3409950" y="3215432"/>
            <a:ext cx="237058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Agent Registry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5981700" y="2562225"/>
            <a:ext cx="2590800" cy="906512"/>
          </a:xfrm>
          <a:prstGeom prst="roundRect">
            <a:avLst>
              <a:gd name="adj" fmla="val 6304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15050" y="2695575"/>
            <a:ext cx="23705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600"/>
              </a:spcAft>
              <a:buNone/>
            </a:pPr>
            <a:r>
              <a:rPr lang="en-US" sz="825" b="1" dirty="0">
                <a:solidFill>
                  <a:srgbClr val="00A3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3-4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6115050" y="2918371"/>
            <a:ext cx="237058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Bobby Goodwin knowledge capture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6115050" y="3066901"/>
            <a:ext cx="237058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spcAft>
                <a:spcPts val="225"/>
              </a:spcAft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 platform documentation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6115050" y="3215432"/>
            <a:ext cx="2370582" cy="1199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doc gap closure</a:t>
            </a:r>
            <a:endParaRPr lang="en-US" sz="675" dirty="0"/>
          </a:p>
        </p:txBody>
      </p:sp>
      <p:sp>
        <p:nvSpPr>
          <p:cNvPr id="26" name="Text 24"/>
          <p:cNvSpPr/>
          <p:nvPr/>
        </p:nvSpPr>
        <p:spPr>
          <a:xfrm>
            <a:off x="571500" y="3697337"/>
            <a:ext cx="8001000" cy="609600"/>
          </a:xfrm>
          <a:prstGeom prst="roundRect">
            <a:avLst>
              <a:gd name="adj" fmla="val 12500"/>
            </a:avLst>
          </a:prstGeom>
          <a:solidFill>
            <a:srgbClr val="00A3A3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24662" y="3830687"/>
            <a:ext cx="769467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window of opportunity is now.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End-of-Lease scaling, Salesforce implementation, and Azure migration create decision points that will determine AI foundation success.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1490" y="4497437"/>
            <a:ext cx="816102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Sanjay Mehta | Technical Architect - Infrastructure &amp; ML/AI Ops | sanjay.mehta@earley.com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bbba5f1-a15e-48ed-ae4b-bc36e8dd2f5c">
      <Value>5</Value>
      <Value>6</Value>
    </TaxCatchAll>
    <lcf76f155ced4ddcb4097134ff3c332f xmlns="17246cb7-97e8-44c0-90d5-6161e615d350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97C77CF6C980478CF1A0C7BB3DB346" ma:contentTypeVersion="11" ma:contentTypeDescription="Create a new document." ma:contentTypeScope="" ma:versionID="c1a83d7d099b5be531ea543abe836433">
  <xsd:schema xmlns:xsd="http://www.w3.org/2001/XMLSchema" xmlns:xs="http://www.w3.org/2001/XMLSchema" xmlns:p="http://schemas.microsoft.com/office/2006/metadata/properties" xmlns:ns2="17246cb7-97e8-44c0-90d5-6161e615d350" xmlns:ns3="1bbba5f1-a15e-48ed-ae4b-bc36e8dd2f5c" targetNamespace="http://schemas.microsoft.com/office/2006/metadata/properties" ma:root="true" ma:fieldsID="4c654fb0583e2735ba72a8dcae06ecab" ns2:_="" ns3:_="">
    <xsd:import namespace="17246cb7-97e8-44c0-90d5-6161e615d350"/>
    <xsd:import namespace="1bbba5f1-a15e-48ed-ae4b-bc36e8dd2f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246cb7-97e8-44c0-90d5-6161e615d3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6eeceaf-6cb7-4eb2-b72c-1bbb44499cd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bba5f1-a15e-48ed-ae4b-bc36e8dd2f5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5b72e8f-4642-4cb4-99b4-07cc3ba4a6e0}" ma:internalName="TaxCatchAll" ma:showField="CatchAllData" ma:web="1bbba5f1-a15e-48ed-ae4b-bc36e8dd2f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SharedContentType xmlns="Microsoft.SharePoint.Taxonomy.ContentTypeSync" SourceId="80784755-79b8-48d6-9428-3b17d2b68283" ContentTypeId="0x010100344C9658AE87044DB333EA4A93A1BC8001" PreviousValue="false"/>
</file>

<file path=customXml/itemProps1.xml><?xml version="1.0" encoding="utf-8"?>
<ds:datastoreItem xmlns:ds="http://schemas.openxmlformats.org/officeDocument/2006/customXml" ds:itemID="{5FB42680-81CF-4FE6-BC1C-1DBCB7DFBC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FBD1501-3F91-4B12-9C49-6005400781C6}">
  <ds:schemaRefs>
    <ds:schemaRef ds:uri="http://schemas.microsoft.com/office/2006/metadata/properties"/>
    <ds:schemaRef ds:uri="http://schemas.microsoft.com/office/infopath/2007/PartnerControls"/>
    <ds:schemaRef ds:uri="0eea126e-d378-4180-a2b3-4f5c76938639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58AEA492-21AC-4A7A-B151-A903F8E79312}"/>
</file>

<file path=customXml/itemProps4.xml><?xml version="1.0" encoding="utf-8"?>
<ds:datastoreItem xmlns:ds="http://schemas.openxmlformats.org/officeDocument/2006/customXml" ds:itemID="{4874EFB4-52E2-4E5A-A56E-DB7BBFAA152D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Earley Information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SFS Infrastructure &amp; ML/AI Ops Assessment</dc:title>
  <dc:subject>Technical Architecture Assessment</dc:subject>
  <dc:creator>Sanjay Mehta</dc:creator>
  <cp:lastModifiedBy>Sanjay Mehta</cp:lastModifiedBy>
  <cp:revision>10</cp:revision>
  <dcterms:created xsi:type="dcterms:W3CDTF">2026-01-21T01:59:44Z</dcterms:created>
  <dcterms:modified xsi:type="dcterms:W3CDTF">2026-02-24T01:47:01Z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0x0101000B97C77CF6C980478CF1A0C7BB3DB346</vt:lpwstr>
  </property>
  <property fmtid="{D5CDD505-2E9C-101B-9397-08002B2CF9AE}" pid="3" name="Project_x0020_Document_x0020_Type_x0020_PROPOSED">
    <vt:lpwstr/>
  </property>
  <property fmtid="{D5CDD505-2E9C-101B-9397-08002B2CF9AE}" pid="4" name="Technology">
    <vt:lpwstr/>
  </property>
  <property fmtid="{D5CDD505-2E9C-101B-9397-08002B2CF9AE}" pid="5" name="Industry">
    <vt:lpwstr/>
  </property>
  <property fmtid="{D5CDD505-2E9C-101B-9397-08002B2CF9AE}" pid="6" name="AccountName">
    <vt:lpwstr>5;#Stellantis Financial Services|ae495efb-8e65-4cbd-b57d-7d196b299547</vt:lpwstr>
  </property>
  <property fmtid="{D5CDD505-2E9C-101B-9397-08002B2CF9AE}" pid="7" name="Competency">
    <vt:lpwstr>6;#information architecture|0c69daec-fbc4-45c7-ab9c-bd21b0f93d0b</vt:lpwstr>
  </property>
  <property fmtid="{D5CDD505-2E9C-101B-9397-08002B2CF9AE}" pid="8" name="TechnologyProduct">
    <vt:lpwstr/>
  </property>
  <property fmtid="{D5CDD505-2E9C-101B-9397-08002B2CF9AE}" pid="9" name="Project Document Type PROPOSED">
    <vt:lpwstr/>
  </property>
</Properties>
</file>