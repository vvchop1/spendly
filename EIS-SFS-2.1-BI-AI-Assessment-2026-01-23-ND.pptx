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14" Type="http://schemas.openxmlformats.org/officeDocument/2006/relationships/notesMaster" Target="notesMasters/notesMaster1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Mehta" userId="S::sanjay.mehta@earley.com::dc6c09ae-4fd0-4dc9-a518-d1ab09126c4c" providerId="AD" clId="Web-{69C92C9E-33D2-A08B-2E6F-F1EE1CB74B0C}"/>
    <pc:docChg chg="modSld">
      <pc:chgData name="Sanjay Mehta" userId="S::sanjay.mehta@earley.com::dc6c09ae-4fd0-4dc9-a518-d1ab09126c4c" providerId="AD" clId="Web-{69C92C9E-33D2-A08B-2E6F-F1EE1CB74B0C}" dt="2026-01-21T14:24:19.726" v="31" actId="1076"/>
      <pc:docMkLst>
        <pc:docMk/>
      </pc:docMkLst>
      <pc:sldChg chg="modSp">
        <pc:chgData name="Sanjay Mehta" userId="S::sanjay.mehta@earley.com::dc6c09ae-4fd0-4dc9-a518-d1ab09126c4c" providerId="AD" clId="Web-{69C92C9E-33D2-A08B-2E6F-F1EE1CB74B0C}" dt="2026-01-21T14:24:19.726" v="31" actId="1076"/>
        <pc:sldMkLst>
          <pc:docMk/>
          <pc:sldMk cId="0" sldId="256"/>
        </pc:sldMkLst>
        <pc:spChg chg="mod">
          <ac:chgData name="Sanjay Mehta" userId="S::sanjay.mehta@earley.com::dc6c09ae-4fd0-4dc9-a518-d1ab09126c4c" providerId="AD" clId="Web-{69C92C9E-33D2-A08B-2E6F-F1EE1CB74B0C}" dt="2026-01-21T14:24:05.006" v="15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njay Mehta" userId="S::sanjay.mehta@earley.com::dc6c09ae-4fd0-4dc9-a518-d1ab09126c4c" providerId="AD" clId="Web-{69C92C9E-33D2-A08B-2E6F-F1EE1CB74B0C}" dt="2026-01-21T14:24:19.726" v="31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A54BE-414B-4082-A3DF-3BF04FF624E7}" type="datetimeFigureOut"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00D06-8901-44F5-A047-D768F08CF0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3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17A58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43251" y="1381125"/>
            <a:ext cx="34572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FINANCIAL SERVICES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758135" y="1656978"/>
            <a:ext cx="6395559" cy="53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Intelligence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2084646" y="2420423"/>
            <a:ext cx="5304430" cy="460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Readiness Assessment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000351" y="3129855"/>
            <a:ext cx="1143000" cy="38100"/>
          </a:xfrm>
          <a:prstGeom prst="rect">
            <a:avLst/>
          </a:prstGeom>
          <a:solidFill>
            <a:srgbClr val="17A58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0801" y="3548955"/>
            <a:ext cx="9421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68663" y="4768304"/>
            <a:ext cx="18890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Earley Information Science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0c963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04800" y="1413570"/>
            <a:ext cx="3737521" cy="1127671"/>
          </a:xfrm>
          <a:prstGeom prst="roundRect">
            <a:avLst>
              <a:gd name="adj" fmla="val 6757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1565970"/>
            <a:ext cx="35013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457200" y="1788765"/>
            <a:ext cx="3501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 team spends the majority of time on SQL development. AI-assisted code generation represents the highest-impact opportunity.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04800" y="2655540"/>
            <a:ext cx="3737521" cy="784771"/>
          </a:xfrm>
          <a:prstGeom prst="roundRect">
            <a:avLst>
              <a:gd name="adj" fmla="val 971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23850" y="2655540"/>
            <a:ext cx="0" cy="784771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6250" y="2788890"/>
            <a:ext cx="35013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76250" y="3146971"/>
            <a:ext cx="35013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productivity gain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4800" y="3554611"/>
            <a:ext cx="3737521" cy="784771"/>
          </a:xfrm>
          <a:prstGeom prst="roundRect">
            <a:avLst>
              <a:gd name="adj" fmla="val 971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3850" y="3554611"/>
            <a:ext cx="0" cy="784771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250" y="3687961"/>
            <a:ext cx="350137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Days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6250" y="4046041"/>
            <a:ext cx="35013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report turnaround target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70921" y="1407319"/>
            <a:ext cx="46596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OPPORTUNITIES IDENTIFIED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4270921" y="1713905"/>
            <a:ext cx="4568279" cy="586532"/>
          </a:xfrm>
          <a:prstGeom prst="roundRect">
            <a:avLst>
              <a:gd name="adj" fmla="val 9744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385221" y="1828205"/>
            <a:ext cx="414338" cy="222796"/>
          </a:xfrm>
          <a:prstGeom prst="roundRect">
            <a:avLst>
              <a:gd name="adj" fmla="val 1710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61421" y="1866305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13858" y="1828205"/>
            <a:ext cx="18177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SQL Generation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4913858" y="2039541"/>
            <a:ext cx="18177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Schema-aware LLM for query creation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270921" y="2395686"/>
            <a:ext cx="4568279" cy="586532"/>
          </a:xfrm>
          <a:prstGeom prst="roundRect">
            <a:avLst>
              <a:gd name="adj" fmla="val 9744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385221" y="2509986"/>
            <a:ext cx="414338" cy="222796"/>
          </a:xfrm>
          <a:prstGeom prst="roundRect">
            <a:avLst>
              <a:gd name="adj" fmla="val 1710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461421" y="2548086"/>
            <a:ext cx="2671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913858" y="2509986"/>
            <a:ext cx="150453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Analytics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913858" y="2721322"/>
            <a:ext cx="1504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data queries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270921" y="3077468"/>
            <a:ext cx="4568279" cy="586532"/>
          </a:xfrm>
          <a:prstGeom prst="roundRect">
            <a:avLst>
              <a:gd name="adj" fmla="val 9744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85221" y="3191768"/>
            <a:ext cx="385316" cy="222796"/>
          </a:xfrm>
          <a:prstGeom prst="roundRect">
            <a:avLst>
              <a:gd name="adj" fmla="val 17101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461421" y="3229868"/>
            <a:ext cx="2375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84837" y="3191768"/>
            <a:ext cx="1729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 Analyzer</a:t>
            </a:r>
            <a:endParaRPr lang="en-US" sz="975" dirty="0"/>
          </a:p>
        </p:txBody>
      </p:sp>
      <p:sp>
        <p:nvSpPr>
          <p:cNvPr id="30" name="Text 27"/>
          <p:cNvSpPr/>
          <p:nvPr/>
        </p:nvSpPr>
        <p:spPr>
          <a:xfrm>
            <a:off x="4884837" y="3403104"/>
            <a:ext cx="17292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Pre-execution bottleneck detection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270921" y="3759250"/>
            <a:ext cx="4568279" cy="586532"/>
          </a:xfrm>
          <a:prstGeom prst="roundRect">
            <a:avLst>
              <a:gd name="adj" fmla="val 9744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85221" y="3873550"/>
            <a:ext cx="385316" cy="222796"/>
          </a:xfrm>
          <a:prstGeom prst="roundRect">
            <a:avLst>
              <a:gd name="adj" fmla="val 17101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461421" y="3911650"/>
            <a:ext cx="2375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4884837" y="3873550"/>
            <a:ext cx="15563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Discovery Engine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4884837" y="4084886"/>
            <a:ext cx="15563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for report reuse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093d9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 AI Maturity Assessment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817245" y="83671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755309" y="83671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947571" y="83671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1065312"/>
            <a:ext cx="2768650" cy="1536948"/>
          </a:xfrm>
          <a:prstGeom prst="roundRect">
            <a:avLst>
              <a:gd name="adj" fmla="val 4958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04800" y="1084362"/>
            <a:ext cx="2768650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150" y="1236762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ADOPTION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38150" y="1592907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38150" y="2175718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AI exposure. Brief Tableau Pulse trial. No GitHub Copilot or code generation tools deployed.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187750" y="1065312"/>
            <a:ext cx="2768650" cy="1536948"/>
          </a:xfrm>
          <a:prstGeom prst="roundRect">
            <a:avLst>
              <a:gd name="adj" fmla="val 4958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187750" y="1084362"/>
            <a:ext cx="27686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1100" y="1236762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INFRASTRUCTURE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321100" y="1592907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3321100" y="2175718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EDW in progress. BI still queries legacy source systems (D5, Shaw). Migration timeline unclear.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70699" y="1065312"/>
            <a:ext cx="2768650" cy="1536948"/>
          </a:xfrm>
          <a:prstGeom prst="roundRect">
            <a:avLst>
              <a:gd name="adj" fmla="val 4958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70699" y="1084362"/>
            <a:ext cx="276865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4049" y="1236762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MGMT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204049" y="1592907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6204049" y="2175718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Self-created onboarding docs exist. No systematic discovery. Incomplete vendor data dictionaries.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04800" y="2716560"/>
            <a:ext cx="2768650" cy="1536948"/>
          </a:xfrm>
          <a:prstGeom prst="roundRect">
            <a:avLst>
              <a:gd name="adj" fmla="val 4958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304800" y="2735610"/>
            <a:ext cx="276865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150" y="2888010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38150" y="3244155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438150" y="382696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PII avoidance practices. Aggregated metrics focus. Need-to-know access controls in place.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187750" y="2716560"/>
            <a:ext cx="2768650" cy="1536948"/>
          </a:xfrm>
          <a:prstGeom prst="roundRect">
            <a:avLst>
              <a:gd name="adj" fmla="val 4958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3187750" y="2735610"/>
            <a:ext cx="2768650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321100" y="2888010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READINESS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321100" y="3244155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3321100" y="382696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enthusiastic about AI assistance. Leadership aligned. New MD role signals strategic priority.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6070699" y="2735610"/>
            <a:ext cx="2768650" cy="1498848"/>
          </a:xfrm>
          <a:prstGeom prst="roundRect">
            <a:avLst>
              <a:gd name="adj" fmla="val 5084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04049" y="2868960"/>
            <a:ext cx="25519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ASSESSMENT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204049" y="3225105"/>
            <a:ext cx="25519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/ 5</a:t>
            </a:r>
            <a:endParaRPr lang="en-US" sz="2100" dirty="0"/>
          </a:p>
        </p:txBody>
      </p:sp>
      <p:sp>
        <p:nvSpPr>
          <p:cNvPr id="35" name="Text 32"/>
          <p:cNvSpPr/>
          <p:nvPr/>
        </p:nvSpPr>
        <p:spPr>
          <a:xfrm>
            <a:off x="6204049" y="3807916"/>
            <a:ext cx="255198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foundation in governance &amp; readiness. Primary gaps in tooling and infrastructure.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304800" y="4367808"/>
            <a:ext cx="8534400" cy="548580"/>
          </a:xfrm>
          <a:prstGeom prst="roundRect">
            <a:avLst>
              <a:gd name="adj" fmla="val 10418"/>
            </a:avLst>
          </a:prstGeom>
          <a:solidFill>
            <a:srgbClr val="E8F8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323850" y="4367808"/>
            <a:ext cx="0" cy="548580"/>
          </a:xfrm>
          <a:prstGeom prst="line">
            <a:avLst/>
          </a:prstGeom>
          <a:noFill/>
          <a:ln w="38100">
            <a:solidFill>
              <a:srgbClr val="17A58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95300" y="4482108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r>
              <a:rPr lang="en-US" sz="9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team has the cultural readiness and governance foundation for AI adoption. Primary barriers are tooling deployment and infrastructure maturation—both addressable in the near term.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5215e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28600"/>
            <a:ext cx="45177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Current State: Key Pain Points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04800" y="151938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23267" y="1557486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0100" y="1519386"/>
            <a:ext cx="72993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Development Bottleneck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0100" y="1770757"/>
            <a:ext cx="72993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report development time is spent writing, evaluating, and optimizing SQL queries. Team must navigate complex business scenarios, incomplete data dictionaries, and duplicate prevention logic.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108752" y="1519386"/>
            <a:ext cx="730448" cy="531316"/>
          </a:xfrm>
          <a:prstGeom prst="roundRect">
            <a:avLst>
              <a:gd name="adj" fmla="val 10756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18033" y="1595586"/>
            <a:ext cx="51188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18033" y="1854547"/>
            <a:ext cx="5118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on SQL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04800" y="2247007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3267" y="2285107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0100" y="2247007"/>
            <a:ext cx="71550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 Issues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0100" y="2498378"/>
            <a:ext cx="71550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queries (30-40+ minutes) trigger IT alerts and block other processes. No pre-execution performance analysis tools available.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967216" y="2247007"/>
            <a:ext cx="871984" cy="531316"/>
          </a:xfrm>
          <a:prstGeom prst="roundRect">
            <a:avLst>
              <a:gd name="adj" fmla="val 10756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75082" y="2323207"/>
            <a:ext cx="6562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min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75082" y="2582168"/>
            <a:ext cx="6562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queries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304800" y="291167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23267" y="294977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00100" y="2911673"/>
            <a:ext cx="711144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Fragmentation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0100" y="3163044"/>
            <a:ext cx="71114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way to discover similar existing reports or reuse query logic. Vendor data dictionaries incomplete, requiring significant tribal knowledge.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24502" y="2911673"/>
            <a:ext cx="914698" cy="531316"/>
          </a:xfrm>
          <a:prstGeom prst="roundRect">
            <a:avLst>
              <a:gd name="adj" fmla="val 10756"/>
            </a:avLst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031941" y="2987873"/>
            <a:ext cx="6998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8031941" y="3246834"/>
            <a:ext cx="6998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method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04800" y="3639294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23267" y="3677394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00100" y="3639294"/>
            <a:ext cx="733474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EDW Migration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0100" y="3890665"/>
            <a:ext cx="73347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target requires migrating every report, code, and query to new Fabric EDW data sources. This is unglamorous but essential work where AI could provide significant assistance.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143429" y="3639294"/>
            <a:ext cx="695771" cy="531316"/>
          </a:xfrm>
          <a:prstGeom prst="roundRect">
            <a:avLst>
              <a:gd name="adj" fmla="val 10756"/>
            </a:avLst>
          </a:prstGeom>
          <a:solidFill>
            <a:srgbClr val="E8DA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8253057" y="3715494"/>
            <a:ext cx="47651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26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253057" y="3974455"/>
            <a:ext cx="4765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48ff4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50478"/>
            <a:ext cx="875407" cy="222796"/>
          </a:xfrm>
          <a:prstGeom prst="roundRect">
            <a:avLst>
              <a:gd name="adj" fmla="val 1710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1000" y="288578"/>
            <a:ext cx="6986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1275457" y="228600"/>
            <a:ext cx="36381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AI-Assisted SQL Generation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04800" y="1461790"/>
            <a:ext cx="4568279" cy="1046708"/>
          </a:xfrm>
          <a:prstGeom prst="roundRect">
            <a:avLst>
              <a:gd name="adj" fmla="val 728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8150" y="1595140"/>
            <a:ext cx="43876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38150" y="1817936"/>
            <a:ext cx="438761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Schema-aware LLM that generates SQL from natural language descriptions, understanding table relationships, business logic, and common query patterns.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04800" y="2641848"/>
            <a:ext cx="46596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4800" y="2935188"/>
            <a:ext cx="2236589" cy="592336"/>
          </a:xfrm>
          <a:prstGeom prst="roundRect">
            <a:avLst>
              <a:gd name="adj" fmla="val 9648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9100" y="3049488"/>
            <a:ext cx="20481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to SQL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9100" y="3266629"/>
            <a:ext cx="204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requests to executable queries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2636639" y="2935188"/>
            <a:ext cx="2236589" cy="592336"/>
          </a:xfrm>
          <a:prstGeom prst="roundRect">
            <a:avLst>
              <a:gd name="adj" fmla="val 9648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50939" y="3049488"/>
            <a:ext cx="20481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Optimization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50939" y="3266629"/>
            <a:ext cx="204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usage and join improvements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04800" y="3660874"/>
            <a:ext cx="2236589" cy="592336"/>
          </a:xfrm>
          <a:prstGeom prst="roundRect">
            <a:avLst>
              <a:gd name="adj" fmla="val 9648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19100" y="3775174"/>
            <a:ext cx="20481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Diagnosis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9100" y="3992314"/>
            <a:ext cx="204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fix problematic patterns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2636639" y="3660874"/>
            <a:ext cx="2236589" cy="592336"/>
          </a:xfrm>
          <a:prstGeom prst="roundRect">
            <a:avLst>
              <a:gd name="adj" fmla="val 9648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50939" y="3775174"/>
            <a:ext cx="20481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Documentation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50939" y="3992314"/>
            <a:ext cx="204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comments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101679" y="1356568"/>
            <a:ext cx="3737521" cy="1144786"/>
          </a:xfrm>
          <a:prstGeom prst="roundRect">
            <a:avLst>
              <a:gd name="adj" fmla="val 6656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5254079" y="1508968"/>
            <a:ext cx="35013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243574" y="1750814"/>
            <a:ext cx="10715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40-60%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5243574" y="2215604"/>
            <a:ext cx="1071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Gain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448797" y="1750814"/>
            <a:ext cx="84251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448797" y="2215604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Saved/Report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101679" y="2615654"/>
            <a:ext cx="3737521" cy="824657"/>
          </a:xfrm>
          <a:prstGeom prst="roundRect">
            <a:avLst>
              <a:gd name="adj" fmla="val 9240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35029" y="2749004"/>
            <a:ext cx="35402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REQUIREMENTS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5235029" y="2971800"/>
            <a:ext cx="3540237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integration with Fabric EDW plus legacy sources. Data dictionary enrichment. Common query pattern library. IDE integration.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101679" y="3554611"/>
            <a:ext cx="3737521" cy="803821"/>
          </a:xfrm>
          <a:prstGeom prst="roundRect">
            <a:avLst>
              <a:gd name="adj" fmla="val 9480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35029" y="3687961"/>
            <a:ext cx="35402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WIN: GITHUB COPILOT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235029" y="3910757"/>
            <a:ext cx="354023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GitHub Copilot for SQL development immediately. Low barrier, provides baseline AI assistance while custom solution is built.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22972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50478"/>
            <a:ext cx="875407" cy="222796"/>
          </a:xfrm>
          <a:prstGeom prst="roundRect">
            <a:avLst>
              <a:gd name="adj" fmla="val 17101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1000" y="288578"/>
            <a:ext cx="6986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IMPACT</a:t>
            </a:r>
            <a:endParaRPr lang="en-US" sz="825" dirty="0"/>
          </a:p>
        </p:txBody>
      </p:sp>
      <p:sp>
        <p:nvSpPr>
          <p:cNvPr id="5" name="Text 2"/>
          <p:cNvSpPr/>
          <p:nvPr/>
        </p:nvSpPr>
        <p:spPr>
          <a:xfrm>
            <a:off x="1275457" y="228600"/>
            <a:ext cx="3240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Conversational Analytics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304800" y="1162794"/>
            <a:ext cx="4152900" cy="1046708"/>
          </a:xfrm>
          <a:prstGeom prst="roundRect">
            <a:avLst>
              <a:gd name="adj" fmla="val 7280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8150" y="129614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38150" y="1518940"/>
            <a:ext cx="396392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query interface allowing business users to ask questions about data without SQL expertise. Builds on existing Fabric agent PoC.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04800" y="2323802"/>
            <a:ext cx="4152900" cy="1535162"/>
          </a:xfrm>
          <a:prstGeom prst="roundRect">
            <a:avLst>
              <a:gd name="adj" fmla="val 4964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9100" y="2438102"/>
            <a:ext cx="3924300" cy="535186"/>
          </a:xfrm>
          <a:prstGeom prst="roundRect">
            <a:avLst>
              <a:gd name="adj" fmla="val 10679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253335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14350" y="2718048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our delinquency rate by vehicle type this quarter?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9100" y="3049488"/>
            <a:ext cx="3924300" cy="695176"/>
          </a:xfrm>
          <a:prstGeom prst="roundRect">
            <a:avLst>
              <a:gd name="adj" fmla="val 8221"/>
            </a:avLst>
          </a:prstGeom>
          <a:solidFill>
            <a:srgbClr val="17A589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" y="31447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14350" y="3329434"/>
            <a:ext cx="380847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formatted table with delinquency rates by vehicle category with trend indicators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4800" y="3973264"/>
            <a:ext cx="4152900" cy="578941"/>
          </a:xfrm>
          <a:prstGeom prst="roundRect">
            <a:avLst>
              <a:gd name="adj" fmla="val 13162"/>
            </a:avLst>
          </a:prstGeom>
          <a:solidFill>
            <a:srgbClr val="E8DA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323850" y="3973264"/>
            <a:ext cx="0" cy="578941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087564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FOUNDATION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57200" y="4291310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Bobby team has working Fabric-native AI agent PoC ready for productionization.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1568946"/>
            <a:ext cx="2028825" cy="720030"/>
          </a:xfrm>
          <a:prstGeom prst="roundRect">
            <a:avLst>
              <a:gd name="adj" fmla="val 10583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82598" y="1683246"/>
            <a:ext cx="18362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30-50%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82598" y="204132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Deflection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810375" y="1568946"/>
            <a:ext cx="2028825" cy="720030"/>
          </a:xfrm>
          <a:prstGeom prst="roundRect">
            <a:avLst>
              <a:gd name="adj" fmla="val 10583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906673" y="1683246"/>
            <a:ext cx="18362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906673" y="2041327"/>
            <a:ext cx="183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Days for Ad-hoc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86300" y="2403277"/>
            <a:ext cx="4152900" cy="824657"/>
          </a:xfrm>
          <a:prstGeom prst="roundRect">
            <a:avLst>
              <a:gd name="adj" fmla="val 9240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19650" y="2536627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819650" y="2759422"/>
            <a:ext cx="396392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Well-governed EDW data layer. Semantic model and business glossary. Query guardrails and access controls. Audit logging for compliance.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3342233"/>
            <a:ext cx="4152900" cy="803821"/>
          </a:xfrm>
          <a:prstGeom prst="roundRect">
            <a:avLst>
              <a:gd name="adj" fmla="val 9480"/>
            </a:avLst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19650" y="3475583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COMPLEXITY: HIGH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19650" y="3698379"/>
            <a:ext cx="396392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mature EDW, semantic layer, and governance framework. Recommend Phase 3 implementation after EDW migration stabilizes.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d51649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04800" y="1359247"/>
            <a:ext cx="2793950" cy="535186"/>
          </a:xfrm>
          <a:prstGeom prst="roundRect">
            <a:avLst>
              <a:gd name="adj" fmla="val 10679"/>
            </a:avLst>
          </a:prstGeom>
          <a:solidFill>
            <a:srgbClr val="17A58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74015" y="1454497"/>
            <a:ext cx="265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Quick Wins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374015" y="166583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4-9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174950" y="1359247"/>
            <a:ext cx="2793950" cy="535186"/>
          </a:xfrm>
          <a:prstGeom prst="roundRect">
            <a:avLst>
              <a:gd name="adj" fmla="val 10679"/>
            </a:avLst>
          </a:prstGeom>
          <a:solidFill>
            <a:srgbClr val="2874A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44166" y="1454497"/>
            <a:ext cx="265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Foundation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244166" y="166583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45101" y="1359247"/>
            <a:ext cx="2793950" cy="535186"/>
          </a:xfrm>
          <a:prstGeom prst="roundRect">
            <a:avLst>
              <a:gd name="adj" fmla="val 10679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114316" y="1454497"/>
            <a:ext cx="26555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Strategic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6114316" y="1665833"/>
            <a:ext cx="2655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04800" y="200873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9100" y="212303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GitHub Copilot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9100" y="2340173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and deploy for SQL Management Studio. Immediate productivity boost.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174950" y="200873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289250" y="212303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Schema-Aware SQL Assistant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89250" y="2340173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custom SQL generator with data dictionary and business logic integration.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045101" y="200873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159401" y="212303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Optimization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59401" y="2340173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performance prediction, automated optimization suggestions.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04800" y="283547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9100" y="294977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Existing Reports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9100" y="3166914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indexing of Tableau, SSRS, SAS reports for discovery.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174950" y="283547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FEF9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289250" y="294977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Matching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89250" y="3166914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similar reports when new requests arrive. Enable reuse.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045101" y="2835473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59401" y="2949773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Pattern Library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59401" y="3166914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repository of proven query patterns and business logic.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04800" y="3662214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19100" y="3776514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Foundation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19100" y="3993654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EDW migration. Prepare governance and semantic model.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174950" y="3662214"/>
            <a:ext cx="2793950" cy="712440"/>
          </a:xfrm>
          <a:prstGeom prst="roundRect">
            <a:avLst>
              <a:gd name="adj" fmla="val 8022"/>
            </a:avLst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289250" y="3776514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Deployment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289250" y="3993654"/>
            <a:ext cx="26166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 Fabric agent PoC for select well-governed domains.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045101" y="3728889"/>
            <a:ext cx="2793950" cy="579090"/>
          </a:xfrm>
          <a:prstGeom prst="roundRect">
            <a:avLst>
              <a:gd name="adj" fmla="val 9869"/>
            </a:avLst>
          </a:prstGeom>
          <a:solidFill>
            <a:srgbClr val="AED6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159401" y="3843189"/>
            <a:ext cx="261665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Rollout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159401" y="4060329"/>
            <a:ext cx="26166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additional domains with self-service training.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3b178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04800" y="1282154"/>
            <a:ext cx="4152900" cy="2068711"/>
          </a:xfrm>
          <a:prstGeom prst="roundRect">
            <a:avLst>
              <a:gd name="adj" fmla="val 3683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38150" y="1415504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(WEEKS 4-6)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38150" y="1670745"/>
            <a:ext cx="3886200" cy="464790"/>
          </a:xfrm>
          <a:prstGeom prst="roundRect">
            <a:avLst>
              <a:gd name="adj" fmla="val 81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14350" y="174694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GitHub Copilot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925985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licensing with IT. Target SQL Management Studio.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38150" y="2211735"/>
            <a:ext cx="3886200" cy="464790"/>
          </a:xfrm>
          <a:prstGeom prst="roundRect">
            <a:avLst>
              <a:gd name="adj" fmla="val 81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14350" y="228793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Schema-Aware SQL PoC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14350" y="2466975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prototype using EDW metadata and data dictionary.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38150" y="2752725"/>
            <a:ext cx="3886200" cy="464790"/>
          </a:xfrm>
          <a:prstGeom prst="roundRect">
            <a:avLst>
              <a:gd name="adj" fmla="val 819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4350" y="2828925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Report Indexing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14350" y="3007965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existing Tableau reports for semantic search.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04800" y="3465165"/>
            <a:ext cx="4152900" cy="1005632"/>
          </a:xfrm>
          <a:prstGeom prst="roundRect">
            <a:avLst>
              <a:gd name="adj" fmla="val 7577"/>
            </a:avLst>
          </a:prstGeom>
          <a:solidFill>
            <a:srgbClr val="E8F6F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38150" y="3598515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7A5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ALIGNMENT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38150" y="3834705"/>
            <a:ext cx="3963924" cy="502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Shandria and BI Team: Primary users, provide sample reports. Bobby and Data Team: EDW access, Fabric integration. Nader and IT: GitHub Copilot licensing. Tricia: Executive sponsor, KPI alignment.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262211"/>
            <a:ext cx="4152900" cy="1384846"/>
          </a:xfrm>
          <a:prstGeom prst="roundRect">
            <a:avLst>
              <a:gd name="adj" fmla="val 5502"/>
            </a:avLst>
          </a:prstGeom>
          <a:solidFill>
            <a:srgbClr val="F4F6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19650" y="1395561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19650" y="1650802"/>
            <a:ext cx="1219200" cy="634305"/>
          </a:xfrm>
          <a:prstGeom prst="roundRect">
            <a:avLst>
              <a:gd name="adj" fmla="val 9010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14329" y="1755577"/>
            <a:ext cx="1029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914329" y="206037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Dev Time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6153150" y="1650802"/>
            <a:ext cx="1219200" cy="634305"/>
          </a:xfrm>
          <a:prstGeom prst="roundRect">
            <a:avLst>
              <a:gd name="adj" fmla="val 9010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47829" y="1755577"/>
            <a:ext cx="1029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247829" y="206037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Alerts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7486650" y="1650802"/>
            <a:ext cx="1219200" cy="634305"/>
          </a:xfrm>
          <a:prstGeom prst="roundRect">
            <a:avLst>
              <a:gd name="adj" fmla="val 9010"/>
            </a:avLst>
          </a:prstGeom>
          <a:solidFill>
            <a:srgbClr val="FFFFFF"/>
          </a:solidFill>
          <a:ln w="9525">
            <a:solidFill>
              <a:srgbClr val="D5D8D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7581329" y="1755577"/>
            <a:ext cx="10298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Days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581329" y="2060377"/>
            <a:ext cx="10298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</a:t>
            </a:r>
            <a:endParaRPr lang="en-US" sz="675" dirty="0"/>
          </a:p>
        </p:txBody>
      </p:sp>
      <p:sp>
        <p:nvSpPr>
          <p:cNvPr id="29" name="Text 26"/>
          <p:cNvSpPr/>
          <p:nvPr/>
        </p:nvSpPr>
        <p:spPr>
          <a:xfrm>
            <a:off x="4819650" y="2380357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measurements to be established in Phase 1.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686300" y="2761357"/>
            <a:ext cx="4152900" cy="838051"/>
          </a:xfrm>
          <a:prstGeom prst="roundRect">
            <a:avLst>
              <a:gd name="adj" fmla="val 9093"/>
            </a:avLst>
          </a:prstGeom>
          <a:solidFill>
            <a:srgbClr val="FCF3C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19650" y="2894707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9A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TO MONITOR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19650" y="3130897"/>
            <a:ext cx="3963924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 migration timeline (Q1 target). Power BI licensing decision. Data dictionary enrichment progress. AI governance framework approval.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686300" y="3713708"/>
            <a:ext cx="4152900" cy="777032"/>
          </a:xfrm>
          <a:prstGeom prst="roundRect">
            <a:avLst>
              <a:gd name="adj" fmla="val 9807"/>
            </a:avLst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705350" y="3713708"/>
            <a:ext cx="0" cy="777032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57750" y="384705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F61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SESSION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57750" y="4064198"/>
            <a:ext cx="392506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look-over-the-shoulder session with BI team to observe workflows and validate opportunity sizing.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5</Value>
      <Value>6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Project Document" ma:contentTypeID="0x010100344C9658AE87044DB333EA4A93A1BC800100095641DC2C80A542A0D628A833D252D6" ma:contentTypeVersion="0" ma:contentTypeDescription="This is the primary content type for project site utilization." ma:contentTypeScope="" ma:versionID="d6fa05fbb1cb112e985131c9c8bbab34">
  <xsd:schema xmlns:xsd="http://www.w3.org/2001/XMLSchema" xmlns:xs="http://www.w3.org/2001/XMLSchema" xmlns:p="http://schemas.microsoft.com/office/2006/metadata/properties" xmlns:ns1="http://schemas.microsoft.com/sharepoint/v3" xmlns:ns2="0eea126e-d378-4180-a2b3-4f5c76938639" targetNamespace="http://schemas.microsoft.com/office/2006/metadata/properties" ma:root="true" ma:fieldsID="e9a8dd297e5a64717615abe832cbfc67" ns1:_="" ns2:_="">
    <xsd:import namespace="http://schemas.microsoft.com/sharepoint/v3"/>
    <xsd:import namespace="0eea126e-d378-4180-a2b3-4f5c76938639"/>
    <xsd:element name="properties">
      <xsd:complexType>
        <xsd:sequence>
          <xsd:element name="documentManagement">
            <xsd:complexType>
              <xsd:all>
                <xsd:element ref="ns1:RoutingRuleDescription" minOccurs="0"/>
                <xsd:element ref="ns2:DocumentStatus"/>
                <xsd:element ref="ns2:Exemplar" minOccurs="0"/>
                <xsd:element ref="ns2:Approved_On" minOccurs="0"/>
                <xsd:element ref="ns2:f2f50ace197541ad86cff9e70e2da8fe" minOccurs="0"/>
                <xsd:element ref="ns2:nba4425962384a1da17435b0ede58895" minOccurs="0"/>
                <xsd:element ref="ns2:m7adfda30bd44047a5638478612301c3" minOccurs="0"/>
                <xsd:element ref="ns2:gee6b8e6849a45c3b287423ef253694f" minOccurs="0"/>
                <xsd:element ref="ns2:f26024b91be24958abad48b23a9fdabd" minOccurs="0"/>
                <xsd:element ref="ns2:TaxCatchAll" minOccurs="0"/>
                <xsd:element ref="ns2:TaxCatchAllLabel" minOccurs="0"/>
                <xsd:element ref="ns2:a990347f3ac744ba9319d59deee28e62" minOccurs="0"/>
                <xsd:element ref="ns2:SOW_x0020_Deliverable_x003f_" minOccurs="0"/>
                <xsd:element ref="ns2:Is_x0020_Highlight_x003f_" minOccurs="0"/>
                <xsd:element ref="ns2:Project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outingRuleDescription" ma:index="3" nillable="true" ma:displayName="Description" ma:internalName="RoutingRule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ea126e-d378-4180-a2b3-4f5c76938639" elementFormDefault="qualified">
    <xsd:import namespace="http://schemas.microsoft.com/office/2006/documentManagement/types"/>
    <xsd:import namespace="http://schemas.microsoft.com/office/infopath/2007/PartnerControls"/>
    <xsd:element name="DocumentStatus" ma:index="5" ma:displayName="Document Status" ma:default="internal" ma:format="Dropdown" ma:internalName="DocumentStatus">
      <xsd:simpleType>
        <xsd:restriction base="dms:Choice">
          <xsd:enumeration value="internal"/>
          <xsd:enumeration value="ready to share"/>
          <xsd:enumeration value="shared"/>
          <xsd:enumeration value="waiting for approval"/>
        </xsd:restriction>
      </xsd:simpleType>
    </xsd:element>
    <xsd:element name="Exemplar" ma:index="11" nillable="true" ma:displayName="Exemplar" ma:default="0" ma:internalName="Exemplar">
      <xsd:simpleType>
        <xsd:restriction base="dms:Boolean"/>
      </xsd:simpleType>
    </xsd:element>
    <xsd:element name="Approved_On" ma:index="12" nillable="true" ma:displayName="Approved On" ma:format="DateOnly" ma:internalName="Approved_On">
      <xsd:simpleType>
        <xsd:restriction base="dms:DateTime"/>
      </xsd:simpleType>
    </xsd:element>
    <xsd:element name="f2f50ace197541ad86cff9e70e2da8fe" ma:index="14" nillable="true" ma:taxonomy="true" ma:internalName="f2f50ace197541ad86cff9e70e2da8fe" ma:taxonomyFieldName="Competency" ma:displayName="Competency" ma:default="" ma:fieldId="{f2f50ace-1975-41ad-86cf-f9e70e2da8fe}" ma:sspId="80784755-79b8-48d6-9428-3b17d2b68283" ma:termSetId="66fc978f-7778-48f0-b25e-6102ec3c890a" ma:anchorId="79d02cd2-c888-4dca-91ee-ab8cc34a5d36" ma:open="false" ma:isKeyword="false">
      <xsd:complexType>
        <xsd:sequence>
          <xsd:element ref="pc:Terms" minOccurs="0" maxOccurs="1"/>
        </xsd:sequence>
      </xsd:complexType>
    </xsd:element>
    <xsd:element name="nba4425962384a1da17435b0ede58895" ma:index="16" nillable="true" ma:taxonomy="true" ma:internalName="nba4425962384a1da17435b0ede58895" ma:taxonomyFieldName="Technology" ma:displayName="Technology" ma:default="" ma:fieldId="{7ba44259-6238-4a1d-a174-35b0ede58895}" ma:sspId="80784755-79b8-48d6-9428-3b17d2b68283" ma:termSetId="66fc978f-7778-48f0-b25e-6102ec3c890a" ma:anchorId="813a78bb-6284-4eb5-a207-1e736defb902" ma:open="false" ma:isKeyword="false">
      <xsd:complexType>
        <xsd:sequence>
          <xsd:element ref="pc:Terms" minOccurs="0" maxOccurs="1"/>
        </xsd:sequence>
      </xsd:complexType>
    </xsd:element>
    <xsd:element name="m7adfda30bd44047a5638478612301c3" ma:index="18" nillable="true" ma:taxonomy="true" ma:internalName="m7adfda30bd44047a5638478612301c3" ma:taxonomyFieldName="TechnologyProduct" ma:displayName="Technology Product" ma:default="" ma:fieldId="{67adfda3-0bd4-4047-a563-8478612301c3}" ma:sspId="80784755-79b8-48d6-9428-3b17d2b68283" ma:termSetId="66fc978f-7778-48f0-b25e-6102ec3c890a" ma:anchorId="5d1c3ad4-2cfc-4c6c-ae3c-92a81c5029d9" ma:open="false" ma:isKeyword="false">
      <xsd:complexType>
        <xsd:sequence>
          <xsd:element ref="pc:Terms" minOccurs="0" maxOccurs="1"/>
        </xsd:sequence>
      </xsd:complexType>
    </xsd:element>
    <xsd:element name="gee6b8e6849a45c3b287423ef253694f" ma:index="20" nillable="true" ma:taxonomy="true" ma:internalName="gee6b8e6849a45c3b287423ef253694f" ma:taxonomyFieldName="Industry" ma:displayName="Industry" ma:default="" ma:fieldId="{0ee6b8e6-849a-45c3-b287-423ef253694f}" ma:sspId="80784755-79b8-48d6-9428-3b17d2b68283" ma:termSetId="66fc978f-7778-48f0-b25e-6102ec3c890a" ma:anchorId="e73ca4ff-ea7d-4041-a298-57ef1e2d566c" ma:open="false" ma:isKeyword="false">
      <xsd:complexType>
        <xsd:sequence>
          <xsd:element ref="pc:Terms" minOccurs="0" maxOccurs="1"/>
        </xsd:sequence>
      </xsd:complexType>
    </xsd:element>
    <xsd:element name="f26024b91be24958abad48b23a9fdabd" ma:index="21" nillable="true" ma:taxonomy="true" ma:internalName="f26024b91be24958abad48b23a9fdabd" ma:taxonomyFieldName="AccountName" ma:displayName="Account Name" ma:default="" ma:fieldId="{f26024b9-1be2-4958-abad-48b23a9fdabd}" ma:sspId="80784755-79b8-48d6-9428-3b17d2b68283" ma:termSetId="ffcabd10-b5c4-4d4a-85d5-d81c14c826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9177BC99-164C-4B82-8728-4FEB32A6B1B8}" ma:internalName="TaxCatchAll" ma:showField="CatchAllData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3" nillable="true" ma:displayName="Taxonomy Catch All Column1" ma:hidden="true" ma:list="{9177BC99-164C-4B82-8728-4FEB32A6B1B8}" ma:internalName="TaxCatchAllLabel" ma:readOnly="true" ma:showField="CatchAllDataLabel" ma:web="{32c2a11c-da96-468b-9edd-a18f19d17949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90347f3ac744ba9319d59deee28e62" ma:index="25" nillable="true" ma:taxonomy="true" ma:internalName="a990347f3ac744ba9319d59deee28e62" ma:taxonomyFieldName="Project_x0020_Document_x0020_Type_x0020_PROPOSED" ma:displayName="Doc Type" ma:default="" ma:fieldId="{a990347f-3ac7-44ba-9319-d59deee28e62}" ma:taxonomyMulti="true" ma:sspId="80784755-79b8-48d6-9428-3b17d2b68283" ma:termSetId="66fc978f-7778-48f0-b25e-6102ec3c890a" ma:anchorId="83e52bf2-229e-4551-83c8-6c619852a84e" ma:open="false" ma:isKeyword="false">
      <xsd:complexType>
        <xsd:sequence>
          <xsd:element ref="pc:Terms" minOccurs="0" maxOccurs="1"/>
        </xsd:sequence>
      </xsd:complexType>
    </xsd:element>
    <xsd:element name="SOW_x0020_Deliverable_x003f_" ma:index="27" nillable="true" ma:displayName="SOW Deliverable?" ma:default="0" ma:description="If this document is a required deliverable according to an SOW" ma:internalName="SOW_x0020_Deliverable_x003F_0">
      <xsd:simpleType>
        <xsd:restriction base="dms:Boolean"/>
      </xsd:simpleType>
    </xsd:element>
    <xsd:element name="Is_x0020_Highlight_x003f_" ma:index="28" nillable="true" ma:displayName="Is Highlight?" ma:default="0" ma:description="If this document represents interesting work during the project; not limited to deliverables" ma:internalName="Is_x0020_Highlight_x003F_">
      <xsd:simpleType>
        <xsd:restriction base="dms:Boolean"/>
      </xsd:simpleType>
    </xsd:element>
    <xsd:element name="Project_x0020_Name" ma:index="29" nillable="true" ma:displayName="Project Name" ma:description="Title of the specific engagement, not including the client/account name (e.g. &quot;Taxonomy Assessment and Roadmap&quot;)" ma:internalName="Project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6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4" ma:displayName="Comments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CA3728-F8E1-47F8-AA5D-096839FEB36E}"/>
</file>

<file path=customXml/itemProps2.xml><?xml version="1.0" encoding="utf-8"?>
<ds:datastoreItem xmlns:ds="http://schemas.openxmlformats.org/officeDocument/2006/customXml" ds:itemID="{F40BA2EA-A78B-41EC-A618-602D2C1904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9D31B8-BAF7-4392-BB17-CBE1ABFB9261}">
  <ds:schemaRefs>
    <ds:schemaRef ds:uri="http://schemas.microsoft.com/office/2006/metadata/properties"/>
    <ds:schemaRef ds:uri="http://schemas.microsoft.com/office/infopath/2007/PartnerControls"/>
    <ds:schemaRef ds:uri="0eea126e-d378-4180-a2b3-4f5c76938639"/>
    <ds:schemaRef ds:uri="http://schemas.microsoft.com/sharepoint/v3"/>
  </ds:schemaRefs>
</ds:datastoreItem>
</file>

<file path=customXml/itemProps4.xml><?xml version="1.0" encoding="utf-8"?>
<ds:datastoreItem xmlns:ds="http://schemas.openxmlformats.org/officeDocument/2006/customXml" ds:itemID="{D36F7077-0B6A-46BA-AFFB-B53824AB3F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ea126e-d378-4180-a2b3-4f5c769386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SFS BI AI Readiness Assessment</dc:title>
  <dc:subject>Business Intelligence AI Readiness Assessment</dc:subject>
  <dc:creator>Earley Information Science</dc:creator>
  <cp:lastModifiedBy>Earley Information Science</cp:lastModifiedBy>
  <cp:revision>16</cp:revision>
  <dcterms:created xsi:type="dcterms:W3CDTF">2026-01-21T07:21:39Z</dcterms:created>
  <dcterms:modified xsi:type="dcterms:W3CDTF">2026-01-23T17:18:16Z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0x0101000B97C77CF6C980478CF1A0C7BB3DB346</vt:lpwstr>
  </property>
  <property fmtid="{D5CDD505-2E9C-101B-9397-08002B2CF9AE}" pid="3" name="Project_x0020_Document_x0020_Type_x0020_PROPOSED">
    <vt:lpwstr/>
  </property>
  <property fmtid="{D5CDD505-2E9C-101B-9397-08002B2CF9AE}" pid="4" name="Technology">
    <vt:lpwstr/>
  </property>
  <property fmtid="{D5CDD505-2E9C-101B-9397-08002B2CF9AE}" pid="5" name="Industry">
    <vt:lpwstr/>
  </property>
  <property fmtid="{D5CDD505-2E9C-101B-9397-08002B2CF9AE}" pid="6" name="AccountName">
    <vt:lpwstr>5;#Stellantis Financial Services|ae495efb-8e65-4cbd-b57d-7d196b299547</vt:lpwstr>
  </property>
  <property fmtid="{D5CDD505-2E9C-101B-9397-08002B2CF9AE}" pid="7" name="Competency">
    <vt:lpwstr>6;#information architecture|0c69daec-fbc4-45c7-ab9c-bd21b0f93d0b</vt:lpwstr>
  </property>
  <property fmtid="{D5CDD505-2E9C-101B-9397-08002B2CF9AE}" pid="8" name="TechnologyProduct">
    <vt:lpwstr/>
  </property>
  <property fmtid="{D5CDD505-2E9C-101B-9397-08002B2CF9AE}" pid="9" name="Project Document Type PROPOSED">
    <vt:lpwstr/>
  </property>
</Properties>
</file>