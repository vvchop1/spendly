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7" r:id="rId4"/>
    <p:sldMasterId id="2147484776" r:id="rId5"/>
    <p:sldMasterId id="2147485483" r:id="rId6"/>
  </p:sldMasterIdLst>
  <p:notesMasterIdLst>
    <p:notesMasterId r:id="rId16"/>
  </p:notesMasterIdLst>
  <p:handoutMasterIdLst>
    <p:handoutMasterId r:id="rId17"/>
  </p:handoutMasterIdLst>
  <p:sldIdLst>
    <p:sldId id="2147483640" r:id="rId7"/>
    <p:sldId id="2147483641" r:id="rId8"/>
    <p:sldId id="293" r:id="rId9"/>
    <p:sldId id="302" r:id="rId10"/>
    <p:sldId id="303" r:id="rId11"/>
    <p:sldId id="285" r:id="rId12"/>
    <p:sldId id="282" r:id="rId13"/>
    <p:sldId id="281" r:id="rId14"/>
    <p:sldId id="283" r:id="rId15"/>
  </p:sldIdLst>
  <p:sldSz cx="12192000" cy="6858000"/>
  <p:notesSz cx="7102475" cy="9388475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7174A7-44EE-4831-A8EE-B0A48C5D919E}">
          <p14:sldIdLst>
            <p14:sldId id="2147483640"/>
            <p14:sldId id="2147483641"/>
            <p14:sldId id="293"/>
            <p14:sldId id="302"/>
            <p14:sldId id="303"/>
            <p14:sldId id="285"/>
            <p14:sldId id="282"/>
            <p14:sldId id="281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orient="horz" pos="3984" userDrawn="1">
          <p15:clr>
            <a:srgbClr val="A4A3A4"/>
          </p15:clr>
        </p15:guide>
        <p15:guide id="3" pos="408" userDrawn="1">
          <p15:clr>
            <a:srgbClr val="A4A3A4"/>
          </p15:clr>
        </p15:guide>
        <p15:guide id="4" pos="7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D05A3B-55DD-4C2D-C536-36825727165D}" name="Sanjay Mehta" initials="SM" userId="S::sanjay.mehta@earley.com::dc6c09ae-4fd0-4dc9-a518-d1ab09126c4c" providerId="AD"/>
  <p188:author id="{B70B6884-82CA-26DC-657A-4C24E4D1E827}" name="Seth Earley" initials="SE" userId="S::Seth@earley.com::628be45f-8d1c-4a33-a8fa-c54e490afe68" providerId="AD"/>
  <p188:author id="{42378CB9-3D91-0558-69B3-97376F8B59CA}" name="patrick.hoeffel@phpartnersai.com" initials="pa" userId="S::urn:spo:guest#patrick.hoeffel@phpartnersai.com::" providerId="AD"/>
  <p188:author id="{FA6691BE-E185-20AF-21EC-A75E6A300ECE}" name="Heather Eisenbraun" initials="HE" userId="S::heather.eisenbraun@earley.com::af8590ba-9108-4f55-8849-6d71c7b93ad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e Skrobela" initials="DS" lastIdx="4" clrIdx="0">
    <p:extLst>
      <p:ext uri="{19B8F6BF-5375-455C-9EA6-DF929625EA0E}">
        <p15:presenceInfo xmlns:p15="http://schemas.microsoft.com/office/powerpoint/2012/main" userId="1443b150bf9a34a6" providerId="Windows Live"/>
      </p:ext>
    </p:extLst>
  </p:cmAuthor>
  <p:cmAuthor id="2" name="Sharon L. Foley" initials="SLF" lastIdx="1" clrIdx="1">
    <p:extLst>
      <p:ext uri="{19B8F6BF-5375-455C-9EA6-DF929625EA0E}">
        <p15:presenceInfo xmlns:p15="http://schemas.microsoft.com/office/powerpoint/2012/main" userId="Sharon L. Foley" providerId="None"/>
      </p:ext>
    </p:extLst>
  </p:cmAuthor>
  <p:cmAuthor id="3" name="Jeremy Grubman" initials="JG" lastIdx="15" clrIdx="2">
    <p:extLst>
      <p:ext uri="{19B8F6BF-5375-455C-9EA6-DF929625EA0E}">
        <p15:presenceInfo xmlns:p15="http://schemas.microsoft.com/office/powerpoint/2012/main" userId="S::jeremy.grubman@earley.com::13e03a4e-a889-46e1-9a1e-aea29cd9e409" providerId="AD"/>
      </p:ext>
    </p:extLst>
  </p:cmAuthor>
  <p:cmAuthor id="4" name="Seth Earley" initials="SE" lastIdx="3" clrIdx="3">
    <p:extLst>
      <p:ext uri="{19B8F6BF-5375-455C-9EA6-DF929625EA0E}">
        <p15:presenceInfo xmlns:p15="http://schemas.microsoft.com/office/powerpoint/2012/main" userId="S::Seth@earley.com::628be45f-8d1c-4a33-a8fa-c54e490afe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F71"/>
    <a:srgbClr val="24455F"/>
    <a:srgbClr val="404040"/>
    <a:srgbClr val="239E70"/>
    <a:srgbClr val="753686"/>
    <a:srgbClr val="262626"/>
    <a:srgbClr val="A85BBD"/>
    <a:srgbClr val="05163E"/>
    <a:srgbClr val="FFFFFF"/>
    <a:srgbClr val="156082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0211B8-0A0E-84D3-E0B1-C1BAFEF619EC}" v="2" dt="2026-03-26T12:13:39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081" autoAdjust="0"/>
  </p:normalViewPr>
  <p:slideViewPr>
    <p:cSldViewPr snapToGrid="0">
      <p:cViewPr varScale="1">
        <p:scale>
          <a:sx n="121" d="100"/>
          <a:sy n="121" d="100"/>
        </p:scale>
        <p:origin x="198" y="312"/>
      </p:cViewPr>
      <p:guideLst>
        <p:guide orient="horz" pos="288"/>
        <p:guide orient="horz" pos="3984"/>
        <p:guide pos="408"/>
        <p:guide pos="7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gs" Target="tags/tag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er Afshar" userId="S::nader.afshar@stellantis-fs.com::ef14ed6e-8c34-42b1-8014-4f40650f3772" providerId="AD" clId="Web-{6D0211B8-0A0E-84D3-E0B1-C1BAFEF619EC}"/>
    <pc:docChg chg="mod modSld">
      <pc:chgData name="Nader Afshar" userId="S::nader.afshar@stellantis-fs.com::ef14ed6e-8c34-42b1-8014-4f40650f3772" providerId="AD" clId="Web-{6D0211B8-0A0E-84D3-E0B1-C1BAFEF619EC}" dt="2026-03-26T12:13:39.822" v="2" actId="14100"/>
      <pc:docMkLst>
        <pc:docMk/>
      </pc:docMkLst>
      <pc:sldChg chg="modSp">
        <pc:chgData name="Nader Afshar" userId="S::nader.afshar@stellantis-fs.com::ef14ed6e-8c34-42b1-8014-4f40650f3772" providerId="AD" clId="Web-{6D0211B8-0A0E-84D3-E0B1-C1BAFEF619EC}" dt="2026-03-26T12:13:39.822" v="2" actId="14100"/>
        <pc:sldMkLst>
          <pc:docMk/>
          <pc:sldMk cId="2890233967" sldId="302"/>
        </pc:sldMkLst>
        <pc:spChg chg="mod">
          <ac:chgData name="Nader Afshar" userId="S::nader.afshar@stellantis-fs.com::ef14ed6e-8c34-42b1-8014-4f40650f3772" providerId="AD" clId="Web-{6D0211B8-0A0E-84D3-E0B1-C1BAFEF619EC}" dt="2026-03-26T12:13:37.478" v="1" actId="14100"/>
          <ac:spMkLst>
            <pc:docMk/>
            <pc:sldMk cId="2890233967" sldId="302"/>
            <ac:spMk id="3" creationId="{538511FE-CFC7-4CAE-6C8B-8A1F9603FA09}"/>
          </ac:spMkLst>
        </pc:spChg>
        <pc:spChg chg="mod">
          <ac:chgData name="Nader Afshar" userId="S::nader.afshar@stellantis-fs.com::ef14ed6e-8c34-42b1-8014-4f40650f3772" providerId="AD" clId="Web-{6D0211B8-0A0E-84D3-E0B1-C1BAFEF619EC}" dt="2026-03-26T12:13:39.822" v="2" actId="14100"/>
          <ac:spMkLst>
            <pc:docMk/>
            <pc:sldMk cId="2890233967" sldId="302"/>
            <ac:spMk id="4" creationId="{AE2C7B95-4607-8AEB-D8E7-8FE22498C17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E11313-CFBF-4B66-B192-B28215B371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4286B-9068-4DFD-9B0D-59C4C92D8A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BAC482AC-6346-423C-90A8-3C22E14765EB}" type="datetimeFigureOut">
              <a:rPr lang="en-ID" smtClean="0"/>
              <a:t>26/03/2026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8A465-753D-42EC-B544-806967CCAB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D425F-8259-4636-8C48-509233582F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9EB6C80-C775-42A9-87D0-9A719D73488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89317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7199EB9-8828-4E68-8D3A-AE2B9C2D4520}" type="datetimeFigureOut">
              <a:rPr lang="en-ID" smtClean="0"/>
              <a:t>26/03/2026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F64B4C95-FA3F-40D3-8CB1-BB8A8D62E4F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137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A9659-CEA7-44A7-AD7C-4616BD5D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6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5"/>
              </a:lnSpc>
              <a:defRPr lang="en-ID" sz="5025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5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6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1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4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303B7-0D68-4CCD-8FD0-F257DEAEE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C4A0775-63A1-49C8-9090-9051237C2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E1DCC-3E3F-42B0-9B38-4AC25E2ABB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8E3F9A0-B674-4D41-88FB-A6EB05A51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0386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077702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1714500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85D560-2575-4B02-9616-F41EC3047A68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FB6C55E-035B-40B8-A41F-0C0B0C03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C778B5-6214-5AA8-0C70-963BDA5E3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79956" y="6368336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70734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293B93-E6CB-9ABF-70CB-2285E8EE05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281760" y="6454313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5135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7000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04516BB-D883-DA8C-B273-6FD9A2B150C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34896" y="6427787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59246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78130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D87187-6B18-6FE1-4B0E-F7E14609F5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511471" y="6454313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2210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k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3188B1-598D-4501-8738-2590601E0FD4}"/>
              </a:ext>
            </a:extLst>
          </p:cNvPr>
          <p:cNvSpPr/>
          <p:nvPr/>
        </p:nvSpPr>
        <p:spPr>
          <a:xfrm>
            <a:off x="0" y="0"/>
            <a:ext cx="12192000" cy="34418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58E796-D3D3-49D9-8DF2-2576D70B291B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CE16369-6DBF-4443-B97A-4DC346CFAB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8751" y="4300669"/>
            <a:ext cx="3890595" cy="218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b="0" smtClean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725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7217367-5936-48F6-BD04-5405C9D253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16050" y="3883770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800" b="1" i="0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3EDE36C-733D-4463-8558-8E97D3B9F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5560" y="6427788"/>
            <a:ext cx="437271" cy="365125"/>
          </a:xfrm>
          <a:prstGeom prst="rect">
            <a:avLst/>
          </a:prstGeom>
        </p:spPr>
        <p:txBody>
          <a:bodyPr anchor="ctr"/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50B3437-62A7-4BCF-A42A-7027ABAB2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8751" y="900724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800" b="1" i="0" cap="all" baseline="0" smtClean="0">
                <a:solidFill>
                  <a:schemeClr val="bg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C9C934-35AB-4BE9-97D2-1EBA3B07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1524510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1" strike="noStrike" spc="-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A9AB279-D182-4D5E-9852-1435963B9B8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E429DE-51DB-478B-BB6F-2EE4371D3DC9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879DA8F-1BA3-430F-A2F2-0B837F901367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1682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/ Cu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634" y="157986"/>
            <a:ext cx="599661" cy="599661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52FA05D2-4507-4086-07DB-3DBE345F1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5560" y="6427788"/>
            <a:ext cx="437271" cy="365125"/>
          </a:xfrm>
          <a:prstGeom prst="rect">
            <a:avLst/>
          </a:prstGeom>
        </p:spPr>
        <p:txBody>
          <a:bodyPr anchor="ctr"/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A1B6B22-9A09-C505-9376-160E5A1E4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67432" y="6476713"/>
            <a:ext cx="4248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0344981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563632" y="1241144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C1B829-300F-4FED-A942-3444F3C9C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364" y="282846"/>
            <a:ext cx="7102555" cy="687518"/>
          </a:xfrm>
          <a:ln w="12700">
            <a:miter lim="400000"/>
          </a:ln>
        </p:spPr>
        <p:txBody>
          <a:bodyPr lIns="45719" rIns="45719">
            <a:normAutofit/>
          </a:bodyPr>
          <a:lstStyle>
            <a:lvl1pPr>
              <a:def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>
              <a:spcBef>
                <a:spcPts val="1199"/>
              </a:spcBef>
              <a:buFontTx/>
            </a:pPr>
            <a:r>
              <a:rPr lang="en-US"/>
              <a:t>Click to edit title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431CE43E-2A1E-34A5-2D06-15B920179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7171" y="6441507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5AAAFE40-1E5D-20F7-1BDD-427F6B969DC6}"/>
              </a:ext>
            </a:extLst>
          </p:cNvPr>
          <p:cNvSpPr txBox="1">
            <a:spLocks/>
          </p:cNvSpPr>
          <p:nvPr userDrawn="1"/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6930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7" name="Slide Number Placeholder 16">
            <a:extLst>
              <a:ext uri="{FF2B5EF4-FFF2-40B4-BE49-F238E27FC236}">
                <a16:creationId xmlns:a16="http://schemas.microsoft.com/office/drawing/2014/main" id="{8E11733D-8612-33BF-572C-E8E204A7F8D6}"/>
              </a:ext>
            </a:extLst>
          </p:cNvPr>
          <p:cNvSpPr txBox="1">
            <a:spLocks/>
          </p:cNvSpPr>
          <p:nvPr userDrawn="1"/>
        </p:nvSpPr>
        <p:spPr>
          <a:xfrm>
            <a:off x="2795660" y="6508801"/>
            <a:ext cx="6600680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44" dirty="0">
                <a:solidFill>
                  <a:srgbClr val="40404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2026 Earley Information Science, Inc.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C6C770-0FAC-FE42-19D3-69CABCEF40BC}"/>
              </a:ext>
            </a:extLst>
          </p:cNvPr>
          <p:cNvCxnSpPr>
            <a:cxnSpLocks/>
          </p:cNvCxnSpPr>
          <p:nvPr userDrawn="1"/>
        </p:nvCxnSpPr>
        <p:spPr>
          <a:xfrm>
            <a:off x="3048" y="6320126"/>
            <a:ext cx="12188952" cy="0"/>
          </a:xfrm>
          <a:prstGeom prst="line">
            <a:avLst/>
          </a:prstGeom>
          <a:noFill/>
          <a:ln w="12700" cap="flat">
            <a:solidFill>
              <a:srgbClr val="24455F">
                <a:alpha val="20000"/>
              </a:srgb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866106-8B61-D176-143A-5F4B9ED0827C}"/>
              </a:ext>
            </a:extLst>
          </p:cNvPr>
          <p:cNvCxnSpPr>
            <a:cxnSpLocks/>
          </p:cNvCxnSpPr>
          <p:nvPr userDrawn="1"/>
        </p:nvCxnSpPr>
        <p:spPr>
          <a:xfrm>
            <a:off x="3048" y="6320126"/>
            <a:ext cx="12188952" cy="0"/>
          </a:xfrm>
          <a:prstGeom prst="line">
            <a:avLst/>
          </a:prstGeom>
          <a:noFill/>
          <a:ln w="12700" cap="flat">
            <a:solidFill>
              <a:schemeClr val="bg1">
                <a:alpha val="2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>
                    <a:lumMod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 dirty="0">
              <a:solidFill>
                <a:schemeClr val="bg1">
                  <a:lumMod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05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1DE516-9F5C-4BCD-9CDC-C910805622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" y="0"/>
            <a:ext cx="1216980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093755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4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FA7AF3-0843-4242-B96A-9A2CA1689FC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57BC6E0-54DB-42FD-B385-42278C5C5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F20BE4-ADC3-4FC8-B23E-5C07C17857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6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1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5"/>
              </a:lnSpc>
              <a:defRPr lang="en-ID" sz="5025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5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C718F19-CEB9-4A88-BA54-56829C730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132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41385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678986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7000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97418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78130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24905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195309"/>
            <a:ext cx="10515600" cy="5623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A435D41-0DD0-C7C1-4A04-224F8CAB2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6607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420E-C5AB-4C68-B8CD-22E8E4A52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FCA92-9F36-4F1B-946D-FBDB9521E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68939-378A-4D32-9711-9236DF0A35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74" y="1447803"/>
            <a:ext cx="10950792" cy="4633913"/>
          </a:xfrm>
        </p:spPr>
        <p:txBody>
          <a:bodyPr/>
          <a:lstStyle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5FCCE71-3398-3D8A-46BD-3BA65055F525}"/>
              </a:ext>
            </a:extLst>
          </p:cNvPr>
          <p:cNvSpPr txBox="1">
            <a:spLocks/>
          </p:cNvSpPr>
          <p:nvPr userDrawn="1"/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0E506-015C-44FA-8E41-5848CC402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4329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EB8C558-13B4-2D79-1395-8D21E8AD3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9951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508000" y="838200"/>
            <a:ext cx="1076960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06401" y="152400"/>
            <a:ext cx="1137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B4C0B9D-32D1-550B-7ED8-F9B093132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4466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498602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398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22239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1" y="273960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8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213539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826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1AB0CD-EDB0-4B7A-9307-1F323FB4234B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9A819A-ADEC-4587-B8D3-70356321758B}"/>
              </a:ext>
            </a:extLst>
          </p:cNvPr>
          <p:cNvSpPr>
            <a:spLocks/>
          </p:cNvSpPr>
          <p:nvPr userDrawn="1"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02240A-45D5-47FA-AE7D-6E30EA1A65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14" name="Rectangle 45">
            <a:extLst>
              <a:ext uri="{FF2B5EF4-FFF2-40B4-BE49-F238E27FC236}">
                <a16:creationId xmlns:a16="http://schemas.microsoft.com/office/drawing/2014/main" id="{1614CE4C-6AED-43A4-AF0A-E825A8F6E9D9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F7F43A-4477-44DB-A1CF-3C002A669571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D729B693-9349-41DB-BB01-89D56EC57C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2276" y="392831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0282640-11D5-431D-82A5-2D3E7D2FA4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80483" y="1223668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5EB3FD9-1880-4C3F-92C6-67497E4523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1" y="525909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111978170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ust a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6837768-A706-904D-39E2-8D30812F5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4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82B9A-51CA-C442-B72B-2822FC471C16}"/>
              </a:ext>
            </a:extLst>
          </p:cNvPr>
          <p:cNvSpPr/>
          <p:nvPr userDrawn="1"/>
        </p:nvSpPr>
        <p:spPr>
          <a:xfrm>
            <a:off x="-1" y="40540"/>
            <a:ext cx="4211645" cy="6405303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563632" y="1241144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C1B829-300F-4FED-A942-3444F3C9C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364" y="282846"/>
            <a:ext cx="7102555" cy="68751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3D2A3DE-8CE5-20A6-C3F9-C4B69601A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143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79083" y="1241144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8573785" y="276814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586534" y="1239006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99C370A8-AD59-FF46-A9F7-FE91DAE0C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AC21189-BD3E-402F-AAB3-A85845D42A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337" y="365126"/>
            <a:ext cx="7032012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/>
            </a:lvl1pPr>
            <a:lvl2pPr marL="182697" indent="0">
              <a:buNone/>
              <a:defRPr/>
            </a:lvl2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90FAD90-1BD6-BAD6-4318-805C0F7B5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03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left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516725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515450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532630" y="1241144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99C370A8-AD59-FF46-A9F7-FE91DAE0C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40DDC0-7544-47C7-B9E6-795067D543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33018" y="276225"/>
            <a:ext cx="5058281" cy="693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  <a:lvl2pPr marL="182697" indent="0">
              <a:buNone/>
              <a:defRPr/>
            </a:lvl2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9BD6BF9-2E75-E64E-65D4-1838CB98B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695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right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82B9A-51CA-C442-B72B-2822FC471C16}"/>
              </a:ext>
            </a:extLst>
          </p:cNvPr>
          <p:cNvSpPr/>
          <p:nvPr userDrawn="1"/>
        </p:nvSpPr>
        <p:spPr>
          <a:xfrm>
            <a:off x="6096000" y="0"/>
            <a:ext cx="6142546" cy="68580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516725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515450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532630" y="1241144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DDE38A-319B-4667-B0DB-84B53592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33018" y="276225"/>
            <a:ext cx="5058281" cy="693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/>
            </a:lvl1pPr>
            <a:lvl2pPr marL="182697" indent="0">
              <a:buNone/>
              <a:defRPr/>
            </a:lvl2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BEF609D-A286-173E-2477-D4331FBC6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9129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 userDrawn="1"/>
        </p:nvSpPr>
        <p:spPr>
          <a:xfrm>
            <a:off x="-31033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29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 userDrawn="1"/>
        </p:nvSpPr>
        <p:spPr>
          <a:xfrm rot="10800000">
            <a:off x="590427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 userDrawn="1"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 userDrawn="1"/>
        </p:nvSpPr>
        <p:spPr>
          <a:xfrm>
            <a:off x="609600" y="6507766"/>
            <a:ext cx="103276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www.earley.com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29" y="1427981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778259B-6C58-1014-72EC-248AC72B6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5869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 userDrawn="1"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33626" y="2506512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 userDrawn="1"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9" y="3751186"/>
            <a:ext cx="5177468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877425760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 userDrawn="1"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2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519747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208289027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 userDrawn="1"/>
        </p:nvSpPr>
        <p:spPr>
          <a:xfrm rot="10800000">
            <a:off x="-31029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2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519747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68433507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33" y="275271"/>
            <a:ext cx="11259334" cy="6935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6401" y="1086998"/>
            <a:ext cx="11480800" cy="50852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55C0C71-E13C-E6D2-94E6-A95E1DF9A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47937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394" y="195310"/>
            <a:ext cx="10515600" cy="5623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6394" y="1091954"/>
            <a:ext cx="10515600" cy="5105809"/>
          </a:xfrm>
        </p:spPr>
        <p:txBody>
          <a:bodyPr/>
          <a:lstStyle>
            <a:lvl1pPr marL="0" indent="0">
              <a:buNone/>
              <a:defRPr sz="2397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1598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398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398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398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DFA23B3-A9B5-8504-A871-7D2F176CE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CB500C5-FED8-485C-9349-92D63E2C71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955654"/>
            <a:ext cx="8425178" cy="603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3996"/>
              </a:lnSpc>
              <a:defRPr lang="en-ID" sz="3996" b="1" spc="-1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63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FB8E6BB7-C815-4EDD-B768-A91431264F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587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AC94736-0536-4747-BA8B-2455829176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7732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A642A97-0529-49E2-A94E-3795AAA7F2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9589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B56D1-2B97-44E0-8947-643B79DDFE97}"/>
              </a:ext>
            </a:extLst>
          </p:cNvPr>
          <p:cNvSpPr txBox="1"/>
          <p:nvPr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320580-809D-43A4-A53A-A65CD022DBF3}"/>
              </a:ext>
            </a:extLst>
          </p:cNvPr>
          <p:cNvCxnSpPr/>
          <p:nvPr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984160D-B2AE-418A-A69C-6CC9D17218CF}"/>
              </a:ext>
            </a:extLst>
          </p:cNvPr>
          <p:cNvSpPr/>
          <p:nvPr userDrawn="1"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C5CAB1-FC05-47B9-811C-C74EA10794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78FF83E-3480-4E82-A886-A7BB58A96D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31395A-9AE4-425E-9FCF-0659C58FC3D5}"/>
              </a:ext>
            </a:extLst>
          </p:cNvPr>
          <p:cNvSpPr txBox="1"/>
          <p:nvPr userDrawn="1"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891FC5-03A1-41EA-9690-DF78F78C975E}"/>
              </a:ext>
            </a:extLst>
          </p:cNvPr>
          <p:cNvCxnSpPr/>
          <p:nvPr userDrawn="1"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53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A9659-CEA7-44A7-AD7C-4616BD5D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303B7-0D68-4CCD-8FD0-F257DEAEE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C4A0775-63A1-49C8-9090-9051237C2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E1DCC-3E3F-42B0-9B38-4AC25E2ABB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8E3F9A0-B674-4D41-88FB-A6EB05A51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48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96">
                <a:solidFill>
                  <a:schemeClr val="tx1"/>
                </a:solidFill>
              </a:defRPr>
            </a:lvl1pPr>
            <a:lvl2pPr>
              <a:defRPr sz="3197">
                <a:solidFill>
                  <a:schemeClr val="tx1"/>
                </a:solidFill>
              </a:defRPr>
            </a:lvl2pPr>
            <a:lvl3pPr>
              <a:defRPr sz="2797">
                <a:solidFill>
                  <a:schemeClr val="tx1"/>
                </a:solidFill>
              </a:defRPr>
            </a:lvl3pPr>
            <a:lvl4pPr>
              <a:defRPr sz="2398">
                <a:solidFill>
                  <a:schemeClr val="tx1"/>
                </a:solidFill>
              </a:defRPr>
            </a:lvl4pPr>
            <a:lvl5pPr>
              <a:defRPr sz="2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D14FE66-2B2E-96DB-05E0-B12764CAE55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484343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190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077704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398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1714500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85D560-2575-4B02-9616-F41EC3047A68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FB6C55E-035B-40B8-A41F-0C0B0C03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C778B5-6214-5AA8-0C70-963BDA5E3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986207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35374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293B93-E6CB-9ABF-70CB-2285E8EE05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22293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1377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7001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04516BB-D883-DA8C-B273-6FD9A2B150C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41214" y="6427789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8279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78132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D87187-6B18-6FE1-4B0E-F7E14609F5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82657" y="6492875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58952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5B23803-6759-F52D-2F95-0395C5B2E136}"/>
              </a:ext>
            </a:extLst>
          </p:cNvPr>
          <p:cNvSpPr txBox="1">
            <a:spLocks/>
          </p:cNvSpPr>
          <p:nvPr userDrawn="1"/>
        </p:nvSpPr>
        <p:spPr>
          <a:xfrm>
            <a:off x="11135796" y="6330587"/>
            <a:ext cx="524434" cy="365125"/>
          </a:xfrm>
          <a:prstGeom prst="rect">
            <a:avLst/>
          </a:prstGeom>
        </p:spPr>
        <p:txBody>
          <a:bodyPr vert="horz" lIns="91345" tIns="45672" rIns="91345" bIns="45672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797EF2B-C9D2-F148-903A-0D726181440A}" type="slidenum">
              <a:rPr lang="en-US" sz="1099" smtClean="0"/>
              <a:pPr/>
              <a:t>‹#›</a:t>
            </a:fld>
            <a:endParaRPr lang="en-US" sz="1099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DB8B971-1CC3-A756-D08A-6D49213F3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14282" y="6411667"/>
            <a:ext cx="4248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9" b="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67540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6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8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563633" y="1241146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C1B829-300F-4FED-A942-3444F3C9C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365" y="282846"/>
            <a:ext cx="7102555" cy="687518"/>
          </a:xfrm>
          <a:ln w="12700">
            <a:miter lim="400000"/>
          </a:ln>
        </p:spPr>
        <p:txBody>
          <a:bodyPr lIns="45719" rIns="45719">
            <a:normAutofit/>
          </a:bodyPr>
          <a:lstStyle>
            <a:lvl1pPr>
              <a:defRPr lang="en-US" sz="239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>
              <a:spcBef>
                <a:spcPts val="1198"/>
              </a:spcBef>
              <a:buFontTx/>
            </a:pPr>
            <a:r>
              <a:rPr lang="en-US"/>
              <a:t>Click to edit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464B2-8D6B-4BCE-60F3-CEDD78C60324}"/>
              </a:ext>
            </a:extLst>
          </p:cNvPr>
          <p:cNvSpPr/>
          <p:nvPr userDrawn="1"/>
        </p:nvSpPr>
        <p:spPr>
          <a:xfrm>
            <a:off x="4563633" y="6502628"/>
            <a:ext cx="364234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99" b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rPr>
              <a:t>Copyright © 2026 Earley Information Science, Inc.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2189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CB500C5-FED8-485C-9349-92D63E2C71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955654"/>
            <a:ext cx="8425178" cy="603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3996"/>
              </a:lnSpc>
              <a:defRPr lang="en-ID" sz="3996" b="1" spc="-1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63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FB8E6BB7-C815-4EDD-B768-A91431264F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587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AC94736-0536-4747-BA8B-2455829176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7732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A642A97-0529-49E2-A94E-3795AAA7F2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9589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B56D1-2B97-44E0-8947-643B79DDFE97}"/>
              </a:ext>
            </a:extLst>
          </p:cNvPr>
          <p:cNvSpPr txBox="1"/>
          <p:nvPr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320580-809D-43A4-A53A-A65CD022DBF3}"/>
              </a:ext>
            </a:extLst>
          </p:cNvPr>
          <p:cNvCxnSpPr/>
          <p:nvPr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984160D-B2AE-418A-A69C-6CC9D17218CF}"/>
              </a:ext>
            </a:extLst>
          </p:cNvPr>
          <p:cNvSpPr/>
          <p:nvPr userDrawn="1"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C5CAB1-FC05-47B9-811C-C74EA10794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78FF83E-3480-4E82-A886-A7BB58A96D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31395A-9AE4-425E-9FCF-0659C58FC3D5}"/>
              </a:ext>
            </a:extLst>
          </p:cNvPr>
          <p:cNvSpPr txBox="1"/>
          <p:nvPr userDrawn="1"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891FC5-03A1-41EA-9690-DF78F78C975E}"/>
              </a:ext>
            </a:extLst>
          </p:cNvPr>
          <p:cNvCxnSpPr/>
          <p:nvPr userDrawn="1"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9386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1DE516-9F5C-4BCD-9CDC-C910805622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" y="0"/>
            <a:ext cx="1216980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093757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FA7AF3-0843-4242-B96A-9A2CA1689FC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57BC6E0-54DB-42FD-B385-42278C5C5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F20BE4-ADC3-4FC8-B23E-5C07C17857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C718F19-CEB9-4A88-BA54-56829C730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959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EFF4AA31-DA6D-45A8-A646-3204EF8D86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080000"/>
            <a:ext cx="12192000" cy="179811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CC7630E-F1DC-415D-82E0-25D6FAB1B1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7C98DE-92E7-4233-8FA0-0781E908AC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AE5C174-1402-4DCE-8CCB-A0F5500249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78CC2B-9055-4B8C-9176-3B628FA6B5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2785F1A-057A-4ED3-8529-64CA102480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7773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A9659-CEA7-44A7-AD7C-4616BD5D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303B7-0D68-4CCD-8FD0-F257DEAEE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C4A0775-63A1-49C8-9090-9051237C2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E1DCC-3E3F-42B0-9B38-4AC25E2ABB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8E3F9A0-B674-4D41-88FB-A6EB05A51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2293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96">
                <a:solidFill>
                  <a:schemeClr val="tx1"/>
                </a:solidFill>
              </a:defRPr>
            </a:lvl1pPr>
            <a:lvl2pPr>
              <a:defRPr sz="3197">
                <a:solidFill>
                  <a:schemeClr val="tx1"/>
                </a:solidFill>
              </a:defRPr>
            </a:lvl2pPr>
            <a:lvl3pPr>
              <a:defRPr sz="2797">
                <a:solidFill>
                  <a:schemeClr val="tx1"/>
                </a:solidFill>
              </a:defRPr>
            </a:lvl3pPr>
            <a:lvl4pPr>
              <a:defRPr sz="2398">
                <a:solidFill>
                  <a:schemeClr val="tx1"/>
                </a:solidFill>
              </a:defRPr>
            </a:lvl4pPr>
            <a:lvl5pPr>
              <a:defRPr sz="2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D14FE66-2B2E-96DB-05E0-B12764CAE55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218682" y="6487242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0585267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077704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398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1714500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85D560-2575-4B02-9616-F41EC3047A68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FB6C55E-035B-40B8-A41F-0C0B0C03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C778B5-6214-5AA8-0C70-963BDA5E3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98861" y="6427789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060556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293B93-E6CB-9ABF-70CB-2285E8EE05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94356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8664964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7001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04516BB-D883-DA8C-B273-6FD9A2B150C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589338" y="6492875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848156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78132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D87187-6B18-6FE1-4B0E-F7E14609F5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58329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834790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k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3188B1-598D-4501-8738-2590601E0FD4}"/>
              </a:ext>
            </a:extLst>
          </p:cNvPr>
          <p:cNvSpPr/>
          <p:nvPr/>
        </p:nvSpPr>
        <p:spPr>
          <a:xfrm>
            <a:off x="0" y="2"/>
            <a:ext cx="12192000" cy="34418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58E796-D3D3-49D9-8DF2-2576D70B291B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CE16369-6DBF-4443-B97A-4DC346CFAB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8751" y="4300669"/>
            <a:ext cx="3890595" cy="218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0" smtClean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723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7217367-5936-48F6-BD04-5405C9D253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16050" y="3883772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798" b="1" i="0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3EDE36C-733D-4463-8558-8E97D3B9F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5561" y="6427790"/>
            <a:ext cx="437271" cy="365125"/>
          </a:xfrm>
          <a:prstGeom prst="rect">
            <a:avLst/>
          </a:prstGeom>
        </p:spPr>
        <p:txBody>
          <a:bodyPr anchor="ctr"/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50B3437-62A7-4BCF-A42A-7027ABAB2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8751" y="900725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798" b="1" i="0" cap="all" baseline="0" smtClean="0">
                <a:solidFill>
                  <a:schemeClr val="bg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C9C934-35AB-4BE9-97D2-1EBA3B07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1" y="1524512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1" strike="noStrike" spc="-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A9AB279-D182-4D5E-9852-1435963B9B8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E429DE-51DB-478B-BB6F-2EE4371D3DC9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879DA8F-1BA3-430F-A2F2-0B837F901367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623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21" Type="http://schemas.openxmlformats.org/officeDocument/2006/relationships/image" Target="../media/image19.jpeg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A593B-4253-40F8-AF57-7D72369F820F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F71C-0E8A-44B9-99FD-8E7FC46DFF8C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B685D-FBBC-4A2C-9566-045A74B65FA3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7171" y="6441507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6174CD8-97A7-1979-1F46-1A0D61FB754A}"/>
              </a:ext>
            </a:extLst>
          </p:cNvPr>
          <p:cNvSpPr txBox="1">
            <a:spLocks/>
          </p:cNvSpPr>
          <p:nvPr userDrawn="1"/>
        </p:nvSpPr>
        <p:spPr>
          <a:xfrm>
            <a:off x="8382155" y="6441507"/>
            <a:ext cx="205912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www.earley.com</a:t>
            </a:r>
          </a:p>
        </p:txBody>
      </p:sp>
    </p:spTree>
    <p:extLst>
      <p:ext uri="{BB962C8B-B14F-4D97-AF65-F5344CB8AC3E}">
        <p14:creationId xmlns:p14="http://schemas.microsoft.com/office/powerpoint/2010/main" val="1611615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1" r:id="rId1"/>
    <p:sldLayoutId id="2147484273" r:id="rId2"/>
    <p:sldLayoutId id="2147484274" r:id="rId3"/>
    <p:sldLayoutId id="2147484275" r:id="rId4"/>
    <p:sldLayoutId id="2147484276" r:id="rId5"/>
    <p:sldLayoutId id="2147484280" r:id="rId6"/>
    <p:sldLayoutId id="2147484353" r:id="rId7"/>
    <p:sldLayoutId id="2147484775" r:id="rId8"/>
    <p:sldLayoutId id="214748560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A593B-4253-40F8-AF57-7D72369F820F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F71C-0E8A-44B9-99FD-8E7FC46DFF8C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B685D-FBBC-4A2C-9566-045A74B65FA3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59B2844-0650-B41A-2795-1969717E760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6" y="6449080"/>
            <a:ext cx="1073150" cy="319045"/>
          </a:xfrm>
          <a:prstGeom prst="rect">
            <a:avLst/>
          </a:prstGeom>
        </p:spPr>
      </p:pic>
      <p:sp>
        <p:nvSpPr>
          <p:cNvPr id="4" name="Slide Number Placeholder 16">
            <a:extLst>
              <a:ext uri="{FF2B5EF4-FFF2-40B4-BE49-F238E27FC236}">
                <a16:creationId xmlns:a16="http://schemas.microsoft.com/office/drawing/2014/main" id="{69625882-F612-E944-6079-71089F5D23D6}"/>
              </a:ext>
            </a:extLst>
          </p:cNvPr>
          <p:cNvSpPr txBox="1">
            <a:spLocks/>
          </p:cNvSpPr>
          <p:nvPr userDrawn="1"/>
        </p:nvSpPr>
        <p:spPr>
          <a:xfrm>
            <a:off x="3133808" y="6608599"/>
            <a:ext cx="3809380" cy="1595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144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rPr>
              <a:t>© 2026 Earley Information Science, Inc.</a:t>
            </a:r>
          </a:p>
        </p:txBody>
      </p:sp>
      <p:sp>
        <p:nvSpPr>
          <p:cNvPr id="12" name="Slide Number Placeholder 16">
            <a:extLst>
              <a:ext uri="{FF2B5EF4-FFF2-40B4-BE49-F238E27FC236}">
                <a16:creationId xmlns:a16="http://schemas.microsoft.com/office/drawing/2014/main" id="{0A702CBB-EB4F-AE1C-253B-26F7419CF97E}"/>
              </a:ext>
            </a:extLst>
          </p:cNvPr>
          <p:cNvSpPr txBox="1">
            <a:spLocks/>
          </p:cNvSpPr>
          <p:nvPr userDrawn="1"/>
        </p:nvSpPr>
        <p:spPr>
          <a:xfrm>
            <a:off x="7302604" y="6542945"/>
            <a:ext cx="3809380" cy="1595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144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rPr>
              <a:t>www.earley.com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0329447-A4F0-5F14-8A33-702A36045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8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77" r:id="rId1"/>
    <p:sldLayoutId id="2147484778" r:id="rId2"/>
    <p:sldLayoutId id="2147484779" r:id="rId3"/>
    <p:sldLayoutId id="2147484780" r:id="rId4"/>
    <p:sldLayoutId id="2147484781" r:id="rId5"/>
    <p:sldLayoutId id="2147484782" r:id="rId6"/>
    <p:sldLayoutId id="2147484783" r:id="rId7"/>
    <p:sldLayoutId id="2147484786" r:id="rId8"/>
    <p:sldLayoutId id="2147484787" r:id="rId9"/>
    <p:sldLayoutId id="2147484791" r:id="rId10"/>
    <p:sldLayoutId id="2147484798" r:id="rId11"/>
    <p:sldLayoutId id="2147484799" r:id="rId12"/>
    <p:sldLayoutId id="2147484801" r:id="rId13"/>
    <p:sldLayoutId id="2147484802" r:id="rId14"/>
    <p:sldLayoutId id="2147484803" r:id="rId15"/>
    <p:sldLayoutId id="2147484804" r:id="rId16"/>
    <p:sldLayoutId id="2147484805" r:id="rId17"/>
    <p:sldLayoutId id="2147484808" r:id="rId18"/>
    <p:sldLayoutId id="2147484811" r:id="rId19"/>
    <p:sldLayoutId id="2147484812" r:id="rId20"/>
    <p:sldLayoutId id="2147484814" r:id="rId21"/>
    <p:sldLayoutId id="2147485394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2" orient="horz" pos="296">
          <p15:clr>
            <a:srgbClr val="F26B43"/>
          </p15:clr>
        </p15:guide>
        <p15:guide id="23" orient="horz" pos="4016">
          <p15:clr>
            <a:srgbClr val="F26B43"/>
          </p15:clr>
        </p15:guide>
        <p15:guide id="24" pos="536">
          <p15:clr>
            <a:srgbClr val="F26B43"/>
          </p15:clr>
        </p15:guide>
        <p15:guide id="25" pos="7136">
          <p15:clr>
            <a:srgbClr val="F26B43"/>
          </p15:clr>
        </p15:guide>
        <p15:guide id="26" orient="horz" pos="728">
          <p15:clr>
            <a:srgbClr val="F26B43"/>
          </p15:clr>
        </p15:guide>
        <p15:guide id="27" orient="horz" pos="944">
          <p15:clr>
            <a:srgbClr val="F26B43"/>
          </p15:clr>
        </p15:guide>
        <p15:guide id="28" orient="horz" pos="38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A593B-4253-40F8-AF57-7D72369F820F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598"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F71C-0E8A-44B9-99FD-8E7FC46DFF8C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598"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B685D-FBBC-4A2C-9566-045A74B65FA3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598">
              <a:latin typeface="Gill Sans MT" panose="020B0502020104020203" pitchFamily="34" charset="0"/>
            </a:endParaRPr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A5D154EE-E42A-C041-7557-535578365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202" y="6446434"/>
            <a:ext cx="282576" cy="3243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34D1D16-6E02-C7AD-813F-20F9FA8EA42A}"/>
              </a:ext>
            </a:extLst>
          </p:cNvPr>
          <p:cNvSpPr/>
          <p:nvPr userDrawn="1"/>
        </p:nvSpPr>
        <p:spPr>
          <a:xfrm>
            <a:off x="545758" y="6469070"/>
            <a:ext cx="1055096" cy="2460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99" b="0">
                <a:solidFill>
                  <a:schemeClr val="tx1"/>
                </a:solidFill>
                <a:latin typeface="+mn-lt"/>
                <a:ea typeface="Arial" charset="0"/>
                <a:cs typeface="Arial" charset="0"/>
              </a:rPr>
              <a:t>www.earley.com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66279" y="6405647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45C7245-2463-8118-45D3-99375F1DD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74780-713E-161A-505C-AA2F68F9497C}"/>
              </a:ext>
            </a:extLst>
          </p:cNvPr>
          <p:cNvSpPr txBox="1">
            <a:spLocks/>
          </p:cNvSpPr>
          <p:nvPr userDrawn="1"/>
        </p:nvSpPr>
        <p:spPr>
          <a:xfrm>
            <a:off x="8382155" y="6441507"/>
            <a:ext cx="205912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www.earley.com</a:t>
            </a:r>
          </a:p>
        </p:txBody>
      </p:sp>
    </p:spTree>
    <p:extLst>
      <p:ext uri="{BB962C8B-B14F-4D97-AF65-F5344CB8AC3E}">
        <p14:creationId xmlns:p14="http://schemas.microsoft.com/office/powerpoint/2010/main" val="146991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84" r:id="rId1"/>
    <p:sldLayoutId id="2147485487" r:id="rId2"/>
    <p:sldLayoutId id="2147485488" r:id="rId3"/>
    <p:sldLayoutId id="2147485489" r:id="rId4"/>
    <p:sldLayoutId id="2147485490" r:id="rId5"/>
    <p:sldLayoutId id="2147485491" r:id="rId6"/>
    <p:sldLayoutId id="2147485492" r:id="rId7"/>
    <p:sldLayoutId id="2147485498" r:id="rId8"/>
    <p:sldLayoutId id="2147485499" r:id="rId9"/>
    <p:sldLayoutId id="2147485500" r:id="rId10"/>
    <p:sldLayoutId id="2147485501" r:id="rId11"/>
    <p:sldLayoutId id="2147485502" r:id="rId12"/>
    <p:sldLayoutId id="2147485503" r:id="rId13"/>
    <p:sldLayoutId id="2147485504" r:id="rId14"/>
    <p:sldLayoutId id="2147485505" r:id="rId15"/>
    <p:sldLayoutId id="2147485506" r:id="rId16"/>
    <p:sldLayoutId id="2147485507" r:id="rId17"/>
    <p:sldLayoutId id="2147485508" r:id="rId18"/>
    <p:sldLayoutId id="2147485511" r:id="rId19"/>
  </p:sldLayoutIdLst>
  <p:hf hdr="0" ftr="0" dt="0"/>
  <p:txStyles>
    <p:titleStyle>
      <a:lvl1pPr algn="l" defTabSz="913486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1" indent="-228371" algn="l" defTabSz="91348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857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600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343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085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828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571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3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86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228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714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457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20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942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2" orient="horz" pos="296">
          <p15:clr>
            <a:srgbClr val="F26B43"/>
          </p15:clr>
        </p15:guide>
        <p15:guide id="23" orient="horz" pos="4016">
          <p15:clr>
            <a:srgbClr val="F26B43"/>
          </p15:clr>
        </p15:guide>
        <p15:guide id="24" pos="536">
          <p15:clr>
            <a:srgbClr val="F26B43"/>
          </p15:clr>
        </p15:guide>
        <p15:guide id="25" pos="7136">
          <p15:clr>
            <a:srgbClr val="F26B43"/>
          </p15:clr>
        </p15:guide>
        <p15:guide id="26" orient="horz" pos="728">
          <p15:clr>
            <a:srgbClr val="F26B43"/>
          </p15:clr>
        </p15:guide>
        <p15:guide id="27" orient="horz" pos="944">
          <p15:clr>
            <a:srgbClr val="F26B43"/>
          </p15:clr>
        </p15:guide>
        <p15:guide id="28" orient="horz" pos="38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10F4-F70A-CE4A-3AEF-82DF8923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EFC86A-273B-3F0A-2085-F5056D69F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3528D5-C0E3-59E7-7653-3DD87A459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FFD0CB-E3C8-4E7A-E831-FF1160DB0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9C35BD96-4D7A-CC37-4E74-A70740651D4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35" y="424891"/>
            <a:ext cx="2005263" cy="595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1220B0-DF04-7753-AF60-AACCCEE09792}"/>
              </a:ext>
            </a:extLst>
          </p:cNvPr>
          <p:cNvSpPr txBox="1"/>
          <p:nvPr/>
        </p:nvSpPr>
        <p:spPr>
          <a:xfrm>
            <a:off x="814223" y="1810486"/>
            <a:ext cx="7256438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oppins ExtraBold" panose="00000900000000000000" pitchFamily="2" charset="0"/>
                <a:ea typeface="Montserrat Medium"/>
                <a:cs typeface="Poppins ExtraBold" panose="00000900000000000000" pitchFamily="2" charset="0"/>
                <a:sym typeface="Montserrat Medium"/>
              </a:defRPr>
            </a:lvl1pPr>
            <a:lvl2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latin typeface="Poppins Bold" panose="00000800000000000000" pitchFamily="2" charset="0"/>
                <a:cs typeface="Poppins Bold" panose="00000800000000000000" pitchFamily="2" charset="0"/>
              </a:rPr>
              <a:t>STELLANTIS Financial Services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Poppins Bold" panose="00000800000000000000" pitchFamily="2" charset="0"/>
                <a:cs typeface="Poppins Bold" panose="00000800000000000000" pitchFamily="2" charset="0"/>
              </a:rPr>
              <a:t>AI Maturity, Themes &amp; Findings</a:t>
            </a: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CE282594-16D6-A5F2-42DD-C4069ED1E19E}"/>
              </a:ext>
            </a:extLst>
          </p:cNvPr>
          <p:cNvSpPr txBox="1">
            <a:spLocks/>
          </p:cNvSpPr>
          <p:nvPr/>
        </p:nvSpPr>
        <p:spPr>
          <a:xfrm>
            <a:off x="11725276" y="6567488"/>
            <a:ext cx="460375" cy="239712"/>
          </a:xfrm>
          <a:prstGeom prst="rect">
            <a:avLst/>
          </a:prstGeom>
        </p:spPr>
        <p:txBody>
          <a:bodyPr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hangingPunct="0">
              <a:defRPr/>
            </a:pPr>
            <a:fld id="{86CB4B4D-7CA3-9044-876B-883B54F8677D}" type="slidenum">
              <a:rPr lang="en-US" sz="900" kern="0" smtClean="0">
                <a:solidFill>
                  <a:srgbClr val="072941"/>
                </a:solidFill>
                <a:cs typeface="Calibri" panose="020F0502020204030204" pitchFamily="34" charset="0"/>
                <a:sym typeface="Helvetica Neue"/>
              </a:rPr>
              <a:pPr algn="l" hangingPunct="0">
                <a:defRPr/>
              </a:pPr>
              <a:t>1</a:t>
            </a:fld>
            <a:endParaRPr lang="en-US" sz="900" kern="0">
              <a:solidFill>
                <a:srgbClr val="072941"/>
              </a:solidFill>
              <a:cs typeface="Calibri" panose="020F0502020204030204" pitchFamily="34" charset="0"/>
              <a:sym typeface="Helvetica Neue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874A88-2B3A-8975-1013-FC280B39894E}"/>
              </a:ext>
            </a:extLst>
          </p:cNvPr>
          <p:cNvGrpSpPr/>
          <p:nvPr/>
        </p:nvGrpSpPr>
        <p:grpSpPr>
          <a:xfrm>
            <a:off x="8778251" y="6037396"/>
            <a:ext cx="3375020" cy="820604"/>
            <a:chOff x="7072486" y="5797683"/>
            <a:chExt cx="3375020" cy="820604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C134C69C-3F7E-BA6F-1469-347A68C4202D}"/>
                </a:ext>
              </a:extLst>
            </p:cNvPr>
            <p:cNvSpPr/>
            <p:nvPr/>
          </p:nvSpPr>
          <p:spPr>
            <a:xfrm rot="16200000">
              <a:off x="7109418" y="5760752"/>
              <a:ext cx="820603" cy="894467"/>
            </a:xfrm>
            <a:prstGeom prst="rtTriangl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90DF73-F7AF-1D38-34B3-6F1057095116}"/>
                </a:ext>
              </a:extLst>
            </p:cNvPr>
            <p:cNvSpPr/>
            <p:nvPr/>
          </p:nvSpPr>
          <p:spPr>
            <a:xfrm>
              <a:off x="7966953" y="5797683"/>
              <a:ext cx="2480553" cy="820604"/>
            </a:xfrm>
            <a:prstGeom prst="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rPr>
                <a:t>Prepared</a:t>
              </a: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rPr>
                <a:t>exclusively for: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25F82BD8-A0FF-DFEC-29BA-AE9AEAA74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7104" y="6190003"/>
            <a:ext cx="1362357" cy="515389"/>
          </a:xfrm>
          <a:prstGeom prst="rect">
            <a:avLst/>
          </a:prstGeom>
        </p:spPr>
      </p:pic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7B7B5A2-671A-2BA2-C476-EC38F6CE9F5D}"/>
              </a:ext>
            </a:extLst>
          </p:cNvPr>
          <p:cNvSpPr txBox="1">
            <a:spLocks/>
          </p:cNvSpPr>
          <p:nvPr/>
        </p:nvSpPr>
        <p:spPr>
          <a:xfrm>
            <a:off x="6096001" y="1636296"/>
            <a:ext cx="4613642" cy="1644259"/>
          </a:xfrm>
        </p:spPr>
        <p:txBody>
          <a:bodyPr lIns="45719" tIns="45720" rIns="45719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40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60B8F3-EF6F-1ED7-AC0C-2FB873D88083}"/>
              </a:ext>
            </a:extLst>
          </p:cNvPr>
          <p:cNvSpPr txBox="1"/>
          <p:nvPr/>
        </p:nvSpPr>
        <p:spPr>
          <a:xfrm>
            <a:off x="601968" y="315258"/>
            <a:ext cx="9205768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oppins ExtraBold" panose="00000900000000000000" pitchFamily="2" charset="0"/>
                <a:ea typeface="Montserrat Medium"/>
                <a:cs typeface="Poppins ExtraBold" panose="00000900000000000000" pitchFamily="2" charset="0"/>
                <a:sym typeface="Montserrat Medium"/>
              </a:defRPr>
            </a:lvl1pPr>
            <a:lvl2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indent="0" defTabSz="82550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600" b="0" i="0" u="none" strike="noStrike" cap="none" spc="0" normalizeH="0" baseline="0">
                <a:ln>
                  <a:noFill/>
                </a:ln>
                <a:solidFill>
                  <a:srgbClr val="141417"/>
                </a:solidFill>
                <a:effectLst/>
                <a:uFillTx/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4455F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AI Readiness</a:t>
            </a:r>
          </a:p>
        </p:txBody>
      </p:sp>
      <p:pic>
        <p:nvPicPr>
          <p:cNvPr id="110" name="Picture 10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BEECB93-8A71-1E4E-13F5-078457AFC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111" name="Slide Number Placeholder 16">
            <a:extLst>
              <a:ext uri="{FF2B5EF4-FFF2-40B4-BE49-F238E27FC236}">
                <a16:creationId xmlns:a16="http://schemas.microsoft.com/office/drawing/2014/main" id="{2C891A0E-B0E9-A2D7-BDCA-35C6FCAC5E2E}"/>
              </a:ext>
            </a:extLst>
          </p:cNvPr>
          <p:cNvSpPr txBox="1">
            <a:spLocks/>
          </p:cNvSpPr>
          <p:nvPr/>
        </p:nvSpPr>
        <p:spPr>
          <a:xfrm>
            <a:off x="2795660" y="6508801"/>
            <a:ext cx="6600680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44" dirty="0">
                <a:solidFill>
                  <a:srgbClr val="40404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2026 Earley Information Science, Inc.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2CF7ABC-28E6-53CF-AB0C-ACAFCA94DC07}"/>
              </a:ext>
            </a:extLst>
          </p:cNvPr>
          <p:cNvCxnSpPr>
            <a:cxnSpLocks/>
          </p:cNvCxnSpPr>
          <p:nvPr/>
        </p:nvCxnSpPr>
        <p:spPr>
          <a:xfrm>
            <a:off x="3048" y="6320126"/>
            <a:ext cx="12188952" cy="0"/>
          </a:xfrm>
          <a:prstGeom prst="line">
            <a:avLst/>
          </a:prstGeom>
          <a:noFill/>
          <a:ln w="12700" cap="flat">
            <a:solidFill>
              <a:srgbClr val="24455F">
                <a:alpha val="20000"/>
              </a:srgb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1F428C2-461F-98CD-E322-C4EEE570FB41}"/>
              </a:ext>
            </a:extLst>
          </p:cNvPr>
          <p:cNvCxnSpPr>
            <a:cxnSpLocks/>
          </p:cNvCxnSpPr>
          <p:nvPr/>
        </p:nvCxnSpPr>
        <p:spPr>
          <a:xfrm>
            <a:off x="3048" y="6320126"/>
            <a:ext cx="12188952" cy="0"/>
          </a:xfrm>
          <a:prstGeom prst="line">
            <a:avLst/>
          </a:prstGeom>
          <a:noFill/>
          <a:ln w="12700" cap="flat">
            <a:solidFill>
              <a:schemeClr val="bg1">
                <a:alpha val="2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1A280B9-68DC-BCCC-527D-D174ED7AF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374770"/>
              </p:ext>
            </p:extLst>
          </p:nvPr>
        </p:nvGraphicFramePr>
        <p:xfrm>
          <a:off x="740924" y="1160522"/>
          <a:ext cx="10515600" cy="11194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131350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706833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064743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3346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3200" dirty="0">
                          <a:effectLst/>
                        </a:rPr>
                        <a:t>51%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72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Overall Readiness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95250" marB="952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3200" dirty="0">
                          <a:effectLst/>
                        </a:rPr>
                        <a:t>66%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72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Governance (Strength)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95250" marB="95250">
                    <a:solidFill>
                      <a:srgbClr val="249F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3200" dirty="0">
                          <a:effectLst/>
                        </a:rPr>
                        <a:t>43%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72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Knowledge Readiness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95250" marB="9525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3200" dirty="0">
                          <a:effectLst/>
                        </a:rPr>
                        <a:t>43%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72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Operational Readiness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95250" marB="9525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3195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2B66D02-9778-8C09-5A7B-7DC21A528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86152"/>
              </p:ext>
            </p:extLst>
          </p:nvPr>
        </p:nvGraphicFramePr>
        <p:xfrm>
          <a:off x="838200" y="3180620"/>
          <a:ext cx="10515601" cy="22414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50895">
                  <a:extLst>
                    <a:ext uri="{9D8B030D-6E8A-4147-A177-3AD203B41FA5}">
                      <a16:colId xmlns:a16="http://schemas.microsoft.com/office/drawing/2014/main" val="515912845"/>
                    </a:ext>
                  </a:extLst>
                </a:gridCol>
                <a:gridCol w="1660358">
                  <a:extLst>
                    <a:ext uri="{9D8B030D-6E8A-4147-A177-3AD203B41FA5}">
                      <a16:colId xmlns:a16="http://schemas.microsoft.com/office/drawing/2014/main" val="1306179185"/>
                    </a:ext>
                  </a:extLst>
                </a:gridCol>
                <a:gridCol w="1383632">
                  <a:extLst>
                    <a:ext uri="{9D8B030D-6E8A-4147-A177-3AD203B41FA5}">
                      <a16:colId xmlns:a16="http://schemas.microsoft.com/office/drawing/2014/main" val="467236271"/>
                    </a:ext>
                  </a:extLst>
                </a:gridCol>
                <a:gridCol w="1660358">
                  <a:extLst>
                    <a:ext uri="{9D8B030D-6E8A-4147-A177-3AD203B41FA5}">
                      <a16:colId xmlns:a16="http://schemas.microsoft.com/office/drawing/2014/main" val="335009842"/>
                    </a:ext>
                  </a:extLst>
                </a:gridCol>
                <a:gridCol w="1660358">
                  <a:extLst>
                    <a:ext uri="{9D8B030D-6E8A-4147-A177-3AD203B41FA5}">
                      <a16:colId xmlns:a16="http://schemas.microsoft.com/office/drawing/2014/main" val="817535686"/>
                    </a:ext>
                  </a:extLst>
                </a:gridCol>
              </a:tblGrid>
              <a:tr h="2735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Domain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Score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Max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Percentage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Status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46928782"/>
                  </a:ext>
                </a:extLst>
              </a:tr>
              <a:tr h="273558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Knowledge Readiness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39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90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43%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Early Stage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81634558"/>
                  </a:ext>
                </a:extLst>
              </a:tr>
              <a:tr h="273558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Operational Readiness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43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43%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Early Stage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00035815"/>
                  </a:ext>
                </a:extLst>
              </a:tr>
              <a:tr h="273558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Technical Readiness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42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85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49%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Gap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39983024"/>
                  </a:ext>
                </a:extLst>
              </a:tr>
              <a:tr h="273558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Governance Readiness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63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95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66%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Strength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358324641"/>
                  </a:ext>
                </a:extLst>
              </a:tr>
              <a:tr h="273558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Overall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187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370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51%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Aft>
                          <a:spcPts val="72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Early Stage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99891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84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C0F95-93B7-F54A-9182-C7236CB70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Themes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D26CC-C252-BD1B-8BE4-B8908B49DD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4" y="1146907"/>
            <a:ext cx="10107511" cy="3459139"/>
          </a:xfrm>
        </p:spPr>
        <p:txBody>
          <a:bodyPr/>
          <a:lstStyle/>
          <a:p>
            <a:r>
              <a:rPr lang="en-US" dirty="0"/>
              <a:t>Theme 1: Knowledge Architecture Foundation</a:t>
            </a:r>
          </a:p>
          <a:p>
            <a:r>
              <a:rPr lang="en-US" dirty="0"/>
              <a:t>Theme 2: Operational AI Enablement</a:t>
            </a:r>
          </a:p>
          <a:p>
            <a:r>
              <a:rPr lang="en-US" dirty="0"/>
              <a:t>Theme 3: Customer Experience Intelligence</a:t>
            </a:r>
          </a:p>
          <a:p>
            <a:r>
              <a:rPr lang="en-US" dirty="0"/>
              <a:t>Theme 4: Developer &amp; Analyst Productivity</a:t>
            </a:r>
          </a:p>
          <a:p>
            <a:r>
              <a:rPr lang="en-US" dirty="0"/>
              <a:t>Theme 5: Data Platform Modernization</a:t>
            </a:r>
          </a:p>
          <a:p>
            <a:r>
              <a:rPr lang="en-US" dirty="0"/>
              <a:t>Theme 6: AI Governance Operationalization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1D5E0-F680-ED92-1920-C60B8972D0ED}"/>
              </a:ext>
            </a:extLst>
          </p:cNvPr>
          <p:cNvSpPr txBox="1"/>
          <p:nvPr/>
        </p:nvSpPr>
        <p:spPr>
          <a:xfrm>
            <a:off x="1642757" y="4944130"/>
            <a:ext cx="88193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buSzPts val="1000"/>
              <a:tabLst>
                <a:tab pos="457200" algn="l"/>
              </a:tabLst>
            </a:pPr>
            <a:r>
              <a:rPr lang="en-US" sz="2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Themes</a:t>
            </a:r>
            <a:r>
              <a:rPr lang="en-US" sz="2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= Strategic grouping of capabilities (ways to think about problem clusters)</a:t>
            </a:r>
            <a:endParaRPr lang="en-US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9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EAC4C-2C4F-4516-A21C-DCA41968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F32D-6F5D-EFF7-EA56-68EC5F92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Fifteen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511FE-CFC7-4CAE-6C8B-8A1F9603FA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082513"/>
            <a:ext cx="4849553" cy="353983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Enterprise Data Foundation Incomplete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AI Governance Gap / Shadow IT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Customer Service Highest ROI Opportunity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Testing Bottleneck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BI Productivity Constrained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Remarketing Lacks Intelligence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Conversational AI Lacks Rigor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Cross-System Integration Barriers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10343B-B231-5F2C-62CA-AF9C79A84961}"/>
              </a:ext>
            </a:extLst>
          </p:cNvPr>
          <p:cNvSpPr txBox="1"/>
          <p:nvPr/>
        </p:nvSpPr>
        <p:spPr>
          <a:xfrm>
            <a:off x="1422739" y="4991042"/>
            <a:ext cx="8956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800" b="1" dirty="0">
                <a:latin typeface="Aptos" panose="020B0004020202020204" pitchFamily="34" charset="0"/>
              </a:rPr>
              <a:t>Findings</a:t>
            </a:r>
            <a:r>
              <a:rPr lang="en-US" sz="2800" dirty="0">
                <a:latin typeface="Aptos" panose="020B0004020202020204" pitchFamily="34" charset="0"/>
              </a:rPr>
              <a:t> = Atomic pain points (the problems/symptoms we heard)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E2C7B95-4607-8AEB-D8E7-8FE22498C17C}"/>
              </a:ext>
            </a:extLst>
          </p:cNvPr>
          <p:cNvSpPr txBox="1">
            <a:spLocks/>
          </p:cNvSpPr>
          <p:nvPr/>
        </p:nvSpPr>
        <p:spPr>
          <a:xfrm>
            <a:off x="6428363" y="1079430"/>
            <a:ext cx="4903214" cy="34134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9"/>
            </a:pPr>
            <a:r>
              <a:rPr lang="en-US" sz="2000" dirty="0">
                <a:latin typeface="Aptos" panose="020B0004020202020204" pitchFamily="34" charset="0"/>
              </a:rPr>
              <a:t>Document Intelligence Untapped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sz="2000" dirty="0">
                <a:latin typeface="Aptos" panose="020B0004020202020204" pitchFamily="34" charset="0"/>
              </a:rPr>
              <a:t>Portfolio Growth Needs Predictive Analytics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sz="2000" dirty="0">
                <a:latin typeface="Aptos" panose="020B0004020202020204" pitchFamily="34" charset="0"/>
              </a:rPr>
              <a:t>Knowledge Management Inadequate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sz="2000" dirty="0">
                <a:latin typeface="Aptos" panose="020B0004020202020204" pitchFamily="34" charset="0"/>
              </a:rPr>
              <a:t>Website/Digital Underperforms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sz="2000" dirty="0">
                <a:latin typeface="Aptos" panose="020B0004020202020204" pitchFamily="34" charset="0"/>
              </a:rPr>
              <a:t>Resource Allocation Lacks Prioritization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sz="2000" dirty="0">
                <a:latin typeface="Aptos" panose="020B0004020202020204" pitchFamily="34" charset="0"/>
              </a:rPr>
              <a:t>Process Maturity Gap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sz="2000" dirty="0">
                <a:latin typeface="Aptos" panose="020B0004020202020204" pitchFamily="34" charset="0"/>
              </a:rPr>
              <a:t>Competitive Positioning Needs Strategy</a:t>
            </a:r>
          </a:p>
          <a:p>
            <a:pPr marL="342900" indent="-342900">
              <a:buFont typeface="+mj-lt"/>
              <a:buAutoNum type="arabicPeriod" startAt="9"/>
            </a:pPr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buFont typeface="+mj-lt"/>
              <a:buAutoNum type="arabicPeriod" startAt="9"/>
            </a:pP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23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7787B-A6D5-DB22-7E93-29F794FD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F023-787D-BA09-43C2-0906E1D0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Sixteen Initiatives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CB2DB-64AF-4877-54E5-3024C7CAFA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7"/>
            <a:ext cx="4903214" cy="2573923"/>
          </a:xfrm>
        </p:spPr>
        <p:txBody>
          <a:bodyPr/>
          <a:lstStyle/>
          <a:p>
            <a:r>
              <a:rPr lang="en-US" sz="2000" dirty="0">
                <a:latin typeface="Aptos" panose="020B0004020202020204" pitchFamily="34" charset="0"/>
              </a:rPr>
              <a:t>1.1 Genesis AI Activation</a:t>
            </a:r>
          </a:p>
          <a:p>
            <a:r>
              <a:rPr lang="en-US" sz="2000" dirty="0">
                <a:latin typeface="Aptos" panose="020B0004020202020204" pitchFamily="34" charset="0"/>
              </a:rPr>
              <a:t>1.2 AI Governance Operationalization</a:t>
            </a:r>
          </a:p>
          <a:p>
            <a:r>
              <a:rPr lang="en-US" sz="2000" dirty="0">
                <a:latin typeface="Aptos" panose="020B0004020202020204" pitchFamily="34" charset="0"/>
              </a:rPr>
              <a:t>1.3 Unified Metadata Schema Design</a:t>
            </a:r>
          </a:p>
          <a:p>
            <a:r>
              <a:rPr lang="en-US" sz="2000" dirty="0">
                <a:latin typeface="Aptos" panose="020B0004020202020204" pitchFamily="34" charset="0"/>
              </a:rPr>
              <a:t>1.4 BI Code Generation Pilot</a:t>
            </a:r>
          </a:p>
          <a:p>
            <a:r>
              <a:rPr lang="en-US" sz="2000" dirty="0">
                <a:latin typeface="Aptos" panose="020B0004020202020204" pitchFamily="34" charset="0"/>
              </a:rPr>
              <a:t>2.1 Payment Automation Deployment</a:t>
            </a:r>
          </a:p>
          <a:p>
            <a:r>
              <a:rPr lang="en-US" sz="2000" dirty="0">
                <a:latin typeface="Aptos" panose="020B0004020202020204" pitchFamily="34" charset="0"/>
              </a:rPr>
              <a:t>2.2 Test Automation Enhancement</a:t>
            </a:r>
          </a:p>
          <a:p>
            <a:r>
              <a:rPr lang="en-US" sz="2000" dirty="0">
                <a:latin typeface="Aptos" panose="020B0004020202020204" pitchFamily="34" charset="0"/>
              </a:rPr>
              <a:t>2.3 Content Inventory &amp; Tagging</a:t>
            </a:r>
          </a:p>
          <a:p>
            <a:r>
              <a:rPr lang="en-US" sz="2000" dirty="0">
                <a:latin typeface="Aptos" panose="020B0004020202020204" pitchFamily="34" charset="0"/>
              </a:rPr>
              <a:t>2.4 AI Center of Excellence Launch</a:t>
            </a:r>
          </a:p>
          <a:p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9C8E0-2493-3953-F07C-2EFEB1C5D074}"/>
              </a:ext>
            </a:extLst>
          </p:cNvPr>
          <p:cNvSpPr txBox="1"/>
          <p:nvPr/>
        </p:nvSpPr>
        <p:spPr>
          <a:xfrm>
            <a:off x="1422739" y="4991042"/>
            <a:ext cx="8956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800" b="1" dirty="0">
                <a:latin typeface="Aptos" panose="020B0004020202020204" pitchFamily="34" charset="0"/>
              </a:rPr>
              <a:t>Initiatives </a:t>
            </a:r>
            <a:r>
              <a:rPr lang="en-US" sz="2800" dirty="0">
                <a:latin typeface="Aptos" panose="020B0004020202020204" pitchFamily="34" charset="0"/>
              </a:rPr>
              <a:t>= Projects/actions to solve problems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F9BD6-F9BA-D87C-24AB-ACD8DCB51B24}"/>
              </a:ext>
            </a:extLst>
          </p:cNvPr>
          <p:cNvSpPr txBox="1">
            <a:spLocks/>
          </p:cNvSpPr>
          <p:nvPr/>
        </p:nvSpPr>
        <p:spPr>
          <a:xfrm>
            <a:off x="6428363" y="1090162"/>
            <a:ext cx="4903214" cy="253339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ptos" panose="020B0004020202020204" pitchFamily="34" charset="0"/>
              </a:rPr>
              <a:t>3.1 AI Monitoring Dashboard</a:t>
            </a:r>
          </a:p>
          <a:p>
            <a:r>
              <a:rPr lang="en-US" sz="2000" dirty="0">
                <a:latin typeface="Aptos" panose="020B0004020202020204" pitchFamily="34" charset="0"/>
              </a:rPr>
              <a:t>3.2 End-of-Lease AI Preparation</a:t>
            </a:r>
          </a:p>
          <a:p>
            <a:r>
              <a:rPr lang="en-US" sz="2000" dirty="0">
                <a:latin typeface="Aptos" panose="020B0004020202020204" pitchFamily="34" charset="0"/>
              </a:rPr>
              <a:t>3.3 GitHub Copilot Deployment</a:t>
            </a:r>
          </a:p>
          <a:p>
            <a:r>
              <a:rPr lang="en-US" sz="2000" dirty="0">
                <a:latin typeface="Aptos" panose="020B0004020202020204" pitchFamily="34" charset="0"/>
              </a:rPr>
              <a:t>3.4 Natural Language Query Expansion</a:t>
            </a:r>
          </a:p>
          <a:p>
            <a:r>
              <a:rPr lang="en-US" sz="2000" dirty="0">
                <a:latin typeface="Aptos" panose="020B0004020202020204" pitchFamily="34" charset="0"/>
              </a:rPr>
              <a:t>4.1 Collections AI Augmentation</a:t>
            </a:r>
          </a:p>
          <a:p>
            <a:r>
              <a:rPr lang="en-US" sz="2000" dirty="0">
                <a:latin typeface="Aptos" panose="020B0004020202020204" pitchFamily="34" charset="0"/>
              </a:rPr>
              <a:t>4.2 Einstein Activation</a:t>
            </a:r>
          </a:p>
          <a:p>
            <a:r>
              <a:rPr lang="en-US" sz="2000" dirty="0">
                <a:latin typeface="Aptos" panose="020B0004020202020204" pitchFamily="34" charset="0"/>
              </a:rPr>
              <a:t>4.3 Knowledge Graph Implementation</a:t>
            </a:r>
          </a:p>
          <a:p>
            <a:r>
              <a:rPr lang="en-US" sz="2000" dirty="0">
                <a:latin typeface="Aptos" panose="020B0004020202020204" pitchFamily="34" charset="0"/>
              </a:rPr>
              <a:t>4.4 ROI Validation &amp; 2027 Planning</a:t>
            </a:r>
          </a:p>
          <a:p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056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B3FE07-23C0-733F-4697-17D3E7D0FA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1857218"/>
            <a:ext cx="5317393" cy="944348"/>
          </a:xfrm>
        </p:spPr>
        <p:txBody>
          <a:bodyPr/>
          <a:lstStyle/>
          <a:p>
            <a:r>
              <a:rPr lang="en-US" dirty="0"/>
              <a:t>AI Readiness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D060A-53BE-9E4E-F742-EC4CE0C47D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02276" y="3866693"/>
            <a:ext cx="4544647" cy="847725"/>
          </a:xfrm>
        </p:spPr>
        <p:txBody>
          <a:bodyPr/>
          <a:lstStyle/>
          <a:p>
            <a:r>
              <a:rPr lang="en-US" dirty="0"/>
              <a:t>Maturity Baseline to inform program activities </a:t>
            </a:r>
          </a:p>
        </p:txBody>
      </p:sp>
    </p:spTree>
    <p:extLst>
      <p:ext uri="{BB962C8B-B14F-4D97-AF65-F5344CB8AC3E}">
        <p14:creationId xmlns:p14="http://schemas.microsoft.com/office/powerpoint/2010/main" val="426919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CFAB-999E-21BC-6442-B8D16388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08FBB7-D2A7-C951-B257-E59AFC2254A4}"/>
              </a:ext>
            </a:extLst>
          </p:cNvPr>
          <p:cNvSpPr txBox="1"/>
          <p:nvPr/>
        </p:nvSpPr>
        <p:spPr>
          <a:xfrm>
            <a:off x="8529445" y="788179"/>
            <a:ext cx="3716999" cy="5459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chemeClr val="tx2"/>
                </a:solidFill>
              </a:rPr>
              <a:t>17 Factors: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Knowledge Accessibility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Knowledge Organization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Procedural Accuracy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Applicability Mapping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SME Workflow Integration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Lifecycle Management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Drift Monitoring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Retrieval Performance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Operational Maturity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Technical Foundation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Integration &amp; Orchestration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Monitoring &amp; Telemetry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Security &amp; Compliance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Governance Structure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Cross-Functional Alignment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Culture &amp; Adoption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Strategy &amp; Investment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5B8BD-3152-7C41-BB55-77524DCF7C94}"/>
              </a:ext>
            </a:extLst>
          </p:cNvPr>
          <p:cNvSpPr txBox="1"/>
          <p:nvPr/>
        </p:nvSpPr>
        <p:spPr>
          <a:xfrm>
            <a:off x="3836168" y="1476743"/>
            <a:ext cx="3911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tx2"/>
                </a:solidFill>
              </a:rPr>
              <a:t>Responses are contextualized based on Financial Services Industry Benchmarks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7479B7-D6AD-11FB-1742-B020E69033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" t="19799" r="20344" b="32314"/>
          <a:stretch>
            <a:fillRect/>
          </a:stretch>
        </p:blipFill>
        <p:spPr>
          <a:xfrm>
            <a:off x="652077" y="2736768"/>
            <a:ext cx="7177391" cy="27053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E86A80-50D6-0F45-98C7-66153A3022D7}"/>
              </a:ext>
            </a:extLst>
          </p:cNvPr>
          <p:cNvSpPr txBox="1"/>
          <p:nvPr/>
        </p:nvSpPr>
        <p:spPr>
          <a:xfrm>
            <a:off x="491246" y="480695"/>
            <a:ext cx="6438412" cy="2052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74 Question EIS AI Readiness Maturity Framework</a:t>
            </a:r>
          </a:p>
          <a:p>
            <a:pPr algn="l"/>
            <a:endParaRPr lang="en-US" sz="2000" dirty="0">
              <a:solidFill>
                <a:schemeClr val="tx2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4 Domains: 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Knowledge Readiness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Operational Readiness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Technical Readiness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Governance Readiness</a:t>
            </a:r>
          </a:p>
        </p:txBody>
      </p:sp>
    </p:spTree>
    <p:extLst>
      <p:ext uri="{BB962C8B-B14F-4D97-AF65-F5344CB8AC3E}">
        <p14:creationId xmlns:p14="http://schemas.microsoft.com/office/powerpoint/2010/main" val="3747812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E47CA-27C7-E409-0A94-C1C1ADDE5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6" t="19788" r="62084" b="47368"/>
          <a:stretch>
            <a:fillRect/>
          </a:stretch>
        </p:blipFill>
        <p:spPr>
          <a:xfrm>
            <a:off x="731519" y="760397"/>
            <a:ext cx="6973504" cy="38982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D7F8D3-0083-8B4F-704E-D276DF1725D0}"/>
              </a:ext>
            </a:extLst>
          </p:cNvPr>
          <p:cNvSpPr txBox="1"/>
          <p:nvPr/>
        </p:nvSpPr>
        <p:spPr>
          <a:xfrm>
            <a:off x="8626202" y="1349255"/>
            <a:ext cx="24141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tx2"/>
                </a:solidFill>
              </a:rPr>
              <a:t>Aggregate scoring across 17 Factors reveals areas of strength, developing capabilities and critical gaps</a:t>
            </a:r>
          </a:p>
        </p:txBody>
      </p:sp>
    </p:spTree>
    <p:extLst>
      <p:ext uri="{BB962C8B-B14F-4D97-AF65-F5344CB8AC3E}">
        <p14:creationId xmlns:p14="http://schemas.microsoft.com/office/powerpoint/2010/main" val="294921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D7EA89-6B25-CD0E-3602-FA4E7CA54A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2" t="19368" r="58977" b="18596"/>
          <a:stretch>
            <a:fillRect/>
          </a:stretch>
        </p:blipFill>
        <p:spPr>
          <a:xfrm>
            <a:off x="478799" y="255070"/>
            <a:ext cx="5967663" cy="5816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8645B8-68A0-CA28-9F9A-985E6B820FEA}"/>
              </a:ext>
            </a:extLst>
          </p:cNvPr>
          <p:cNvSpPr txBox="1"/>
          <p:nvPr/>
        </p:nvSpPr>
        <p:spPr>
          <a:xfrm>
            <a:off x="7396280" y="1349255"/>
            <a:ext cx="457650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tx2"/>
                </a:solidFill>
              </a:rPr>
              <a:t>Strategic recommendations are contextualized based on Financial Services Industry Benchmarks  </a:t>
            </a:r>
          </a:p>
          <a:p>
            <a:pPr algn="l"/>
            <a:endParaRPr lang="en-US" dirty="0">
              <a:solidFill>
                <a:schemeClr val="tx2"/>
              </a:solidFill>
            </a:endParaRPr>
          </a:p>
          <a:p>
            <a:pPr algn="l"/>
            <a:r>
              <a:rPr lang="en-US" sz="1800" dirty="0">
                <a:solidFill>
                  <a:schemeClr val="tx2"/>
                </a:solidFill>
              </a:rPr>
              <a:t>The EIS AI Maturity Readiness Assessment includes both objective and subjective factors </a:t>
            </a:r>
          </a:p>
          <a:p>
            <a:pPr algn="l"/>
            <a:endParaRPr lang="en-US" dirty="0">
              <a:solidFill>
                <a:schemeClr val="tx2"/>
              </a:solidFill>
            </a:endParaRPr>
          </a:p>
          <a:p>
            <a:pPr algn="l"/>
            <a:r>
              <a:rPr lang="en-US" sz="1800" dirty="0">
                <a:solidFill>
                  <a:schemeClr val="tx2"/>
                </a:solidFill>
              </a:rPr>
              <a:t>The baseline score is a snapshot in time and can be </a:t>
            </a:r>
            <a:r>
              <a:rPr lang="en-US" dirty="0">
                <a:solidFill>
                  <a:schemeClr val="tx2"/>
                </a:solidFill>
              </a:rPr>
              <a:t>updated on a regular basis to monitor progress </a:t>
            </a:r>
          </a:p>
          <a:p>
            <a:pPr algn="l"/>
            <a:endParaRPr lang="en-US" sz="1800" dirty="0">
              <a:solidFill>
                <a:schemeClr val="tx2"/>
              </a:solidFill>
            </a:endParaRPr>
          </a:p>
          <a:p>
            <a:pPr algn="l"/>
            <a:r>
              <a:rPr lang="en-US" dirty="0">
                <a:solidFill>
                  <a:schemeClr val="tx2"/>
                </a:solidFill>
              </a:rPr>
              <a:t>Integration with enterprise data sources also forms the foundation for automated monitoring of semantics which are critical to AI success 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4273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e3150ea6-e8ad-4da7-bc74-82486f2509b8&quot;,&quot;Name&quot;:&quot;EIS 2021&quot;,&quot;Kind&quot;:&quot;Custom&quot;,&quot;OldGuidesSetting&quot;:{&quot;HeaderHeight&quot;:10.0,&quot;FooterHeight&quot;:0.0,&quot;SideMargin&quot;:7.0,&quot;TopMargin&quot;:7.0,&quot;BottomMargin&quot;:7.0,&quot;IntervalMargin&quot;:5.0}}"/>
</p:tagLst>
</file>

<file path=ppt/theme/theme1.xml><?xml version="1.0" encoding="utf-8"?>
<a:theme xmlns:a="http://schemas.openxmlformats.org/drawingml/2006/main" name="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BA91877-27AE-499C-BD4A-10224F88736F}" vid="{AD41F37B-6A21-46F3-B80F-180BAC53D4C7}"/>
    </a:ext>
  </a:extLst>
</a:theme>
</file>

<file path=ppt/theme/theme3.xml><?xml version="1.0" encoding="utf-8"?>
<a:theme xmlns:a="http://schemas.openxmlformats.org/drawingml/2006/main" name="7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 xsi:nil="true"/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CA4609-FA67-401A-BEE4-5430357FC2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5254EE-A37C-43AE-9BAA-431C4C1975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246cb7-97e8-44c0-90d5-6161e615d350"/>
    <ds:schemaRef ds:uri="1bbba5f1-a15e-48ed-ae4b-bc36e8dd2f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1A673B-B0AC-43F0-AFFB-FD3898D07867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334308b5-d4b6-4ec7-9b27-cbe752524974"/>
    <ds:schemaRef ds:uri="http://purl.org/dc/terms/"/>
    <ds:schemaRef ds:uri="http://www.w3.org/XML/1998/namespace"/>
    <ds:schemaRef ds:uri="95ad8014-9f7b-4325-a988-cf5c7a4f675c"/>
    <ds:schemaRef ds:uri="http://purl.org/dc/dcmitype/"/>
    <ds:schemaRef ds:uri="http://schemas.openxmlformats.org/package/2006/metadata/core-properties"/>
    <ds:schemaRef ds:uri="0eea126e-d378-4180-a2b3-4f5c76938639"/>
    <ds:schemaRef ds:uri="http://schemas.microsoft.com/office/2006/metadata/properties"/>
    <ds:schemaRef ds:uri="http://schemas.microsoft.com/sharepoint/v3"/>
    <ds:schemaRef ds:uri="1bbba5f1-a15e-48ed-ae4b-bc36e8dd2f5c"/>
    <ds:schemaRef ds:uri="17246cb7-97e8-44c0-90d5-6161e615d35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EIS-2022</Template>
  <TotalTime>16909</TotalTime>
  <Words>443</Words>
  <Application>Microsoft Office PowerPoint</Application>
  <PresentationFormat>Widescreen</PresentationFormat>
  <Paragraphs>124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EIS-2022</vt:lpstr>
      <vt:lpstr>1_EIS-2022</vt:lpstr>
      <vt:lpstr>7_EIS-2022</vt:lpstr>
      <vt:lpstr>PowerPoint Presentation</vt:lpstr>
      <vt:lpstr>PowerPoint Presentation</vt:lpstr>
      <vt:lpstr>Six Themes</vt:lpstr>
      <vt:lpstr>Fifteen Findings</vt:lpstr>
      <vt:lpstr>Sixteen Initiatives</vt:lpstr>
      <vt:lpstr>PowerPoint Presentation</vt:lpstr>
      <vt:lpstr>PowerPoint Presentation</vt:lpstr>
      <vt:lpstr>PowerPoint Presentation</vt:lpstr>
      <vt:lpstr>PowerPoint Presentation</vt:lpstr>
    </vt:vector>
  </TitlesOfParts>
  <Company>Earley Information Science,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the Right Governance Model</dc:title>
  <dc:creator>Carolyn Southwick;Dave Skrobela</dc:creator>
  <cp:keywords>Governance; AI</cp:keywords>
  <dc:description>seth@earley.com</dc:description>
  <cp:lastModifiedBy>Seth Earley</cp:lastModifiedBy>
  <cp:revision>237</cp:revision>
  <cp:lastPrinted>2021-06-23T16:48:18Z</cp:lastPrinted>
  <dcterms:created xsi:type="dcterms:W3CDTF">2023-03-22T16:19:54Z</dcterms:created>
  <dcterms:modified xsi:type="dcterms:W3CDTF">2026-03-26T12:13:47Z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0x0101000B97C77CF6C980478CF1A0C7BB3DB346</vt:lpwstr>
  </property>
  <property fmtid="{D5CDD505-2E9C-101B-9397-08002B2CF9AE}" pid="4" name="Project_x0020_Document_x0020_Type_x0020_PROPOSED">
    <vt:lpwstr/>
  </property>
  <property fmtid="{D5CDD505-2E9C-101B-9397-08002B2CF9AE}" pid="5" name="Technology">
    <vt:lpwstr/>
  </property>
  <property fmtid="{D5CDD505-2E9C-101B-9397-08002B2CF9AE}" pid="6" name="AccountName">
    <vt:lpwstr>5;#Stellantis Financial Services|ae495efb-8e65-4cbd-b57d-7d196b299547</vt:lpwstr>
  </property>
  <property fmtid="{D5CDD505-2E9C-101B-9397-08002B2CF9AE}" pid="7" name="Competency">
    <vt:lpwstr>6;#information architecture|0c69daec-fbc4-45c7-ab9c-bd21b0f93d0b</vt:lpwstr>
  </property>
  <property fmtid="{D5CDD505-2E9C-101B-9397-08002B2CF9AE}" pid="8" name="TechnologyProduct">
    <vt:lpwstr/>
  </property>
  <property fmtid="{D5CDD505-2E9C-101B-9397-08002B2CF9AE}" pid="9" name="Industry">
    <vt:lpwstr/>
  </property>
  <property fmtid="{D5CDD505-2E9C-101B-9397-08002B2CF9AE}" pid="10" name="Project Document Type PROPOSED">
    <vt:lpwstr/>
  </property>
  <property fmtid="{D5CDD505-2E9C-101B-9397-08002B2CF9AE}" pid="11" name="MSIP_Label_791df23e-ee3d-4e72-bd33-1d096ae15290_Enabled">
    <vt:lpwstr>true</vt:lpwstr>
  </property>
  <property fmtid="{D5CDD505-2E9C-101B-9397-08002B2CF9AE}" pid="12" name="MSIP_Label_791df23e-ee3d-4e72-bd33-1d096ae15290_SetDate">
    <vt:lpwstr>2026-03-26T12:07:23Z</vt:lpwstr>
  </property>
  <property fmtid="{D5CDD505-2E9C-101B-9397-08002B2CF9AE}" pid="13" name="MSIP_Label_791df23e-ee3d-4e72-bd33-1d096ae15290_Method">
    <vt:lpwstr>Standard</vt:lpwstr>
  </property>
  <property fmtid="{D5CDD505-2E9C-101B-9397-08002B2CF9AE}" pid="14" name="MSIP_Label_791df23e-ee3d-4e72-bd33-1d096ae15290_Name">
    <vt:lpwstr>General</vt:lpwstr>
  </property>
  <property fmtid="{D5CDD505-2E9C-101B-9397-08002B2CF9AE}" pid="15" name="MSIP_Label_791df23e-ee3d-4e72-bd33-1d096ae15290_SiteId">
    <vt:lpwstr>aea87219-080c-4106-b601-bed93d828f3c</vt:lpwstr>
  </property>
  <property fmtid="{D5CDD505-2E9C-101B-9397-08002B2CF9AE}" pid="16" name="MSIP_Label_791df23e-ee3d-4e72-bd33-1d096ae15290_ActionId">
    <vt:lpwstr>ed094a0d-5a21-4b21-a8a4-a48e9e4a85fd</vt:lpwstr>
  </property>
  <property fmtid="{D5CDD505-2E9C-101B-9397-08002B2CF9AE}" pid="17" name="MSIP_Label_791df23e-ee3d-4e72-bd33-1d096ae15290_ContentBits">
    <vt:lpwstr>0</vt:lpwstr>
  </property>
  <property fmtid="{D5CDD505-2E9C-101B-9397-08002B2CF9AE}" pid="18" name="MSIP_Label_791df23e-ee3d-4e72-bd33-1d096ae15290_Tag">
    <vt:lpwstr>10, 3, 0, 2</vt:lpwstr>
  </property>
</Properties>
</file>