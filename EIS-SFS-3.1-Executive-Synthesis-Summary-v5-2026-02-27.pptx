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66" r:id="rId5"/>
    <p:sldId id="258" r:id="rId6"/>
    <p:sldId id="259" r:id="rId7"/>
    <p:sldId id="260" r:id="rId8"/>
    <p:sldId id="261" r:id="rId9"/>
    <p:sldId id="262" r:id="rId10"/>
    <p:sldId id="214748080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6FF61-564E-422F-82C2-0A280A1730F1}" v="7" dt="2026-03-17T15:56:42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er Afshar" userId="S::nader.afshar@stellantis-fs.com::ef14ed6e-8c34-42b1-8014-4f40650f3772" providerId="AD" clId="Web-{6154E0EB-684F-774F-3EAA-9945CB81643F}"/>
    <pc:docChg chg="mod">
      <pc:chgData name="Nader Afshar" userId="S::nader.afshar@stellantis-fs.com::ef14ed6e-8c34-42b1-8014-4f40650f3772" providerId="AD" clId="Web-{6154E0EB-684F-774F-3EAA-9945CB81643F}" dt="2026-03-16T14:21:01.959" v="0" actId="33475"/>
      <pc:docMkLst>
        <pc:docMk/>
      </pc:docMkLst>
    </pc:docChg>
  </pc:docChgLst>
  <pc:docChgLst>
    <pc:chgData name="Ryan Miller" userId="a6aa9dc5-93b6-485c-b2e2-cbde8277d73a" providerId="ADAL" clId="{D52B0561-7E8C-4581-A3EB-4145175BB165}"/>
    <pc:docChg chg="addSld modSld">
      <pc:chgData name="Ryan Miller" userId="a6aa9dc5-93b6-485c-b2e2-cbde8277d73a" providerId="ADAL" clId="{D52B0561-7E8C-4581-A3EB-4145175BB165}" dt="2026-03-17T15:56:42.019" v="6" actId="1035"/>
      <pc:docMkLst>
        <pc:docMk/>
      </pc:docMkLst>
      <pc:sldChg chg="modSp add mod">
        <pc:chgData name="Ryan Miller" userId="a6aa9dc5-93b6-485c-b2e2-cbde8277d73a" providerId="ADAL" clId="{D52B0561-7E8C-4581-A3EB-4145175BB165}" dt="2026-03-17T15:56:42.019" v="6" actId="1035"/>
        <pc:sldMkLst>
          <pc:docMk/>
          <pc:sldMk cId="3603251952" sldId="2147480802"/>
        </pc:sldMkLst>
        <pc:spChg chg="mod">
          <ac:chgData name="Ryan Miller" userId="a6aa9dc5-93b6-485c-b2e2-cbde8277d73a" providerId="ADAL" clId="{D52B0561-7E8C-4581-A3EB-4145175BB165}" dt="2026-03-17T15:56:42.019" v="6" actId="1035"/>
          <ac:spMkLst>
            <pc:docMk/>
            <pc:sldMk cId="3603251952" sldId="2147480802"/>
            <ac:spMk id="21" creationId="{397FBFD2-5CD7-9AA1-F7EA-756414C7C5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13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C612-7A45-66A3-4EDB-14F5B187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77240-4FB0-757B-EDF2-7C44B5B07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6992E-2D2E-6492-E73A-DB2CF5957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7E223-4039-3FAA-F51C-7000890EA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1FD96-5ED4-4816-A49B-EFC58C6E45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758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35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B86DE4-4F78-CEA8-4F64-661ECCC72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975359" y="1219200"/>
            <a:ext cx="10718657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STELLANTIS FINANCIAL SERVICES</a:t>
            </a:r>
          </a:p>
          <a:p>
            <a:r>
              <a:rPr lang="en-US" sz="36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Readiness Assessment and Execution Roadmap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975360" y="3901440"/>
            <a:ext cx="85344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Summary</a:t>
            </a:r>
          </a:p>
        </p:txBody>
      </p:sp>
      <p:sp>
        <p:nvSpPr>
          <p:cNvPr id="5" name="Text 3"/>
          <p:cNvSpPr/>
          <p:nvPr/>
        </p:nvSpPr>
        <p:spPr>
          <a:xfrm>
            <a:off x="975360" y="5608320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v3.0  |  Earley Information Science</a:t>
            </a:r>
            <a:endParaRPr 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98755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at a Glance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572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4400" y="1554480"/>
            <a:ext cx="2926080" cy="1463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600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391</a:t>
            </a:r>
            <a:endParaRPr lang="en-US" sz="440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AI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Items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39319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4572000" y="1554480"/>
            <a:ext cx="2926080" cy="1463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1600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4400"/>
          </a:p>
        </p:txBody>
      </p:sp>
      <p:sp>
        <p:nvSpPr>
          <p:cNvPr id="11" name="Text 8"/>
          <p:cNvSpPr/>
          <p:nvPr/>
        </p:nvSpPr>
        <p:spPr>
          <a:xfrm>
            <a:off x="4572000" y="2331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Consolidated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7589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8229600" y="1554480"/>
            <a:ext cx="2926080" cy="1463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0" y="1600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</a:t>
            </a:r>
            <a:endParaRPr lang="en-US" sz="4400"/>
          </a:p>
        </p:txBody>
      </p:sp>
      <p:sp>
        <p:nvSpPr>
          <p:cNvPr id="15" name="Text 12"/>
          <p:cNvSpPr/>
          <p:nvPr/>
        </p:nvSpPr>
        <p:spPr>
          <a:xfrm>
            <a:off x="8229600" y="2331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Initiatives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71% average deduplication rate: nearly three-quarters of raw items were duplicates of the same underlying need.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Strategic Themes</a:t>
            </a:r>
            <a:endParaRPr lang="en-US" sz="1800"/>
          </a:p>
        </p:txBody>
      </p:sp>
      <p:sp>
        <p:nvSpPr>
          <p:cNvPr id="18" name="Shape 15"/>
          <p:cNvSpPr/>
          <p:nvPr/>
        </p:nvSpPr>
        <p:spPr>
          <a:xfrm>
            <a:off x="457200" y="4389120"/>
            <a:ext cx="1783080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4480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Architecture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548640" y="52120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initiatives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548640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15-16</a:t>
            </a:r>
            <a:endParaRPr lang="en-US" sz="900"/>
          </a:p>
        </p:txBody>
      </p:sp>
      <p:sp>
        <p:nvSpPr>
          <p:cNvPr id="22" name="Shape 19"/>
          <p:cNvSpPr/>
          <p:nvPr/>
        </p:nvSpPr>
        <p:spPr>
          <a:xfrm>
            <a:off x="2359152" y="4389120"/>
            <a:ext cx="1783080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450592" y="4480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100"/>
          </a:p>
        </p:txBody>
      </p:sp>
      <p:sp>
        <p:nvSpPr>
          <p:cNvPr id="24" name="Text 21"/>
          <p:cNvSpPr/>
          <p:nvPr/>
        </p:nvSpPr>
        <p:spPr>
          <a:xfrm>
            <a:off x="2450592" y="52120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initiatives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2450592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9a-11</a:t>
            </a:r>
            <a:endParaRPr lang="en-US" sz="900"/>
          </a:p>
        </p:txBody>
      </p:sp>
      <p:sp>
        <p:nvSpPr>
          <p:cNvPr id="26" name="Shape 23"/>
          <p:cNvSpPr/>
          <p:nvPr/>
        </p:nvSpPr>
        <p:spPr>
          <a:xfrm>
            <a:off x="4261104" y="4389120"/>
            <a:ext cx="1783080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352544" y="4480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Experience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100"/>
          </a:p>
        </p:txBody>
      </p:sp>
      <p:sp>
        <p:nvSpPr>
          <p:cNvPr id="28" name="Text 25"/>
          <p:cNvSpPr/>
          <p:nvPr/>
        </p:nvSpPr>
        <p:spPr>
          <a:xfrm>
            <a:off x="4352544" y="52120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initiatives</a:t>
            </a:r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4352544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1-8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6163056" y="4389120"/>
            <a:ext cx="1783080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254496" y="4480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&amp; Analyst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</a:t>
            </a:r>
            <a:endParaRPr lang="en-US" sz="1100"/>
          </a:p>
        </p:txBody>
      </p:sp>
      <p:sp>
        <p:nvSpPr>
          <p:cNvPr id="32" name="Text 29"/>
          <p:cNvSpPr/>
          <p:nvPr/>
        </p:nvSpPr>
        <p:spPr>
          <a:xfrm>
            <a:off x="6254496" y="52120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initiatives</a:t>
            </a:r>
            <a:endParaRPr lang="en-US" sz="1000"/>
          </a:p>
        </p:txBody>
      </p:sp>
      <p:sp>
        <p:nvSpPr>
          <p:cNvPr id="33" name="Text 30"/>
          <p:cNvSpPr/>
          <p:nvPr/>
        </p:nvSpPr>
        <p:spPr>
          <a:xfrm>
            <a:off x="6254496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17-21</a:t>
            </a:r>
            <a:endParaRPr lang="en-US" sz="900"/>
          </a:p>
        </p:txBody>
      </p:sp>
      <p:sp>
        <p:nvSpPr>
          <p:cNvPr id="34" name="Shape 31"/>
          <p:cNvSpPr/>
          <p:nvPr/>
        </p:nvSpPr>
        <p:spPr>
          <a:xfrm>
            <a:off x="8065008" y="4389120"/>
            <a:ext cx="1783080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156448" y="4480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Platform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Modernization</a:t>
            </a:r>
            <a:endParaRPr lang="en-US" sz="1100"/>
          </a:p>
        </p:txBody>
      </p:sp>
      <p:sp>
        <p:nvSpPr>
          <p:cNvPr id="36" name="Text 33"/>
          <p:cNvSpPr/>
          <p:nvPr/>
        </p:nvSpPr>
        <p:spPr>
          <a:xfrm>
            <a:off x="8156448" y="52120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initiatives</a:t>
            </a:r>
            <a:endParaRPr lang="en-US" sz="1000"/>
          </a:p>
        </p:txBody>
      </p:sp>
      <p:sp>
        <p:nvSpPr>
          <p:cNvPr id="37" name="Text 34"/>
          <p:cNvSpPr/>
          <p:nvPr/>
        </p:nvSpPr>
        <p:spPr>
          <a:xfrm>
            <a:off x="8156448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12-14</a:t>
            </a:r>
            <a:endParaRPr lang="en-US" sz="900"/>
          </a:p>
        </p:txBody>
      </p:sp>
      <p:sp>
        <p:nvSpPr>
          <p:cNvPr id="38" name="Shape 35"/>
          <p:cNvSpPr/>
          <p:nvPr/>
        </p:nvSpPr>
        <p:spPr>
          <a:xfrm>
            <a:off x="9966960" y="4389120"/>
            <a:ext cx="1783080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058400" y="4480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Analytics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AI Use Cases</a:t>
            </a:r>
            <a:endParaRPr lang="en-US" sz="1100"/>
          </a:p>
        </p:txBody>
      </p:sp>
      <p:sp>
        <p:nvSpPr>
          <p:cNvPr id="40" name="Text 37"/>
          <p:cNvSpPr/>
          <p:nvPr/>
        </p:nvSpPr>
        <p:spPr>
          <a:xfrm>
            <a:off x="10058400" y="52120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initiatives</a:t>
            </a:r>
            <a:endParaRPr lang="en-US" sz="1000"/>
          </a:p>
        </p:txBody>
      </p:sp>
      <p:sp>
        <p:nvSpPr>
          <p:cNvPr id="41" name="Text 38"/>
          <p:cNvSpPr/>
          <p:nvPr/>
        </p:nvSpPr>
        <p:spPr>
          <a:xfrm>
            <a:off x="10058400" y="5532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22-29</a:t>
            </a:r>
            <a:endParaRPr lang="en-US" sz="900"/>
          </a:p>
        </p:txBody>
      </p:sp>
      <p:sp>
        <p:nvSpPr>
          <p:cNvPr id="42" name="Shape 3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Earley Information Science</a:t>
            </a:r>
            <a:endParaRPr lang="en-US" sz="900"/>
          </a:p>
        </p:txBody>
      </p:sp>
      <p:sp>
        <p:nvSpPr>
          <p:cNvPr id="44" name="Text 41"/>
          <p:cNvSpPr/>
          <p:nvPr/>
        </p:nvSpPr>
        <p:spPr>
          <a:xfrm>
            <a:off x="4572000" y="6400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98755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Found: Five Finding Categories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572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731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Knowledge Infrastructure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3931920" y="1463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of data untagged for AI; 30-40% integrations undocumented; knowledge trapped in 12+ siloed systems; single points of failure (Bobby Goodwin, Adam Rufford)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>
          <a:xfrm>
            <a:off x="457200" y="2450592"/>
            <a:ext cx="731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Investment &amp; Utilization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3931920" y="245059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$15K/month in expiring Genesys tokens; $4.5M Observe AI overlap; Salesforce Einstein awaiting activation; multiple unauthorized AI users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57200" y="3438144"/>
            <a:ext cx="731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343814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Operations Scaling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3931920" y="3438144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 of 50K+ monthly calls are payment-related; end-of-lease scaling from 14 to 100 agents; 400 FTE Collections with 2,500+ underutilized credit attributes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457200" y="4425696"/>
            <a:ext cx="731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442569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&amp; Analytics Capacity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3931920" y="44256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40-50 projects at 20% capacity; 10-day report turnaround; 50% test time on failure investigation; 16 projects capacity, 35+ in flight, 80+ in pipeline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57200" y="5413248"/>
            <a:ext cx="731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54132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Strong Policy, Weak Operations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3931920" y="54132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66% readiness (strongest domain); 15 governance gaps identified; no tiered review, no agent registry, no cost attribution, no AI model/tooling evaluation (GG-1)</a:t>
            </a:r>
            <a:endParaRPr lang="en-US" sz="1100"/>
          </a:p>
        </p:txBody>
      </p:sp>
      <p:sp>
        <p:nvSpPr>
          <p:cNvPr id="20" name="Shape 17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Earley Information Science</a:t>
            </a:r>
            <a:endParaRPr lang="en-US" sz="900"/>
          </a:p>
        </p:txBody>
      </p:sp>
      <p:sp>
        <p:nvSpPr>
          <p:cNvPr id="22" name="Text 19"/>
          <p:cNvSpPr/>
          <p:nvPr/>
        </p:nvSpPr>
        <p:spPr>
          <a:xfrm>
            <a:off x="4572000" y="6400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98755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Integrated Roadmap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572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65176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2026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initiatives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HIGH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2651760" cy="310896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31089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3-tier activation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tiering framework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Genesys AI token activation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registry build (v1)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code generation pilot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IT workflow design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651760" cy="914400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2026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Wins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329184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initiatives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HIGH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3291840" y="3017520"/>
            <a:ext cx="2651760" cy="310896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29000" y="31089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automation deploy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AI consolidation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classification (Purview)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Center of Excellence launch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incident response playbook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attribution mechanism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6126480" y="1463040"/>
            <a:ext cx="2651760" cy="914400"/>
          </a:xfrm>
          <a:prstGeom prst="rect">
            <a:avLst/>
          </a:prstGeom>
          <a:solidFill>
            <a:srgbClr val="3B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2026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612648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initiatives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HIGH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6126480" y="3017520"/>
            <a:ext cx="2651760" cy="310896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63640" y="31089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monitoring dashboard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End-of-Lease AI preparation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enterprise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query expansion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pipeline automation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 succession planning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8961120" y="1463040"/>
            <a:ext cx="2651760" cy="914400"/>
          </a:xfrm>
          <a:prstGeom prst="rect">
            <a:avLst/>
          </a:prstGeom>
          <a:solidFill>
            <a:srgbClr val="4A95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96112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1300"/>
          </a:p>
        </p:txBody>
      </p:sp>
      <p:sp>
        <p:nvSpPr>
          <p:cNvPr id="25" name="Text 22"/>
          <p:cNvSpPr/>
          <p:nvPr/>
        </p:nvSpPr>
        <p:spPr>
          <a:xfrm>
            <a:off x="896112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896112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initiatives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HIGH</a:t>
            </a:r>
            <a:endParaRPr lang="en-US" sz="1100"/>
          </a:p>
        </p:txBody>
      </p:sp>
      <p:sp>
        <p:nvSpPr>
          <p:cNvPr id="27" name="Shape 24"/>
          <p:cNvSpPr/>
          <p:nvPr/>
        </p:nvSpPr>
        <p:spPr>
          <a:xfrm>
            <a:off x="8961120" y="3017520"/>
            <a:ext cx="2651760" cy="310896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098280" y="31089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AI augmentation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Remarketing decision engine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 implementation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(lifecycle)</a:t>
            </a:r>
            <a:endParaRPr lang="en-US" sz="1000"/>
          </a:p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validation &amp; 2027 planning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Earley Information Science</a:t>
            </a:r>
            <a:endParaRPr lang="en-US" sz="900"/>
          </a:p>
        </p:txBody>
      </p:sp>
      <p:sp>
        <p:nvSpPr>
          <p:cNvPr id="31" name="Text 28"/>
          <p:cNvSpPr/>
          <p:nvPr/>
        </p:nvSpPr>
        <p:spPr>
          <a:xfrm>
            <a:off x="4572000" y="6400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98755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Measure Progress</a:t>
            </a:r>
            <a:endParaRPr lang="en-US" sz="300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572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Score Targets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1920240" y="1901952"/>
            <a:ext cx="2162556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40680" y="1874520"/>
            <a:ext cx="0" cy="320040"/>
          </a:xfrm>
          <a:prstGeom prst="line">
            <a:avLst/>
          </a:prstGeom>
          <a:noFill/>
          <a:ln w="254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74236" y="1874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43%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5486400" y="1737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70%</a:t>
            </a:r>
            <a:endParaRPr lang="en-US" sz="700"/>
          </a:p>
        </p:txBody>
      </p:sp>
      <p:sp>
        <p:nvSpPr>
          <p:cNvPr id="11" name="Text 8"/>
          <p:cNvSpPr/>
          <p:nvPr/>
        </p:nvSpPr>
        <p:spPr>
          <a:xfrm>
            <a:off x="457200" y="2258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1920240" y="2286000"/>
            <a:ext cx="2162556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40680" y="2258568"/>
            <a:ext cx="0" cy="320040"/>
          </a:xfrm>
          <a:prstGeom prst="line">
            <a:avLst/>
          </a:prstGeom>
          <a:noFill/>
          <a:ln w="254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74236" y="22585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43%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5486400" y="21214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70%</a:t>
            </a:r>
            <a:endParaRPr lang="en-US" sz="700"/>
          </a:p>
        </p:txBody>
      </p:sp>
      <p:sp>
        <p:nvSpPr>
          <p:cNvPr id="16" name="Text 13"/>
          <p:cNvSpPr/>
          <p:nvPr/>
        </p:nvSpPr>
        <p:spPr>
          <a:xfrm>
            <a:off x="457200" y="2642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1920240" y="2670048"/>
            <a:ext cx="2464308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692140" y="2642616"/>
            <a:ext cx="0" cy="320040"/>
          </a:xfrm>
          <a:prstGeom prst="line">
            <a:avLst/>
          </a:prstGeom>
          <a:noFill/>
          <a:ln w="254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75988" y="26426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5737860" y="2505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75%</a:t>
            </a:r>
            <a:endParaRPr lang="en-US" sz="700"/>
          </a:p>
        </p:txBody>
      </p:sp>
      <p:sp>
        <p:nvSpPr>
          <p:cNvPr id="21" name="Text 18"/>
          <p:cNvSpPr/>
          <p:nvPr/>
        </p:nvSpPr>
        <p:spPr>
          <a:xfrm>
            <a:off x="457200" y="3026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/>
          </a:p>
        </p:txBody>
      </p:sp>
      <p:sp>
        <p:nvSpPr>
          <p:cNvPr id="22" name="Shape 19"/>
          <p:cNvSpPr/>
          <p:nvPr/>
        </p:nvSpPr>
        <p:spPr>
          <a:xfrm>
            <a:off x="1920240" y="3054096"/>
            <a:ext cx="3319272" cy="2560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95060" y="3026664"/>
            <a:ext cx="0" cy="320040"/>
          </a:xfrm>
          <a:prstGeom prst="line">
            <a:avLst/>
          </a:prstGeom>
          <a:noFill/>
          <a:ln w="254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30952" y="30266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66%</a:t>
            </a:r>
            <a:endParaRPr lang="en-US" sz="900"/>
          </a:p>
        </p:txBody>
      </p:sp>
      <p:sp>
        <p:nvSpPr>
          <p:cNvPr id="25" name="Text 22"/>
          <p:cNvSpPr/>
          <p:nvPr/>
        </p:nvSpPr>
        <p:spPr>
          <a:xfrm>
            <a:off x="6240780" y="28895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85%</a:t>
            </a:r>
            <a:endParaRPr lang="en-US" sz="700"/>
          </a:p>
        </p:txBody>
      </p:sp>
      <p:sp>
        <p:nvSpPr>
          <p:cNvPr id="26" name="Text 23"/>
          <p:cNvSpPr/>
          <p:nvPr/>
        </p:nvSpPr>
        <p:spPr>
          <a:xfrm>
            <a:off x="457200" y="3410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</a:t>
            </a:r>
            <a:endParaRPr lang="en-US" sz="1000"/>
          </a:p>
        </p:txBody>
      </p:sp>
      <p:sp>
        <p:nvSpPr>
          <p:cNvPr id="27" name="Shape 24"/>
          <p:cNvSpPr/>
          <p:nvPr/>
        </p:nvSpPr>
        <p:spPr>
          <a:xfrm>
            <a:off x="1920240" y="3438144"/>
            <a:ext cx="2564892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692140" y="3410712"/>
            <a:ext cx="0" cy="320040"/>
          </a:xfrm>
          <a:prstGeom prst="line">
            <a:avLst/>
          </a:prstGeom>
          <a:noFill/>
          <a:ln w="254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6572" y="34107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900"/>
          </a:p>
        </p:txBody>
      </p:sp>
      <p:sp>
        <p:nvSpPr>
          <p:cNvPr id="30" name="Text 27"/>
          <p:cNvSpPr/>
          <p:nvPr/>
        </p:nvSpPr>
        <p:spPr>
          <a:xfrm>
            <a:off x="573786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75%</a:t>
            </a:r>
            <a:endParaRPr lang="en-US" sz="700"/>
          </a:p>
        </p:txBody>
      </p:sp>
      <p:sp>
        <p:nvSpPr>
          <p:cNvPr id="31" name="Text 28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Business Outcome Targets</a:t>
            </a:r>
            <a:endParaRPr lang="en-US" sz="160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74552" cy="1813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12-Month Target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 deflection rate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~0%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30%+ of payment calls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 report turnaround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days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days or less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locator maintenance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 of automation time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 of automation time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automation coverage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~41%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70%+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Shadow AI instances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Numerous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&lt;50 within 6 months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classification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 tagged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&gt;80% within 12 months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Earley Information Science</a:t>
            </a:r>
            <a:endParaRPr lang="en-US" sz="900"/>
          </a:p>
        </p:txBody>
      </p:sp>
      <p:sp>
        <p:nvSpPr>
          <p:cNvPr id="35" name="Text 31"/>
          <p:cNvSpPr/>
          <p:nvPr/>
        </p:nvSpPr>
        <p:spPr>
          <a:xfrm>
            <a:off x="4572000" y="6400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00"/>
          </a:p>
        </p:txBody>
      </p:sp>
      <p:sp>
        <p:nvSpPr>
          <p:cNvPr id="36" name="Text 32"/>
          <p:cNvSpPr/>
          <p:nvPr/>
        </p:nvSpPr>
        <p:spPr>
          <a:xfrm>
            <a:off x="73152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Operational Metrics</a:t>
            </a:r>
            <a:endParaRPr lang="en-US" sz="1600"/>
          </a:p>
        </p:txBody>
      </p:sp>
      <p:sp>
        <p:nvSpPr>
          <p:cNvPr id="37" name="Shape 33"/>
          <p:cNvSpPr/>
          <p:nvPr/>
        </p:nvSpPr>
        <p:spPr>
          <a:xfrm>
            <a:off x="7315200" y="1874520"/>
            <a:ext cx="4416552" cy="32004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40664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4 approval</a:t>
            </a:r>
            <a:endParaRPr lang="en-US" sz="1000"/>
          </a:p>
        </p:txBody>
      </p:sp>
      <p:sp>
        <p:nvSpPr>
          <p:cNvPr id="39" name="Text 35"/>
          <p:cNvSpPr/>
          <p:nvPr/>
        </p:nvSpPr>
        <p:spPr>
          <a:xfrm>
            <a:off x="96926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&lt;1 week</a:t>
            </a:r>
            <a:endParaRPr lang="en-US" sz="1000"/>
          </a:p>
        </p:txBody>
      </p:sp>
      <p:sp>
        <p:nvSpPr>
          <p:cNvPr id="40" name="Shape 36"/>
          <p:cNvSpPr/>
          <p:nvPr/>
        </p:nvSpPr>
        <p:spPr>
          <a:xfrm>
            <a:off x="7315200" y="2240280"/>
            <a:ext cx="4416552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740664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registry</a:t>
            </a:r>
            <a:endParaRPr lang="en-US" sz="1000"/>
          </a:p>
        </p:txBody>
      </p:sp>
      <p:sp>
        <p:nvSpPr>
          <p:cNvPr id="42" name="Text 38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in 90 days</a:t>
            </a:r>
            <a:endParaRPr lang="en-US" sz="1000"/>
          </a:p>
        </p:txBody>
      </p:sp>
      <p:sp>
        <p:nvSpPr>
          <p:cNvPr id="43" name="Shape 39"/>
          <p:cNvSpPr/>
          <p:nvPr/>
        </p:nvSpPr>
        <p:spPr>
          <a:xfrm>
            <a:off x="7315200" y="2606040"/>
            <a:ext cx="4416552" cy="32004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740664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AI utilization</a:t>
            </a:r>
            <a:endParaRPr lang="en-US" sz="1000"/>
          </a:p>
        </p:txBody>
      </p:sp>
      <p:sp>
        <p:nvSpPr>
          <p:cNvPr id="45" name="Text 41"/>
          <p:cNvSpPr/>
          <p:nvPr/>
        </p:nvSpPr>
        <p:spPr>
          <a:xfrm>
            <a:off x="969264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&gt;80%</a:t>
            </a:r>
            <a:endParaRPr lang="en-US" sz="1000"/>
          </a:p>
        </p:txBody>
      </p:sp>
      <p:sp>
        <p:nvSpPr>
          <p:cNvPr id="46" name="Shape 42"/>
          <p:cNvSpPr/>
          <p:nvPr/>
        </p:nvSpPr>
        <p:spPr>
          <a:xfrm>
            <a:off x="7315200" y="2971800"/>
            <a:ext cx="4416552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740664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spend attribution</a:t>
            </a:r>
            <a:endParaRPr lang="en-US" sz="1000"/>
          </a:p>
        </p:txBody>
      </p:sp>
      <p:sp>
        <p:nvSpPr>
          <p:cNvPr id="48" name="Text 44"/>
          <p:cNvSpPr/>
          <p:nvPr/>
        </p:nvSpPr>
        <p:spPr>
          <a:xfrm>
            <a:off x="969264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&gt;90% in 6 months</a:t>
            </a:r>
            <a:endParaRPr lang="en-US" sz="1000"/>
          </a:p>
        </p:txBody>
      </p:sp>
      <p:sp>
        <p:nvSpPr>
          <p:cNvPr id="49" name="Shape 45"/>
          <p:cNvSpPr/>
          <p:nvPr/>
        </p:nvSpPr>
        <p:spPr>
          <a:xfrm>
            <a:off x="7315200" y="3337560"/>
            <a:ext cx="4416552" cy="32004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740664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Unapproved acquisitions</a:t>
            </a:r>
            <a:endParaRPr lang="en-US" sz="1000"/>
          </a:p>
        </p:txBody>
      </p:sp>
      <p:sp>
        <p:nvSpPr>
          <p:cNvPr id="51" name="Text 47"/>
          <p:cNvSpPr/>
          <p:nvPr/>
        </p:nvSpPr>
        <p:spPr>
          <a:xfrm>
            <a:off x="96926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 6 months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Actions This Week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4114800" y="1051560"/>
            <a:ext cx="39593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Ratify the Three-Tier Governance Structure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Circulate the charter. Convert office hours to weekly Working Group. No budget, no procurement required.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 Genesys AI Tokens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Initiate the SOW for speech analytics, sentiment analysis, and agent assistance. $15K/month in waste stops.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554480" y="3474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the Agent Registry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554480" y="3840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Spreadsheet-based v1 across Genesys, Salesforce, and Azure. One person, one day. You cannot govern what you cannot see.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155448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the Approved AI Tool List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1554480" y="48920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sanctioned alternatives for unauthorized users. Commission the Shadow IT Workflow task force.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1554480" y="5577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the Enhanced Testing Prompt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554480" y="59436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procurement, zero integration, Tier 4 self-service. 30-50% improvement in output consistency.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D4A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AI without IA.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C4A0-589D-AF81-D24B-18D60232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1CFA41-5606-0923-8093-295256534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AI Committee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CDDF1-E782-2A77-FC66-9C6F17CC65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F7000-A6F2-FA38-96A1-B42CD3D839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2418F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2418F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BFB09A-1832-1006-C211-FC3B86F44715}"/>
              </a:ext>
            </a:extLst>
          </p:cNvPr>
          <p:cNvSpPr/>
          <p:nvPr/>
        </p:nvSpPr>
        <p:spPr>
          <a:xfrm>
            <a:off x="1871412" y="948260"/>
            <a:ext cx="2849220" cy="502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People / Groups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00D444-977E-F605-E7F1-FC7E60373262}"/>
              </a:ext>
            </a:extLst>
          </p:cNvPr>
          <p:cNvSpPr/>
          <p:nvPr/>
        </p:nvSpPr>
        <p:spPr>
          <a:xfrm>
            <a:off x="5197505" y="955970"/>
            <a:ext cx="2849220" cy="502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High Level Responsibilities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85654B-586E-211E-F0D9-8E6976AD1166}"/>
              </a:ext>
            </a:extLst>
          </p:cNvPr>
          <p:cNvSpPr/>
          <p:nvPr/>
        </p:nvSpPr>
        <p:spPr>
          <a:xfrm>
            <a:off x="8850655" y="981486"/>
            <a:ext cx="2849220" cy="502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Meeting Cadence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40E34F1-11EE-E570-CB4A-36FE97D8471E}"/>
              </a:ext>
            </a:extLst>
          </p:cNvPr>
          <p:cNvGrpSpPr/>
          <p:nvPr/>
        </p:nvGrpSpPr>
        <p:grpSpPr>
          <a:xfrm>
            <a:off x="2125541" y="1641737"/>
            <a:ext cx="2183107" cy="1538883"/>
            <a:chOff x="1752729" y="1880226"/>
            <a:chExt cx="2183107" cy="1538883"/>
          </a:xfrm>
        </p:grpSpPr>
        <p:sp>
          <p:nvSpPr>
            <p:cNvPr id="13" name="Left Bracket 12">
              <a:extLst>
                <a:ext uri="{FF2B5EF4-FFF2-40B4-BE49-F238E27FC236}">
                  <a16:creationId xmlns:a16="http://schemas.microsoft.com/office/drawing/2014/main" id="{35884863-165E-91AE-A0D4-31E4BB6631E0}"/>
                </a:ext>
              </a:extLst>
            </p:cNvPr>
            <p:cNvSpPr/>
            <p:nvPr/>
          </p:nvSpPr>
          <p:spPr>
            <a:xfrm>
              <a:off x="1752729" y="1961441"/>
              <a:ext cx="45719" cy="1015662"/>
            </a:xfrm>
            <a:prstGeom prst="leftBracket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D4E5C4-C310-C103-5468-821C76261087}"/>
                </a:ext>
              </a:extLst>
            </p:cNvPr>
            <p:cNvSpPr txBox="1"/>
            <p:nvPr/>
          </p:nvSpPr>
          <p:spPr>
            <a:xfrm>
              <a:off x="1903836" y="1880226"/>
              <a:ext cx="2032000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Digital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IT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Compliance / Legal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Risk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Operations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</p:txBody>
        </p:sp>
      </p:grp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28C634F1-9A4F-45E8-A8BB-E1CC02FD0B6D}"/>
              </a:ext>
            </a:extLst>
          </p:cNvPr>
          <p:cNvSpPr/>
          <p:nvPr/>
        </p:nvSpPr>
        <p:spPr>
          <a:xfrm>
            <a:off x="8855990" y="1682328"/>
            <a:ext cx="45719" cy="1015662"/>
          </a:xfrm>
          <a:prstGeom prst="leftBracke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9C055-6F76-CF60-C404-A31C11BCC678}"/>
              </a:ext>
            </a:extLst>
          </p:cNvPr>
          <p:cNvSpPr txBox="1"/>
          <p:nvPr/>
        </p:nvSpPr>
        <p:spPr>
          <a:xfrm>
            <a:off x="9377975" y="1999074"/>
            <a:ext cx="203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Quarterly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024512-4F07-EB8C-CE54-C314473BC06D}"/>
              </a:ext>
            </a:extLst>
          </p:cNvPr>
          <p:cNvGrpSpPr/>
          <p:nvPr/>
        </p:nvGrpSpPr>
        <p:grpSpPr>
          <a:xfrm>
            <a:off x="5100731" y="1533204"/>
            <a:ext cx="3035458" cy="1246495"/>
            <a:chOff x="2301264" y="1771693"/>
            <a:chExt cx="3035458" cy="1246495"/>
          </a:xfrm>
        </p:grpSpPr>
        <p:sp>
          <p:nvSpPr>
            <p:cNvPr id="20" name="Left Bracket 19">
              <a:extLst>
                <a:ext uri="{FF2B5EF4-FFF2-40B4-BE49-F238E27FC236}">
                  <a16:creationId xmlns:a16="http://schemas.microsoft.com/office/drawing/2014/main" id="{56D7A268-26CB-FE33-E60D-DF1CE14E24E2}"/>
                </a:ext>
              </a:extLst>
            </p:cNvPr>
            <p:cNvSpPr/>
            <p:nvPr/>
          </p:nvSpPr>
          <p:spPr>
            <a:xfrm>
              <a:off x="2301264" y="1953199"/>
              <a:ext cx="45719" cy="1015662"/>
            </a:xfrm>
            <a:prstGeom prst="leftBracket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7FBFD2-5CD7-9AA1-F7EA-756414C7C5DD}"/>
                </a:ext>
              </a:extLst>
            </p:cNvPr>
            <p:cNvSpPr txBox="1"/>
            <p:nvPr/>
          </p:nvSpPr>
          <p:spPr>
            <a:xfrm>
              <a:off x="2398037" y="1771693"/>
              <a:ext cx="2938685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2713" marR="0" lvl="0" indent="-112713" algn="l" defTabSz="914400" rtl="0" eaLnBrk="1" fontAlgn="t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Set AI strategy and guardrails </a:t>
              </a:r>
            </a:p>
            <a:p>
              <a:pPr marL="112713" marR="0" lvl="0" indent="-112713" algn="l" defTabSz="914400" rtl="0" eaLnBrk="1" fontAlgn="t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Approve policies and standards</a:t>
              </a:r>
            </a:p>
            <a:p>
              <a:pPr marL="112713" marR="0" lvl="0" indent="-112713" algn="l" defTabSz="914400" rtl="0" eaLnBrk="1" fontAlgn="t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Risk and compliance oversight</a:t>
              </a:r>
            </a:p>
            <a:p>
              <a:pPr marL="112713" marR="0" lvl="0" indent="-112713" algn="l" defTabSz="914400" rtl="0" eaLnBrk="1" fontAlgn="t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high‑risk AI use cases</a:t>
              </a:r>
            </a:p>
            <a:p>
              <a:pPr marL="112713" marR="0" lvl="0" indent="-112713" algn="l" defTabSz="914400" rtl="0" eaLnBrk="1" fontAlgn="t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AI portfolio governance </a:t>
              </a:r>
            </a:p>
            <a:p>
              <a:pPr marL="112713" marR="0" lvl="0" indent="-112713" algn="l" defTabSz="914400" rtl="0" eaLnBrk="1" fontAlgn="t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Accountability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307121-11C1-EB5B-D017-9C44DC7A9571}"/>
              </a:ext>
            </a:extLst>
          </p:cNvPr>
          <p:cNvGrpSpPr/>
          <p:nvPr/>
        </p:nvGrpSpPr>
        <p:grpSpPr>
          <a:xfrm>
            <a:off x="2138535" y="2781244"/>
            <a:ext cx="2187414" cy="2380139"/>
            <a:chOff x="1725563" y="1726284"/>
            <a:chExt cx="2187414" cy="2380139"/>
          </a:xfrm>
        </p:grpSpPr>
        <p:sp>
          <p:nvSpPr>
            <p:cNvPr id="40" name="Left Bracket 39">
              <a:extLst>
                <a:ext uri="{FF2B5EF4-FFF2-40B4-BE49-F238E27FC236}">
                  <a16:creationId xmlns:a16="http://schemas.microsoft.com/office/drawing/2014/main" id="{448527F3-1BB7-B1C6-B0D9-99F4C6E26D22}"/>
                </a:ext>
              </a:extLst>
            </p:cNvPr>
            <p:cNvSpPr/>
            <p:nvPr/>
          </p:nvSpPr>
          <p:spPr>
            <a:xfrm>
              <a:off x="1725563" y="2202170"/>
              <a:ext cx="33431" cy="1249178"/>
            </a:xfrm>
            <a:prstGeom prst="leftBracket">
              <a:avLst/>
            </a:prstGeom>
            <a:ln w="38100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5CB746D-ABB4-994E-21A0-AD3DEC09481B}"/>
                </a:ext>
              </a:extLst>
            </p:cNvPr>
            <p:cNvSpPr txBox="1"/>
            <p:nvPr/>
          </p:nvSpPr>
          <p:spPr>
            <a:xfrm>
              <a:off x="1880977" y="1726284"/>
              <a:ext cx="2032000" cy="2380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Larry Burgess - Chair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srgbClr val="272B35"/>
                  </a:solidFill>
                </a:rPr>
                <a:t>Eric Gray – Co-Chair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Ryan Miller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Mike Calaway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Puru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Vik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Nader</a:t>
              </a:r>
            </a:p>
            <a:p>
              <a:pPr marL="171450" lvl="0" indent="-171450">
                <a:spcAft>
                  <a:spcPts val="2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srgbClr val="272B35"/>
                  </a:solidFill>
                </a:rPr>
                <a:t>Cassidy Hodges</a:t>
              </a:r>
            </a:p>
            <a:p>
              <a:pPr marL="171450" lvl="0" indent="-171450">
                <a:spcAft>
                  <a:spcPts val="2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srgbClr val="272B35"/>
                  </a:solidFill>
                </a:rPr>
                <a:t>Kris Krishnan</a:t>
              </a:r>
            </a:p>
            <a:p>
              <a:pPr marL="171450" lvl="0" indent="-171450">
                <a:spcAft>
                  <a:spcPts val="2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srgbClr val="272B35"/>
                  </a:solidFill>
                </a:rPr>
                <a:t>Chris Rodriguez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</p:txBody>
        </p:sp>
      </p:grp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40E9D924-7314-3BF1-BEE2-70BE04B38D97}"/>
              </a:ext>
            </a:extLst>
          </p:cNvPr>
          <p:cNvSpPr/>
          <p:nvPr/>
        </p:nvSpPr>
        <p:spPr>
          <a:xfrm>
            <a:off x="8855990" y="3280348"/>
            <a:ext cx="45719" cy="1015662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BD5E72-B2FF-870D-FF9D-9212531FFDB6}"/>
              </a:ext>
            </a:extLst>
          </p:cNvPr>
          <p:cNvSpPr txBox="1"/>
          <p:nvPr/>
        </p:nvSpPr>
        <p:spPr>
          <a:xfrm>
            <a:off x="9377975" y="3709604"/>
            <a:ext cx="218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Weekly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043726BB-37B7-6939-E8D6-0FA2C5EB3650}"/>
              </a:ext>
            </a:extLst>
          </p:cNvPr>
          <p:cNvSpPr/>
          <p:nvPr/>
        </p:nvSpPr>
        <p:spPr>
          <a:xfrm>
            <a:off x="5105742" y="2974683"/>
            <a:ext cx="58009" cy="1728501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0A5F00-B55C-1725-5F97-77C82107D169}"/>
              </a:ext>
            </a:extLst>
          </p:cNvPr>
          <p:cNvSpPr txBox="1"/>
          <p:nvPr/>
        </p:nvSpPr>
        <p:spPr>
          <a:xfrm>
            <a:off x="5137716" y="2805597"/>
            <a:ext cx="3361878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Operationalize governance 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Create process maps, templates, and decision artifacts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Define standards and design patterns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Model transparency, auditability, and monitoring requirements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Approval mechanics 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Registry and documentation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Define documentation standards</a:t>
            </a:r>
          </a:p>
          <a:p>
            <a:pPr marL="112713" marR="0" lvl="0" indent="-112713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272B35"/>
                </a:solidFill>
                <a:latin typeface="Segoe UI" panose="020B0502040204020203" pitchFamily="34" charset="0"/>
              </a:rPr>
              <a:t>Cost Management Approach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5F7DC13-A2FB-9AE9-3042-CCC8CA3C5A14}"/>
              </a:ext>
            </a:extLst>
          </p:cNvPr>
          <p:cNvGrpSpPr/>
          <p:nvPr/>
        </p:nvGrpSpPr>
        <p:grpSpPr>
          <a:xfrm>
            <a:off x="2098554" y="5103400"/>
            <a:ext cx="2227395" cy="1538883"/>
            <a:chOff x="1689166" y="2117400"/>
            <a:chExt cx="2227395" cy="1538883"/>
          </a:xfrm>
        </p:grpSpPr>
        <p:sp>
          <p:nvSpPr>
            <p:cNvPr id="53" name="Left Bracket 52">
              <a:extLst>
                <a:ext uri="{FF2B5EF4-FFF2-40B4-BE49-F238E27FC236}">
                  <a16:creationId xmlns:a16="http://schemas.microsoft.com/office/drawing/2014/main" id="{2E20B15F-6567-BDBA-9B0C-E5EB79C2BA6C}"/>
                </a:ext>
              </a:extLst>
            </p:cNvPr>
            <p:cNvSpPr/>
            <p:nvPr/>
          </p:nvSpPr>
          <p:spPr>
            <a:xfrm>
              <a:off x="1689166" y="2234748"/>
              <a:ext cx="45719" cy="1015662"/>
            </a:xfrm>
            <a:prstGeom prst="leftBracket">
              <a:avLst/>
            </a:prstGeom>
            <a:ln w="38100">
              <a:solidFill>
                <a:srgbClr val="FFC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7F2C75A-D97F-A364-DA0C-86BF6AB76C05}"/>
                </a:ext>
              </a:extLst>
            </p:cNvPr>
            <p:cNvSpPr txBox="1"/>
            <p:nvPr/>
          </p:nvSpPr>
          <p:spPr>
            <a:xfrm>
              <a:off x="1884561" y="2117400"/>
              <a:ext cx="2032000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Larry Burgess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Mike Calaway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Nader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Yu Luo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Eric Gray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srgbClr val="272B35"/>
                  </a:solidFill>
                  <a:latin typeface="Encode Sans ExpandedLight"/>
                </a:rPr>
                <a:t>Cassidy Hodges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72B35"/>
                  </a:solidFill>
                  <a:effectLst/>
                  <a:uLnTx/>
                  <a:uFillTx/>
                  <a:latin typeface="Encode Sans ExpandedLight"/>
                  <a:ea typeface="+mn-ea"/>
                  <a:cs typeface="+mn-cs"/>
                </a:rPr>
                <a:t>Kris Krishnan</a:t>
              </a:r>
            </a:p>
          </p:txBody>
        </p:sp>
      </p:grp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7A75687C-E44C-17F1-CE76-C219B280FB66}"/>
              </a:ext>
            </a:extLst>
          </p:cNvPr>
          <p:cNvSpPr/>
          <p:nvPr/>
        </p:nvSpPr>
        <p:spPr>
          <a:xfrm>
            <a:off x="8855990" y="5229347"/>
            <a:ext cx="45719" cy="1015662"/>
          </a:xfrm>
          <a:prstGeom prst="leftBracket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4D574D-1AD9-60C4-BFA8-3241EA9851EE}"/>
              </a:ext>
            </a:extLst>
          </p:cNvPr>
          <p:cNvSpPr txBox="1"/>
          <p:nvPr/>
        </p:nvSpPr>
        <p:spPr>
          <a:xfrm>
            <a:off x="9377975" y="5623656"/>
            <a:ext cx="203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Weekly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999418F4-798E-035C-6221-3D39A25208FE}"/>
              </a:ext>
            </a:extLst>
          </p:cNvPr>
          <p:cNvSpPr/>
          <p:nvPr/>
        </p:nvSpPr>
        <p:spPr>
          <a:xfrm>
            <a:off x="5111300" y="5113468"/>
            <a:ext cx="58009" cy="1286049"/>
          </a:xfrm>
          <a:prstGeom prst="leftBracket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2F14E6-1CCE-8736-9F74-D1772AEF8033}"/>
              </a:ext>
            </a:extLst>
          </p:cNvPr>
          <p:cNvSpPr/>
          <p:nvPr/>
        </p:nvSpPr>
        <p:spPr>
          <a:xfrm>
            <a:off x="173674" y="1714710"/>
            <a:ext cx="1589533" cy="101566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AI Governance Committee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1300169-8D61-F90C-0327-86D0B2A48ED4}"/>
              </a:ext>
            </a:extLst>
          </p:cNvPr>
          <p:cNvSpPr/>
          <p:nvPr/>
        </p:nvSpPr>
        <p:spPr>
          <a:xfrm>
            <a:off x="173674" y="3237419"/>
            <a:ext cx="1589533" cy="1015662"/>
          </a:xfrm>
          <a:prstGeom prst="roundRect">
            <a:avLst/>
          </a:prstGeom>
          <a:solidFill>
            <a:srgbClr val="00B050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AI Governance Committee Working Group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F5CC93F-E30D-0E7C-7337-5AEEDD0422E8}"/>
              </a:ext>
            </a:extLst>
          </p:cNvPr>
          <p:cNvSpPr/>
          <p:nvPr/>
        </p:nvSpPr>
        <p:spPr>
          <a:xfrm>
            <a:off x="179922" y="4974818"/>
            <a:ext cx="1589533" cy="1015662"/>
          </a:xfrm>
          <a:prstGeom prst="roundRect">
            <a:avLst/>
          </a:prstGeom>
          <a:solidFill>
            <a:srgbClr val="FFC000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t>AI Execution Working Group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72B35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2C2348-1C31-8E83-89BE-DFD2AB9D1E46}"/>
              </a:ext>
            </a:extLst>
          </p:cNvPr>
          <p:cNvSpPr txBox="1"/>
          <p:nvPr/>
        </p:nvSpPr>
        <p:spPr>
          <a:xfrm>
            <a:off x="5121305" y="5040167"/>
            <a:ext cx="3607432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marR="0" lvl="0" indent="-174625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Use case development</a:t>
            </a:r>
          </a:p>
          <a:p>
            <a:pPr marL="174625" marR="0" lvl="0" indent="-174625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Solution delivery</a:t>
            </a:r>
          </a:p>
          <a:p>
            <a:pPr marL="174625" marR="0" lvl="0" indent="-174625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Compliance execution Operational monitoring Track performance, drift, cost, and incidents</a:t>
            </a:r>
          </a:p>
          <a:p>
            <a:pPr marL="174625" marR="0" lvl="0" indent="-174625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Escalate issues through governance channels</a:t>
            </a:r>
          </a:p>
          <a:p>
            <a:pPr marL="174625" marR="0" lvl="0" indent="-174625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Continuous improvement</a:t>
            </a:r>
          </a:p>
          <a:p>
            <a:pPr marL="174625" marR="0" lvl="0" indent="-174625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72B3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Feed lessons learned back to the Working Group</a:t>
            </a:r>
          </a:p>
        </p:txBody>
      </p:sp>
    </p:spTree>
    <p:extLst>
      <p:ext uri="{BB962C8B-B14F-4D97-AF65-F5344CB8AC3E}">
        <p14:creationId xmlns:p14="http://schemas.microsoft.com/office/powerpoint/2010/main" val="3603251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 xsi:nil="true"/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788383D-9F30-4088-968B-34B20A2583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945CF5-4669-4F6B-83A9-A3F753937A9E}">
  <ds:schemaRefs>
    <ds:schemaRef ds:uri="17246cb7-97e8-44c0-90d5-6161e615d350"/>
    <ds:schemaRef ds:uri="1bbba5f1-a15e-48ed-ae4b-bc36e8dd2f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F936D19-A839-41AF-A980-83651C5FDAD1}">
  <ds:schemaRefs>
    <ds:schemaRef ds:uri="17246cb7-97e8-44c0-90d5-6161e615d350"/>
    <ds:schemaRef ds:uri="1bbba5f1-a15e-48ed-ae4b-bc36e8dd2f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SFS AI Readiness - Executive Synthesis Summary</dc:title>
  <dc:subject>PptxGenJS Presentation</dc:subject>
  <dc:creator>Earley Information Science</dc:creator>
  <cp:revision>1</cp:revision>
  <dcterms:created xsi:type="dcterms:W3CDTF">2026-02-27T16:34:05Z</dcterms:created>
  <dcterms:modified xsi:type="dcterms:W3CDTF">2026-03-17T15:51:01Z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0x0101000B97C77CF6C980478CF1A0C7BB3DB346</vt:lpwstr>
  </property>
  <property fmtid="{D5CDD505-2E9C-101B-9397-08002B2CF9AE}" pid="3" name="Project_x0020_Document_x0020_Type_x0020_PROPOSED">
    <vt:lpwstr/>
  </property>
  <property fmtid="{D5CDD505-2E9C-101B-9397-08002B2CF9AE}" pid="4" name="Technology">
    <vt:lpwstr/>
  </property>
  <property fmtid="{D5CDD505-2E9C-101B-9397-08002B2CF9AE}" pid="5" name="AccountName">
    <vt:lpwstr>5;#Stellantis Financial Services|ae495efb-8e65-4cbd-b57d-7d196b299547</vt:lpwstr>
  </property>
  <property fmtid="{D5CDD505-2E9C-101B-9397-08002B2CF9AE}" pid="6" name="Competency">
    <vt:lpwstr>6;#information architecture|0c69daec-fbc4-45c7-ab9c-bd21b0f93d0b</vt:lpwstr>
  </property>
  <property fmtid="{D5CDD505-2E9C-101B-9397-08002B2CF9AE}" pid="7" name="TechnologyProduct">
    <vt:lpwstr/>
  </property>
  <property fmtid="{D5CDD505-2E9C-101B-9397-08002B2CF9AE}" pid="8" name="Industry">
    <vt:lpwstr/>
  </property>
  <property fmtid="{D5CDD505-2E9C-101B-9397-08002B2CF9AE}" pid="9" name="Project Document Type PROPOSED">
    <vt:lpwstr/>
  </property>
  <property fmtid="{D5CDD505-2E9C-101B-9397-08002B2CF9AE}" pid="10" name="MSIP_Label_791df23e-ee3d-4e72-bd33-1d096ae15290_Enabled">
    <vt:lpwstr>true</vt:lpwstr>
  </property>
  <property fmtid="{D5CDD505-2E9C-101B-9397-08002B2CF9AE}" pid="11" name="MSIP_Label_791df23e-ee3d-4e72-bd33-1d096ae15290_SetDate">
    <vt:lpwstr>2026-03-16T14:21:01Z</vt:lpwstr>
  </property>
  <property fmtid="{D5CDD505-2E9C-101B-9397-08002B2CF9AE}" pid="12" name="MSIP_Label_791df23e-ee3d-4e72-bd33-1d096ae15290_Method">
    <vt:lpwstr>Standard</vt:lpwstr>
  </property>
  <property fmtid="{D5CDD505-2E9C-101B-9397-08002B2CF9AE}" pid="13" name="MSIP_Label_791df23e-ee3d-4e72-bd33-1d096ae15290_Name">
    <vt:lpwstr>General</vt:lpwstr>
  </property>
  <property fmtid="{D5CDD505-2E9C-101B-9397-08002B2CF9AE}" pid="14" name="MSIP_Label_791df23e-ee3d-4e72-bd33-1d096ae15290_SiteId">
    <vt:lpwstr>aea87219-080c-4106-b601-bed93d828f3c</vt:lpwstr>
  </property>
  <property fmtid="{D5CDD505-2E9C-101B-9397-08002B2CF9AE}" pid="15" name="MSIP_Label_791df23e-ee3d-4e72-bd33-1d096ae15290_ActionId">
    <vt:lpwstr>219c30c9-bb84-4e01-be43-f7ecdb7e320b</vt:lpwstr>
  </property>
  <property fmtid="{D5CDD505-2E9C-101B-9397-08002B2CF9AE}" pid="16" name="MSIP_Label_791df23e-ee3d-4e72-bd33-1d096ae15290_ContentBits">
    <vt:lpwstr>0</vt:lpwstr>
  </property>
  <property fmtid="{D5CDD505-2E9C-101B-9397-08002B2CF9AE}" pid="17" name="MSIP_Label_791df23e-ee3d-4e72-bd33-1d096ae15290_Tag">
    <vt:lpwstr>10, 3, 0, 2</vt:lpwstr>
  </property>
  <property fmtid="{D5CDD505-2E9C-101B-9397-08002B2CF9AE}" pid="18" name="MediaServiceImageTags">
    <vt:lpwstr/>
  </property>
</Properties>
</file>