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4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1.xml" ContentType="application/vnd.openxmlformats-officedocument.theme+xml"/>
  <Override PartName="/ppt/authors.xml" ContentType="application/vnd.ms-powerpoint.authors+xml"/>
  <Override PartName="/ppt/theme/theme3.xml" ContentType="application/vnd.openxmlformats-officedocument.theme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ags/tag1.xml" ContentType="application/vnd.openxmlformats-officedocument.presentationml.tag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7" r:id="rId4"/>
    <p:sldMasterId id="2147484776" r:id="rId5"/>
    <p:sldMasterId id="2147485483" r:id="rId6"/>
  </p:sldMasterIdLst>
  <p:notesMasterIdLst>
    <p:notesMasterId r:id="rId17"/>
  </p:notesMasterIdLst>
  <p:handoutMasterIdLst>
    <p:handoutMasterId r:id="rId18"/>
  </p:handoutMasterIdLst>
  <p:sldIdLst>
    <p:sldId id="2147483640" r:id="rId7"/>
    <p:sldId id="2147483642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7102475" cy="9388475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7174A7-44EE-4831-A8EE-B0A48C5D919E}">
          <p14:sldIdLst>
            <p14:sldId id="2147483640"/>
            <p14:sldId id="2147483642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orient="horz" pos="398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D05A3B-55DD-4C2D-C536-36825727165D}" name="Sanjay Mehta" initials="SM" userId="S::sanjay.mehta@earley.com::dc6c09ae-4fd0-4dc9-a518-d1ab09126c4c" providerId="AD"/>
  <p188:author id="{B70B6884-82CA-26DC-657A-4C24E4D1E827}" name="Seth Earley" initials="SE" userId="S::Seth@earley.com::628be45f-8d1c-4a33-a8fa-c54e490afe68" providerId="AD"/>
  <p188:author id="{42378CB9-3D91-0558-69B3-97376F8B59CA}" name="patrick.hoeffel@phpartnersai.com" initials="pa" userId="S::urn:spo:guest#patrick.hoeffel@phpartnersai.com::" providerId="AD"/>
  <p188:author id="{FA6691BE-E185-20AF-21EC-A75E6A300ECE}" name="Heather Eisenbraun" initials="HE" userId="S::heather.eisenbraun@earley.com::af8590ba-9108-4f55-8849-6d71c7b93ad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e Skrobela" initials="DS" lastIdx="4" clrIdx="0">
    <p:extLst>
      <p:ext uri="{19B8F6BF-5375-455C-9EA6-DF929625EA0E}">
        <p15:presenceInfo xmlns:p15="http://schemas.microsoft.com/office/powerpoint/2012/main" userId="1443b150bf9a34a6" providerId="Windows Live"/>
      </p:ext>
    </p:extLst>
  </p:cmAuthor>
  <p:cmAuthor id="2" name="Sharon L. Foley" initials="SLF" lastIdx="1" clrIdx="1">
    <p:extLst>
      <p:ext uri="{19B8F6BF-5375-455C-9EA6-DF929625EA0E}">
        <p15:presenceInfo xmlns:p15="http://schemas.microsoft.com/office/powerpoint/2012/main" userId="Sharon L. Foley" providerId="None"/>
      </p:ext>
    </p:extLst>
  </p:cmAuthor>
  <p:cmAuthor id="3" name="Jeremy Grubman" initials="JG" lastIdx="15" clrIdx="2">
    <p:extLst>
      <p:ext uri="{19B8F6BF-5375-455C-9EA6-DF929625EA0E}">
        <p15:presenceInfo xmlns:p15="http://schemas.microsoft.com/office/powerpoint/2012/main" userId="S::jeremy.grubman@earley.com::13e03a4e-a889-46e1-9a1e-aea29cd9e409" providerId="AD"/>
      </p:ext>
    </p:extLst>
  </p:cmAuthor>
  <p:cmAuthor id="4" name="Seth Earley" initials="SE" lastIdx="3" clrIdx="3">
    <p:extLst>
      <p:ext uri="{19B8F6BF-5375-455C-9EA6-DF929625EA0E}">
        <p15:presenceInfo xmlns:p15="http://schemas.microsoft.com/office/powerpoint/2012/main" userId="S::Seth@earley.com::628be45f-8d1c-4a33-a8fa-c54e490afe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55F"/>
    <a:srgbClr val="404040"/>
    <a:srgbClr val="239E70"/>
    <a:srgbClr val="753686"/>
    <a:srgbClr val="262626"/>
    <a:srgbClr val="A85BBD"/>
    <a:srgbClr val="05163E"/>
    <a:srgbClr val="FFFFFF"/>
    <a:srgbClr val="156082"/>
    <a:srgbClr val="249F7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081" autoAdjust="0"/>
  </p:normalViewPr>
  <p:slideViewPr>
    <p:cSldViewPr snapToGrid="0">
      <p:cViewPr varScale="1">
        <p:scale>
          <a:sx n="89" d="100"/>
          <a:sy n="89" d="100"/>
        </p:scale>
        <p:origin x="451" y="266"/>
      </p:cViewPr>
      <p:guideLst>
        <p:guide orient="horz" pos="288"/>
        <p:guide orient="horz" pos="3984"/>
        <p:guide pos="408"/>
        <p:guide pos="7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26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E11313-CFBF-4B66-B192-B28215B37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286B-9068-4DFD-9B0D-59C4C92D8A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BAC482AC-6346-423C-90A8-3C22E14765EB}" type="datetimeFigureOut">
              <a:rPr lang="en-ID" smtClean="0"/>
              <a:t>11/02/2026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8A465-753D-42EC-B544-806967CCAB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D425F-8259-4636-8C48-509233582F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9EB6C80-C775-42A9-87D0-9A719D73488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8931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7199EB9-8828-4E68-8D3A-AE2B9C2D4520}" type="datetimeFigureOut">
              <a:rPr lang="en-ID" smtClean="0"/>
              <a:t>11/02/2026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64B4C95-FA3F-40D3-8CB1-BB8A8D62E4F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137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6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5"/>
              </a:lnSpc>
              <a:defRPr lang="en-ID" sz="5025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5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6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4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038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2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79956" y="6368336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7073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281760" y="6454313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5135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7000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34896" y="642778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5924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78130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511471" y="6454313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2210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k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88B1-598D-4501-8738-2590601E0FD4}"/>
              </a:ext>
            </a:extLst>
          </p:cNvPr>
          <p:cNvSpPr/>
          <p:nvPr/>
        </p:nvSpPr>
        <p:spPr>
          <a:xfrm>
            <a:off x="0" y="0"/>
            <a:ext cx="12192000" cy="34418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58E796-D3D3-49D9-8DF2-2576D70B291B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E16369-6DBF-4443-B97A-4DC346CFA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751" y="4300669"/>
            <a:ext cx="3890595" cy="218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0" smtClean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725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7217367-5936-48F6-BD04-5405C9D253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6050" y="3883770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800" b="1" i="0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3EDE36C-733D-4463-8558-8E97D3B9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0" y="6427788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50B3437-62A7-4BCF-A42A-7027ABAB2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51" y="900724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800" b="1" i="0" cap="all" baseline="0" smtClean="0">
                <a:solidFill>
                  <a:schemeClr val="bg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C9C934-35AB-4BE9-97D2-1EBA3B0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1524510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1" strike="noStrik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9AB279-D182-4D5E-9852-1435963B9B8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E429DE-51DB-478B-BB6F-2EE4371D3DC9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79DA8F-1BA3-430F-A2F2-0B837F901367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168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/ Cu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634" y="157986"/>
            <a:ext cx="599661" cy="599661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2FA05D2-4507-4086-07DB-3DBE345F1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0" y="6427788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A1B6B22-9A09-C505-9376-160E5A1E4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7432" y="6476713"/>
            <a:ext cx="4248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0344981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2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4" y="282846"/>
            <a:ext cx="7102555" cy="687518"/>
          </a:xfrm>
          <a:ln w="12700">
            <a:miter lim="400000"/>
          </a:ln>
        </p:spPr>
        <p:txBody>
          <a:bodyPr lIns="45719" rIns="45719">
            <a:normAutofit/>
          </a:bodyPr>
          <a:lstStyle>
            <a:lvl1pPr>
              <a:def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spcBef>
                <a:spcPts val="1199"/>
              </a:spcBef>
              <a:buFontTx/>
            </a:pPr>
            <a:r>
              <a:rPr lang="en-US"/>
              <a:t>Click to edit title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431CE43E-2A1E-34A5-2D06-15B920179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7171" y="644150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AAAFE40-1E5D-20F7-1BDD-427F6B969DC6}"/>
              </a:ext>
            </a:extLst>
          </p:cNvPr>
          <p:cNvSpPr txBox="1">
            <a:spLocks/>
          </p:cNvSpPr>
          <p:nvPr userDrawn="1"/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6930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7" name="Slide Number Placeholder 16">
            <a:extLst>
              <a:ext uri="{FF2B5EF4-FFF2-40B4-BE49-F238E27FC236}">
                <a16:creationId xmlns:a16="http://schemas.microsoft.com/office/drawing/2014/main" id="{8E11733D-8612-33BF-572C-E8E204A7F8D6}"/>
              </a:ext>
            </a:extLst>
          </p:cNvPr>
          <p:cNvSpPr txBox="1">
            <a:spLocks/>
          </p:cNvSpPr>
          <p:nvPr userDrawn="1"/>
        </p:nvSpPr>
        <p:spPr>
          <a:xfrm>
            <a:off x="2795660" y="6508801"/>
            <a:ext cx="6600680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44" dirty="0">
                <a:solidFill>
                  <a:srgbClr val="40404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2026 Earley Information Science, Inc.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C6C770-0FAC-FE42-19D3-69CABCEF40BC}"/>
              </a:ext>
            </a:extLst>
          </p:cNvPr>
          <p:cNvCxnSpPr>
            <a:cxnSpLocks/>
          </p:cNvCxnSpPr>
          <p:nvPr userDrawn="1"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rgbClr val="24455F">
                <a:alpha val="20000"/>
              </a:srgb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866106-8B61-D176-143A-5F4B9ED0827C}"/>
              </a:ext>
            </a:extLst>
          </p:cNvPr>
          <p:cNvCxnSpPr>
            <a:cxnSpLocks/>
          </p:cNvCxnSpPr>
          <p:nvPr userDrawn="1"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chemeClr val="bg1">
                <a:alpha val="2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 dirty="0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05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DE516-9F5C-4BCD-9CDC-C9108056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" y="0"/>
            <a:ext cx="1216980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93755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4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FA7AF3-0843-4242-B96A-9A2CA1689F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7BC6E0-54DB-42FD-B385-42278C5C5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F20BE4-ADC3-4FC8-B23E-5C07C1785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6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5"/>
              </a:lnSpc>
              <a:defRPr lang="en-ID" sz="5025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5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718F19-CEB9-4A88-BA54-56829C730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132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1385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67898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67000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7418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78130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24905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195309"/>
            <a:ext cx="10515600" cy="5623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A435D41-0DD0-C7C1-4A04-224F8CAB2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660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420E-C5AB-4C68-B8CD-22E8E4A5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FCA92-9F36-4F1B-946D-FBDB9521E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68939-378A-4D32-9711-9236DF0A35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74" y="1447803"/>
            <a:ext cx="10950792" cy="4633913"/>
          </a:xfrm>
        </p:spPr>
        <p:txBody>
          <a:bodyPr/>
          <a:lstStyle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5FCCE71-3398-3D8A-46BD-3BA65055F525}"/>
              </a:ext>
            </a:extLst>
          </p:cNvPr>
          <p:cNvSpPr txBox="1">
            <a:spLocks/>
          </p:cNvSpPr>
          <p:nvPr userDrawn="1"/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0E506-015C-44FA-8E41-5848CC402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4329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EB8C558-13B4-2D79-1395-8D21E8AD3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9951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508000" y="838200"/>
            <a:ext cx="107696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401" y="152400"/>
            <a:ext cx="1137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B4C0B9D-32D1-550B-7ED8-F9B093132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466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498602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22239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1" y="273960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8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213539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826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1AB0CD-EDB0-4B7A-9307-1F323FB4234B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9A819A-ADEC-4587-B8D3-70356321758B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02240A-45D5-47FA-AE7D-6E30EA1A65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14" name="Rectangle 45">
            <a:extLst>
              <a:ext uri="{FF2B5EF4-FFF2-40B4-BE49-F238E27FC236}">
                <a16:creationId xmlns:a16="http://schemas.microsoft.com/office/drawing/2014/main" id="{1614CE4C-6AED-43A4-AF0A-E825A8F6E9D9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7F43A-4477-44DB-A1CF-3C002A669571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D729B693-9349-41DB-BB01-89D56EC57C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2276" y="392831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282640-11D5-431D-82A5-2D3E7D2FA4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0483" y="1223668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5EB3FD9-1880-4C3F-92C6-67497E452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1" y="525909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11978170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6837768-A706-904D-39E2-8D30812F5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4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82B9A-51CA-C442-B72B-2822FC471C16}"/>
              </a:ext>
            </a:extLst>
          </p:cNvPr>
          <p:cNvSpPr/>
          <p:nvPr userDrawn="1"/>
        </p:nvSpPr>
        <p:spPr>
          <a:xfrm>
            <a:off x="-1" y="40540"/>
            <a:ext cx="4211645" cy="6405303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2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4" y="282846"/>
            <a:ext cx="7102555" cy="68751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3D2A3DE-8CE5-20A6-C3F9-C4B69601A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143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79083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8573785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586534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99C370A8-AD59-FF46-A9F7-FE91DAE0C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C21189-BD3E-402F-AAB3-A85845D42A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337" y="365126"/>
            <a:ext cx="7032012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90FAD90-1BD6-BAD6-4318-805C0F7B5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3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left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516725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515450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532630" y="1241144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99C370A8-AD59-FF46-A9F7-FE91DAE0C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40DDC0-7544-47C7-B9E6-795067D543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33018" y="276225"/>
            <a:ext cx="5058281" cy="693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9BD6BF9-2E75-E64E-65D4-1838CB98B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695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right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82B9A-51CA-C442-B72B-2822FC471C16}"/>
              </a:ext>
            </a:extLst>
          </p:cNvPr>
          <p:cNvSpPr/>
          <p:nvPr userDrawn="1"/>
        </p:nvSpPr>
        <p:spPr>
          <a:xfrm>
            <a:off x="6096000" y="0"/>
            <a:ext cx="6142546" cy="68580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516725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515450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532630" y="1241144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DDE38A-319B-4667-B0DB-84B53592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33018" y="276225"/>
            <a:ext cx="5058281" cy="693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BEF609D-A286-173E-2477-D4331FBC6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129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 userDrawn="1"/>
        </p:nvSpPr>
        <p:spPr>
          <a:xfrm>
            <a:off x="-31033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29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 userDrawn="1"/>
        </p:nvSpPr>
        <p:spPr>
          <a:xfrm rot="10800000">
            <a:off x="590427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 userDrawn="1"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 userDrawn="1"/>
        </p:nvSpPr>
        <p:spPr>
          <a:xfrm>
            <a:off x="609600" y="6507766"/>
            <a:ext cx="103276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www.earley.com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29" y="1427981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778259B-6C58-1014-72EC-248AC72B6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5869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 userDrawn="1"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33626" y="2506512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 userDrawn="1"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9" y="3751186"/>
            <a:ext cx="5177468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7742576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2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519747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208289027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 userDrawn="1"/>
        </p:nvSpPr>
        <p:spPr>
          <a:xfrm rot="10800000">
            <a:off x="-31029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2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519747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68433507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33" y="275271"/>
            <a:ext cx="11259334" cy="6935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6401" y="1086998"/>
            <a:ext cx="11480800" cy="50852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55C0C71-E13C-E6D2-94E6-A95E1DF9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4793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394" y="195310"/>
            <a:ext cx="10515600" cy="5623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6394" y="1091954"/>
            <a:ext cx="10515600" cy="5105809"/>
          </a:xfrm>
        </p:spPr>
        <p:txBody>
          <a:bodyPr/>
          <a:lstStyle>
            <a:lvl1pPr marL="0" indent="0">
              <a:buNone/>
              <a:defRPr sz="2397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DFA23B3-A9B5-8504-A871-7D2F176CE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0C5-FED8-485C-9349-92D63E2C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955654"/>
            <a:ext cx="8425178" cy="603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3996"/>
              </a:lnSpc>
              <a:defRPr lang="en-ID" sz="3996" b="1" spc="-1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3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B8E6BB7-C815-4EDD-B768-A91431264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587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AC94736-0536-4747-BA8B-245582917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732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A642A97-0529-49E2-A94E-3795AAA7F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9589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56D1-2B97-44E0-8947-643B79DDFE97}"/>
              </a:ext>
            </a:extLst>
          </p:cNvPr>
          <p:cNvSpPr txBox="1"/>
          <p:nvPr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20580-809D-43A4-A53A-A65CD022DBF3}"/>
              </a:ext>
            </a:extLst>
          </p:cNvPr>
          <p:cNvCxnSpPr/>
          <p:nvPr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84160D-B2AE-418A-A69C-6CC9D17218CF}"/>
              </a:ext>
            </a:extLst>
          </p:cNvPr>
          <p:cNvSpPr/>
          <p:nvPr userDrawn="1"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5CAB1-FC05-47B9-811C-C74EA10794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78FF83E-3480-4E82-A886-A7BB58A96D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1395A-9AE4-425E-9FCF-0659C58FC3D5}"/>
              </a:ext>
            </a:extLst>
          </p:cNvPr>
          <p:cNvSpPr txBox="1"/>
          <p:nvPr userDrawn="1"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891FC5-03A1-41EA-9690-DF78F78C975E}"/>
              </a:ext>
            </a:extLst>
          </p:cNvPr>
          <p:cNvCxnSpPr/>
          <p:nvPr userDrawn="1"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53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48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96">
                <a:solidFill>
                  <a:schemeClr val="tx1"/>
                </a:solidFill>
              </a:defRPr>
            </a:lvl1pPr>
            <a:lvl2pPr>
              <a:defRPr sz="3197">
                <a:solidFill>
                  <a:schemeClr val="tx1"/>
                </a:solidFill>
              </a:defRPr>
            </a:lvl2pPr>
            <a:lvl3pPr>
              <a:defRPr sz="2797">
                <a:solidFill>
                  <a:schemeClr val="tx1"/>
                </a:solidFill>
              </a:defRPr>
            </a:lvl3pPr>
            <a:lvl4pPr>
              <a:defRPr sz="2398">
                <a:solidFill>
                  <a:schemeClr val="tx1"/>
                </a:solidFill>
              </a:defRPr>
            </a:lvl4pPr>
            <a:lvl5pPr>
              <a:defRPr sz="2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14FE66-2B2E-96DB-05E0-B12764CAE5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484343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190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4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986207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3537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22293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1377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7001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41214" y="6427789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8279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78132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82657" y="6492875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895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5B23803-6759-F52D-2F95-0395C5B2E136}"/>
              </a:ext>
            </a:extLst>
          </p:cNvPr>
          <p:cNvSpPr txBox="1">
            <a:spLocks/>
          </p:cNvSpPr>
          <p:nvPr userDrawn="1"/>
        </p:nvSpPr>
        <p:spPr>
          <a:xfrm>
            <a:off x="11135796" y="6330587"/>
            <a:ext cx="524434" cy="365125"/>
          </a:xfrm>
          <a:prstGeom prst="rect">
            <a:avLst/>
          </a:prstGeom>
        </p:spPr>
        <p:txBody>
          <a:bodyPr vert="horz" lIns="91345" tIns="45672" rIns="91345" bIns="45672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97EF2B-C9D2-F148-903A-0D726181440A}" type="slidenum">
              <a:rPr lang="en-US" sz="1099" smtClean="0"/>
              <a:pPr/>
              <a:t>‹#›</a:t>
            </a:fld>
            <a:endParaRPr lang="en-US" sz="1099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DB8B971-1CC3-A756-D08A-6D49213F3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14282" y="6411667"/>
            <a:ext cx="4248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9" b="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67540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6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8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3" y="1241146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5" y="282846"/>
            <a:ext cx="7102555" cy="687518"/>
          </a:xfrm>
          <a:ln w="12700">
            <a:miter lim="400000"/>
          </a:ln>
        </p:spPr>
        <p:txBody>
          <a:bodyPr lIns="45719" rIns="45719">
            <a:normAutofit/>
          </a:bodyPr>
          <a:lstStyle>
            <a:lvl1pPr>
              <a:defRPr lang="en-US" sz="239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spcBef>
                <a:spcPts val="1198"/>
              </a:spcBef>
              <a:buFontTx/>
            </a:pPr>
            <a:r>
              <a:rPr lang="en-US"/>
              <a:t>Click to edit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464B2-8D6B-4BCE-60F3-CEDD78C60324}"/>
              </a:ext>
            </a:extLst>
          </p:cNvPr>
          <p:cNvSpPr/>
          <p:nvPr userDrawn="1"/>
        </p:nvSpPr>
        <p:spPr>
          <a:xfrm>
            <a:off x="4563633" y="6502628"/>
            <a:ext cx="364234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99" b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rPr>
              <a:t>Copyright © 2026 Earley Information Science, Inc.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189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0C5-FED8-485C-9349-92D63E2C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955654"/>
            <a:ext cx="8425178" cy="603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3996"/>
              </a:lnSpc>
              <a:defRPr lang="en-ID" sz="3996" b="1" spc="-1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3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B8E6BB7-C815-4EDD-B768-A91431264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587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AC94736-0536-4747-BA8B-245582917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732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A642A97-0529-49E2-A94E-3795AAA7F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9589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56D1-2B97-44E0-8947-643B79DDFE97}"/>
              </a:ext>
            </a:extLst>
          </p:cNvPr>
          <p:cNvSpPr txBox="1"/>
          <p:nvPr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20580-809D-43A4-A53A-A65CD022DBF3}"/>
              </a:ext>
            </a:extLst>
          </p:cNvPr>
          <p:cNvCxnSpPr/>
          <p:nvPr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84160D-B2AE-418A-A69C-6CC9D17218CF}"/>
              </a:ext>
            </a:extLst>
          </p:cNvPr>
          <p:cNvSpPr/>
          <p:nvPr userDrawn="1"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5CAB1-FC05-47B9-811C-C74EA10794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78FF83E-3480-4E82-A886-A7BB58A96D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1395A-9AE4-425E-9FCF-0659C58FC3D5}"/>
              </a:ext>
            </a:extLst>
          </p:cNvPr>
          <p:cNvSpPr txBox="1"/>
          <p:nvPr userDrawn="1"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891FC5-03A1-41EA-9690-DF78F78C975E}"/>
              </a:ext>
            </a:extLst>
          </p:cNvPr>
          <p:cNvCxnSpPr/>
          <p:nvPr userDrawn="1"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386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DE516-9F5C-4BCD-9CDC-C9108056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" y="0"/>
            <a:ext cx="1216980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93757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FA7AF3-0843-4242-B96A-9A2CA1689F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7BC6E0-54DB-42FD-B385-42278C5C5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F20BE4-ADC3-4FC8-B23E-5C07C1785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718F19-CEB9-4A88-BA54-56829C730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95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EFF4AA31-DA6D-45A8-A646-3204EF8D86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80000"/>
            <a:ext cx="12192000" cy="179811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CC7630E-F1DC-415D-82E0-25D6FAB1B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7C98DE-92E7-4233-8FA0-0781E908AC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AE5C174-1402-4DCE-8CCB-A0F550024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78CC2B-9055-4B8C-9176-3B628FA6B5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2785F1A-057A-4ED3-8529-64CA10248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777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2293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96">
                <a:solidFill>
                  <a:schemeClr val="tx1"/>
                </a:solidFill>
              </a:defRPr>
            </a:lvl1pPr>
            <a:lvl2pPr>
              <a:defRPr sz="3197">
                <a:solidFill>
                  <a:schemeClr val="tx1"/>
                </a:solidFill>
              </a:defRPr>
            </a:lvl2pPr>
            <a:lvl3pPr>
              <a:defRPr sz="2797">
                <a:solidFill>
                  <a:schemeClr val="tx1"/>
                </a:solidFill>
              </a:defRPr>
            </a:lvl3pPr>
            <a:lvl4pPr>
              <a:defRPr sz="2398">
                <a:solidFill>
                  <a:schemeClr val="tx1"/>
                </a:solidFill>
              </a:defRPr>
            </a:lvl4pPr>
            <a:lvl5pPr>
              <a:defRPr sz="2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14FE66-2B2E-96DB-05E0-B12764CAE5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218682" y="6487242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058526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4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98861" y="6427789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60556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94356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66496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67001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589338" y="6492875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848156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78132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58329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834790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k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88B1-598D-4501-8738-2590601E0FD4}"/>
              </a:ext>
            </a:extLst>
          </p:cNvPr>
          <p:cNvSpPr/>
          <p:nvPr/>
        </p:nvSpPr>
        <p:spPr>
          <a:xfrm>
            <a:off x="0" y="2"/>
            <a:ext cx="12192000" cy="34418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58E796-D3D3-49D9-8DF2-2576D70B291B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E16369-6DBF-4443-B97A-4DC346CFA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751" y="4300669"/>
            <a:ext cx="3890595" cy="218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0" smtClean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723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7217367-5936-48F6-BD04-5405C9D253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6050" y="3883772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798" b="1" i="0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3EDE36C-733D-4463-8558-8E97D3B9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1" y="6427790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50B3437-62A7-4BCF-A42A-7027ABAB2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51" y="900725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798" b="1" i="0" cap="all" baseline="0" smtClean="0">
                <a:solidFill>
                  <a:schemeClr val="bg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C9C934-35AB-4BE9-97D2-1EBA3B0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1" y="1524512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1" strike="noStrik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9AB279-D182-4D5E-9852-1435963B9B80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E429DE-51DB-478B-BB6F-2EE4371D3DC9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79DA8F-1BA3-430F-A2F2-0B837F901367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623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image" Target="../media/image23.jpe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7171" y="644150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6174CD8-97A7-1979-1F46-1A0D61FB754A}"/>
              </a:ext>
            </a:extLst>
          </p:cNvPr>
          <p:cNvSpPr txBox="1">
            <a:spLocks/>
          </p:cNvSpPr>
          <p:nvPr userDrawn="1"/>
        </p:nvSpPr>
        <p:spPr>
          <a:xfrm>
            <a:off x="8382155" y="6441507"/>
            <a:ext cx="20591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www.earley.com</a:t>
            </a:r>
          </a:p>
        </p:txBody>
      </p:sp>
    </p:spTree>
    <p:extLst>
      <p:ext uri="{BB962C8B-B14F-4D97-AF65-F5344CB8AC3E}">
        <p14:creationId xmlns:p14="http://schemas.microsoft.com/office/powerpoint/2010/main" val="161161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1" r:id="rId1"/>
    <p:sldLayoutId id="2147484273" r:id="rId2"/>
    <p:sldLayoutId id="2147484274" r:id="rId3"/>
    <p:sldLayoutId id="2147484275" r:id="rId4"/>
    <p:sldLayoutId id="2147484276" r:id="rId5"/>
    <p:sldLayoutId id="2147484280" r:id="rId6"/>
    <p:sldLayoutId id="2147484353" r:id="rId7"/>
    <p:sldLayoutId id="2147484775" r:id="rId8"/>
    <p:sldLayoutId id="214748560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59B2844-0650-B41A-2795-1969717E760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6" y="6449080"/>
            <a:ext cx="1073150" cy="319045"/>
          </a:xfrm>
          <a:prstGeom prst="rect">
            <a:avLst/>
          </a:prstGeom>
        </p:spPr>
      </p:pic>
      <p:sp>
        <p:nvSpPr>
          <p:cNvPr id="4" name="Slide Number Placeholder 16">
            <a:extLst>
              <a:ext uri="{FF2B5EF4-FFF2-40B4-BE49-F238E27FC236}">
                <a16:creationId xmlns:a16="http://schemas.microsoft.com/office/drawing/2014/main" id="{69625882-F612-E944-6079-71089F5D23D6}"/>
              </a:ext>
            </a:extLst>
          </p:cNvPr>
          <p:cNvSpPr txBox="1">
            <a:spLocks/>
          </p:cNvSpPr>
          <p:nvPr userDrawn="1"/>
        </p:nvSpPr>
        <p:spPr>
          <a:xfrm>
            <a:off x="3133808" y="6608599"/>
            <a:ext cx="3809380" cy="1595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44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© 2026 Earley Information Science, Inc.</a:t>
            </a:r>
          </a:p>
        </p:txBody>
      </p:sp>
      <p:sp>
        <p:nvSpPr>
          <p:cNvPr id="12" name="Slide Number Placeholder 16">
            <a:extLst>
              <a:ext uri="{FF2B5EF4-FFF2-40B4-BE49-F238E27FC236}">
                <a16:creationId xmlns:a16="http://schemas.microsoft.com/office/drawing/2014/main" id="{0A702CBB-EB4F-AE1C-253B-26F7419CF97E}"/>
              </a:ext>
            </a:extLst>
          </p:cNvPr>
          <p:cNvSpPr txBox="1">
            <a:spLocks/>
          </p:cNvSpPr>
          <p:nvPr userDrawn="1"/>
        </p:nvSpPr>
        <p:spPr>
          <a:xfrm>
            <a:off x="7302604" y="6542945"/>
            <a:ext cx="3809380" cy="1595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44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www.earley.com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0329447-A4F0-5F14-8A33-702A36045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8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7" r:id="rId1"/>
    <p:sldLayoutId id="2147484778" r:id="rId2"/>
    <p:sldLayoutId id="2147484779" r:id="rId3"/>
    <p:sldLayoutId id="2147484780" r:id="rId4"/>
    <p:sldLayoutId id="2147484781" r:id="rId5"/>
    <p:sldLayoutId id="2147484782" r:id="rId6"/>
    <p:sldLayoutId id="2147484783" r:id="rId7"/>
    <p:sldLayoutId id="2147484786" r:id="rId8"/>
    <p:sldLayoutId id="2147484787" r:id="rId9"/>
    <p:sldLayoutId id="2147484791" r:id="rId10"/>
    <p:sldLayoutId id="2147484798" r:id="rId11"/>
    <p:sldLayoutId id="2147484799" r:id="rId12"/>
    <p:sldLayoutId id="2147484801" r:id="rId13"/>
    <p:sldLayoutId id="2147484802" r:id="rId14"/>
    <p:sldLayoutId id="2147484803" r:id="rId15"/>
    <p:sldLayoutId id="2147484804" r:id="rId16"/>
    <p:sldLayoutId id="2147484805" r:id="rId17"/>
    <p:sldLayoutId id="2147484808" r:id="rId18"/>
    <p:sldLayoutId id="2147484811" r:id="rId19"/>
    <p:sldLayoutId id="2147484812" r:id="rId20"/>
    <p:sldLayoutId id="2147484814" r:id="rId21"/>
    <p:sldLayoutId id="2147485394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296">
          <p15:clr>
            <a:srgbClr val="F26B43"/>
          </p15:clr>
        </p15:guide>
        <p15:guide id="23" orient="horz" pos="4016">
          <p15:clr>
            <a:srgbClr val="F26B43"/>
          </p15:clr>
        </p15:guide>
        <p15:guide id="24" pos="536">
          <p15:clr>
            <a:srgbClr val="F26B43"/>
          </p15:clr>
        </p15:guide>
        <p15:guide id="25" pos="7136">
          <p15:clr>
            <a:srgbClr val="F26B43"/>
          </p15:clr>
        </p15:guide>
        <p15:guide id="26" orient="horz" pos="728">
          <p15:clr>
            <a:srgbClr val="F26B43"/>
          </p15:clr>
        </p15:guide>
        <p15:guide id="27" orient="horz" pos="944">
          <p15:clr>
            <a:srgbClr val="F26B43"/>
          </p15:clr>
        </p15:guide>
        <p15:guide id="28" orient="horz" pos="38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A5D154EE-E42A-C041-7557-535578365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202" y="6446434"/>
            <a:ext cx="282576" cy="3243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4D1D16-6E02-C7AD-813F-20F9FA8EA42A}"/>
              </a:ext>
            </a:extLst>
          </p:cNvPr>
          <p:cNvSpPr/>
          <p:nvPr userDrawn="1"/>
        </p:nvSpPr>
        <p:spPr>
          <a:xfrm>
            <a:off x="545758" y="6469070"/>
            <a:ext cx="1055096" cy="2460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99" b="0">
                <a:solidFill>
                  <a:schemeClr val="tx1"/>
                </a:solidFill>
                <a:latin typeface="+mn-lt"/>
                <a:ea typeface="Arial" charset="0"/>
                <a:cs typeface="Arial" charset="0"/>
              </a:rPr>
              <a:t>www.earley.com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6279" y="6405647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 dirty="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45C7245-2463-8118-45D3-99375F1DD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74780-713E-161A-505C-AA2F68F9497C}"/>
              </a:ext>
            </a:extLst>
          </p:cNvPr>
          <p:cNvSpPr txBox="1">
            <a:spLocks/>
          </p:cNvSpPr>
          <p:nvPr userDrawn="1"/>
        </p:nvSpPr>
        <p:spPr>
          <a:xfrm>
            <a:off x="8382155" y="6441507"/>
            <a:ext cx="20591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100" dirty="0">
                <a:solidFill>
                  <a:srgbClr val="04153D"/>
                </a:solidFill>
                <a:latin typeface="Montserrat" pitchFamily="2" charset="77"/>
              </a:rPr>
              <a:t>www.earley.com</a:t>
            </a:r>
          </a:p>
        </p:txBody>
      </p:sp>
    </p:spTree>
    <p:extLst>
      <p:ext uri="{BB962C8B-B14F-4D97-AF65-F5344CB8AC3E}">
        <p14:creationId xmlns:p14="http://schemas.microsoft.com/office/powerpoint/2010/main" val="146991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84" r:id="rId1"/>
    <p:sldLayoutId id="2147485487" r:id="rId2"/>
    <p:sldLayoutId id="2147485488" r:id="rId3"/>
    <p:sldLayoutId id="2147485489" r:id="rId4"/>
    <p:sldLayoutId id="2147485490" r:id="rId5"/>
    <p:sldLayoutId id="2147485491" r:id="rId6"/>
    <p:sldLayoutId id="2147485492" r:id="rId7"/>
    <p:sldLayoutId id="2147485498" r:id="rId8"/>
    <p:sldLayoutId id="2147485499" r:id="rId9"/>
    <p:sldLayoutId id="2147485500" r:id="rId10"/>
    <p:sldLayoutId id="2147485501" r:id="rId11"/>
    <p:sldLayoutId id="2147485502" r:id="rId12"/>
    <p:sldLayoutId id="2147485503" r:id="rId13"/>
    <p:sldLayoutId id="2147485504" r:id="rId14"/>
    <p:sldLayoutId id="2147485505" r:id="rId15"/>
    <p:sldLayoutId id="2147485506" r:id="rId16"/>
    <p:sldLayoutId id="2147485507" r:id="rId17"/>
    <p:sldLayoutId id="2147485508" r:id="rId18"/>
    <p:sldLayoutId id="2147485511" r:id="rId19"/>
  </p:sldLayoutIdLst>
  <p:hf hdr="0" ftr="0" dt="0"/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296">
          <p15:clr>
            <a:srgbClr val="F26B43"/>
          </p15:clr>
        </p15:guide>
        <p15:guide id="23" orient="horz" pos="4016">
          <p15:clr>
            <a:srgbClr val="F26B43"/>
          </p15:clr>
        </p15:guide>
        <p15:guide id="24" pos="536">
          <p15:clr>
            <a:srgbClr val="F26B43"/>
          </p15:clr>
        </p15:guide>
        <p15:guide id="25" pos="7136">
          <p15:clr>
            <a:srgbClr val="F26B43"/>
          </p15:clr>
        </p15:guide>
        <p15:guide id="26" orient="horz" pos="728">
          <p15:clr>
            <a:srgbClr val="F26B43"/>
          </p15:clr>
        </p15:guide>
        <p15:guide id="27" orient="horz" pos="944">
          <p15:clr>
            <a:srgbClr val="F26B43"/>
          </p15:clr>
        </p15:guide>
        <p15:guide id="28" orient="horz" pos="38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10F4-F70A-CE4A-3AEF-82DF8923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FC86A-273B-3F0A-2085-F5056D69F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3528D5-C0E3-59E7-7653-3DD87A459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C35BD96-4D7A-CC37-4E74-A70740651D4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35" y="424891"/>
            <a:ext cx="2005263" cy="59557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5D7C4B-D2F3-7FEF-CCF8-A9F1D730C4A6}"/>
              </a:ext>
            </a:extLst>
          </p:cNvPr>
          <p:cNvSpPr/>
          <p:nvPr/>
        </p:nvSpPr>
        <p:spPr>
          <a:xfrm>
            <a:off x="495837" y="1856839"/>
            <a:ext cx="73152" cy="10972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8AA56-58E3-7B80-7F7E-FFD68596A8DF}"/>
              </a:ext>
            </a:extLst>
          </p:cNvPr>
          <p:cNvSpPr txBox="1"/>
          <p:nvPr/>
        </p:nvSpPr>
        <p:spPr>
          <a:xfrm>
            <a:off x="770157" y="1216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589"/>
                </a:solidFill>
                <a:latin typeface="Calibri"/>
              </a:defRPr>
            </a:pPr>
            <a:r>
              <a:t>STELLANTIS FINANCIAL SERVICES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477E29-B741-A3C4-98DF-202328D51392}"/>
              </a:ext>
            </a:extLst>
          </p:cNvPr>
          <p:cNvSpPr txBox="1"/>
          <p:nvPr/>
        </p:nvSpPr>
        <p:spPr>
          <a:xfrm>
            <a:off x="770157" y="18568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BI &amp; AI 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B41EAB-64A5-6487-FA08-167C1819E677}"/>
              </a:ext>
            </a:extLst>
          </p:cNvPr>
          <p:cNvSpPr txBox="1"/>
          <p:nvPr/>
        </p:nvSpPr>
        <p:spPr>
          <a:xfrm>
            <a:off x="770157" y="27712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Actionable Recommendations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61B61E-237F-ACA2-B6CB-5C93D7D20369}"/>
              </a:ext>
            </a:extLst>
          </p:cNvPr>
          <p:cNvSpPr txBox="1"/>
          <p:nvPr/>
        </p:nvSpPr>
        <p:spPr>
          <a:xfrm>
            <a:off x="770157" y="3685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B4DC"/>
                </a:solidFill>
                <a:latin typeface="Calibri"/>
              </a:defRPr>
            </a:pPr>
            <a:r>
              <a:t>Prepared by Earley Information Science | February 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0CD1FD-D700-58FC-EFD7-6C579170C508}"/>
              </a:ext>
            </a:extLst>
          </p:cNvPr>
          <p:cNvSpPr/>
          <p:nvPr/>
        </p:nvSpPr>
        <p:spPr>
          <a:xfrm>
            <a:off x="770157" y="4874359"/>
            <a:ext cx="2194560" cy="1097280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38319B-EEEA-0577-C6FB-052CF088C23A}"/>
              </a:ext>
            </a:extLst>
          </p:cNvPr>
          <p:cNvSpPr txBox="1"/>
          <p:nvPr/>
        </p:nvSpPr>
        <p:spPr>
          <a:xfrm>
            <a:off x="770157" y="49657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35066F-07D1-90C0-8800-42ED839515A5}"/>
              </a:ext>
            </a:extLst>
          </p:cNvPr>
          <p:cNvSpPr txBox="1"/>
          <p:nvPr/>
        </p:nvSpPr>
        <p:spPr>
          <a:xfrm>
            <a:off x="770157" y="551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B4DC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2C9746-2E29-590C-F3F0-D25A98CEDCE6}"/>
              </a:ext>
            </a:extLst>
          </p:cNvPr>
          <p:cNvSpPr/>
          <p:nvPr/>
        </p:nvSpPr>
        <p:spPr>
          <a:xfrm>
            <a:off x="3330476" y="4874359"/>
            <a:ext cx="2194560" cy="1097280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A5FBDD-8CD6-BBEB-3ACA-6ADB92B699EE}"/>
              </a:ext>
            </a:extLst>
          </p:cNvPr>
          <p:cNvSpPr txBox="1"/>
          <p:nvPr/>
        </p:nvSpPr>
        <p:spPr>
          <a:xfrm>
            <a:off x="3330476" y="49657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40-60%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DB3E8D-F937-614D-8714-E19FE9A37F39}"/>
              </a:ext>
            </a:extLst>
          </p:cNvPr>
          <p:cNvSpPr txBox="1"/>
          <p:nvPr/>
        </p:nvSpPr>
        <p:spPr>
          <a:xfrm>
            <a:off x="3330476" y="551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B4DC"/>
                </a:solidFill>
                <a:latin typeface="Calibri"/>
              </a:defRPr>
            </a:pPr>
            <a:r>
              <a:t>SQL Time Savings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626C66-A19B-821D-6249-EAA2618E7419}"/>
              </a:ext>
            </a:extLst>
          </p:cNvPr>
          <p:cNvSpPr/>
          <p:nvPr/>
        </p:nvSpPr>
        <p:spPr>
          <a:xfrm>
            <a:off x="5890796" y="4874359"/>
            <a:ext cx="2194560" cy="1097280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06BA6A-0753-A55E-A647-AC24FC714A1E}"/>
              </a:ext>
            </a:extLst>
          </p:cNvPr>
          <p:cNvSpPr txBox="1"/>
          <p:nvPr/>
        </p:nvSpPr>
        <p:spPr>
          <a:xfrm>
            <a:off x="5890796" y="49657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10→6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2FFC2C-5877-E19D-AA83-209C213B04CF}"/>
              </a:ext>
            </a:extLst>
          </p:cNvPr>
          <p:cNvSpPr txBox="1"/>
          <p:nvPr/>
        </p:nvSpPr>
        <p:spPr>
          <a:xfrm>
            <a:off x="5890796" y="551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B4DC"/>
                </a:solidFill>
                <a:latin typeface="Calibri"/>
              </a:defRPr>
            </a:pPr>
            <a:r>
              <a:t>Days Turnaround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241C2E-78E2-92A1-6655-7B15E74DF7C1}"/>
              </a:ext>
            </a:extLst>
          </p:cNvPr>
          <p:cNvSpPr/>
          <p:nvPr/>
        </p:nvSpPr>
        <p:spPr>
          <a:xfrm>
            <a:off x="8451117" y="4874359"/>
            <a:ext cx="2194560" cy="1097280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9EACF-EB8F-D9FF-971B-C40A73E2FA3C}"/>
              </a:ext>
            </a:extLst>
          </p:cNvPr>
          <p:cNvSpPr txBox="1"/>
          <p:nvPr/>
        </p:nvSpPr>
        <p:spPr>
          <a:xfrm>
            <a:off x="8451117" y="49657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2.2→3.8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B0BD4C-C4CA-558C-085B-0B41541ECEA5}"/>
              </a:ext>
            </a:extLst>
          </p:cNvPr>
          <p:cNvSpPr txBox="1"/>
          <p:nvPr/>
        </p:nvSpPr>
        <p:spPr>
          <a:xfrm>
            <a:off x="8451117" y="551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B4DC"/>
                </a:solidFill>
                <a:latin typeface="Calibri"/>
              </a:defRPr>
            </a:pPr>
            <a:r>
              <a:t>Maturity Score</a:t>
            </a:r>
          </a:p>
        </p:txBody>
      </p:sp>
    </p:spTree>
    <p:extLst>
      <p:ext uri="{BB962C8B-B14F-4D97-AF65-F5344CB8AC3E}">
        <p14:creationId xmlns:p14="http://schemas.microsoft.com/office/powerpoint/2010/main" val="372140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589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2A4E"/>
                </a:solidFill>
                <a:latin typeface="Calibri"/>
              </a:defRPr>
            </a:pPr>
            <a:r>
              <a:t>The BI team spends 70%+ of report creation time on SQL development. AI-assisted code generation represents the highest-impact opportunity, with potential to reduce the 10-day report turnaround by 40-60%.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Key Pain Points (from 11 Stakeholder Interviews)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SQL Development Bottleneck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246120"/>
            <a:ext cx="2606039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59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Query Performance (30-40+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630168"/>
            <a:ext cx="2057400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3584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68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Knowledge Fragmentation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014215"/>
            <a:ext cx="1783080" cy="22860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0" y="39684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74A6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52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Shadow AI Usage (personal ChatGPT)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398264"/>
            <a:ext cx="1645919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43525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EDW Migration Deadline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782312"/>
            <a:ext cx="1508760" cy="228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4736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Onboarding Gaps (6-8 weeks)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5166359"/>
            <a:ext cx="1371600" cy="2286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5120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A589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AI Maturity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AI Tool Adoption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246120"/>
            <a:ext cx="1645919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26880" y="3246120"/>
            <a:ext cx="54864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6424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6464"/>
                </a:solidFill>
                <a:latin typeface="Calibri"/>
              </a:defRPr>
            </a:pPr>
            <a:r>
              <a:t>1→3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Data Infrastructure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3749039"/>
            <a:ext cx="219456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26880" y="3749039"/>
            <a:ext cx="1097280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61288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6464"/>
                </a:solidFill>
                <a:latin typeface="Calibri"/>
              </a:defRPr>
            </a:pPr>
            <a:r>
              <a:t>2→4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Knowledge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251959"/>
            <a:ext cx="219456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26880" y="4251959"/>
            <a:ext cx="1097280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61288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6464"/>
                </a:solidFill>
                <a:latin typeface="Calibri"/>
              </a:defRPr>
            </a:pPr>
            <a:r>
              <a:t>2→4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Data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4754880"/>
            <a:ext cx="219456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26880" y="4754880"/>
            <a:ext cx="1645919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61288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6464"/>
                </a:solidFill>
                <a:latin typeface="Calibri"/>
              </a:defRPr>
            </a:pPr>
            <a:r>
              <a:t>3→4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Org Readiness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5257800"/>
            <a:ext cx="219456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326880" y="5257800"/>
            <a:ext cx="1645919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61288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6464"/>
                </a:solidFill>
                <a:latin typeface="Calibri"/>
              </a:defRPr>
            </a:pPr>
            <a:r>
              <a:t>3→4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E"/>
                </a:solidFill>
                <a:latin typeface="Calibri"/>
              </a:defRPr>
            </a:pPr>
            <a:r>
              <a:t>Overall: 2.2/5.0 → Target: 3.8/5.0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FFE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Quick Wins (Weeks 1-9)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589"/>
                </a:solidFill>
                <a:latin typeface="Calibri"/>
              </a:defRPr>
            </a:pPr>
            <a: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Deploy GitHub Copilot for SSMS &amp; 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Eliminates shadow AI risk; 15-25% code drafting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Wk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Owner: Nader /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Investment: $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1247120" cy="1463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589"/>
                </a:solidFill>
                <a:latin typeface="Calibri"/>
              </a:defRPr>
            </a:pPr>
            <a: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Schema-Aware SQL Generation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40-60% SQL dev time reduction; 10→6 day turnaround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Wk 4-9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Owner: EIS / Bobby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Investment: $$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589"/>
                </a:solidFill>
                <a:latin typeface="Calibri"/>
              </a:defRPr>
            </a:pPr>
            <a:r>
              <a:t>R3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Report Discovery &amp; Similarity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20-30% less duplicate development; faster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9C12"/>
                </a:solidFill>
                <a:latin typeface="Calibri"/>
              </a:defRPr>
            </a:pPr>
            <a:r>
              <a:t>Impact: 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Wk 4-9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Owner: EIS / Shandria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Investment: 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E6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Foundation Building (Q1-Q2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74A6"/>
                </a:solidFill>
                <a:latin typeface="Calibri"/>
              </a:defRPr>
            </a:pPr>
            <a:r>
              <a:t>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E"/>
                </a:solidFill>
                <a:latin typeface="Calibri"/>
              </a:defRPr>
            </a:pPr>
            <a:r>
              <a:t>Data Dictionary &amp; Knowledge Base Enrichment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50% faster onboarding; self-service 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402" y="1783080"/>
            <a:ext cx="5486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1282" y="182879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74A6"/>
                </a:solidFill>
                <a:latin typeface="Calibri"/>
              </a:defRPr>
            </a:pPr>
            <a:r>
              <a:t>R5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9922" y="18287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E"/>
                </a:solidFill>
                <a:latin typeface="Calibri"/>
              </a:defRPr>
            </a:pPr>
            <a:r>
              <a:t>Query Performance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9922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50% fewer IT alerts; pre-execution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287" y="2583181"/>
            <a:ext cx="5486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167" y="26289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74A6"/>
                </a:solidFill>
                <a:latin typeface="Calibri"/>
              </a:defRPr>
            </a:pPr>
            <a:r>
              <a:t>R6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3807" y="26289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E"/>
                </a:solidFill>
                <a:latin typeface="Calibri"/>
              </a:defRPr>
            </a:pPr>
            <a:r>
              <a:t>EDW Migration AI Accelerator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807" y="29489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3-5x migration acceleration; reduced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9309" y="3486151"/>
            <a:ext cx="5486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2189" y="353187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74A6"/>
                </a:solidFill>
                <a:latin typeface="Calibri"/>
              </a:defRPr>
            </a:pPr>
            <a:r>
              <a:t>R10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829" y="353187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E"/>
                </a:solidFill>
                <a:latin typeface="Calibri"/>
              </a:defRPr>
            </a:pPr>
            <a:r>
              <a:t>Semantic Foundation &amp; Data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829" y="38519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Single source of truth for KPIs; consistent AI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403" y="4223656"/>
            <a:ext cx="5486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0283" y="426937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74A6"/>
                </a:solidFill>
                <a:latin typeface="Calibri"/>
              </a:defRPr>
            </a:pPr>
            <a:r>
              <a:t>R11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8923" y="426937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E"/>
                </a:solidFill>
                <a:latin typeface="Calibri"/>
              </a:defRPr>
            </a:pPr>
            <a:r>
              <a:t>SSIS-to-ADF Pipeline Modernization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8923" y="4589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Cloud-native orchestration; full lineage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2" y="4969329"/>
            <a:ext cx="5486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1282" y="501504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74A6"/>
                </a:solidFill>
                <a:latin typeface="Calibri"/>
              </a:defRPr>
            </a:pPr>
            <a:r>
              <a:t>R12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922" y="501504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E"/>
                </a:solidFill>
                <a:latin typeface="Calibri"/>
              </a:defRPr>
            </a:pPr>
            <a:r>
              <a:t>Data Classification &amp; Tagging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9922" y="533508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&gt;80% data classified; bank launch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807" y="5772693"/>
            <a:ext cx="1124712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9600" y="57552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Critical Dependency: EDW migration (Q2 2026 target) is prerequisite for Phase 2-3 capabilities. R6 and R11 directly accelerate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C8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Strategic Transformation (Q3-Q4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R7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Conversational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Expand Fabric Data Agent pilot to full NLP analytics. Treasury as first adopter, then enterprise-wide.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Expected: 30-50% BI query deflection; self-service for 100+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Investment: $$$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1463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R8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Automated Report QA &amp;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AI compares report outputs against historical patterns. Catches duplicates, anomalies, and logic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Expected: 80%+ automated validation; early data quality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9C12"/>
                </a:solidFill>
                <a:latin typeface="Calibri"/>
              </a:defRPr>
            </a:pPr>
            <a:r>
              <a:t>Impact: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Investment: $$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R9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Cross-System Intelligence &amp; 360°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Cross-system dashboards spanning Salesforce, Genesys, D5, XLOS/Defi, and EDW.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Expected: Unified operational intelligence; proactive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Investment: $$$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Before &amp; After: AI-Transformed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02920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E"/>
                </a:solidFill>
                <a:latin typeface="Calibri"/>
              </a:defRPr>
            </a:pPr>
            <a:r>
              <a:t>SQL Report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Before: ~10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Manual, tribal knowledge, trial-and-error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10058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After: ~4-6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40-60%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AI-assisted, pre-validated, knowledge captured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02920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E"/>
                </a:solidFill>
                <a:latin typeface="Calibri"/>
              </a:defRPr>
            </a:pPr>
            <a:r>
              <a:t>New Analyst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Before: 6-8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Manual, tribal knowledge, trial-and-error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743200"/>
            <a:ext cx="5029200" cy="10058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After: 3-4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50%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AI-assisted, pre-validated, knowledge captured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502920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E"/>
                </a:solidFill>
                <a:latin typeface="Calibri"/>
              </a:defRPr>
            </a:pPr>
            <a:r>
              <a:t>Business User 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Before: 2-3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Manual, tribal knowledge, trial-and-error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297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5029200" cy="10058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After: &lt; 30 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30-50% deflection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AI-assisted, pre-validated, knowledge captured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03519"/>
            <a:ext cx="502920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492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E"/>
                </a:solidFill>
                <a:latin typeface="Calibri"/>
              </a:defRPr>
            </a:pPr>
            <a:r>
              <a:t>Query Performance Debug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69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Before: 4-8+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5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Manual, tribal knowledge, trial-and-error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5778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303519"/>
            <a:ext cx="5029200" cy="10058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53492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After: &lt; 1 hour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69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50% fewer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9435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AI-assisted, pre-validated, knowledge captured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Return on Investment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57200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FFC8"/>
                </a:solidFill>
                <a:latin typeface="Calibri"/>
              </a:defRPr>
            </a:pPr>
            <a:r>
              <a:t>ESTIMATED ANNUAL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$302,000+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FFC8"/>
                </a:solidFill>
                <a:latin typeface="Calibri"/>
              </a:defRPr>
            </a:pPr>
            <a:r>
              <a:t>~31% of total BI team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SQL Productivity (45% of $672K SQL cost)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E"/>
                </a:solidFill>
                <a:latin typeface="Calibri"/>
              </a:defRPr>
            </a:pPr>
            <a:r>
              <a:t>$302,400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IT Alert Reduction (50% × $500/incident)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E"/>
                </a:solidFill>
                <a:latin typeface="Calibri"/>
              </a:defRPr>
            </a:pPr>
            <a:r>
              <a:t>$60,000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Faster Onboarding (3 hires × 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E"/>
                </a:solidFill>
                <a:latin typeface="Calibri"/>
              </a:defRPr>
            </a:pPr>
            <a:r>
              <a:t>$12,115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  <a:latin typeface="Calibri"/>
              </a:defRPr>
            </a:pPr>
            <a:r>
              <a:t>Report Reuse (25% of duplicate effort)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E"/>
                </a:solidFill>
                <a:latin typeface="Calibri"/>
              </a:defRPr>
            </a:pPr>
            <a:r>
              <a:t>$36,000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2560320" cy="10972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SQL Dev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40480"/>
            <a:ext cx="2560320" cy="10972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-50%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IT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2560320" cy="10972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6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Turnaround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840480"/>
            <a:ext cx="2560320" cy="10972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30-50%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Query Deflection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Calibri"/>
              </a:defRPr>
            </a:pPr>
            <a:r>
              <a:t>Assumptions: 8-person BI team, $120K avg salary, 70% SQL time, 20 alerts/mo, 3 new hires/yr. Based on interview data and industry benchmarks (McKinsey, GitHub Copilot studies). Does not include implementation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AI Coding Tool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A4E"/>
                </a:solidFill>
                <a:latin typeface="Calibri"/>
              </a:defRPr>
            </a:pPr>
            <a:r>
              <a:t>Risk teams explicitly rejected Microsoft 365 Copilot for coding. This layered strategy addresses the gap: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" y="1737360"/>
            <a:ext cx="11247120" cy="118872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056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Layer 1: GitHub Copilot (R1)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General-purpose AI code assist for SQL, SAS, Python, R in existing IDEs. Replaces shadow ChatGPT.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4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3108960"/>
            <a:ext cx="11247120" cy="118872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56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Layer 2: Schema-Aware Agent (R2)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Custom LLM trained on EDW schema, business terms, query patterns. Understands your data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44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Weeks 4-9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480560"/>
            <a:ext cx="11247120" cy="1188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56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Layer 3: Conversational Analytics (R7)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Natural language platform for non-technical users. Self-service data access for Treasury, managers.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44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Q3-Q4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80" y="5943600"/>
            <a:ext cx="11247120" cy="4572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56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  <a:latin typeface="Calibri"/>
              </a:defRPr>
            </a:pPr>
            <a:r>
              <a:t>Why M365 Copilot was rejected: Lacks SQL/SAS/R/Python code generation. Designed for docs and email, not developer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Change Management &amp; Adoption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1: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Wk 1-9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Champion network (2-3 per team)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Lunch &amp; Learn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Shadow AI amnesty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Document early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2: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Q1-Q2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Power user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Knowledge base stewards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AI code review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Monthly metrics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3: 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Q3-Q4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Self-service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AI governance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34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Role evolution (query→insight)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Continuous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E"/>
                </a:solidFill>
                <a:latin typeface="Calibri"/>
              </a:defRPr>
            </a:pPr>
            <a:r>
              <a:t>Training Requirements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112471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E"/>
                </a:solidFill>
                <a:latin typeface="Calibri"/>
              </a:defRPr>
            </a:pPr>
            <a:r>
              <a:t>BI Analysts (8)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Copilot for SQL, prompt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Schema agent, knowledge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QA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2A4E"/>
                </a:solidFill>
                <a:latin typeface="Calibri"/>
              </a:defRPr>
            </a:pPr>
            <a:r>
              <a:t>20-30 hrs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E"/>
                </a:solidFill>
                <a:latin typeface="Calibri"/>
              </a:defRPr>
            </a:pPr>
            <a:r>
              <a:t>Risk Analysts (46)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Copilot for R/Python/SAS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AI code review, model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ML Ops workflows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2A4E"/>
                </a:solidFill>
                <a:latin typeface="Calibri"/>
              </a:defRPr>
            </a:pPr>
            <a:r>
              <a:t>15-25 hrs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E"/>
                </a:solidFill>
                <a:latin typeface="Calibri"/>
              </a:defRPr>
            </a:pPr>
            <a:r>
              <a:t>Business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Data literacy basics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NL querying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2A4E"/>
                </a:solidFill>
                <a:latin typeface="Calibri"/>
              </a:defRPr>
            </a:pPr>
            <a:r>
              <a:t>8-12 hrs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Next Steps &amp; Immediate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E"/>
                </a:solidFill>
                <a:latin typeface="Calibri"/>
              </a:defRPr>
            </a:pPr>
            <a:r>
              <a:t>License GitHub Copilot Enterprise; configure for SSMS &amp; VS Code; identify 2-3 champion users per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371600" cy="5486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2-4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E"/>
                </a:solidFill>
                <a:latin typeface="Calibri"/>
              </a:defRPr>
            </a:pPr>
            <a:r>
              <a:t>Schema-Aware SQL PoC kickoff: obtain EDW schema access, collect sample queries, define success criteria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371600" cy="5486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4-6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34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E"/>
                </a:solidFill>
                <a:latin typeface="Calibri"/>
              </a:defRPr>
            </a:pPr>
            <a:r>
              <a:t>Report inventory across Tableau, SAS, SSRS; begin metadata extraction for Discovery Engine (R3)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1371600" cy="5486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6-9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E"/>
                </a:solidFill>
                <a:latin typeface="Calibri"/>
              </a:defRPr>
            </a:pPr>
            <a:r>
              <a:t>Data classification workshop with Security (R12); begin tagging strategy for bank launch readiness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E"/>
                </a:solidFill>
                <a:latin typeface="Calibri"/>
              </a:defRPr>
            </a:pPr>
            <a:r>
              <a:t>Data dictionary enrichment (R4); query performance baseline (R5); EDW migration AI acceleration (R6)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371600" cy="54864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E"/>
                </a:solidFill>
                <a:latin typeface="Calibri"/>
              </a:defRPr>
            </a:pPr>
            <a:r>
              <a:t>Semantic foundation &amp; Purview setup (R10); SSIS-to-ADF priority packages (R11); Phase 1 ROI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Critical Dependencies to 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• EDW migration timeline (Q2 2026)  • Power BI licensing resolution  • Data classification completion (95% untagged)  • AI governance framework alignment (bank launch)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C8"/>
                </a:solidFill>
                <a:latin typeface="Calibri"/>
              </a:defRPr>
            </a:pPr>
            <a:r>
              <a:t>SFS BI &amp; AI Assessment | Earley Information Science | February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e3150ea6-e8ad-4da7-bc74-82486f2509b8&quot;,&quot;Name&quot;:&quot;EIS 2021&quot;,&quot;Kind&quot;:&quot;Custom&quot;,&quot;OldGuidesSetting&quot;:{&quot;HeaderHeight&quot;:10.0,&quot;FooterHeight&quot;:0.0,&quot;SideMargin&quot;:7.0,&quot;TopMargin&quot;:7.0,&quot;BottomMargin&quot;:7.0,&quot;IntervalMargin&quot;:5.0}}"/>
</p:tagLst>
</file>

<file path=ppt/theme/theme1.xml><?xml version="1.0" encoding="utf-8"?>
<a:theme xmlns:a="http://schemas.openxmlformats.org/drawingml/2006/main" name="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BA91877-27AE-499C-BD4A-10224F88736F}" vid="{AD41F37B-6A21-46F3-B80F-180BAC53D4C7}"/>
    </a:ext>
  </a:extLst>
</a:theme>
</file>

<file path=ppt/theme/theme3.xml><?xml version="1.0" encoding="utf-8"?>
<a:theme xmlns:a="http://schemas.openxmlformats.org/drawingml/2006/main" name="7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oject Document" ma:contentTypeID="0x010100344C9658AE87044DB333EA4A93A1BC800100095641DC2C80A542A0D628A833D252D6" ma:contentTypeVersion="0" ma:contentTypeDescription="This is the primary content type for project site utilization." ma:contentTypeScope="" ma:versionID="d6fa05fbb1cb112e985131c9c8bbab34">
  <xsd:schema xmlns:xsd="http://www.w3.org/2001/XMLSchema" xmlns:xs="http://www.w3.org/2001/XMLSchema" xmlns:p="http://schemas.microsoft.com/office/2006/metadata/properties" xmlns:ns1="http://schemas.microsoft.com/sharepoint/v3" xmlns:ns2="0eea126e-d378-4180-a2b3-4f5c76938639" targetNamespace="http://schemas.microsoft.com/office/2006/metadata/properties" ma:root="true" ma:fieldsID="e9a8dd297e5a64717615abe832cbfc67" ns1:_="" ns2:_="">
    <xsd:import namespace="http://schemas.microsoft.com/sharepoint/v3"/>
    <xsd:import namespace="0eea126e-d378-4180-a2b3-4f5c76938639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Status"/>
                <xsd:element ref="ns2:Exemplar" minOccurs="0"/>
                <xsd:element ref="ns2:Approved_On" minOccurs="0"/>
                <xsd:element ref="ns2:f2f50ace197541ad86cff9e70e2da8fe" minOccurs="0"/>
                <xsd:element ref="ns2:nba4425962384a1da17435b0ede58895" minOccurs="0"/>
                <xsd:element ref="ns2:m7adfda30bd44047a5638478612301c3" minOccurs="0"/>
                <xsd:element ref="ns2:gee6b8e6849a45c3b287423ef253694f" minOccurs="0"/>
                <xsd:element ref="ns2:f26024b91be24958abad48b23a9fdabd" minOccurs="0"/>
                <xsd:element ref="ns2:TaxCatchAll" minOccurs="0"/>
                <xsd:element ref="ns2:TaxCatchAllLabel" minOccurs="0"/>
                <xsd:element ref="ns2:a990347f3ac744ba9319d59deee28e62" minOccurs="0"/>
                <xsd:element ref="ns2:SOW_x0020_Deliverable_x003f_" minOccurs="0"/>
                <xsd:element ref="ns2:Is_x0020_Highlight_x003f_" minOccurs="0"/>
                <xsd:element ref="ns2:Project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3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a126e-d378-4180-a2b3-4f5c76938639" elementFormDefault="qualified">
    <xsd:import namespace="http://schemas.microsoft.com/office/2006/documentManagement/types"/>
    <xsd:import namespace="http://schemas.microsoft.com/office/infopath/2007/PartnerControls"/>
    <xsd:element name="DocumentStatus" ma:index="5" ma:displayName="Document Status" ma:default="internal" ma:format="Dropdown" ma:internalName="DocumentStatus">
      <xsd:simpleType>
        <xsd:restriction base="dms:Choice">
          <xsd:enumeration value="internal"/>
          <xsd:enumeration value="ready to share"/>
          <xsd:enumeration value="shared"/>
          <xsd:enumeration value="waiting for approval"/>
        </xsd:restriction>
      </xsd:simpleType>
    </xsd:element>
    <xsd:element name="Exemplar" ma:index="11" nillable="true" ma:displayName="Exemplar" ma:default="0" ma:internalName="Exemplar">
      <xsd:simpleType>
        <xsd:restriction base="dms:Boolean"/>
      </xsd:simpleType>
    </xsd:element>
    <xsd:element name="Approved_On" ma:index="12" nillable="true" ma:displayName="Approved On" ma:format="DateOnly" ma:internalName="Approved_On">
      <xsd:simpleType>
        <xsd:restriction base="dms:DateTime"/>
      </xsd:simpleType>
    </xsd:element>
    <xsd:element name="f2f50ace197541ad86cff9e70e2da8fe" ma:index="14" nillable="true" ma:taxonomy="true" ma:internalName="f2f50ace197541ad86cff9e70e2da8fe" ma:taxonomyFieldName="Competency" ma:displayName="Competency" ma:default="" ma:fieldId="{f2f50ace-1975-41ad-86cf-f9e70e2da8fe}" ma:sspId="80784755-79b8-48d6-9428-3b17d2b68283" ma:termSetId="66fc978f-7778-48f0-b25e-6102ec3c890a" ma:anchorId="79d02cd2-c888-4dca-91ee-ab8cc34a5d36" ma:open="false" ma:isKeyword="false">
      <xsd:complexType>
        <xsd:sequence>
          <xsd:element ref="pc:Terms" minOccurs="0" maxOccurs="1"/>
        </xsd:sequence>
      </xsd:complexType>
    </xsd:element>
    <xsd:element name="nba4425962384a1da17435b0ede58895" ma:index="16" nillable="true" ma:taxonomy="true" ma:internalName="nba4425962384a1da17435b0ede58895" ma:taxonomyFieldName="Technology" ma:displayName="Technology" ma:default="" ma:fieldId="{7ba44259-6238-4a1d-a174-35b0ede58895}" ma:sspId="80784755-79b8-48d6-9428-3b17d2b68283" ma:termSetId="66fc978f-7778-48f0-b25e-6102ec3c890a" ma:anchorId="813a78bb-6284-4eb5-a207-1e736defb902" ma:open="false" ma:isKeyword="false">
      <xsd:complexType>
        <xsd:sequence>
          <xsd:element ref="pc:Terms" minOccurs="0" maxOccurs="1"/>
        </xsd:sequence>
      </xsd:complexType>
    </xsd:element>
    <xsd:element name="m7adfda30bd44047a5638478612301c3" ma:index="18" nillable="true" ma:taxonomy="true" ma:internalName="m7adfda30bd44047a5638478612301c3" ma:taxonomyFieldName="TechnologyProduct" ma:displayName="Technology Product" ma:default="" ma:fieldId="{67adfda3-0bd4-4047-a563-8478612301c3}" ma:sspId="80784755-79b8-48d6-9428-3b17d2b68283" ma:termSetId="66fc978f-7778-48f0-b25e-6102ec3c890a" ma:anchorId="5d1c3ad4-2cfc-4c6c-ae3c-92a81c5029d9" ma:open="false" ma:isKeyword="false">
      <xsd:complexType>
        <xsd:sequence>
          <xsd:element ref="pc:Terms" minOccurs="0" maxOccurs="1"/>
        </xsd:sequence>
      </xsd:complexType>
    </xsd:element>
    <xsd:element name="gee6b8e6849a45c3b287423ef253694f" ma:index="20" nillable="true" ma:taxonomy="true" ma:internalName="gee6b8e6849a45c3b287423ef253694f" ma:taxonomyFieldName="Industry" ma:displayName="Industry" ma:default="" ma:fieldId="{0ee6b8e6-849a-45c3-b287-423ef253694f}" ma:sspId="80784755-79b8-48d6-9428-3b17d2b68283" ma:termSetId="66fc978f-7778-48f0-b25e-6102ec3c890a" ma:anchorId="e73ca4ff-ea7d-4041-a298-57ef1e2d566c" ma:open="false" ma:isKeyword="false">
      <xsd:complexType>
        <xsd:sequence>
          <xsd:element ref="pc:Terms" minOccurs="0" maxOccurs="1"/>
        </xsd:sequence>
      </xsd:complexType>
    </xsd:element>
    <xsd:element name="f26024b91be24958abad48b23a9fdabd" ma:index="21" nillable="true" ma:taxonomy="true" ma:internalName="f26024b91be24958abad48b23a9fdabd" ma:taxonomyFieldName="AccountName" ma:displayName="Account Name" ma:default="" ma:fieldId="{f26024b9-1be2-4958-abad-48b23a9fdabd}" ma:sspId="80784755-79b8-48d6-9428-3b17d2b68283" ma:termSetId="ffcabd10-b5c4-4d4a-85d5-d81c14c826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9177BC99-164C-4B82-8728-4FEB32A6B1B8}" ma:internalName="TaxCatchAll" ma:showField="CatchAllData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3" nillable="true" ma:displayName="Taxonomy Catch All Column1" ma:hidden="true" ma:list="{9177BC99-164C-4B82-8728-4FEB32A6B1B8}" ma:internalName="TaxCatchAllLabel" ma:readOnly="true" ma:showField="CatchAllDataLabel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90347f3ac744ba9319d59deee28e62" ma:index="25" nillable="true" ma:taxonomy="true" ma:internalName="a990347f3ac744ba9319d59deee28e62" ma:taxonomyFieldName="Project_x0020_Document_x0020_Type_x0020_PROPOSED" ma:displayName="Doc Type" ma:default="" ma:fieldId="{a990347f-3ac7-44ba-9319-d59deee28e62}" ma:taxonomyMulti="true" ma:sspId="80784755-79b8-48d6-9428-3b17d2b68283" ma:termSetId="66fc978f-7778-48f0-b25e-6102ec3c890a" ma:anchorId="83e52bf2-229e-4551-83c8-6c619852a84e" ma:open="false" ma:isKeyword="false">
      <xsd:complexType>
        <xsd:sequence>
          <xsd:element ref="pc:Terms" minOccurs="0" maxOccurs="1"/>
        </xsd:sequence>
      </xsd:complexType>
    </xsd:element>
    <xsd:element name="SOW_x0020_Deliverable_x003f_" ma:index="27" nillable="true" ma:displayName="SOW Deliverable?" ma:default="0" ma:description="If this document is a required deliverable according to an SOW" ma:internalName="SOW_x0020_Deliverable_x003F_0">
      <xsd:simpleType>
        <xsd:restriction base="dms:Boolean"/>
      </xsd:simpleType>
    </xsd:element>
    <xsd:element name="Is_x0020_Highlight_x003f_" ma:index="28" nillable="true" ma:displayName="Is Highlight?" ma:default="0" ma:description="If this document represents interesting work during the project; not limited to deliverables" ma:internalName="Is_x0020_Highlight_x003F_">
      <xsd:simpleType>
        <xsd:restriction base="dms:Boolean"/>
      </xsd:simpleType>
    </xsd:element>
    <xsd:element name="Project_x0020_Name" ma:index="29" nillable="true" ma:displayName="Project Name" ma:description="Title of the specific engagement, not including the client/account name (e.g. &quot;Taxonomy Assessment and Roadmap&quot;)" ma:internalName="Project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6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4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5</Value>
      <Value>6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119DF2-5D2C-44A7-9931-416546CF2C22}"/>
</file>

<file path=customXml/itemProps2.xml><?xml version="1.0" encoding="utf-8"?>
<ds:datastoreItem xmlns:ds="http://schemas.openxmlformats.org/officeDocument/2006/customXml" ds:itemID="{7FCA4609-FA67-401A-BEE4-5430357FC2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1A673B-B0AC-43F0-AFFB-FD3898D07867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334308b5-d4b6-4ec7-9b27-cbe752524974"/>
    <ds:schemaRef ds:uri="http://purl.org/dc/terms/"/>
    <ds:schemaRef ds:uri="http://www.w3.org/XML/1998/namespace"/>
    <ds:schemaRef ds:uri="95ad8014-9f7b-4325-a988-cf5c7a4f675c"/>
    <ds:schemaRef ds:uri="http://purl.org/dc/dcmitype/"/>
    <ds:schemaRef ds:uri="http://schemas.openxmlformats.org/package/2006/metadata/core-properties"/>
    <ds:schemaRef ds:uri="0eea126e-d378-4180-a2b3-4f5c76938639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ECDD221C-FE10-46F6-9A02-A1A36F5AB4BC}"/>
</file>

<file path=docProps/app.xml><?xml version="1.0" encoding="utf-8"?>
<Properties xmlns="http://schemas.openxmlformats.org/officeDocument/2006/extended-properties" xmlns:vt="http://schemas.openxmlformats.org/officeDocument/2006/docPropsVTypes">
  <Template>EIS-2022</Template>
  <TotalTime>17890</TotalTime>
  <Words>1175</Words>
  <Application>Microsoft Office PowerPoint</Application>
  <PresentationFormat>Widescreen</PresentationFormat>
  <Paragraphs>217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Duplicate Sans</vt:lpstr>
      <vt:lpstr>Franklin Gothic</vt:lpstr>
      <vt:lpstr>Gill Sans MT</vt:lpstr>
      <vt:lpstr>Montserrat</vt:lpstr>
      <vt:lpstr>Poppins Light</vt:lpstr>
      <vt:lpstr>EIS-2022</vt:lpstr>
      <vt:lpstr>1_EIS-2022</vt:lpstr>
      <vt:lpstr>7_EIS-2022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Earley Information Science,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the Right Governance Model</dc:title>
  <dc:creator>Carolyn Southwick;Dave Skrobela</dc:creator>
  <cp:keywords>Governance; AI</cp:keywords>
  <dc:description>seth@earley.com</dc:description>
  <cp:lastModifiedBy>Seth Earley</cp:lastModifiedBy>
  <cp:revision>226</cp:revision>
  <cp:lastPrinted>2021-06-23T16:48:18Z</cp:lastPrinted>
  <dcterms:created xsi:type="dcterms:W3CDTF">2023-03-22T16:19:54Z</dcterms:created>
  <dcterms:modified xsi:type="dcterms:W3CDTF">2026-02-12T00:00:45Z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0x0101000B97C77CF6C980478CF1A0C7BB3DB346</vt:lpwstr>
  </property>
  <property fmtid="{D5CDD505-2E9C-101B-9397-08002B2CF9AE}" pid="4" name="Project_x0020_Document_x0020_Type_x0020_PROPOSED">
    <vt:lpwstr/>
  </property>
  <property fmtid="{D5CDD505-2E9C-101B-9397-08002B2CF9AE}" pid="5" name="Technology">
    <vt:lpwstr/>
  </property>
  <property fmtid="{D5CDD505-2E9C-101B-9397-08002B2CF9AE}" pid="6" name="AccountName">
    <vt:lpwstr>5;#Stellantis Financial Services|ae495efb-8e65-4cbd-b57d-7d196b299547</vt:lpwstr>
  </property>
  <property fmtid="{D5CDD505-2E9C-101B-9397-08002B2CF9AE}" pid="7" name="Competency">
    <vt:lpwstr>6;#information architecture|0c69daec-fbc4-45c7-ab9c-bd21b0f93d0b</vt:lpwstr>
  </property>
  <property fmtid="{D5CDD505-2E9C-101B-9397-08002B2CF9AE}" pid="8" name="TechnologyProduct">
    <vt:lpwstr/>
  </property>
  <property fmtid="{D5CDD505-2E9C-101B-9397-08002B2CF9AE}" pid="9" name="Industry">
    <vt:lpwstr/>
  </property>
  <property fmtid="{D5CDD505-2E9C-101B-9397-08002B2CF9AE}" pid="10" name="Project Document Type PROPOSED">
    <vt:lpwstr/>
  </property>
</Properties>
</file>