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4"/>
    <p:sldMasterId id="2147485620" r:id="rId5"/>
  </p:sldMasterIdLst>
  <p:notesMasterIdLst>
    <p:notesMasterId r:id="rId22"/>
  </p:notesMasterIdLst>
  <p:sldIdLst>
    <p:sldId id="2147376073" r:id="rId6"/>
    <p:sldId id="2147376115" r:id="rId7"/>
    <p:sldId id="2147376121" r:id="rId8"/>
    <p:sldId id="2147376122" r:id="rId9"/>
    <p:sldId id="2147376123" r:id="rId10"/>
    <p:sldId id="2147376124" r:id="rId11"/>
    <p:sldId id="2147376125" r:id="rId12"/>
    <p:sldId id="2147376126" r:id="rId13"/>
    <p:sldId id="2147376135" r:id="rId14"/>
    <p:sldId id="2147376131" r:id="rId15"/>
    <p:sldId id="2147376133" r:id="rId16"/>
    <p:sldId id="2147376134" r:id="rId17"/>
    <p:sldId id="2147376132" r:id="rId18"/>
    <p:sldId id="2147376116" r:id="rId19"/>
    <p:sldId id="2147376127" r:id="rId20"/>
    <p:sldId id="2147376128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3696" userDrawn="1">
          <p15:clr>
            <a:srgbClr val="A4A3A4"/>
          </p15:clr>
        </p15:guide>
        <p15:guide id="2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8FC50A-AB9F-7234-B831-A22CAAF7FB1E}" name="Ryan Pollack" initials="RP" userId="S::Ryan.Pollack@earley.com::f1080a3a-0fd5-41dd-a2ea-e78fa042f420" providerId="AD"/>
  <p188:author id="{56AC8A0F-D8C2-3D3E-4453-536261358B92}" name="Heather Eisenbraun" initials="HE" userId="S::Heather.Eisenbraun@earley.com::af8590ba-9108-4f55-8849-6d71c7b93ad1" providerId="AD"/>
  <p188:author id="{3B254925-EFC4-6BAD-30B8-6E024CB901BA}" name="Thomas Blumer" initials="TB" userId="S::Thomas.Blumer@earley.com::2c1d0262-690f-4609-bdfe-5ec3ce19bfeb" providerId="AD"/>
  <p188:author id="{00354340-13C1-9EB2-C01C-898E8A338B81}" name="Phil Ryan" initials="PR" userId="S::phil.ryan@earley.com::ec85e699-70e1-412a-ae5d-8b8689f57052" providerId="AD"/>
  <p188:author id="{9D463565-7999-E145-D807-F42E133AFA78}" name="Dave Skrobela" initials="DS" userId="S::Dave.Skrobela@earley.com::1a80532f-18b2-46d0-aa4f-ac04a10667d8" providerId="AD"/>
  <p188:author id="{B70B6884-82CA-26DC-657A-4C24E4D1E827}" name="Seth Earley" initials="" userId="S::Seth@earley.com::628be45f-8d1c-4a33-a8fa-c54e490afe68" providerId="AD"/>
  <p188:author id="{05CA0390-8346-199C-7B17-66418A0FED88}" name="Dave Skrobela" initials="DS" userId="S::dave.skrobela@earley.com::1a80532f-18b2-46d0-aa4f-ac04a10667d8" providerId="AD"/>
  <p188:author id="{FA6691BE-E185-20AF-21EC-A75E6A300ECE}" name="Heather Eisenbraun" initials="HE" userId="S::heather.eisenbraun@earley.com::af8590ba-9108-4f55-8849-6d71c7b93ad1" providerId="AD"/>
  <p188:author id="{09624CC8-35F3-5157-E097-7EAF13479239}" name="Ryan Pollack" initials="RP" userId="S::ryan.pollack@earley.com::f1080a3a-0fd5-41dd-a2ea-e78fa042f420" providerId="AD"/>
  <p188:author id="{4AE393E0-E885-47E0-ECDE-670D4F81BA25}" name="Jordan Cassel" initials="JC" userId="S::jordan.cassel@earley.com::cb5af049-45c7-4d1e-8514-8ed5eeea3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44A"/>
    <a:srgbClr val="0A0A40"/>
    <a:srgbClr val="094978"/>
    <a:srgbClr val="0E1548"/>
    <a:srgbClr val="E7E9EC"/>
    <a:srgbClr val="0F151B"/>
    <a:srgbClr val="F4F7FA"/>
    <a:srgbClr val="8CA5CC"/>
    <a:srgbClr val="839EBA"/>
    <a:srgbClr val="0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94696"/>
  </p:normalViewPr>
  <p:slideViewPr>
    <p:cSldViewPr snapToGrid="0">
      <p:cViewPr varScale="1">
        <p:scale>
          <a:sx n="150" d="100"/>
          <a:sy n="150" d="100"/>
        </p:scale>
        <p:origin x="856" y="88"/>
      </p:cViewPr>
      <p:guideLst>
        <p:guide orient="horz" pos="3696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lumer" userId="S::thomas.blumer@earley.com::2c1d0262-690f-4609-bdfe-5ec3ce19bfeb" providerId="AD" clId="Web-{EE35689C-CA0D-CE93-F9CE-0E7AD8FA66E9}"/>
    <pc:docChg chg="delSld">
      <pc:chgData name="Thomas Blumer" userId="S::thomas.blumer@earley.com::2c1d0262-690f-4609-bdfe-5ec3ce19bfeb" providerId="AD" clId="Web-{EE35689C-CA0D-CE93-F9CE-0E7AD8FA66E9}" dt="2026-02-24T00:05:35.884" v="27"/>
      <pc:docMkLst>
        <pc:docMk/>
      </pc:docMkLst>
    </pc:docChg>
  </pc:docChgLst>
  <pc:docChgLst>
    <pc:chgData name="Nader Afshar" userId="S::nader.afshar@stellantis-fs.com::ef14ed6e-8c34-42b1-8014-4f40650f3772" providerId="AD" clId="Web-{E7B0B511-0DE3-FA15-9D56-D49BA635651E}"/>
    <pc:docChg chg="mod">
      <pc:chgData name="Nader Afshar" userId="S::nader.afshar@stellantis-fs.com::ef14ed6e-8c34-42b1-8014-4f40650f3772" providerId="AD" clId="Web-{E7B0B511-0DE3-FA15-9D56-D49BA635651E}" dt="2026-03-16T14:46:37.957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9AA15-6E54-4D68-9055-5935DB952AC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FBADD-43F2-4F28-AC53-B30F76A3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2A0DC-880F-8EC0-55CF-5D5BD068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12869-68D1-CF05-3965-0181A9101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AD5D1-D3D0-D796-E51C-5B84D45AF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45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87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D1925-F01A-4F90-AEA9-FC48E34A04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123" y="1247615"/>
            <a:ext cx="11136773" cy="4778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F8C80-8A26-4ED2-8B9A-E24D527452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C91855-D87F-47DB-AAE4-308F916E4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816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283015" y="1241146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536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609599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494133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hape 8"/>
          <p:cNvSpPr>
            <a:spLocks noGrp="1"/>
          </p:cNvSpPr>
          <p:nvPr>
            <p:ph idx="11"/>
          </p:nvPr>
        </p:nvSpPr>
        <p:spPr>
          <a:xfrm>
            <a:off x="8378664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9599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494133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378664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993ABF0-0745-4718-ADBF-6ABFF935AD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1920" y="6448314"/>
            <a:ext cx="5034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194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538123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hape 8"/>
          <p:cNvSpPr>
            <a:spLocks noGrp="1"/>
          </p:cNvSpPr>
          <p:nvPr>
            <p:ph idx="10"/>
          </p:nvPr>
        </p:nvSpPr>
        <p:spPr>
          <a:xfrm>
            <a:off x="3398750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hape 8"/>
          <p:cNvSpPr>
            <a:spLocks noGrp="1"/>
          </p:cNvSpPr>
          <p:nvPr>
            <p:ph idx="11"/>
          </p:nvPr>
        </p:nvSpPr>
        <p:spPr>
          <a:xfrm>
            <a:off x="6247576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hape 8"/>
          <p:cNvSpPr>
            <a:spLocks noGrp="1"/>
          </p:cNvSpPr>
          <p:nvPr>
            <p:ph idx="12"/>
          </p:nvPr>
        </p:nvSpPr>
        <p:spPr>
          <a:xfrm>
            <a:off x="9096402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8760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3398751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248847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9096403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08EB-7AE9-4A88-8140-8EF5047936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/>
        </p:nvSpPr>
        <p:spPr>
          <a:xfrm rot="10800000">
            <a:off x="590428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0135C-E513-4757-B7B4-8D9AA58F79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40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6869" y="0"/>
            <a:ext cx="6132868" cy="68580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A3BF2F97-FA42-5A44-94C3-FE5FA8D89B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D4B1E-E96E-4B4A-BF15-F679E965759E}"/>
              </a:ext>
            </a:extLst>
          </p:cNvPr>
          <p:cNvSpPr>
            <a:spLocks/>
          </p:cNvSpPr>
          <p:nvPr/>
        </p:nvSpPr>
        <p:spPr>
          <a:xfrm rot="10800000">
            <a:off x="-36869" y="14746"/>
            <a:ext cx="6132868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8" name="image1.png">
            <a:extLst>
              <a:ext uri="{FF2B5EF4-FFF2-40B4-BE49-F238E27FC236}">
                <a16:creationId xmlns:a16="http://schemas.microsoft.com/office/drawing/2014/main" id="{26A3889F-D7B4-FB4D-A0A0-B7164C643D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5CB43F-0B9E-C745-84D3-38DAAEC123E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D1F8-1E0B-4194-9EA9-3B85633A8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6D923B6-7587-4385-92A1-2B3A929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DC5778-9DD2-D54A-BF9A-DE2028A17853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868" y="0"/>
            <a:ext cx="6132868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464445-A72B-FE4D-B60B-5807E20E33C5}"/>
              </a:ext>
            </a:extLst>
          </p:cNvPr>
          <p:cNvSpPr>
            <a:spLocks/>
          </p:cNvSpPr>
          <p:nvPr/>
        </p:nvSpPr>
        <p:spPr>
          <a:xfrm rot="10800000">
            <a:off x="-36869" y="-4"/>
            <a:ext cx="6132868" cy="6872750"/>
          </a:xfrm>
          <a:prstGeom prst="rect">
            <a:avLst/>
          </a:prstGeom>
          <a:solidFill>
            <a:schemeClr val="accent6">
              <a:alpha val="7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1C681-A68E-164B-81C1-94BF25E9C474}"/>
              </a:ext>
            </a:extLst>
          </p:cNvPr>
          <p:cNvSpPr>
            <a:spLocks/>
          </p:cNvSpPr>
          <p:nvPr/>
        </p:nvSpPr>
        <p:spPr>
          <a:xfrm rot="10800000">
            <a:off x="-55303" y="-6135"/>
            <a:ext cx="6132868" cy="6872751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27DA2935-6602-FF45-9BBD-ECDC22B6F1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3F77F4-4852-0F47-9842-1EEFFF77D289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73AA5-14B2-4B53-AA68-67C31532F5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21DD9DB-A286-49C6-8AFA-BE6E8E6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9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4423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840FF-03F7-4D2A-BABC-09762FFBD409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C651B6-B639-6241-910B-EAF34417E92D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74A78D8-2844-1C41-B024-A81F0BB1CF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D5719B-D8F5-E84C-975E-87CA6CA4F2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362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E84C2-78EB-4D1A-A479-FDE6F004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E22296-8181-41B9-9124-1582127577FA}"/>
              </a:ext>
            </a:extLst>
          </p:cNvPr>
          <p:cNvSpPr/>
          <p:nvPr/>
        </p:nvSpPr>
        <p:spPr>
          <a:xfrm>
            <a:off x="0" y="3237494"/>
            <a:ext cx="12270576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771A4-7CD4-2340-B6DE-3DA6E571F127}"/>
              </a:ext>
            </a:extLst>
          </p:cNvPr>
          <p:cNvSpPr>
            <a:spLocks/>
          </p:cNvSpPr>
          <p:nvPr/>
        </p:nvSpPr>
        <p:spPr>
          <a:xfrm rot="10800000">
            <a:off x="0" y="18218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798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614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6882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018148-0706-5241-8BC6-07E2B1F5F7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DCA34-BE71-0B4F-A5F1-31722061925B}"/>
              </a:ext>
            </a:extLst>
          </p:cNvPr>
          <p:cNvSpPr/>
          <p:nvPr/>
        </p:nvSpPr>
        <p:spPr>
          <a:xfrm>
            <a:off x="-8972" y="3244495"/>
            <a:ext cx="12200971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622E-299B-D140-BB3F-A91125245E88}"/>
              </a:ext>
            </a:extLst>
          </p:cNvPr>
          <p:cNvSpPr>
            <a:spLocks/>
          </p:cNvSpPr>
          <p:nvPr/>
        </p:nvSpPr>
        <p:spPr>
          <a:xfrm rot="10800000">
            <a:off x="-359324" y="0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0811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C7908-BA04-472D-AE0E-2EC318BC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286157"/>
            <a:ext cx="11259334" cy="693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hape 194"/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  <p:sp>
        <p:nvSpPr>
          <p:cNvPr id="12" name="Shape 194">
            <a:extLst>
              <a:ext uri="{FF2B5EF4-FFF2-40B4-BE49-F238E27FC236}">
                <a16:creationId xmlns:a16="http://schemas.microsoft.com/office/drawing/2014/main" id="{FD4ACCAB-4A5B-4C90-B30B-07467397023C}"/>
              </a:ext>
            </a:extLst>
          </p:cNvPr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3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47CCE-89C6-3398-EA67-035B11CFB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8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568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09213-FC9E-9CA9-6246-4269C560C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2AAC-2181-F1F7-05B8-D983BB10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66333" y="275273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38124" y="1241146"/>
            <a:ext cx="11143530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hape 194"/>
          <p:cNvSpPr/>
          <p:nvPr/>
        </p:nvSpPr>
        <p:spPr>
          <a:xfrm rot="16200000">
            <a:off x="6036240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23" rIns="45623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6">
              <a:latin typeface="Calibri" panose="020F0502020204030204" pitchFamily="34" charset="0"/>
            </a:endParaRPr>
          </a:p>
        </p:txBody>
      </p:sp>
      <p:sp>
        <p:nvSpPr>
          <p:cNvPr id="11" name="Shape 195"/>
          <p:cNvSpPr/>
          <p:nvPr/>
        </p:nvSpPr>
        <p:spPr>
          <a:xfrm flipV="1">
            <a:off x="11588799" y="6504877"/>
            <a:ext cx="0" cy="252001"/>
          </a:xfrm>
          <a:prstGeom prst="line">
            <a:avLst/>
          </a:prstGeom>
          <a:ln w="19050">
            <a:solidFill>
              <a:srgbClr val="084A79"/>
            </a:solidFill>
          </a:ln>
        </p:spPr>
        <p:txBody>
          <a:bodyPr lIns="45623" rIns="45623"/>
          <a:lstStyle/>
          <a:p>
            <a:endParaRPr sz="1796">
              <a:latin typeface="Calibri" panose="020F0502020204030204" pitchFamily="34" charset="0"/>
            </a:endParaRPr>
          </a:p>
        </p:txBody>
      </p:sp>
      <p:pic>
        <p:nvPicPr>
          <p:cNvPr id="12" name="image1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93">
            <a:extLst>
              <a:ext uri="{FF2B5EF4-FFF2-40B4-BE49-F238E27FC236}">
                <a16:creationId xmlns:a16="http://schemas.microsoft.com/office/drawing/2014/main" id="{E14E0D4A-2183-4715-BD53-68FAA9B3560A}"/>
              </a:ext>
            </a:extLst>
          </p:cNvPr>
          <p:cNvSpPr/>
          <p:nvPr/>
        </p:nvSpPr>
        <p:spPr>
          <a:xfrm>
            <a:off x="8483246" y="6570227"/>
            <a:ext cx="3084944" cy="21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623" rIns="45623">
            <a:spAutoFit/>
          </a:bodyPr>
          <a:lstStyle>
            <a:lvl1pPr>
              <a:defRPr sz="6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Copyright © </a:t>
            </a:r>
            <a:r>
              <a:rPr lang="en-US"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2026</a:t>
            </a:r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 Earley Information Science, Inc.  All Rights Reserved.</a:t>
            </a: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7E136C74-3E38-4711-B2DC-88AB407C6326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7096-F130-43EC-B3EC-C13B8324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3296FC5-3030-41DC-9395-66F320BD0EFB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3664" r:id="rId2"/>
    <p:sldLayoutId id="2147485606" r:id="rId3"/>
    <p:sldLayoutId id="2147483666" r:id="rId4"/>
    <p:sldLayoutId id="2147485612" r:id="rId5"/>
    <p:sldLayoutId id="2147485613" r:id="rId6"/>
    <p:sldLayoutId id="2147485618" r:id="rId7"/>
    <p:sldLayoutId id="2147485619" r:id="rId8"/>
    <p:sldLayoutId id="2147485608" r:id="rId9"/>
    <p:sldLayoutId id="2147485607" r:id="rId10"/>
    <p:sldLayoutId id="2147485611" r:id="rId11"/>
    <p:sldLayoutId id="2147483674" r:id="rId12"/>
    <p:sldLayoutId id="2147485614" r:id="rId13"/>
    <p:sldLayoutId id="2147485615" r:id="rId14"/>
    <p:sldLayoutId id="2147485616" r:id="rId15"/>
    <p:sldLayoutId id="2147485626" r:id="rId16"/>
    <p:sldLayoutId id="2147485627" r:id="rId17"/>
    <p:sldLayoutId id="2147485628" r:id="rId18"/>
    <p:sldLayoutId id="2147485629" r:id="rId19"/>
  </p:sldLayoutIdLst>
  <p:hf hdr="0" ftr="0" dt="0"/>
  <p:txStyles>
    <p:titleStyle>
      <a:lvl1pPr marL="0" marR="0" indent="0" algn="ctr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Tx/>
        <a:buFont typeface="Arial" charset="0"/>
        <a:buNone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456286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2pPr>
      <a:lvl3pPr marL="912573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3pPr>
      <a:lvl4pPr marL="1368858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4pPr>
      <a:lvl5pPr marL="1825144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5pPr>
      <a:lvl6pPr marL="2646459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6pPr>
      <a:lvl7pPr marL="3102745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7pPr>
      <a:lvl8pPr marL="3559030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8pPr>
      <a:lvl9pPr marL="4015317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6286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257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6885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5144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143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37717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19400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028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6622AE-15AB-3693-1E20-3C4DCF1A3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56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3568-575D-D522-8CE6-98193708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C68BD-AC87-0B09-FB11-610B1F40C8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1" y="1636296"/>
            <a:ext cx="4613642" cy="1644259"/>
          </a:xfrm>
        </p:spPr>
        <p:txBody>
          <a:bodyPr lIns="45719" tIns="45720" rIns="45719" bIns="45720" anchor="t">
            <a:normAutofit fontScale="77500" lnSpcReduction="20000"/>
          </a:bodyPr>
          <a:lstStyle/>
          <a:p>
            <a:pPr marL="0" indent="0">
              <a:buNone/>
            </a:pPr>
            <a:r>
              <a:rPr sz="3550" dirty="0">
                <a:latin typeface="Aptos" panose="020B0004020202020204" pitchFamily="34" charset="0"/>
              </a:rPr>
              <a:t>STELLANTIS Financial Services US</a:t>
            </a:r>
          </a:p>
          <a:p>
            <a:pPr marL="0" indent="0">
              <a:buNone/>
            </a:pPr>
            <a:r>
              <a:rPr sz="3550" dirty="0">
                <a:latin typeface="Aptos" panose="020B0004020202020204" pitchFamily="34" charset="0"/>
              </a:rPr>
              <a:t>API Orchestration Strategy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C6C329-B5F9-9194-32C9-2FB63579E8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3315" y="445108"/>
            <a:ext cx="3152927" cy="289006"/>
          </a:xfrm>
        </p:spPr>
        <p:txBody>
          <a:bodyPr lIns="45719" tIns="45720" rIns="45719" bIns="45720" anchor="t">
            <a:noAutofit/>
          </a:bodyPr>
          <a:lstStyle/>
          <a:p>
            <a:pPr marL="0" indent="0" algn="r">
              <a:buNone/>
            </a:pPr>
            <a:r>
              <a:rPr sz="1800" dirty="0">
                <a:latin typeface="Aptos" panose="020B0004020202020204" pitchFamily="34" charset="0"/>
              </a:rPr>
              <a:t>January 202</a:t>
            </a:r>
            <a:r>
              <a:rPr lang="en-US" sz="1800" dirty="0">
                <a:latin typeface="Aptos" panose="020B0004020202020204" pitchFamily="34" charset="0"/>
              </a:rPr>
              <a:t>6</a:t>
            </a:r>
            <a:endParaRPr sz="1800" dirty="0">
              <a:latin typeface="Aptos" panose="020B00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64B2D-F0F6-DDED-7DAE-ED39DD2736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5276" y="6567488"/>
            <a:ext cx="460375" cy="239712"/>
          </a:xfrm>
        </p:spPr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72941"/>
                </a:solidFill>
                <a:effectLst/>
                <a:uLnTx/>
                <a:uFillTx/>
                <a:cs typeface="Calibri" panose="020F0502020204030204" pitchFamily="34" charset="0"/>
                <a:sym typeface="Helvetica Neue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72941"/>
              </a:solidFill>
              <a:effectLst/>
              <a:uLnTx/>
              <a:uFillTx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DB317-1094-57B2-533E-9FE0A7EBEC38}"/>
              </a:ext>
            </a:extLst>
          </p:cNvPr>
          <p:cNvSpPr txBox="1"/>
          <p:nvPr/>
        </p:nvSpPr>
        <p:spPr>
          <a:xfrm>
            <a:off x="6051551" y="3811072"/>
            <a:ext cx="520729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sz="2800" dirty="0">
                <a:solidFill>
                  <a:schemeClr val="bg1"/>
                </a:solidFill>
                <a:latin typeface="Aptos" panose="020B0004020202020204" pitchFamily="34" charset="0"/>
              </a:rPr>
              <a:t>Cost &amp; Scalability Focus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CAD1DE-50D9-C04A-879C-DE452EFE81C4}"/>
              </a:ext>
            </a:extLst>
          </p:cNvPr>
          <p:cNvGrpSpPr/>
          <p:nvPr/>
        </p:nvGrpSpPr>
        <p:grpSpPr>
          <a:xfrm>
            <a:off x="8778251" y="6037396"/>
            <a:ext cx="3375020" cy="820604"/>
            <a:chOff x="7072486" y="5797683"/>
            <a:chExt cx="3375020" cy="820604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5A401410-50A1-A457-14B4-1BFF18F736FF}"/>
                </a:ext>
              </a:extLst>
            </p:cNvPr>
            <p:cNvSpPr/>
            <p:nvPr/>
          </p:nvSpPr>
          <p:spPr>
            <a:xfrm rot="16200000">
              <a:off x="7109418" y="5760752"/>
              <a:ext cx="820603" cy="894467"/>
            </a:xfrm>
            <a:prstGeom prst="rtTriangl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D7399DA-3BD4-16F7-E11D-E9CB7156E558}"/>
                </a:ext>
              </a:extLst>
            </p:cNvPr>
            <p:cNvSpPr/>
            <p:nvPr/>
          </p:nvSpPr>
          <p:spPr>
            <a:xfrm>
              <a:off x="7966953" y="5797683"/>
              <a:ext cx="2480553" cy="820604"/>
            </a:xfrm>
            <a:prstGeom prst="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113A121-3A1D-6D55-415E-4B283395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104" y="6190003"/>
            <a:ext cx="1362357" cy="51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4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ACAE4-20C8-28C9-9D32-C62EB9FB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2964-4059-08D4-35C2-DC6CFF09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MCP Deep Dive</a:t>
            </a:r>
          </a:p>
        </p:txBody>
      </p:sp>
    </p:spTree>
    <p:extLst>
      <p:ext uri="{BB962C8B-B14F-4D97-AF65-F5344CB8AC3E}">
        <p14:creationId xmlns:p14="http://schemas.microsoft.com/office/powerpoint/2010/main" val="41006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What is MCP?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Model Context Protocol Overview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Open standard for connecting AI models to external data and tools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Developed by Anthropic, adopted by growing ecosystem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Standardizes how AI agents discover and invoke capabilities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Analogous to how USB standardized peripheral connections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Why It Matters for SFS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Multiple AI platforms (Einstein, Azure AI, Genesys) = fragmentation risk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Without standard: each platform requires custom integration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With MCP: unified protocol for tool discovery and invocation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Future-proofs against AI platform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3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360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MCP Architecture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89" y="816222"/>
            <a:ext cx="9377017" cy="1744030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b="1" dirty="0">
                <a:latin typeface="Aptos" panose="020B0004020202020204" pitchFamily="34" charset="0"/>
              </a:rPr>
              <a:t>Core Components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MCP Server: Exposes capabilities (tools, resources, prompts) via standard protocol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MCP Client: AI application that discovers and invokes server capabilities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Tools: Functions the AI can call (e.g., '</a:t>
            </a:r>
            <a:r>
              <a:rPr dirty="0" err="1">
                <a:latin typeface="Aptos" panose="020B0004020202020204" pitchFamily="34" charset="0"/>
              </a:rPr>
              <a:t>get_customer_info</a:t>
            </a:r>
            <a:r>
              <a:rPr dirty="0">
                <a:latin typeface="Aptos" panose="020B0004020202020204" pitchFamily="34" charset="0"/>
              </a:rPr>
              <a:t>', '</a:t>
            </a:r>
            <a:r>
              <a:rPr dirty="0" err="1">
                <a:latin typeface="Aptos" panose="020B0004020202020204" pitchFamily="34" charset="0"/>
              </a:rPr>
              <a:t>submit_payment</a:t>
            </a:r>
            <a:r>
              <a:rPr dirty="0">
                <a:latin typeface="Aptos" panose="020B0004020202020204" pitchFamily="34" charset="0"/>
              </a:rPr>
              <a:t>')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Resources: Data the AI can access (documents, databases, APIs)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4</a:t>
            </a:fld>
            <a:endParaRPr lang="en-US"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84F3AA-A029-86DD-8A51-8E0CF480B41F}"/>
              </a:ext>
            </a:extLst>
          </p:cNvPr>
          <p:cNvGrpSpPr/>
          <p:nvPr/>
        </p:nvGrpSpPr>
        <p:grpSpPr>
          <a:xfrm>
            <a:off x="1503824" y="2732669"/>
            <a:ext cx="8393937" cy="3496351"/>
            <a:chOff x="466332" y="2776630"/>
            <a:chExt cx="8393937" cy="3496351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C049527E-93C1-5180-AB91-240DB22FF9EF}"/>
                </a:ext>
              </a:extLst>
            </p:cNvPr>
            <p:cNvSpPr/>
            <p:nvPr/>
          </p:nvSpPr>
          <p:spPr>
            <a:xfrm>
              <a:off x="466332" y="2840608"/>
              <a:ext cx="2208009" cy="1865420"/>
            </a:xfrm>
            <a:prstGeom prst="roundRect">
              <a:avLst/>
            </a:prstGeom>
            <a:solidFill>
              <a:srgbClr val="E8F4FD"/>
            </a:solidFill>
            <a:ln w="12700">
              <a:solidFill>
                <a:srgbClr val="2E86AB"/>
              </a:solidFill>
              <a:prstDash val="solid"/>
            </a:ln>
          </p:spPr>
          <p:txBody>
            <a:bodyPr/>
            <a:lstStyle/>
            <a:p>
              <a:endParaRPr lang="en-US" sz="2800">
                <a:latin typeface="Aptos" panose="020B0004020202020204" pitchFamily="34" charset="0"/>
              </a:endParaRPr>
            </a:p>
          </p:txBody>
        </p:sp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8EF62A1B-8050-113D-5AF6-2A500A804312}"/>
                </a:ext>
              </a:extLst>
            </p:cNvPr>
            <p:cNvSpPr/>
            <p:nvPr/>
          </p:nvSpPr>
          <p:spPr>
            <a:xfrm>
              <a:off x="466332" y="2933337"/>
              <a:ext cx="2214708" cy="4477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AI Platform</a:t>
              </a:r>
              <a:endParaRPr lang="en-US" dirty="0">
                <a:latin typeface="Aptos" panose="020B0004020202020204" pitchFamily="34" charset="0"/>
              </a:endParaRPr>
            </a:p>
            <a:p>
              <a:pPr algn="ctr"/>
              <a:r>
                <a:rPr lang="en-US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(Client)</a:t>
              </a:r>
              <a:endParaRPr lang="en-US" dirty="0">
                <a:latin typeface="Aptos" panose="020B0004020202020204" pitchFamily="34" charset="0"/>
              </a:endParaRPr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98D01578-2838-7A01-B59B-FA63CD125A5A}"/>
                </a:ext>
              </a:extLst>
            </p:cNvPr>
            <p:cNvSpPr/>
            <p:nvPr/>
          </p:nvSpPr>
          <p:spPr>
            <a:xfrm>
              <a:off x="626598" y="3437542"/>
              <a:ext cx="1862688" cy="11192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Einstein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Azure AI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Genesys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Copilot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53095C63-24A1-4926-25AF-026DD88A797D}"/>
                </a:ext>
              </a:extLst>
            </p:cNvPr>
            <p:cNvSpPr/>
            <p:nvPr/>
          </p:nvSpPr>
          <p:spPr>
            <a:xfrm>
              <a:off x="3326090" y="2812355"/>
              <a:ext cx="2726948" cy="1865420"/>
            </a:xfrm>
            <a:prstGeom prst="roundRect">
              <a:avLst/>
            </a:prstGeom>
            <a:solidFill>
              <a:srgbClr val="FEF9E7"/>
            </a:solidFill>
            <a:ln w="12700">
              <a:solidFill>
                <a:srgbClr val="F39C12"/>
              </a:solidFill>
              <a:prstDash val="solid"/>
            </a:ln>
          </p:spPr>
          <p:txBody>
            <a:bodyPr lIns="91440" tIns="45720" rIns="91440" bIns="45720" anchor="t"/>
            <a:lstStyle/>
            <a:p>
              <a:pPr marL="365760" indent="-182880">
                <a:buChar char="•"/>
              </a:pPr>
              <a:endParaRPr lang="en-US" sz="1200" dirty="0">
                <a:latin typeface="Aptos" panose="020B0004020202020204" pitchFamily="34" charset="0"/>
              </a:endParaRPr>
            </a:p>
            <a:p>
              <a:pPr marL="365760" indent="-182880">
                <a:buChar char="•"/>
              </a:pPr>
              <a:endParaRPr lang="en-US" sz="1200" dirty="0">
                <a:latin typeface="Aptos" panose="020B0004020202020204" pitchFamily="34" charset="0"/>
              </a:endParaRPr>
            </a:p>
            <a:p>
              <a:pPr marL="35433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ptos"/>
                </a:rPr>
                <a:t>Discovery: Client asks server “What tools exist?”</a:t>
              </a:r>
            </a:p>
            <a:p>
              <a:pPr marL="35433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ptos" panose="020B0004020202020204" pitchFamily="34" charset="0"/>
                </a:rPr>
                <a:t>Invocation: Client calls tool with parameters</a:t>
              </a:r>
            </a:p>
            <a:p>
              <a:pPr marL="35433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ptos"/>
                </a:rPr>
                <a:t>Response: Server returns structured result</a:t>
              </a: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5BF24FF4-C834-1CB2-BC77-A578F1320606}"/>
                </a:ext>
              </a:extLst>
            </p:cNvPr>
            <p:cNvSpPr/>
            <p:nvPr/>
          </p:nvSpPr>
          <p:spPr>
            <a:xfrm>
              <a:off x="3903406" y="2920482"/>
              <a:ext cx="1509962" cy="2984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MCP Protocol</a:t>
              </a:r>
              <a:endParaRPr lang="en-US" dirty="0">
                <a:latin typeface="Aptos" panose="020B0004020202020204" pitchFamily="34" charset="0"/>
              </a:endParaRPr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6D1192AA-B46E-D873-6DE2-2BCD7CE8EC4B}"/>
                </a:ext>
              </a:extLst>
            </p:cNvPr>
            <p:cNvSpPr/>
            <p:nvPr/>
          </p:nvSpPr>
          <p:spPr>
            <a:xfrm>
              <a:off x="6839041" y="2776630"/>
              <a:ext cx="2021228" cy="1865420"/>
            </a:xfrm>
            <a:prstGeom prst="roundRect">
              <a:avLst/>
            </a:prstGeom>
            <a:solidFill>
              <a:srgbClr val="E8F8F5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en-US" sz="2800">
                <a:latin typeface="Aptos" panose="020B0004020202020204" pitchFamily="34" charset="0"/>
              </a:endParaRP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D602F35A-34EF-5633-8422-FAE743478243}"/>
                </a:ext>
              </a:extLst>
            </p:cNvPr>
            <p:cNvSpPr/>
            <p:nvPr/>
          </p:nvSpPr>
          <p:spPr>
            <a:xfrm>
              <a:off x="6966506" y="2917255"/>
              <a:ext cx="1893763" cy="4477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MCP Server</a:t>
              </a:r>
            </a:p>
            <a:p>
              <a:pPr algn="ctr"/>
              <a:r>
                <a:rPr lang="en-US" sz="1200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Backend APIs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0997D5B1-93BB-1DCA-1859-D2107A2958F4}"/>
                </a:ext>
              </a:extLst>
            </p:cNvPr>
            <p:cNvSpPr/>
            <p:nvPr/>
          </p:nvSpPr>
          <p:spPr>
            <a:xfrm>
              <a:off x="7170176" y="3439572"/>
              <a:ext cx="1371316" cy="85673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Azure APIM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Salesforce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Defi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FICO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4574B072-E75C-53F3-8C5D-4D75265E0661}"/>
                </a:ext>
              </a:extLst>
            </p:cNvPr>
            <p:cNvSpPr/>
            <p:nvPr/>
          </p:nvSpPr>
          <p:spPr>
            <a:xfrm>
              <a:off x="2720368" y="3577859"/>
              <a:ext cx="608557" cy="298467"/>
            </a:xfrm>
            <a:prstGeom prst="rightArrow">
              <a:avLst/>
            </a:prstGeom>
            <a:solidFill>
              <a:srgbClr val="2E86AB"/>
            </a:solidFill>
            <a:ln/>
          </p:spPr>
          <p:txBody>
            <a:bodyPr/>
            <a:lstStyle/>
            <a:p>
              <a:endParaRPr lang="en-US" sz="2800">
                <a:latin typeface="Aptos" panose="020B0004020202020204" pitchFamily="34" charset="0"/>
              </a:endParaRPr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A8378E4A-865F-A49B-718D-B19F930A15FB}"/>
                </a:ext>
              </a:extLst>
            </p:cNvPr>
            <p:cNvSpPr/>
            <p:nvPr/>
          </p:nvSpPr>
          <p:spPr>
            <a:xfrm>
              <a:off x="6132961" y="3577858"/>
              <a:ext cx="626157" cy="298467"/>
            </a:xfrm>
            <a:prstGeom prst="rightArrow">
              <a:avLst/>
            </a:prstGeom>
            <a:solidFill>
              <a:srgbClr val="F39C12"/>
            </a:solidFill>
            <a:ln/>
          </p:spPr>
          <p:txBody>
            <a:bodyPr/>
            <a:lstStyle/>
            <a:p>
              <a:endParaRPr lang="en-US" sz="2800">
                <a:latin typeface="Aptos" panose="020B0004020202020204" pitchFamily="34" charset="0"/>
              </a:endParaRPr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8EB0A485-33EC-B3EC-2662-640AF9CDBC67}"/>
                </a:ext>
              </a:extLst>
            </p:cNvPr>
            <p:cNvSpPr/>
            <p:nvPr/>
          </p:nvSpPr>
          <p:spPr>
            <a:xfrm>
              <a:off x="466333" y="4929879"/>
              <a:ext cx="8393936" cy="1343102"/>
            </a:xfrm>
            <a:prstGeom prst="roundRect">
              <a:avLst/>
            </a:prstGeom>
            <a:solidFill>
              <a:srgbClr val="F5F5F5"/>
            </a:solidFill>
            <a:ln w="1270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 sz="2800">
                <a:latin typeface="Aptos" panose="020B0004020202020204" pitchFamily="34" charset="0"/>
              </a:endParaRPr>
            </a:p>
          </p:txBody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DE10C561-2982-FC38-FA55-CACBCE6D2923}"/>
                </a:ext>
              </a:extLst>
            </p:cNvPr>
            <p:cNvSpPr/>
            <p:nvPr/>
          </p:nvSpPr>
          <p:spPr>
            <a:xfrm>
              <a:off x="557773" y="5302963"/>
              <a:ext cx="7838881" cy="89540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1. Agent (Client) discovers 'get_account_status' tool from MCP Server</a:t>
              </a:r>
              <a:endParaRPr lang="en-US" sz="1200" dirty="0">
                <a:latin typeface="Aptos" panose="020B0004020202020204" pitchFamily="34" charset="0"/>
              </a:endParaRPr>
            </a:p>
            <a:p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2. Agent calls tool: { customer_id: '12345', account_type: 'lease' }</a:t>
              </a:r>
              <a:endParaRPr lang="en-US" sz="1200" dirty="0">
                <a:latin typeface="Aptos" panose="020B0004020202020204" pitchFamily="34" charset="0"/>
              </a:endParaRPr>
            </a:p>
            <a:p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3. MCP Server routes to Azure APIM → Defi API</a:t>
              </a:r>
              <a:endParaRPr lang="en-US" sz="1200" dirty="0">
                <a:latin typeface="Aptos" panose="020B0004020202020204" pitchFamily="34" charset="0"/>
              </a:endParaRPr>
            </a:p>
            <a:p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4. Response returned: { status: 'current', balance: '$450', next_payment: '2025-02-01' }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</p:grpSp>
      <p:sp>
        <p:nvSpPr>
          <p:cNvPr id="6" name="Text 13">
            <a:extLst>
              <a:ext uri="{FF2B5EF4-FFF2-40B4-BE49-F238E27FC236}">
                <a16:creationId xmlns:a16="http://schemas.microsoft.com/office/drawing/2014/main" id="{4D725A66-6293-C762-9C93-517696C7F9CE}"/>
              </a:ext>
            </a:extLst>
          </p:cNvPr>
          <p:cNvSpPr/>
          <p:nvPr/>
        </p:nvSpPr>
        <p:spPr>
          <a:xfrm>
            <a:off x="1602546" y="5004495"/>
            <a:ext cx="7708510" cy="261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Example: Customer Service Agent asks 'What is customer 12345's account status?'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MCP Server Implementation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9"/>
            <a:ext cx="5018129" cy="2733224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Option A: Gateway-Level MCP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MCP Server sits in front of Azure APIM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Automatically exposes all APIM APIs as MCP tools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Centralized: one MCP server, many tools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Pro: Single point of governance</a:t>
            </a:r>
            <a:endParaRPr lang="en-US" dirty="0">
              <a:latin typeface="Aptos" panose="020B0004020202020204" pitchFamily="34" charset="0"/>
            </a:endParaRP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Con: May be bottleneck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Option B: Domain-Level MCP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Multiple MCP servers per domain (Compliance, Collections, etc.)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Each domain team owns their MCP server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Pro: Distributed ownership, domain expertise; Con: Coordination overhead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Aligns with Domain Orchestrator pattern recommended for SFS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5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Mapping SFS APIs to MCP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High-Value MCP Tool Candidates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Customer lookup (Salesforce customer master)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Account status check (Defi lease/retail)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Payment processing (Shaw/Conduent)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Credit decision (FICO Decision Modeler)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Vehicle valuation (remarketing decision engine)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Tool Schema Example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Name: '</a:t>
            </a:r>
            <a:r>
              <a:rPr dirty="0" err="1">
                <a:latin typeface="Aptos" panose="020B0004020202020204" pitchFamily="34" charset="0"/>
              </a:rPr>
              <a:t>get_customer_account_status</a:t>
            </a:r>
            <a:r>
              <a:rPr dirty="0">
                <a:latin typeface="Aptos" panose="020B0004020202020204" pitchFamily="34" charset="0"/>
              </a:rPr>
              <a:t>'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Description: 'Retrieve current status of customer account'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Input: { </a:t>
            </a:r>
            <a:r>
              <a:rPr dirty="0" err="1">
                <a:latin typeface="Aptos" panose="020B0004020202020204" pitchFamily="34" charset="0"/>
              </a:rPr>
              <a:t>customer_id</a:t>
            </a:r>
            <a:r>
              <a:rPr dirty="0">
                <a:latin typeface="Aptos" panose="020B0004020202020204" pitchFamily="34" charset="0"/>
              </a:rPr>
              <a:t>: string, </a:t>
            </a:r>
            <a:r>
              <a:rPr dirty="0" err="1">
                <a:latin typeface="Aptos" panose="020B0004020202020204" pitchFamily="34" charset="0"/>
              </a:rPr>
              <a:t>account_type</a:t>
            </a:r>
            <a:r>
              <a:rPr dirty="0">
                <a:latin typeface="Aptos" panose="020B0004020202020204" pitchFamily="34" charset="0"/>
              </a:rPr>
              <a:t>: 'lease' | 'retail' }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Output: { status, balance, </a:t>
            </a:r>
            <a:r>
              <a:rPr dirty="0" err="1">
                <a:latin typeface="Aptos" panose="020B0004020202020204" pitchFamily="34" charset="0"/>
              </a:rPr>
              <a:t>next_payment_date</a:t>
            </a:r>
            <a:r>
              <a:rPr dirty="0">
                <a:latin typeface="Aptos" panose="020B0004020202020204" pitchFamily="34" charset="0"/>
              </a:rPr>
              <a:t>, ... 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6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MCP Implementation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Adoption Considerations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MCP is emerging - not yet universally supported by all AI platforms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Einstein, Azure AI have native tool-calling; MCP adds interop layer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Start with pilot: one domain, one MCP server, evaluate friction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MCP doesn't replace API  - still need APIM policies, auth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SFS Recommendation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Position MCP as strategic direction, not immediate requirement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Design APIs to be 'MCP-ready' (clear schemas, consistent patterns)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Pilot in 2025 with single domain (e.g., Customer Service)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Re-evaluate as ecosystem matures and AI platform support grows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7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Non-MCP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Platform-Native Tool Calling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Azure AI: Function calling with JSON schemas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Einstein: Apex actions, Flow invocations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Genesys: Bot flows, data actions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Pro: Native, supported; Con: Platform-specific, no interop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API-First Without MCP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Well-documented APIs in APIM Developer Portal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OpenAPI/Swagger specs as tool definitions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Manual integration per AI platform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Viable near-term; MCP becomes value-add if multi-platform AI grows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8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5F7D-7446-2BAB-7EEB-048EEE11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A366-D0F6-3CF4-2DE7-7A317A72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MCP Security</a:t>
            </a:r>
          </a:p>
        </p:txBody>
      </p:sp>
    </p:spTree>
    <p:extLst>
      <p:ext uri="{BB962C8B-B14F-4D97-AF65-F5344CB8AC3E}">
        <p14:creationId xmlns:p14="http://schemas.microsoft.com/office/powerpoint/2010/main" val="268863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4168" y="182880"/>
            <a:ext cx="10191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MCP: Increases Audit Surface, Not Attack Surface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8788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74C3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Without MCP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8788" y="1143000"/>
            <a:ext cx="5303520" cy="4028768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81748" y="1376516"/>
            <a:ext cx="1645920" cy="5486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1748" y="14679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Einstein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3428" y="1371600"/>
            <a:ext cx="1645920" cy="5486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3428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AI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04708" y="2051992"/>
            <a:ext cx="1645920" cy="5486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4708" y="21434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Genesys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49056" y="2920672"/>
            <a:ext cx="109728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49056" y="302538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200" b="1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29216" y="2920672"/>
            <a:ext cx="109728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29216" y="30403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Defi</a:t>
            </a:r>
            <a:endParaRPr lang="en-US" sz="1200" b="1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09376" y="2920672"/>
            <a:ext cx="109728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20796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FICO</a:t>
            </a:r>
            <a:endParaRPr lang="en-US" sz="1200" b="1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3108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E74C3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Ad-hoc integrations</a:t>
            </a:r>
            <a:endParaRPr lang="en-US" sz="1400" b="1" dirty="0"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rgbClr val="E74C3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central visibility</a:t>
            </a:r>
            <a:endParaRPr lang="en-US" sz="1400" b="1" dirty="0"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rgbClr val="E74C3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Inconsistent auth</a:t>
            </a:r>
            <a:endParaRPr lang="en-US" sz="1400" b="1" dirty="0"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rgbClr val="E74C3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Hard to audit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2388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7AE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2388" y="1143000"/>
            <a:ext cx="5303520" cy="4028768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76708" y="1371600"/>
            <a:ext cx="4754880" cy="5486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76708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Platforms (Einstein, Azure AI, Genesys)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591108" y="2174896"/>
            <a:ext cx="2926080" cy="568304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91108" y="2282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600" b="1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91108" y="2988024"/>
            <a:ext cx="292608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72941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91108" y="3069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APIM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9588" y="3696928"/>
            <a:ext cx="43891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9588" y="37883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  •  Defi  •  FICO  •  EDW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916988" y="1936464"/>
            <a:ext cx="274320" cy="228600"/>
          </a:xfrm>
          <a:prstGeom prst="downArrow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916988" y="2772696"/>
            <a:ext cx="274320" cy="189272"/>
          </a:xfrm>
          <a:prstGeom prst="downArrow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16988" y="3471280"/>
            <a:ext cx="274320" cy="215816"/>
          </a:xfrm>
          <a:prstGeom prst="downArrow">
            <a:avLst/>
          </a:prstGeom>
          <a:solidFill>
            <a:srgbClr val="072941"/>
          </a:solidFill>
          <a:ln/>
        </p:spPr>
        <p:txBody>
          <a:bodyPr/>
          <a:lstStyle/>
          <a:p>
            <a:endParaRPr lang="en-US" sz="3600" b="1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76708" y="41605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27AE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Explicit tool schemas</a:t>
            </a:r>
            <a:endParaRPr lang="en-US" sz="1400" b="1" dirty="0"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rgbClr val="27AE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Central auth point</a:t>
            </a:r>
            <a:endParaRPr lang="en-US" sz="1400" b="1" dirty="0"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rgbClr val="27AE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400" b="1" dirty="0"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rgbClr val="27AE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Easy to audit</a:t>
            </a:r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2440" y="5257800"/>
            <a:ext cx="11247120" cy="731520"/>
          </a:xfrm>
          <a:prstGeom prst="roundRect">
            <a:avLst/>
          </a:prstGeom>
          <a:solidFill>
            <a:srgbClr val="072941"/>
          </a:solidFill>
          <a:ln/>
        </p:spPr>
        <p:txBody>
          <a:bodyPr/>
          <a:lstStyle/>
          <a:p>
            <a:endParaRPr lang="en-US" sz="36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388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MCP standardizes the AI-to-tool interface → single point to apply  controls → better visibility, not more risk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48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MCP Security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Risk Categories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Over-permissioned tools: AI granted excessive backend access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Authorization gaps: Inconsistent auth across AI-to-API calls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Prompt injection via tools: Malicious content manipulates AI behavior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Audit trail complexity: Multi-hop calls harder to trace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Cost/rate runaway: AI makes excessive calls quickly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Why MCP Helps (Not Hurts)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Permissions become explicit via tool schemas - easier to audit than ad-hoc integrations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Centralizes integration point - apply auth once at MCP server, not per-integration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Same risk exists in any AI tool-calling; MCP standardizes where to apply validation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Structured tool invocations with defined schemas - more auditable than unstructured calls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Single place to enforce rate limits and quotas</a:t>
            </a:r>
          </a:p>
          <a:p>
            <a:pPr marL="0" indent="0">
              <a:buNone/>
            </a:pPr>
            <a:endParaRPr lang="en-US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Thesis: MCP increases audit surface, not attack surface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11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18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SFS Security Mitigation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Leverage Existing Controls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Azure APIM policies still apply </a:t>
            </a:r>
            <a:r>
              <a:rPr dirty="0">
                <a:latin typeface="Aptos" panose="020B0004020202020204" pitchFamily="34" charset="0"/>
              </a:rPr>
              <a:t>- MCP sits behind gateway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Okta/JWT auth unchanged </a:t>
            </a:r>
            <a:r>
              <a:rPr dirty="0">
                <a:latin typeface="Aptos" panose="020B0004020202020204" pitchFamily="34" charset="0"/>
              </a:rPr>
              <a:t>- MCP inherits API authentication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Azure Monitor captures all calls </a:t>
            </a:r>
            <a:r>
              <a:rPr dirty="0">
                <a:latin typeface="Aptos" panose="020B0004020202020204" pitchFamily="34" charset="0"/>
              </a:rPr>
              <a:t>- add MCP-layer context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Rate limiting at gateway </a:t>
            </a:r>
            <a:r>
              <a:rPr dirty="0">
                <a:latin typeface="Aptos" panose="020B0004020202020204" pitchFamily="34" charset="0"/>
              </a:rPr>
              <a:t>- apply AI-specific tiers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RBAC in Azure </a:t>
            </a:r>
            <a:r>
              <a:rPr dirty="0">
                <a:latin typeface="Aptos" panose="020B0004020202020204" pitchFamily="34" charset="0"/>
              </a:rPr>
              <a:t>- extend to MCP server deployments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Add MCP-Specific Guardrails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Tool allowlists per AI agent (principle of least privilege)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Human-in-the-loop for sensitive operations (payments, repo actions)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Version pinning for MCP server dependencies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Internal-only MCP servers (no third-party MCP)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Explicit tool schema review before deployment</a:t>
            </a:r>
          </a:p>
          <a:p>
            <a:pPr marL="0" indent="0">
              <a:buNone/>
            </a:pPr>
            <a:endParaRPr lang="en-US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Key principle: MCP is an additional visibility layer that plugs into existing controls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12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788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SFS Security Controls: MCP Fits Your Existing Model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458788" y="822960"/>
          <a:ext cx="11247120" cy="29260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SFS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Applies to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MCP-Specific Addition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APIM 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sits behind APIM - all policies 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AI-specific rate tiers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 / JWT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inherits existing API auth 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 identity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+ Fabric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MCP tool invocation context to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Tool-level audit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in 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roles to MCP server deployments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allowlists per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 governance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go through same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schema review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8788" y="3931920"/>
            <a:ext cx="11247120" cy="13716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0228" y="4023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Key MCP Guardrails for SFS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0228" y="4389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Internal-only MCP servers (no third-party)     ✓ Human-in-the-loop for sensitive ops (payments, repo actions)     ✓ Version pinning for dependencies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Principle of least privilege (agents only get tools they need)     ✓ Explicit tool schema review before deployment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DC3B-1DD1-6CB5-BEA4-05EAE201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CE9F-DA9A-4B11-1234-DFD5CA45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479758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Appendix A: 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Orchestration Terms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API Gateway: Centralized entry point for API traffic with policy enforcement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APIM: Azure API Management - Microsoft's API gateway and management platform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MCP: Model Context Protocol - standard for AI-to-tool communication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Orchestration: Centralized coordination of service interactions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Choreography: Distributed coordination where services react to events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0" indent="0">
              <a:buNone/>
            </a:pPr>
            <a:r>
              <a:rPr sz="1750" b="1" dirty="0">
                <a:latin typeface="Aptos"/>
                <a:ea typeface="Calibri"/>
                <a:cs typeface="Calibri"/>
              </a:rPr>
              <a:t>AI/Agent Terms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Agentic AI: AI systems that can take autonomous actions toward goals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Token: Unit of text processed by LLMs (roughly 4 characters)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Decision Engine: Rule/model-based system for automated decisions (e.g., FICO)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RAG: Retrieval-Augmented Generation - combining search with LLMs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15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24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Appendix B: MuleSoft to Azure APIM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70245" y="970367"/>
            <a:ext cx="7239296" cy="1782931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b="1" dirty="0">
                <a:latin typeface="Aptos" panose="020B0004020202020204" pitchFamily="34" charset="0"/>
              </a:rPr>
              <a:t>Migration Lessons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DNS configuration required European coordination (3-4 week delay)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Certificate management: automated renewal added during fix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RBAC roles needed to be created before migration could proceed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7-8 endpoints migrated in 7-8 months; patterns now established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16</a:t>
            </a:fld>
            <a:endParaRPr lang="en-US">
              <a:latin typeface="Aptos" panose="020B0004020202020204" pitchFamily="34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050B22A-58C6-1BD5-DA24-0A7DF3A5F8F3}"/>
              </a:ext>
            </a:extLst>
          </p:cNvPr>
          <p:cNvGraphicFramePr>
            <a:graphicFrameLocks noGrp="1"/>
          </p:cNvGraphicFramePr>
          <p:nvPr/>
        </p:nvGraphicFramePr>
        <p:xfrm>
          <a:off x="466333" y="3079806"/>
          <a:ext cx="1124712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2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functionality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Expressions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syntax, same concepts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Experience/Process/System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Products/APIs/Backends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mapping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OAuth/JWT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OAuth/JWT + Azure 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APIM adds native Azure 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self-service capabilities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+ App Insights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tooling, richer Azure ecosystem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+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economics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IS_Delivery">
  <a:themeElements>
    <a:clrScheme name="EIS Auth 2019">
      <a:dk1>
        <a:srgbClr val="052841"/>
      </a:dk1>
      <a:lt1>
        <a:srgbClr val="FFFFFF"/>
      </a:lt1>
      <a:dk2>
        <a:srgbClr val="1877BC"/>
      </a:dk2>
      <a:lt2>
        <a:srgbClr val="DBE3EF"/>
      </a:lt2>
      <a:accent1>
        <a:srgbClr val="094978"/>
      </a:accent1>
      <a:accent2>
        <a:srgbClr val="C7D3E0"/>
      </a:accent2>
      <a:accent3>
        <a:srgbClr val="20CC8C"/>
      </a:accent3>
      <a:accent4>
        <a:srgbClr val="209D6E"/>
      </a:accent4>
      <a:accent5>
        <a:srgbClr val="B34BC7"/>
      </a:accent5>
      <a:accent6>
        <a:srgbClr val="7F3B8B"/>
      </a:accent6>
      <a:hlink>
        <a:srgbClr val="32A3FB"/>
      </a:hlink>
      <a:folHlink>
        <a:srgbClr val="839EBA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 err="1" smtClean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5D393D5A-6040-4319-A2E2-81A49F979150}" vid="{F28966A7-FDF5-47A0-9CE1-0A484E5DE957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87EB7-071A-4A86-8C4E-636FE5A351E7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Drift&quot;,&quot;colorPalette&quot;:[&quot;0E2841&quot;,&quot;E8E8E8&quot;,&quot;00416B&quot;,&quot;006098&quot;,&quot;238DC1&quot;,&quot;939598&quot;,&quot;D7D7D7&quot;,&quot;7775FF&quot;,&quot;467886&quot;,&quot;96607D&quot;],&quot;isDefault&quot;:true,&quot;color&quot;:&quot;#ffffff&quot;,&quot;previewImages&quot;:[&quot;https://cpp.appsdowonders.com/assets/SlideTitle-drift.png&quot;,&quot;https://cpp.appsdowonders.com/assets/SlideTextbox1V1-drift.png&quot;,&quot;https://cpp.appsdowonders.com/assets/SlideTextbox3V1-drift.png&quot;,&quot;https://cpp.appsdowonders.com/assets/SlideTable-drift.png&quot;,&quot;https://cpp.appsdowonders.com/assets/SlideTimeline-drift.png&quot;,&quot;https://cpp.appsdowonders.com/assets/SlideQuestion-drift.png&quot;],&quot;previewAnimation&quot;:&quot;https://cpp.appsdowonders.com/assets/drift-preview.gif&quot;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 xsi:nil="true"/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5D1607-B0B5-4557-A365-B6585D953D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E9AD25-E05F-4356-9EDF-AE125A504D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246cb7-97e8-44c0-90d5-6161e615d350"/>
    <ds:schemaRef ds:uri="1bbba5f1-a15e-48ed-ae4b-bc36e8dd2f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DF8674-582C-48CF-9D1C-72280677BFE9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sharepoint/v3"/>
    <ds:schemaRef ds:uri="http://purl.org/dc/terms/"/>
    <ds:schemaRef ds:uri="0eea126e-d378-4180-a2b3-4f5c76938639"/>
    <ds:schemaRef ds:uri="http://www.w3.org/XML/1998/namespace"/>
    <ds:schemaRef ds:uri="1bbba5f1-a15e-48ed-ae4b-bc36e8dd2f5c"/>
    <ds:schemaRef ds:uri="17246cb7-97e8-44c0-90d5-6161e615d3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EIS-Delivery-Template-2025</Template>
  <TotalTime>4905</TotalTime>
  <Words>4762</Words>
  <Application>Microsoft Office PowerPoint</Application>
  <PresentationFormat>Widescreen</PresentationFormat>
  <Paragraphs>802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EIS_Delivery</vt:lpstr>
      <vt:lpstr>1_EIS-2022</vt:lpstr>
      <vt:lpstr>PowerPoint Presentation</vt:lpstr>
      <vt:lpstr>MCP Deep Dive</vt:lpstr>
      <vt:lpstr>What is MCP?</vt:lpstr>
      <vt:lpstr>MCP Architecture Concepts</vt:lpstr>
      <vt:lpstr>MCP Server Implementation Options</vt:lpstr>
      <vt:lpstr>Mapping SFS APIs to MCP Tools</vt:lpstr>
      <vt:lpstr>MCP Implementation Considerations</vt:lpstr>
      <vt:lpstr>Non-MCP Alternatives</vt:lpstr>
      <vt:lpstr>MCP Security</vt:lpstr>
      <vt:lpstr>PowerPoint Presentation</vt:lpstr>
      <vt:lpstr>MCP Security Considerations</vt:lpstr>
      <vt:lpstr>SFS Security Mitigation Approach</vt:lpstr>
      <vt:lpstr>PowerPoint Presentation</vt:lpstr>
      <vt:lpstr>Appendix</vt:lpstr>
      <vt:lpstr>Appendix A: Glossary</vt:lpstr>
      <vt:lpstr>Appendix B: MuleSoft to Azure APIM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Value ROI Assessment for product data enrichment</dc:title>
  <dc:creator>Heather Eisenbraun</dc:creator>
  <cp:lastModifiedBy>Thomas Blumer</cp:lastModifiedBy>
  <cp:revision>32</cp:revision>
  <cp:lastPrinted>2025-10-23T18:20:35Z</cp:lastPrinted>
  <dcterms:created xsi:type="dcterms:W3CDTF">2025-09-02T21:00:23Z</dcterms:created>
  <dcterms:modified xsi:type="dcterms:W3CDTF">2026-03-16T14:46:39Z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chnology">
    <vt:lpwstr/>
  </property>
  <property fmtid="{D5CDD505-2E9C-101B-9397-08002B2CF9AE}" pid="3" name="Competency">
    <vt:lpwstr>16;#education ＆ training|82e5fb2a-a54f-4b03-b3d9-e6bd67db0a94</vt:lpwstr>
  </property>
  <property fmtid="{D5CDD505-2E9C-101B-9397-08002B2CF9AE}" pid="4" name="TechnologyProduct">
    <vt:lpwstr/>
  </property>
  <property fmtid="{D5CDD505-2E9C-101B-9397-08002B2CF9AE}" pid="5" name="lcf76f155ced4ddcb4097134ff3c332f">
    <vt:lpwstr/>
  </property>
  <property fmtid="{D5CDD505-2E9C-101B-9397-08002B2CF9AE}" pid="6" name="MediaServiceImageTags">
    <vt:lpwstr/>
  </property>
  <property fmtid="{D5CDD505-2E9C-101B-9397-08002B2CF9AE}" pid="7" name="Industry">
    <vt:lpwstr>17;#nonprofit ＆ public sector|77bad53f-d986-4455-8155-211ebc098cac</vt:lpwstr>
  </property>
  <property fmtid="{D5CDD505-2E9C-101B-9397-08002B2CF9AE}" pid="8" name="AccountName">
    <vt:lpwstr>15;#Omnia Partners|8e8cab59-0751-4e02-9108-64e780ed2311</vt:lpwstr>
  </property>
  <property fmtid="{D5CDD505-2E9C-101B-9397-08002B2CF9AE}" pid="9" name="ContentTypeId">
    <vt:lpwstr>0x0101000B97C77CF6C980478CF1A0C7BB3DB346</vt:lpwstr>
  </property>
  <property fmtid="{D5CDD505-2E9C-101B-9397-08002B2CF9AE}" pid="10" name="Project Document Type PROPOSED">
    <vt:lpwstr>18;#framework|f4c6afd5-bc0d-4101-be0b-cfb899ffe5cf</vt:lpwstr>
  </property>
  <property fmtid="{D5CDD505-2E9C-101B-9397-08002B2CF9AE}" pid="11" name="Project_x0020_Document_x0020_Type_x0020_PROPOSED">
    <vt:lpwstr>18;#framework|f4c6afd5-bc0d-4101-be0b-cfb899ffe5cf</vt:lpwstr>
  </property>
  <property fmtid="{D5CDD505-2E9C-101B-9397-08002B2CF9AE}" pid="12" name="MSIP_Label_791df23e-ee3d-4e72-bd33-1d096ae15290_Enabled">
    <vt:lpwstr>true</vt:lpwstr>
  </property>
  <property fmtid="{D5CDD505-2E9C-101B-9397-08002B2CF9AE}" pid="13" name="MSIP_Label_791df23e-ee3d-4e72-bd33-1d096ae15290_SetDate">
    <vt:lpwstr>2026-03-16T14:46:37Z</vt:lpwstr>
  </property>
  <property fmtid="{D5CDD505-2E9C-101B-9397-08002B2CF9AE}" pid="14" name="MSIP_Label_791df23e-ee3d-4e72-bd33-1d096ae15290_Method">
    <vt:lpwstr>Standard</vt:lpwstr>
  </property>
  <property fmtid="{D5CDD505-2E9C-101B-9397-08002B2CF9AE}" pid="15" name="MSIP_Label_791df23e-ee3d-4e72-bd33-1d096ae15290_Name">
    <vt:lpwstr>General</vt:lpwstr>
  </property>
  <property fmtid="{D5CDD505-2E9C-101B-9397-08002B2CF9AE}" pid="16" name="MSIP_Label_791df23e-ee3d-4e72-bd33-1d096ae15290_SiteId">
    <vt:lpwstr>aea87219-080c-4106-b601-bed93d828f3c</vt:lpwstr>
  </property>
  <property fmtid="{D5CDD505-2E9C-101B-9397-08002B2CF9AE}" pid="17" name="MSIP_Label_791df23e-ee3d-4e72-bd33-1d096ae15290_ActionId">
    <vt:lpwstr>b1dd2c2d-d07c-42c8-8b65-8104daa25843</vt:lpwstr>
  </property>
  <property fmtid="{D5CDD505-2E9C-101B-9397-08002B2CF9AE}" pid="18" name="MSIP_Label_791df23e-ee3d-4e72-bd33-1d096ae15290_ContentBits">
    <vt:lpwstr>0</vt:lpwstr>
  </property>
  <property fmtid="{D5CDD505-2E9C-101B-9397-08002B2CF9AE}" pid="19" name="MSIP_Label_791df23e-ee3d-4e72-bd33-1d096ae15290_Tag">
    <vt:lpwstr>10, 3, 0, 2</vt:lpwstr>
  </property>
</Properties>
</file>